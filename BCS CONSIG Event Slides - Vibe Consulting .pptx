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7" r:id="rId1"/>
  </p:sldMasterIdLst>
  <p:notesMasterIdLst>
    <p:notesMasterId r:id="rId82"/>
  </p:notesMasterIdLst>
  <p:handoutMasterIdLst>
    <p:handoutMasterId r:id="rId83"/>
  </p:handoutMasterIdLst>
  <p:sldIdLst>
    <p:sldId id="1338" r:id="rId2"/>
    <p:sldId id="4205" r:id="rId3"/>
    <p:sldId id="4191" r:id="rId4"/>
    <p:sldId id="4095" r:id="rId5"/>
    <p:sldId id="4182" r:id="rId6"/>
    <p:sldId id="4102" r:id="rId7"/>
    <p:sldId id="4103" r:id="rId8"/>
    <p:sldId id="4245" r:id="rId9"/>
    <p:sldId id="4206" r:id="rId10"/>
    <p:sldId id="4230" r:id="rId11"/>
    <p:sldId id="4231" r:id="rId12"/>
    <p:sldId id="4234" r:id="rId13"/>
    <p:sldId id="4235" r:id="rId14"/>
    <p:sldId id="4185" r:id="rId15"/>
    <p:sldId id="4190" r:id="rId16"/>
    <p:sldId id="4156" r:id="rId17"/>
    <p:sldId id="4155" r:id="rId18"/>
    <p:sldId id="4188" r:id="rId19"/>
    <p:sldId id="4193" r:id="rId20"/>
    <p:sldId id="4218" r:id="rId21"/>
    <p:sldId id="4186" r:id="rId22"/>
    <p:sldId id="4247" r:id="rId23"/>
    <p:sldId id="4221" r:id="rId24"/>
    <p:sldId id="4187" r:id="rId25"/>
    <p:sldId id="4189" r:id="rId26"/>
    <p:sldId id="4223" r:id="rId27"/>
    <p:sldId id="4222" r:id="rId28"/>
    <p:sldId id="4192" r:id="rId29"/>
    <p:sldId id="4194" r:id="rId30"/>
    <p:sldId id="4196" r:id="rId31"/>
    <p:sldId id="4097" r:id="rId32"/>
    <p:sldId id="259" r:id="rId33"/>
    <p:sldId id="256" r:id="rId34"/>
    <p:sldId id="4246" r:id="rId35"/>
    <p:sldId id="262" r:id="rId36"/>
    <p:sldId id="4176" r:id="rId37"/>
    <p:sldId id="4177" r:id="rId38"/>
    <p:sldId id="4105" r:id="rId39"/>
    <p:sldId id="4106" r:id="rId40"/>
    <p:sldId id="4111" r:id="rId41"/>
    <p:sldId id="4112" r:id="rId42"/>
    <p:sldId id="4115" r:id="rId43"/>
    <p:sldId id="4118" r:id="rId44"/>
    <p:sldId id="4116" r:id="rId45"/>
    <p:sldId id="4117" r:id="rId46"/>
    <p:sldId id="4119" r:id="rId47"/>
    <p:sldId id="4170" r:id="rId48"/>
    <p:sldId id="4195" r:id="rId49"/>
    <p:sldId id="4175" r:id="rId50"/>
    <p:sldId id="4197" r:id="rId51"/>
    <p:sldId id="4220" r:id="rId52"/>
    <p:sldId id="4219" r:id="rId53"/>
    <p:sldId id="4198" r:id="rId54"/>
    <p:sldId id="4229" r:id="rId55"/>
    <p:sldId id="4199" r:id="rId56"/>
    <p:sldId id="4200" r:id="rId57"/>
    <p:sldId id="4204" r:id="rId58"/>
    <p:sldId id="4243" r:id="rId59"/>
    <p:sldId id="4236" r:id="rId60"/>
    <p:sldId id="4207" r:id="rId61"/>
    <p:sldId id="4242" r:id="rId62"/>
    <p:sldId id="4237" r:id="rId63"/>
    <p:sldId id="4238" r:id="rId64"/>
    <p:sldId id="4239" r:id="rId65"/>
    <p:sldId id="4240" r:id="rId66"/>
    <p:sldId id="4241" r:id="rId67"/>
    <p:sldId id="4244" r:id="rId68"/>
    <p:sldId id="4208" r:id="rId69"/>
    <p:sldId id="4224" r:id="rId70"/>
    <p:sldId id="4225" r:id="rId71"/>
    <p:sldId id="4226" r:id="rId72"/>
    <p:sldId id="4227" r:id="rId73"/>
    <p:sldId id="4228" r:id="rId74"/>
    <p:sldId id="4209" r:id="rId75"/>
    <p:sldId id="4211" r:id="rId76"/>
    <p:sldId id="4214" r:id="rId77"/>
    <p:sldId id="4212" r:id="rId78"/>
    <p:sldId id="4215" r:id="rId79"/>
    <p:sldId id="4216" r:id="rId80"/>
    <p:sldId id="4217"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id="{EE0C1E57-A605-6A46-A127-E2C0A380A112}">
          <p14:sldIdLst>
            <p14:sldId id="1338"/>
            <p14:sldId id="4205"/>
          </p14:sldIdLst>
        </p14:section>
        <p14:section name="Section 1 introduction" id="{7B48A78F-042C-6640-9F47-356E23E8EA2F}">
          <p14:sldIdLst>
            <p14:sldId id="4191"/>
            <p14:sldId id="4095"/>
            <p14:sldId id="4182"/>
            <p14:sldId id="4102"/>
            <p14:sldId id="4103"/>
            <p14:sldId id="4245"/>
            <p14:sldId id="4206"/>
            <p14:sldId id="4230"/>
            <p14:sldId id="4231"/>
            <p14:sldId id="4234"/>
            <p14:sldId id="4235"/>
            <p14:sldId id="4185"/>
          </p14:sldIdLst>
        </p14:section>
        <p14:section name="Section 2 Where is business &amp; consultancy with AI enablement &#13;" id="{EC39FE24-D09D-0B42-85F1-C760C8CB24ED}">
          <p14:sldIdLst>
            <p14:sldId id="4190"/>
            <p14:sldId id="4156"/>
            <p14:sldId id="4155"/>
            <p14:sldId id="4188"/>
            <p14:sldId id="4193"/>
            <p14:sldId id="4218"/>
            <p14:sldId id="4186"/>
            <p14:sldId id="4247"/>
            <p14:sldId id="4221"/>
            <p14:sldId id="4187"/>
            <p14:sldId id="4189"/>
            <p14:sldId id="4223"/>
            <p14:sldId id="4222"/>
          </p14:sldIdLst>
        </p14:section>
        <p14:section name="Section 3: Case-based Review of what consultancies are doing with AI" id="{F160079A-BD04-1545-A180-608A6A935F78}">
          <p14:sldIdLst>
            <p14:sldId id="4192"/>
            <p14:sldId id="4194"/>
            <p14:sldId id="4196"/>
          </p14:sldIdLst>
        </p14:section>
        <p14:section name="McKinsey" id="{EA8A8362-5B08-214E-B3FB-CCE9D2DA5FBB}">
          <p14:sldIdLst>
            <p14:sldId id="4097"/>
            <p14:sldId id="259"/>
            <p14:sldId id="256"/>
            <p14:sldId id="4246"/>
            <p14:sldId id="262"/>
            <p14:sldId id="4176"/>
            <p14:sldId id="4177"/>
          </p14:sldIdLst>
        </p14:section>
        <p14:section name="BCG" id="{0D745170-6382-E543-A36A-FB011C7180AC}">
          <p14:sldIdLst>
            <p14:sldId id="4105"/>
            <p14:sldId id="4106"/>
          </p14:sldIdLst>
        </p14:section>
        <p14:section name="Bain" id="{7977D3EB-B3E9-D84C-BA47-26F6E88FFFB6}">
          <p14:sldIdLst>
            <p14:sldId id="4111"/>
            <p14:sldId id="4112"/>
          </p14:sldIdLst>
        </p14:section>
        <p14:section name="KPMG" id="{96C64747-5E68-9D42-831B-6BEBAFAAED57}">
          <p14:sldIdLst>
            <p14:sldId id="4115"/>
            <p14:sldId id="4118"/>
            <p14:sldId id="4116"/>
            <p14:sldId id="4117"/>
          </p14:sldIdLst>
        </p14:section>
        <p14:section name="Deloitte" id="{E7965539-6FB1-034C-9D9A-E784D42E9F1D}">
          <p14:sldIdLst>
            <p14:sldId id="4119"/>
          </p14:sldIdLst>
        </p14:section>
        <p14:section name="PWC" id="{6D30610E-92F2-674F-9F2E-9C4356DA87A1}">
          <p14:sldIdLst>
            <p14:sldId id="4170"/>
          </p14:sldIdLst>
        </p14:section>
        <p14:section name="Accenture" id="{900D3CA8-7DB2-144C-B1EC-2A70DF8FBD46}">
          <p14:sldIdLst>
            <p14:sldId id="4195"/>
          </p14:sldIdLst>
        </p14:section>
        <p14:section name="AI Challengers" id="{9CAF7275-190B-0D4C-866A-7606858D79D0}">
          <p14:sldIdLst>
            <p14:sldId id="4175"/>
            <p14:sldId id="4197"/>
            <p14:sldId id="4220"/>
            <p14:sldId id="4219"/>
            <p14:sldId id="4198"/>
            <p14:sldId id="4229"/>
            <p14:sldId id="4199"/>
            <p14:sldId id="4200"/>
          </p14:sldIdLst>
        </p14:section>
        <p14:section name="Section 4 – Brief Introduction to Technical Side of Vibe Consulting" id="{3EC7850F-7625-D64C-8BF1-83192CCA538C}">
          <p14:sldIdLst>
            <p14:sldId id="4204"/>
            <p14:sldId id="4243"/>
            <p14:sldId id="4236"/>
            <p14:sldId id="4207"/>
            <p14:sldId id="4242"/>
            <p14:sldId id="4237"/>
            <p14:sldId id="4238"/>
            <p14:sldId id="4239"/>
            <p14:sldId id="4240"/>
            <p14:sldId id="4241"/>
            <p14:sldId id="4244"/>
            <p14:sldId id="4208"/>
            <p14:sldId id="4224"/>
            <p14:sldId id="4225"/>
            <p14:sldId id="4226"/>
            <p14:sldId id="4227"/>
            <p14:sldId id="4228"/>
            <p14:sldId id="4209"/>
          </p14:sldIdLst>
        </p14:section>
        <p14:section name="Section 5 – AI Futures for Consulting" id="{06268267-C684-A942-A156-082409B57DB9}">
          <p14:sldIdLst>
            <p14:sldId id="4211"/>
            <p14:sldId id="4214"/>
            <p14:sldId id="4212"/>
            <p14:sldId id="4215"/>
            <p14:sldId id="4216"/>
            <p14:sldId id="4217"/>
          </p14:sldIdLst>
        </p14:section>
      </p14:sectionLst>
    </p:ext>
    <p:ext uri="{EFAFB233-063F-42B5-8137-9DF3F51BA10A}">
      <p15:sldGuideLst xmlns:p15="http://schemas.microsoft.com/office/powerpoint/2012/main">
        <p15:guide id="2" pos="3863" userDrawn="1">
          <p15:clr>
            <a:srgbClr val="A4A3A4"/>
          </p15:clr>
        </p15:guide>
        <p15:guide id="7" pos="7174" userDrawn="1">
          <p15:clr>
            <a:srgbClr val="A4A3A4"/>
          </p15:clr>
        </p15:guide>
        <p15:guide id="8" orient="horz" pos="1117" userDrawn="1">
          <p15:clr>
            <a:srgbClr val="A4A3A4"/>
          </p15:clr>
        </p15:guide>
        <p15:guide id="9" pos="52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an Warr" initials="AW" lastIdx="1" clrIdx="0">
    <p:extLst>
      <p:ext uri="{19B8F6BF-5375-455C-9EA6-DF929625EA0E}">
        <p15:presenceInfo xmlns:p15="http://schemas.microsoft.com/office/powerpoint/2012/main" userId="24d9eced6fcf6e09" providerId="Windows Live"/>
      </p:ext>
    </p:extLst>
  </p:cmAuthor>
  <p:cmAuthor id="2" name="Alan Warr" initials="AW [2]" lastIdx="1" clrIdx="1">
    <p:extLst>
      <p:ext uri="{19B8F6BF-5375-455C-9EA6-DF929625EA0E}">
        <p15:presenceInfo xmlns:p15="http://schemas.microsoft.com/office/powerpoint/2012/main" userId="S::alan.warr@alanwarr.info::63721979-27ac-4188-8853-c368ab75a6b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4242"/>
    <a:srgbClr val="2D8C0A"/>
    <a:srgbClr val="000000"/>
    <a:srgbClr val="222A35"/>
    <a:srgbClr val="FFFFFF"/>
    <a:srgbClr val="755403"/>
    <a:srgbClr val="5B4002"/>
    <a:srgbClr val="C03B26"/>
    <a:srgbClr val="D6DCE5"/>
    <a:srgbClr val="5FA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8" autoAdjust="0"/>
    <p:restoredTop sz="94303" autoAdjust="0"/>
  </p:normalViewPr>
  <p:slideViewPr>
    <p:cSldViewPr snapToGrid="0">
      <p:cViewPr>
        <p:scale>
          <a:sx n="110" d="100"/>
          <a:sy n="110" d="100"/>
        </p:scale>
        <p:origin x="1568" y="944"/>
      </p:cViewPr>
      <p:guideLst>
        <p:guide pos="3863"/>
        <p:guide pos="7174"/>
        <p:guide orient="horz" pos="1117"/>
        <p:guide pos="529"/>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showGuides="1">
      <p:cViewPr varScale="1">
        <p:scale>
          <a:sx n="57" d="100"/>
          <a:sy n="57" d="100"/>
        </p:scale>
        <p:origin x="2832" y="72"/>
      </p:cViewPr>
      <p:guideLst/>
    </p:cSldViewPr>
  </p:notesViewPr>
  <p:gridSpacing cx="457200" cy="457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5-09-27T10:49:42.703" idx="1">
    <p:pos x="10" y="10"/>
    <p:text>Try and source better quotes</p:text>
    <p:extLst>
      <p:ext uri="{C676402C-5697-4E1C-873F-D02D1690AC5C}">
        <p15:threadingInfo xmlns:p15="http://schemas.microsoft.com/office/powerpoint/2012/main" timeZoneBias="-6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52253F-1DC1-44AB-85F9-14DB9D873A39}" type="datetimeFigureOut">
              <a:rPr lang="en-US" smtClean="0"/>
              <a:t>10/12/25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F8A4E4-7001-4196-8720-A0FCB0AEBF4A}" type="slidenum">
              <a:rPr lang="en-US" smtClean="0"/>
              <a:t>‹#›</a:t>
            </a:fld>
            <a:endParaRPr lang="en-US"/>
          </a:p>
        </p:txBody>
      </p:sp>
    </p:spTree>
    <p:extLst>
      <p:ext uri="{BB962C8B-B14F-4D97-AF65-F5344CB8AC3E}">
        <p14:creationId xmlns:p14="http://schemas.microsoft.com/office/powerpoint/2010/main" val="28691813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64D076-05C0-4F10-BAEB-F2DA581BE89B}" type="datetimeFigureOut">
              <a:rPr lang="en-US" smtClean="0"/>
              <a:t>10/11/25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7B7F8-81FA-46DC-8926-8D6B124E54D6}" type="slidenum">
              <a:rPr lang="en-US" smtClean="0"/>
              <a:t>‹#›</a:t>
            </a:fld>
            <a:endParaRPr lang="en-US"/>
          </a:p>
        </p:txBody>
      </p:sp>
    </p:spTree>
    <p:extLst>
      <p:ext uri="{BB962C8B-B14F-4D97-AF65-F5344CB8AC3E}">
        <p14:creationId xmlns:p14="http://schemas.microsoft.com/office/powerpoint/2010/main" val="1151455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medium.com/%40dion.wiggins/the-ai-will-kill-mckinsey-myth-falls-apart-under-scrutiny-5bd6a28d5415?utm_source=chatgpt.com" TargetMode="External"/><Relationship Id="rId3" Type="http://schemas.openxmlformats.org/officeDocument/2006/relationships/hyperlink" Target="https://www.businessinsider.com/consulting-ai-mckinsey-bcg-deloitte-pwc-kpmg-chatbots-ai-tools-2025-4?utm_source=chatgpt.com" TargetMode="External"/><Relationship Id="rId7" Type="http://schemas.openxmlformats.org/officeDocument/2006/relationships/hyperlink" Target="https://www.mckinsey.com/capabilities/mckinsey-digital/our-insights/the-economic-potential-of-generative-ai-the-next-productivity-frontier?utm_source=chatgpt.com"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www.ft.com/content/68011c4a-8add-4ac5-b30b-b4127aee40ba?utm_source=chatgpt.com" TargetMode="External"/><Relationship Id="rId5" Type="http://schemas.openxmlformats.org/officeDocument/2006/relationships/hyperlink" Target="https://www.thetimes.co.uk/article/mckinsey-cuts-10-percent-of-workforce-rrbnfp68h?utm_source=chatgpt.com" TargetMode="External"/><Relationship Id="rId4" Type="http://schemas.openxmlformats.org/officeDocument/2006/relationships/hyperlink" Target="https://www.businessinsider.com/ai-questions-consulting-firms-are-answering-for-clients-2024-6?utm_source=chatgpt.com" TargetMode="External"/><Relationship Id="rId9" Type="http://schemas.openxmlformats.org/officeDocument/2006/relationships/hyperlink" Target="https://www.fnlondon.com/articles/mckinsey-bosss-next-big-consulting-project-his-own-firm-394c5f3c?utm_source=chatgpt.com"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mckinsey.com/capabilities/mckinsey-digital/our-insights/what-mckinsey-learned-while-creating-its-generative-ai-platform" TargetMode="External"/><Relationship Id="rId2" Type="http://schemas.openxmlformats.org/officeDocument/2006/relationships/slide" Target="../slides/slide37.xml"/><Relationship Id="rId1" Type="http://schemas.openxmlformats.org/officeDocument/2006/relationships/notesMaster" Target="../notesMasters/notesMaster1.xml"/><Relationship Id="rId5" Type="http://schemas.openxmlformats.org/officeDocument/2006/relationships/hyperlink" Target="https://www.mckinsey.com/capabilities/mckinsey-digital/our-insights/the-economic-potential-of-generative-ai-the-next-productivity-frontier" TargetMode="External"/><Relationship Id="rId4" Type="http://schemas.openxmlformats.org/officeDocument/2006/relationships/hyperlink" Target="https://www.mckinsey.com/mgi/forward-thinking/forward-thinking-on-the-brave-new-world-of-generative-ai-with-ethan-mollick" TargetMode="Externa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www.linkedin.com/posts/seshiyer_bcg-bcgx-activity-7313688938232107008-_NF7?utm_source=chatgpt.com" TargetMode="External"/><Relationship Id="rId3" Type="http://schemas.openxmlformats.org/officeDocument/2006/relationships/hyperlink" Target="https://www.businessinsider.com/consulting-ai-mckinsey-bcg-deloitte-pwc-kpmg-chatbots-ai-tools-2025-4?utm_source=chatgpt.com" TargetMode="External"/><Relationship Id="rId7" Type="http://schemas.openxmlformats.org/officeDocument/2006/relationships/hyperlink" Target="https://technologymagazine.com/articles/bcg-secures-ai-leadership-with-expanded-tech-division?utm_source=chatgpt.com" TargetMode="External"/><Relationship Id="rId2" Type="http://schemas.openxmlformats.org/officeDocument/2006/relationships/slide" Target="../slides/slide38.xml"/><Relationship Id="rId1" Type="http://schemas.openxmlformats.org/officeDocument/2006/relationships/notesMaster" Target="../notesMasters/notesMaster1.xml"/><Relationship Id="rId6" Type="http://schemas.openxmlformats.org/officeDocument/2006/relationships/hyperlink" Target="https://www.bcg.com/publications/2025/how-ai-can-be-the-new-all-star-on-your-team?utm_source=chatgpt.com" TargetMode="External"/><Relationship Id="rId11" Type="http://schemas.openxmlformats.org/officeDocument/2006/relationships/hyperlink" Target="https://www.bcg.com/press/7june2023-frontline-employees-how-ai-will-change-jobs?utm_source=chatgpt.com" TargetMode="External"/><Relationship Id="rId5" Type="http://schemas.openxmlformats.org/officeDocument/2006/relationships/hyperlink" Target="https://www.bcg.com/capabilities/artificial-intelligence?utm_source=chatgpt.com" TargetMode="External"/><Relationship Id="rId10" Type="http://schemas.openxmlformats.org/officeDocument/2006/relationships/hyperlink" Target="https://www.businessinsider.com/leaders-discuss-ai-technology-transform-company-workflows-unlock-employee-potential-2024-10?utm_source=chatgpt.com" TargetMode="External"/><Relationship Id="rId4" Type="http://schemas.openxmlformats.org/officeDocument/2006/relationships/hyperlink" Target="https://www.afr.com/technology/how-consultants-are-using-ai-for-emails-powerpoint-and-other-odd-jobs-20240111-p5ewjf?utm_source=chatgpt.com" TargetMode="External"/><Relationship Id="rId9" Type="http://schemas.openxmlformats.org/officeDocument/2006/relationships/hyperlink" Target="https://www.fnlondon.com/articles/boston-consulting-group-re-elects-ceo-schweizer-as-revenue-hits-13bn-28852577?utm_source=chatgpt.com" TargetMode="Externa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www.huntclub.com/blog/bain-capital-darren-herman-3-ways-companies-can-implement-ai?utm_source=chatgpt.com" TargetMode="External"/><Relationship Id="rId3" Type="http://schemas.openxmlformats.org/officeDocument/2006/relationships/hyperlink" Target="https://www.bain.com/insights/how-to-accelerate-progress-on-ai/?utm_source=chatgpt.com" TargetMode="External"/><Relationship Id="rId7" Type="http://schemas.openxmlformats.org/officeDocument/2006/relationships/hyperlink" Target="https://www.bain.com/about/media-center/press-releases/2024/bain--company-enhances-leadership-of-its-digital-practicesai-insights-and-solutions-and-enterprise-technologyamid-high-client-demand/?utm_source=chatgpt.com" TargetMode="External"/><Relationship Id="rId2" Type="http://schemas.openxmlformats.org/officeDocument/2006/relationships/slide" Target="../slides/slide40.xml"/><Relationship Id="rId1" Type="http://schemas.openxmlformats.org/officeDocument/2006/relationships/notesMaster" Target="../notesMasters/notesMaster1.xml"/><Relationship Id="rId6" Type="http://schemas.openxmlformats.org/officeDocument/2006/relationships/hyperlink" Target="https://www.wsj.com/articles/openai-bain-expand-ai-partnership-to-sell-chatgpt-to-businesses-d17775dc?utm_source=chatgpt.com" TargetMode="External"/><Relationship Id="rId5" Type="http://schemas.openxmlformats.org/officeDocument/2006/relationships/hyperlink" Target="https://www.bain.com/vector-digital/advanced-analytics/artificial-intelligence/?utm_source=chatgpt.com" TargetMode="External"/><Relationship Id="rId4" Type="http://schemas.openxmlformats.org/officeDocument/2006/relationships/hyperlink" Target="https://www.bain.com/about/media-center/press-releases/2023/bain--company-makes-pioneering-deployments-of-state-of-the-art-ai-tools-worldwide/?utm_source=chatgpt.com" TargetMode="External"/><Relationship Id="rId9" Type="http://schemas.openxmlformats.org/officeDocument/2006/relationships/hyperlink" Target="https://www.bain.com/insights/you-cant-spell-ai-without-hr-the-surprising-secret-to-scale/?utm_source=chatgpt.com" TargetMode="Externa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www.goingconcern.com/kpmg-brings-up-the-rear-for-revenue-season-with-38-4-billion-in-2024/?utm_source=chatgpt.com" TargetMode="External"/><Relationship Id="rId3" Type="http://schemas.openxmlformats.org/officeDocument/2006/relationships/hyperlink" Target="https://www.techuk.org/resource/ai-adoption-case-study-kpmg-s-ava-gen-ai-tool-creates-useable-outputs-improves-efficiences-and-reduces-risk.html?utm_source=chatgpt.com" TargetMode="External"/><Relationship Id="rId7" Type="http://schemas.openxmlformats.org/officeDocument/2006/relationships/hyperlink" Target="https://www.constructiondive.com/news/kpmg-ai-tariff-tool/747429/?utm_source=chatgpt.com" TargetMode="External"/><Relationship Id="rId2" Type="http://schemas.openxmlformats.org/officeDocument/2006/relationships/slide" Target="../slides/slide43.xml"/><Relationship Id="rId1" Type="http://schemas.openxmlformats.org/officeDocument/2006/relationships/notesMaster" Target="../notesMasters/notesMaster1.xml"/><Relationship Id="rId6" Type="http://schemas.openxmlformats.org/officeDocument/2006/relationships/hyperlink" Target="https://kpmg.com/us/en/media/news/kpmg-launches-ai-trust.html?utm_source=chatgpt.com" TargetMode="External"/><Relationship Id="rId5" Type="http://schemas.openxmlformats.org/officeDocument/2006/relationships/hyperlink" Target="https://kpmg.com/us/en/articles/2025/optimize-your-workforce-with-ai.html?utm_source=chatgpt.com" TargetMode="External"/><Relationship Id="rId10" Type="http://schemas.openxmlformats.org/officeDocument/2006/relationships/hyperlink" Target="https://www.businessinsider.com/kpmg-ai-boss-david-rowlands-artificial-intelligence-strategy-big-four-2024-11?utm_source=chatgpt.com" TargetMode="External"/><Relationship Id="rId4" Type="http://schemas.openxmlformats.org/officeDocument/2006/relationships/hyperlink" Target="https://kpmg.com/xx/en/what-we-do/services/audit/ai-and-technology.html?utm_source=chatgpt.com" TargetMode="External"/><Relationship Id="rId9" Type="http://schemas.openxmlformats.org/officeDocument/2006/relationships/hyperlink" Target="https://www.businessinsider.com/big-four-consulting-ai-threat-jobs-ey-deloitte-kpmg-pwc-2025-5?utm_source=chatgpt.com"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cbinsights.com/research/report/ai-strategies-consultancies/"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a:t>
            </a:r>
          </a:p>
          <a:p>
            <a:r>
              <a:rPr lang="en-GB" b="1" dirty="0"/>
              <a:t>Sam Altman – CEO of OpenAI</a:t>
            </a:r>
          </a:p>
          <a:p>
            <a:r>
              <a:rPr lang="en-GB" b="1" dirty="0"/>
              <a:t>Quote:</a:t>
            </a:r>
            <a:r>
              <a:rPr lang="en-GB" dirty="0"/>
              <a:t> “Deep Research now handles 5% of all economic tasks, performing complex tasks such as product comparison and financial analysis, which were traditionally carried out by highly paid consultants.”</a:t>
            </a:r>
          </a:p>
          <a:p>
            <a:r>
              <a:rPr lang="en-GB" b="1" dirty="0"/>
              <a:t>Date:</a:t>
            </a:r>
            <a:r>
              <a:rPr lang="en-GB" dirty="0"/>
              <a:t> February 2025</a:t>
            </a:r>
          </a:p>
          <a:p>
            <a:r>
              <a:rPr lang="en-GB" b="1" dirty="0"/>
              <a:t>Context:</a:t>
            </a:r>
            <a:r>
              <a:rPr lang="en-GB" dirty="0"/>
              <a:t> In an interview with </a:t>
            </a:r>
            <a:r>
              <a:rPr lang="en-GB" i="1" dirty="0"/>
              <a:t>The Times Tech Podcast</a:t>
            </a:r>
            <a:r>
              <a:rPr lang="en-GB" dirty="0"/>
              <a:t>, Altman discussed OpenAI’s latest AI agent, Deep Research, highlighting its capability to perform tasks traditionally done by consultants, </a:t>
            </a:r>
            <a:r>
              <a:rPr lang="en-GB" dirty="0" err="1"/>
              <a:t>signaling</a:t>
            </a:r>
            <a:r>
              <a:rPr lang="en-GB" dirty="0"/>
              <a:t> a shift in how such services might be delivered in the future.  </a:t>
            </a:r>
          </a:p>
          <a:p>
            <a:r>
              <a:rPr lang="en-GB" b="1" dirty="0"/>
              <a:t>2. </a:t>
            </a:r>
          </a:p>
          <a:p>
            <a:r>
              <a:rPr lang="en-GB" b="1" dirty="0"/>
              <a:t>Alan Paton – Former PwC Partner and CEO of </a:t>
            </a:r>
            <a:r>
              <a:rPr lang="en-GB" b="1" dirty="0" err="1"/>
              <a:t>Qodea</a:t>
            </a:r>
            <a:endParaRPr lang="en-GB" b="1" dirty="0"/>
          </a:p>
          <a:p>
            <a:r>
              <a:rPr lang="en-GB" b="1" dirty="0"/>
              <a:t>Quote:</a:t>
            </a:r>
            <a:r>
              <a:rPr lang="en-GB" dirty="0"/>
              <a:t> “AI-driven automation could eliminate up to 50% of jobs in audit, tax, and advisory within three to five years.”</a:t>
            </a:r>
          </a:p>
          <a:p>
            <a:r>
              <a:rPr lang="en-GB" b="1" dirty="0"/>
              <a:t>Date:</a:t>
            </a:r>
            <a:r>
              <a:rPr lang="en-GB" dirty="0"/>
              <a:t> May 2025</a:t>
            </a:r>
          </a:p>
          <a:p>
            <a:r>
              <a:rPr lang="en-GB" b="1" dirty="0"/>
              <a:t>Context:</a:t>
            </a:r>
            <a:r>
              <a:rPr lang="en-GB" dirty="0"/>
              <a:t> In an article by </a:t>
            </a:r>
            <a:r>
              <a:rPr lang="en-GB" i="1" dirty="0"/>
              <a:t>Business Insider</a:t>
            </a:r>
            <a:r>
              <a:rPr lang="en-GB" dirty="0"/>
              <a:t>, Paton warned that AI could disrupt the traditional business models of major consulting firms, particularly affecting roles in audit, tax, and advisory services.  </a:t>
            </a:r>
          </a:p>
          <a:p>
            <a:r>
              <a:rPr lang="en-GB" b="1" dirty="0"/>
              <a:t>3. </a:t>
            </a:r>
          </a:p>
          <a:p>
            <a:r>
              <a:rPr lang="en-GB" b="1" dirty="0"/>
              <a:t>Travis Kalanick – Co-founder of Uber and CEO of City Storage Systems</a:t>
            </a:r>
          </a:p>
          <a:p>
            <a:r>
              <a:rPr lang="en-GB" b="1" dirty="0"/>
              <a:t>Quote:</a:t>
            </a:r>
            <a:r>
              <a:rPr lang="en-GB" dirty="0"/>
              <a:t> “Consultants who merely execute instructions may be replaced by AI… The future of consulting is like: ‘Push a button. Get a consultant.’”</a:t>
            </a:r>
          </a:p>
          <a:p>
            <a:r>
              <a:rPr lang="en-GB" b="1" dirty="0"/>
              <a:t>Date:</a:t>
            </a:r>
            <a:r>
              <a:rPr lang="en-GB" dirty="0"/>
              <a:t> April 2025</a:t>
            </a:r>
          </a:p>
          <a:p>
            <a:r>
              <a:rPr lang="en-GB" b="1" dirty="0"/>
              <a:t>Context:</a:t>
            </a:r>
            <a:r>
              <a:rPr lang="en-GB" dirty="0"/>
              <a:t> Speaking on the </a:t>
            </a:r>
            <a:r>
              <a:rPr lang="en-GB" i="1" dirty="0"/>
              <a:t>Moonshots with Peter Diamandis</a:t>
            </a:r>
            <a:r>
              <a:rPr lang="en-GB" dirty="0"/>
              <a:t> podcast, Kalanick emphasized that AI threatens traditional consulting roles focused on routine tasks, suggesting a future where AI could handle such responsibilities more efficiently.  </a:t>
            </a:r>
          </a:p>
          <a:p>
            <a:r>
              <a:rPr lang="en-GB" dirty="0"/>
              <a:t>These insights reflect a growing consensus among industry leaders that generative AI is poised to transform the consulting landscape, particularly by automating routine and procedural tasks. </a:t>
            </a:r>
          </a:p>
          <a:p>
            <a:endParaRPr lang="en-GB" dirty="0"/>
          </a:p>
          <a:p>
            <a:r>
              <a:rPr lang="en-GB" b="1" dirty="0"/>
              <a:t>Bill Gates – Co-founder of Microsoft</a:t>
            </a:r>
          </a:p>
          <a:p>
            <a:r>
              <a:rPr lang="en-GB" b="1" dirty="0"/>
              <a:t>Quote:</a:t>
            </a:r>
            <a:r>
              <a:rPr lang="en-GB" dirty="0"/>
              <a:t> “AI will replace humans for most things.”</a:t>
            </a:r>
          </a:p>
          <a:p>
            <a:r>
              <a:rPr lang="en-GB" b="1" dirty="0"/>
              <a:t>Date:</a:t>
            </a:r>
            <a:r>
              <a:rPr lang="en-GB" dirty="0"/>
              <a:t> March 2025</a:t>
            </a:r>
          </a:p>
          <a:p>
            <a:r>
              <a:rPr lang="en-GB" b="1" dirty="0"/>
              <a:t>Context:</a:t>
            </a:r>
            <a:r>
              <a:rPr lang="en-GB" dirty="0"/>
              <a:t> In an interview on </a:t>
            </a:r>
            <a:r>
              <a:rPr lang="en-GB" i="1" dirty="0"/>
              <a:t>The Tonight Show</a:t>
            </a:r>
            <a:r>
              <a:rPr lang="en-GB" dirty="0"/>
              <a:t>, Gates discussed the rapid advancement of AI, suggesting that within a decade, AI could handle the majority of tasks currently performed by humans. While he specifically mentioned professions like doctors and tutors, the implication extends to various knowledge-based roles, including consulting.  </a:t>
            </a:r>
          </a:p>
          <a:p>
            <a:r>
              <a:rPr lang="en-GB" b="1" dirty="0"/>
              <a:t>Additional Insight:</a:t>
            </a:r>
            <a:r>
              <a:rPr lang="en-GB" dirty="0"/>
              <a:t> Gates has also predicted a significant reduction in the standard workweek due to AI’s capabilities, envisioning a future where a two-day workweek becomes the norm as AI takes over routine tasks.  </a:t>
            </a:r>
          </a:p>
          <a:p>
            <a:r>
              <a:rPr lang="en-GB" b="1" dirty="0"/>
              <a:t>2. Mustafa Suleyman – Co-founder of DeepMind and CEO of Inflection AI</a:t>
            </a:r>
          </a:p>
          <a:p>
            <a:r>
              <a:rPr lang="en-GB" b="1" dirty="0"/>
              <a:t>Quote:</a:t>
            </a:r>
            <a:r>
              <a:rPr lang="en-GB" dirty="0"/>
              <a:t> “These are fundamentally </a:t>
            </a:r>
            <a:r>
              <a:rPr lang="en-GB" dirty="0" err="1"/>
              <a:t>labor</a:t>
            </a:r>
            <a:r>
              <a:rPr lang="en-GB" dirty="0"/>
              <a:t>-replacing tools.”</a:t>
            </a:r>
          </a:p>
          <a:p>
            <a:r>
              <a:rPr lang="en-GB" b="1" dirty="0"/>
              <a:t>Date:</a:t>
            </a:r>
            <a:r>
              <a:rPr lang="en-GB" dirty="0"/>
              <a:t> January 2024</a:t>
            </a:r>
          </a:p>
          <a:p>
            <a:r>
              <a:rPr lang="en-GB" b="1" dirty="0"/>
              <a:t>Context:</a:t>
            </a:r>
            <a:r>
              <a:rPr lang="en-GB" dirty="0"/>
              <a:t> At the World Economic Forum in Davos, Suleyman emphasized that AI technologies, while augmenting human productivity in the short term, are inherently designed to replace </a:t>
            </a:r>
            <a:r>
              <a:rPr lang="en-GB" dirty="0" err="1"/>
              <a:t>labor</a:t>
            </a:r>
            <a:r>
              <a:rPr lang="en-GB" dirty="0"/>
              <a:t> over the long term. He highlighted the need for careful integration of AI into the workforce to address potential job displacement.  </a:t>
            </a:r>
          </a:p>
          <a:p>
            <a:r>
              <a:rPr lang="en-GB" b="1" dirty="0"/>
              <a:t>Additional Insight:</a:t>
            </a:r>
            <a:r>
              <a:rPr lang="en-GB" dirty="0"/>
              <a:t> Suleyman has advocated for viewing AI as tools that should be controlled and contained to ensure they remain beneficial to humanity.  </a:t>
            </a:r>
          </a:p>
          <a:p>
            <a:r>
              <a:rPr lang="en-GB" dirty="0"/>
              <a:t>These perspectives from industry leaders underscore the transformative potential of AI in sectors like consulting, where tasks involving data analysis, strategic planning, and routine decision-making are prevalent.</a:t>
            </a:r>
          </a:p>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6</a:t>
            </a:fld>
            <a:endParaRPr lang="en-US"/>
          </a:p>
        </p:txBody>
      </p:sp>
    </p:spTree>
    <p:extLst>
      <p:ext uri="{BB962C8B-B14F-4D97-AF65-F5344CB8AC3E}">
        <p14:creationId xmlns:p14="http://schemas.microsoft.com/office/powerpoint/2010/main" val="1739503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Methodology: 52 structured interviews across enterprise stakeholders, systematic analysis</a:t>
            </a:r>
          </a:p>
          <a:p>
            <a:r>
              <a:rPr lang="en-GB" sz="1200" kern="1200" dirty="0">
                <a:solidFill>
                  <a:schemeClr val="tx1"/>
                </a:solidFill>
                <a:effectLst/>
                <a:latin typeface="+mn-lt"/>
                <a:ea typeface="+mn-ea"/>
                <a:cs typeface="+mn-cs"/>
              </a:rPr>
              <a:t>of 300+ public AI initiatives and announcements, and surveys with 153 leaders. Success</a:t>
            </a:r>
          </a:p>
          <a:p>
            <a:r>
              <a:rPr lang="en-GB" sz="1200" kern="1200" dirty="0">
                <a:solidFill>
                  <a:schemeClr val="tx1"/>
                </a:solidFill>
                <a:effectLst/>
                <a:latin typeface="+mn-lt"/>
                <a:ea typeface="+mn-ea"/>
                <a:cs typeface="+mn-cs"/>
              </a:rPr>
              <a:t>defined as deployment beyond pilot phase with measurable KPIs. ROI impact measured 6</a:t>
            </a:r>
          </a:p>
          <a:p>
            <a:r>
              <a:rPr lang="en-GB" sz="1200" kern="1200" dirty="0">
                <a:solidFill>
                  <a:schemeClr val="tx1"/>
                </a:solidFill>
                <a:effectLst/>
                <a:latin typeface="+mn-lt"/>
                <a:ea typeface="+mn-ea"/>
                <a:cs typeface="+mn-cs"/>
              </a:rPr>
              <a:t>months post-pilot, adjusted for department size. Confidence intervals calculated using</a:t>
            </a:r>
          </a:p>
          <a:p>
            <a:r>
              <a:rPr lang="en-GB" sz="1200" kern="1200" dirty="0">
                <a:solidFill>
                  <a:schemeClr val="tx1"/>
                </a:solidFill>
                <a:effectLst/>
                <a:latin typeface="+mn-lt"/>
                <a:ea typeface="+mn-ea"/>
                <a:cs typeface="+mn-cs"/>
              </a:rPr>
              <a:t>bootstrap resampling methods where applicable.</a:t>
            </a:r>
          </a:p>
          <a:p>
            <a:endParaRPr lang="en-US" dirty="0"/>
          </a:p>
        </p:txBody>
      </p:sp>
      <p:sp>
        <p:nvSpPr>
          <p:cNvPr id="4" name="Slide Number Placeholder 3"/>
          <p:cNvSpPr>
            <a:spLocks noGrp="1"/>
          </p:cNvSpPr>
          <p:nvPr>
            <p:ph type="sldNum" sz="quarter" idx="5"/>
          </p:nvPr>
        </p:nvSpPr>
        <p:spPr/>
        <p:txBody>
          <a:bodyPr/>
          <a:lstStyle/>
          <a:p>
            <a:fld id="{C9E7B7F8-81FA-46DC-8926-8D6B124E54D6}" type="slidenum">
              <a:rPr lang="en-US" smtClean="0"/>
              <a:t>21</a:t>
            </a:fld>
            <a:endParaRPr lang="en-US"/>
          </a:p>
        </p:txBody>
      </p:sp>
    </p:spTree>
    <p:extLst>
      <p:ext uri="{BB962C8B-B14F-4D97-AF65-F5344CB8AC3E}">
        <p14:creationId xmlns:p14="http://schemas.microsoft.com/office/powerpoint/2010/main" val="3233104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Meet Lilli: McKinsey’s Generative AI Tool  (</a:t>
            </a:r>
            <a:r>
              <a:rPr lang="en-GB" dirty="0" err="1"/>
              <a:t>mckinsey.com</a:t>
            </a:r>
            <a:r>
              <a:rPr lang="en-GB" dirty="0"/>
              <a:t> https://</a:t>
            </a:r>
            <a:r>
              <a:rPr lang="en-GB" dirty="0" err="1"/>
              <a:t>www.mckinsey.com</a:t>
            </a:r>
            <a:r>
              <a:rPr lang="en-GB" dirty="0"/>
              <a:t>/about-us/new-at-</a:t>
            </a:r>
            <a:r>
              <a:rPr lang="en-GB" dirty="0" err="1"/>
              <a:t>mckinsey</a:t>
            </a:r>
            <a:r>
              <a:rPr lang="en-GB" dirty="0"/>
              <a:t>-blog/meet-</a:t>
            </a:r>
            <a:r>
              <a:rPr lang="en-GB" dirty="0" err="1"/>
              <a:t>lilli</a:t>
            </a:r>
            <a:r>
              <a:rPr lang="en-GB" dirty="0"/>
              <a:t>-our-generative-ai-tool</a:t>
            </a:r>
          </a:p>
          <a:p>
            <a:r>
              <a:rPr lang="en-GB" dirty="0"/>
              <a:t>- Rewiring McKinsey with Lilli (</a:t>
            </a:r>
            <a:r>
              <a:rPr lang="en-GB" dirty="0" err="1"/>
              <a:t>mckinsey.com</a:t>
            </a:r>
            <a:r>
              <a:rPr lang="en-GB" dirty="0"/>
              <a:t>). https://</a:t>
            </a:r>
            <a:r>
              <a:rPr lang="en-GB" dirty="0" err="1"/>
              <a:t>www.mckinsey.com</a:t>
            </a:r>
            <a:r>
              <a:rPr lang="en-GB" dirty="0"/>
              <a:t>/capabilities/</a:t>
            </a:r>
            <a:r>
              <a:rPr lang="en-GB" dirty="0" err="1"/>
              <a:t>mckinsey</a:t>
            </a:r>
            <a:r>
              <a:rPr lang="en-GB" dirty="0"/>
              <a:t>-digital/how-we-help-clients/rewiring-the-way-</a:t>
            </a:r>
            <a:r>
              <a:rPr lang="en-GB" dirty="0" err="1"/>
              <a:t>mckinsey</a:t>
            </a:r>
            <a:r>
              <a:rPr lang="en-GB" dirty="0"/>
              <a:t>-works-with-</a:t>
            </a:r>
            <a:r>
              <a:rPr lang="en-GB" dirty="0" err="1"/>
              <a:t>lilli</a:t>
            </a:r>
            <a:endParaRPr lang="en-GB" dirty="0"/>
          </a:p>
          <a:p>
            <a:r>
              <a:rPr lang="en-GB" dirty="0"/>
              <a:t>- Lessons from Building Lilli (</a:t>
            </a:r>
            <a:r>
              <a:rPr lang="en-GB" dirty="0" err="1"/>
              <a:t>mckinsey.com</a:t>
            </a:r>
            <a:r>
              <a:rPr lang="en-GB" dirty="0"/>
              <a:t>). https://</a:t>
            </a:r>
            <a:r>
              <a:rPr lang="en-GB" dirty="0" err="1"/>
              <a:t>www.mckinsey.com</a:t>
            </a:r>
            <a:r>
              <a:rPr lang="en-GB" dirty="0"/>
              <a:t>/capabilities/</a:t>
            </a:r>
            <a:r>
              <a:rPr lang="en-GB" dirty="0" err="1"/>
              <a:t>mckinsey</a:t>
            </a:r>
            <a:r>
              <a:rPr lang="en-GB" dirty="0"/>
              <a:t>-digital/our-insights/what-mckinsey-learned-while-creating-its-generative-ai-platform?hsid=44cf8331-b5e2-4795-a1a1-eb40d60290d1</a:t>
            </a:r>
          </a:p>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31</a:t>
            </a:fld>
            <a:endParaRPr lang="en-US"/>
          </a:p>
        </p:txBody>
      </p:sp>
    </p:spTree>
    <p:extLst>
      <p:ext uri="{BB962C8B-B14F-4D97-AF65-F5344CB8AC3E}">
        <p14:creationId xmlns:p14="http://schemas.microsoft.com/office/powerpoint/2010/main" val="676728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McKinsey &amp; Company has strategically integrated artificial intelligence (AI) into its internal operations and client services, positioning itself as a leader in the evolving consulting landscape.</a:t>
            </a:r>
          </a:p>
          <a:p>
            <a:r>
              <a:rPr lang="en-GB" b="1" dirty="0"/>
              <a:t>🧠 Internal Adoption of AI at McKinsey</a:t>
            </a:r>
          </a:p>
          <a:p>
            <a:r>
              <a:rPr lang="en-GB" dirty="0"/>
              <a:t>To enhance consultant productivity and streamline workflows, McKinsey developed "Lilli," an in-house generative AI chatbot. Trained on over 100 years of the firm's knowledge, encompassing more than 100,000 documents and interviews, Lilli assists consultants in research, data analysis, and problem-solving. Since its rollout in 2023, over 70% of McKinsey's 45,000 employees have adopted Lilli, with users engaging the tool approximately 17 times per week. The firm reports that Lilli has enabled consultants to save about 30% of their time on various tasks. </a:t>
            </a:r>
            <a:r>
              <a:rPr lang="en-GB" dirty="0">
                <a:hlinkClick r:id="rId3"/>
              </a:rPr>
              <a:t>LinkedIn+2Business Insider+2LinkedIn+2</a:t>
            </a:r>
            <a:endParaRPr lang="en-GB" dirty="0"/>
          </a:p>
          <a:p>
            <a:r>
              <a:rPr lang="en-GB" dirty="0"/>
              <a:t>Beyond Lilli, McKinsey empowers consultants to build custom AI agents tailored to specific tasks. These agents, along with domain-specific tools in areas like life sciences, support consultants in rapidly understanding sector-specific information and client needs. </a:t>
            </a:r>
            <a:r>
              <a:rPr lang="en-GB" dirty="0">
                <a:hlinkClick r:id="rId3"/>
              </a:rPr>
              <a:t>LinkedIn+2Business Insider+2LinkedIn+2</a:t>
            </a:r>
            <a:endParaRPr lang="en-GB" dirty="0"/>
          </a:p>
          <a:p>
            <a:r>
              <a:rPr lang="en-GB" b="1" dirty="0"/>
              <a:t>🤖 AI Services Offered to Clients</a:t>
            </a:r>
          </a:p>
          <a:p>
            <a:r>
              <a:rPr lang="en-GB" dirty="0"/>
              <a:t>McKinsey extends its AI expertise to clients through </a:t>
            </a:r>
            <a:r>
              <a:rPr lang="en-GB" dirty="0" err="1"/>
              <a:t>QuantumBlack</a:t>
            </a:r>
            <a:r>
              <a:rPr lang="en-GB" dirty="0"/>
              <a:t>, its AI consulting arm established following the 2015 acquisition of a data analytics and design company. </a:t>
            </a:r>
            <a:r>
              <a:rPr lang="en-GB" dirty="0" err="1"/>
              <a:t>QuantumBlack</a:t>
            </a:r>
            <a:r>
              <a:rPr lang="en-GB" dirty="0"/>
              <a:t> employs approximately 7,000 tech experts across 50 countries. The firm has completed over 400 generative AI projects for clients, developing solutions that include predictive analytics, AI-driven market analysis, and customized AI tools. </a:t>
            </a:r>
            <a:r>
              <a:rPr lang="en-GB" dirty="0">
                <a:hlinkClick r:id="rId3"/>
              </a:rPr>
              <a:t>Business Insider</a:t>
            </a:r>
            <a:endParaRPr lang="en-GB" dirty="0"/>
          </a:p>
          <a:p>
            <a:r>
              <a:rPr lang="en-GB" dirty="0"/>
              <a:t>McKinsey's approach emphasizes helping clients integrate AI into their operations effectively. This includes advising on data infrastructure readiness, fostering an innovative culture, and redesigning business models to leverage AI capabilities fully. </a:t>
            </a:r>
            <a:r>
              <a:rPr lang="en-GB" dirty="0">
                <a:hlinkClick r:id="rId4"/>
              </a:rPr>
              <a:t>Business Insider+1Medium+1</a:t>
            </a:r>
            <a:endParaRPr lang="en-GB" dirty="0"/>
          </a:p>
          <a:p>
            <a:r>
              <a:rPr lang="en-GB" b="1" dirty="0"/>
              <a:t>📈 Impact on Revenue and Growth</a:t>
            </a:r>
          </a:p>
          <a:p>
            <a:r>
              <a:rPr lang="en-GB" dirty="0"/>
              <a:t>While specific revenue figures for 2024 have not been disclosed, McKinsey reported $16 billion in revenue for 2023. The firm acknowledges that generative AI enables new levels of productivity for its teams. </a:t>
            </a:r>
            <a:r>
              <a:rPr lang="en-GB" dirty="0">
                <a:hlinkClick r:id="rId5"/>
              </a:rPr>
              <a:t>Reddit+3The Times+3Business Insider+3</a:t>
            </a:r>
            <a:r>
              <a:rPr lang="en-GB" dirty="0">
                <a:hlinkClick r:id="rId6"/>
              </a:rPr>
              <a:t>Financial Times</a:t>
            </a:r>
            <a:endParaRPr lang="en-GB" dirty="0"/>
          </a:p>
          <a:p>
            <a:r>
              <a:rPr lang="en-GB" dirty="0"/>
              <a:t>McKinsey's research estimates that generative AI could add between $2.6 trillion to $4.4 trillion annually in productivity growth across various industries. The firm is actively working with clients to capture this potential by integrating AI into their operations. </a:t>
            </a:r>
            <a:r>
              <a:rPr lang="en-GB" dirty="0">
                <a:hlinkClick r:id="rId7"/>
              </a:rPr>
              <a:t>McKinsey &amp; Company+2McKinsey &amp; Company+2McKinsey &amp; Company+2</a:t>
            </a:r>
            <a:endParaRPr lang="en-GB" dirty="0"/>
          </a:p>
          <a:p>
            <a:r>
              <a:rPr lang="en-GB" b="1" dirty="0"/>
              <a:t>🗣️ Leadership Perspectives</a:t>
            </a:r>
          </a:p>
          <a:p>
            <a:r>
              <a:rPr lang="en-GB" dirty="0"/>
              <a:t>McKinsey's leadership views AI as a transformative force in consulting. Bob Sternfels, McKinsey's Global Managing Partner, has initiated a "rewire" of the company to modernize governance and improve internal structures, emphasizing the need for high-value consulting services in the AI era. </a:t>
            </a:r>
            <a:r>
              <a:rPr lang="en-GB" dirty="0" err="1">
                <a:hlinkClick r:id="rId8"/>
              </a:rPr>
              <a:t>Medium</a:t>
            </a:r>
            <a:r>
              <a:rPr lang="en-GB" dirty="0" err="1">
                <a:hlinkClick r:id="rId9"/>
              </a:rPr>
              <a:t>Financial</a:t>
            </a:r>
            <a:r>
              <a:rPr lang="en-GB" dirty="0">
                <a:hlinkClick r:id="rId9"/>
              </a:rPr>
              <a:t> News London+1Financial Times+1</a:t>
            </a:r>
            <a:endParaRPr lang="en-GB" dirty="0"/>
          </a:p>
          <a:p>
            <a:r>
              <a:rPr lang="en-GB" dirty="0"/>
              <a:t>Shelley Stewart, a senior partner, highlighted the firm's shift from merely offering strategic ideas to actively helping clients implement changes, stating, "What we do is we effect change: change in results, change in capabilities." </a:t>
            </a:r>
            <a:r>
              <a:rPr lang="en-GB" dirty="0">
                <a:hlinkClick r:id="rId9"/>
              </a:rPr>
              <a:t>Financial News London</a:t>
            </a:r>
            <a:endParaRPr lang="en-GB" dirty="0"/>
          </a:p>
          <a:p>
            <a:r>
              <a:rPr lang="en-GB" dirty="0"/>
              <a:t>In summary, McKinsey &amp; Company's integration of AI into its operations and client services underscores its commitment to innovation and adapting to the evolving consulting landscape. Through tools like Lilli and its AI consulting arm, </a:t>
            </a:r>
            <a:r>
              <a:rPr lang="en-GB" dirty="0" err="1"/>
              <a:t>QuantumBlack</a:t>
            </a:r>
            <a:r>
              <a:rPr lang="en-GB" dirty="0"/>
              <a:t>, McKinsey is enhancing productivity and delivering significant value to clients, positioning itself at the forefront of AI-driven transformation in the consulting industry.</a:t>
            </a:r>
          </a:p>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32</a:t>
            </a:fld>
            <a:endParaRPr lang="en-US"/>
          </a:p>
        </p:txBody>
      </p:sp>
    </p:spTree>
    <p:extLst>
      <p:ext uri="{BB962C8B-B14F-4D97-AF65-F5344CB8AC3E}">
        <p14:creationId xmlns:p14="http://schemas.microsoft.com/office/powerpoint/2010/main" val="2828610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Generative AI is poised to significantly impact the consultancy industry by transforming how consultants work and the skills they require.</a:t>
            </a:r>
          </a:p>
          <a:p>
            <a:r>
              <a:rPr lang="en-GB" sz="1200" b="1" i="0" u="none" strike="noStrike" kern="1200" dirty="0">
                <a:solidFill>
                  <a:schemeClr val="tx1"/>
                </a:solidFill>
                <a:effectLst/>
                <a:latin typeface="+mn-lt"/>
                <a:ea typeface="+mn-ea"/>
                <a:cs typeface="+mn-cs"/>
              </a:rPr>
              <a:t>Impact on Consultancy Work</a:t>
            </a:r>
          </a:p>
          <a:p>
            <a:r>
              <a:rPr lang="en-GB" sz="1200" b="1" i="0" u="none" strike="noStrike" kern="1200" dirty="0">
                <a:solidFill>
                  <a:schemeClr val="tx1"/>
                </a:solidFill>
                <a:effectLst/>
                <a:latin typeface="+mn-lt"/>
                <a:ea typeface="+mn-ea"/>
                <a:cs typeface="+mn-cs"/>
              </a:rPr>
              <a:t>Shift from Analytics to Insights</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Generative AI is expected to change the focus of consultants from performing analytics to activating insights. This shift implies that consultants will spend less time on data analysis and more on applying insights to create value </a:t>
            </a:r>
            <a:r>
              <a:rPr lang="en-GB" sz="1200" b="0" i="0" u="none" strike="noStrike" kern="1200" baseline="30000" dirty="0">
                <a:solidFill>
                  <a:schemeClr val="tx1"/>
                </a:solidFill>
                <a:effectLst/>
                <a:latin typeface="+mn-lt"/>
                <a:ea typeface="+mn-ea"/>
                <a:cs typeface="+mn-cs"/>
                <a:hlinkClick r:id="rId3"/>
              </a:rPr>
              <a:t>[2]</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The technology can handle complex data analysis and writing tasks, which traditionally required significant human effort. This capability allows consultants to focus on higher-level strategic tasks </a:t>
            </a:r>
            <a:r>
              <a:rPr lang="en-GB" sz="1200" b="0" i="0" u="none" strike="noStrike" kern="1200" baseline="30000" dirty="0">
                <a:solidFill>
                  <a:schemeClr val="tx1"/>
                </a:solidFill>
                <a:effectLst/>
                <a:latin typeface="+mn-lt"/>
                <a:ea typeface="+mn-ea"/>
                <a:cs typeface="+mn-cs"/>
                <a:hlinkClick r:id="rId4"/>
              </a:rPr>
              <a:t>[1]</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Enhancement of Business Processes</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Generative AI can optimize business processes and make recommendations, potentially generating trillions of dollars in additional value annually. This transformation will likely affect the nature of consultancy work, making it more efficient and impactful </a:t>
            </a:r>
            <a:r>
              <a:rPr lang="en-GB" sz="1200" b="0" i="0" u="none" strike="noStrike" kern="1200" baseline="30000" dirty="0">
                <a:solidFill>
                  <a:schemeClr val="tx1"/>
                </a:solidFill>
                <a:effectLst/>
                <a:latin typeface="+mn-lt"/>
                <a:ea typeface="+mn-ea"/>
                <a:cs typeface="+mn-cs"/>
                <a:hlinkClick r:id="rId5"/>
              </a:rPr>
              <a:t>[3]</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The ability of AI to autonomously generate slides and perform complex data work suggests that consultants will need to adapt to new tools and methodologies </a:t>
            </a:r>
            <a:r>
              <a:rPr lang="en-GB" sz="1200" b="0" i="0" u="none" strike="noStrike" kern="1200" baseline="30000" dirty="0">
                <a:solidFill>
                  <a:schemeClr val="tx1"/>
                </a:solidFill>
                <a:effectLst/>
                <a:latin typeface="+mn-lt"/>
                <a:ea typeface="+mn-ea"/>
                <a:cs typeface="+mn-cs"/>
                <a:hlinkClick r:id="rId4"/>
              </a:rPr>
              <a:t>[1]</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Skills and Workforce Implications</a:t>
            </a:r>
          </a:p>
          <a:p>
            <a:r>
              <a:rPr lang="en-GB" sz="1200" b="1" i="0" u="none" strike="noStrike" kern="1200" dirty="0">
                <a:solidFill>
                  <a:schemeClr val="tx1"/>
                </a:solidFill>
                <a:effectLst/>
                <a:latin typeface="+mn-lt"/>
                <a:ea typeface="+mn-ea"/>
                <a:cs typeface="+mn-cs"/>
              </a:rPr>
              <a:t>Need for Empathy and Diversity</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As the role of consultants evolves, there will be a greater emphasis on empathy and diversity in hiring. Future consultants will need to be more empathetic in their interactions and diverse in their perspectives to effectively leverage AI-generated insights </a:t>
            </a:r>
            <a:r>
              <a:rPr lang="en-GB" sz="1200" b="0" i="0" u="none" strike="noStrike" kern="1200" baseline="30000" dirty="0">
                <a:solidFill>
                  <a:schemeClr val="tx1"/>
                </a:solidFill>
                <a:effectLst/>
                <a:latin typeface="+mn-lt"/>
                <a:ea typeface="+mn-ea"/>
                <a:cs typeface="+mn-cs"/>
                <a:hlinkClick r:id="rId3"/>
              </a:rPr>
              <a:t>[2]</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The industry may see a broader range of people entering consultancy roles, as AI enables individuals with different backgrounds and experiences to contribute effectively </a:t>
            </a:r>
            <a:r>
              <a:rPr lang="en-GB" sz="1200" b="0" i="0" u="none" strike="noStrike" kern="1200" baseline="30000" dirty="0">
                <a:solidFill>
                  <a:schemeClr val="tx1"/>
                </a:solidFill>
                <a:effectLst/>
                <a:latin typeface="+mn-lt"/>
                <a:ea typeface="+mn-ea"/>
                <a:cs typeface="+mn-cs"/>
                <a:hlinkClick r:id="rId3"/>
              </a:rPr>
              <a:t>[2]</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Human Oversight and Adaptation</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Despite the capabilities of generative AI, human oversight remains crucial. Consultants must be involved in guiding AI applications and correcting outputs to ensure accuracy and relevance </a:t>
            </a:r>
            <a:r>
              <a:rPr lang="en-GB" sz="1200" b="0" i="0" u="none" strike="noStrike" kern="1200" baseline="30000" dirty="0">
                <a:solidFill>
                  <a:schemeClr val="tx1"/>
                </a:solidFill>
                <a:effectLst/>
                <a:latin typeface="+mn-lt"/>
                <a:ea typeface="+mn-ea"/>
                <a:cs typeface="+mn-cs"/>
                <a:hlinkClick r:id="rId4"/>
              </a:rPr>
              <a:t>[1]</a:t>
            </a:r>
            <a:endParaRPr lang="en-GB" sz="1200" b="0" i="0" u="none" strike="noStrike" kern="1200" dirty="0">
              <a:solidFill>
                <a:schemeClr val="tx1"/>
              </a:solidFill>
              <a:effectLst/>
              <a:latin typeface="+mn-lt"/>
              <a:ea typeface="+mn-ea"/>
              <a:cs typeface="+mn-cs"/>
            </a:endParaRPr>
          </a:p>
          <a:p>
            <a:pPr lvl="1"/>
            <a:r>
              <a:rPr lang="en-GB" sz="1200" b="0" i="0" u="none" strike="noStrike" kern="1200" dirty="0">
                <a:solidFill>
                  <a:schemeClr val="tx1"/>
                </a:solidFill>
                <a:effectLst/>
                <a:latin typeface="+mn-lt"/>
                <a:ea typeface="+mn-ea"/>
                <a:cs typeface="+mn-cs"/>
              </a:rPr>
              <a:t>There is a need for consultants to adapt to the rapid pace of AI development and address emerging risks, such as intellectual property concerns and the quality of AI-generated content </a:t>
            </a:r>
            <a:r>
              <a:rPr lang="en-GB" sz="1200" b="0" i="0" u="none" strike="noStrike" kern="1200" baseline="30000" dirty="0">
                <a:solidFill>
                  <a:schemeClr val="tx1"/>
                </a:solidFill>
                <a:effectLst/>
                <a:latin typeface="+mn-lt"/>
                <a:ea typeface="+mn-ea"/>
                <a:cs typeface="+mn-cs"/>
                <a:hlinkClick r:id="rId5"/>
              </a:rPr>
              <a:t>[3]</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Conclusion</a:t>
            </a:r>
          </a:p>
          <a:p>
            <a:r>
              <a:rPr lang="en-GB" sz="1200" b="0" i="0" u="none" strike="noStrike" kern="1200" dirty="0">
                <a:solidFill>
                  <a:schemeClr val="tx1"/>
                </a:solidFill>
                <a:effectLst/>
                <a:latin typeface="+mn-lt"/>
                <a:ea typeface="+mn-ea"/>
                <a:cs typeface="+mn-cs"/>
              </a:rPr>
              <a:t>Generative AI is set to transform the consultancy industry by shifting the focus from analytics to insights, enhancing business processes, and necessitating new skills and diversity in the workforce. However, human oversight and adaptation to emerging risks remain essential. This analysis is based solely on insights published by McKinsey.</a:t>
            </a:r>
          </a:p>
          <a:p>
            <a:r>
              <a:rPr lang="en-GB" sz="1200" b="1" i="0" u="none" strike="noStrike" kern="1200" dirty="0">
                <a:solidFill>
                  <a:schemeClr val="tx1"/>
                </a:solidFill>
                <a:effectLst/>
                <a:latin typeface="+mn-lt"/>
                <a:ea typeface="+mn-ea"/>
                <a:cs typeface="+mn-cs"/>
              </a:rPr>
              <a:t>Citations:</a:t>
            </a: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1. </a:t>
            </a:r>
            <a:r>
              <a:rPr lang="en-GB" sz="1200" b="0" i="0" u="none" strike="noStrike" kern="1200" dirty="0">
                <a:solidFill>
                  <a:schemeClr val="tx1"/>
                </a:solidFill>
                <a:effectLst/>
                <a:latin typeface="+mn-lt"/>
                <a:ea typeface="+mn-ea"/>
                <a:cs typeface="+mn-cs"/>
                <a:hlinkClick r:id="rId4"/>
              </a:rPr>
              <a:t>https://www.mckinsey.com/mgi/forward-thinking/forward-thinking-on-the-brave-new-world-of-generative-ai-with-ethan-mollick</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2. </a:t>
            </a:r>
            <a:r>
              <a:rPr lang="en-GB" sz="1200" b="0" i="0" u="none" strike="noStrike" kern="1200" dirty="0">
                <a:solidFill>
                  <a:schemeClr val="tx1"/>
                </a:solidFill>
                <a:effectLst/>
                <a:latin typeface="+mn-lt"/>
                <a:ea typeface="+mn-ea"/>
                <a:cs typeface="+mn-cs"/>
                <a:hlinkClick r:id="rId3"/>
              </a:rPr>
              <a:t>https://www.mckinsey.com/capabilities/mckinsey-digital/our-insights/what-mckinsey-learned-while-creating-its-generative-ai-platform</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3. </a:t>
            </a:r>
            <a:r>
              <a:rPr lang="en-GB" sz="1200" b="0" i="0" u="none" strike="noStrike" kern="1200" dirty="0">
                <a:solidFill>
                  <a:schemeClr val="tx1"/>
                </a:solidFill>
                <a:effectLst/>
                <a:latin typeface="+mn-lt"/>
                <a:ea typeface="+mn-ea"/>
                <a:cs typeface="+mn-cs"/>
                <a:hlinkClick r:id="rId5"/>
              </a:rPr>
              <a:t>https://www.mckinsey.com/capabilities/mckinsey-digital/our-insights/the-economic-potential-of-generative-ai-the-next-productivity-frontier</a:t>
            </a: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37</a:t>
            </a:fld>
            <a:endParaRPr lang="en-US"/>
          </a:p>
        </p:txBody>
      </p:sp>
    </p:spTree>
    <p:extLst>
      <p:ext uri="{BB962C8B-B14F-4D97-AF65-F5344CB8AC3E}">
        <p14:creationId xmlns:p14="http://schemas.microsoft.com/office/powerpoint/2010/main" val="1985812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Boston Consulting Group (BCG) has strategically integrated artificial intelligence (AI) into its operations and client services, positioning itself as a leader in AI-driven consulting.</a:t>
            </a:r>
          </a:p>
          <a:p>
            <a:r>
              <a:rPr lang="en-GB" b="1" dirty="0"/>
              <a:t>🧠 Internal Use of AI at BCG</a:t>
            </a:r>
          </a:p>
          <a:p>
            <a:r>
              <a:rPr lang="en-GB" dirty="0"/>
              <a:t>BCG has embedded AI tools across its workforce to enhance productivity and innovation:</a:t>
            </a:r>
          </a:p>
          <a:p>
            <a:r>
              <a:rPr lang="en-GB" b="1" dirty="0"/>
              <a:t>Custom GPTs</a:t>
            </a:r>
            <a:r>
              <a:rPr lang="en-GB" dirty="0"/>
              <a:t>: Employees have developed over 18,000 tailored GPTs for tasks like document summarization and HR inquiries. </a:t>
            </a:r>
            <a:r>
              <a:rPr lang="en-GB" dirty="0">
                <a:hlinkClick r:id="rId3"/>
              </a:rPr>
              <a:t>Business Insider</a:t>
            </a:r>
            <a:endParaRPr lang="en-GB" dirty="0"/>
          </a:p>
          <a:p>
            <a:r>
              <a:rPr lang="en-GB" b="1" dirty="0" err="1"/>
              <a:t>Deckster</a:t>
            </a:r>
            <a:r>
              <a:rPr lang="en-GB" dirty="0"/>
              <a:t>: An AI-powered slide creation tool trained on hundreds of templates, aiding consultants in efficient presentation development. </a:t>
            </a:r>
            <a:r>
              <a:rPr lang="en-GB" dirty="0">
                <a:hlinkClick r:id="rId3"/>
              </a:rPr>
              <a:t>Business Insider</a:t>
            </a:r>
            <a:endParaRPr lang="en-GB" dirty="0"/>
          </a:p>
          <a:p>
            <a:r>
              <a:rPr lang="en-GB" b="1" dirty="0"/>
              <a:t>GENE</a:t>
            </a:r>
            <a:r>
              <a:rPr lang="en-GB" dirty="0"/>
              <a:t>: A conversational AI chatbot built on GPT-4o, used for brainstorming, content creation, and client engagement. </a:t>
            </a:r>
            <a:r>
              <a:rPr lang="en-GB" dirty="0">
                <a:hlinkClick r:id="rId3"/>
              </a:rPr>
              <a:t>Business Insider</a:t>
            </a:r>
            <a:endParaRPr lang="en-GB" dirty="0"/>
          </a:p>
          <a:p>
            <a:r>
              <a:rPr lang="en-GB" b="1" dirty="0"/>
              <a:t>Navi</a:t>
            </a:r>
            <a:r>
              <a:rPr lang="en-GB" dirty="0"/>
              <a:t>: An internal chatbot that navigates BCG's knowledge systems, assisting with decision-making processes. </a:t>
            </a:r>
            <a:r>
              <a:rPr lang="en-GB" dirty="0">
                <a:hlinkClick r:id="rId4"/>
              </a:rPr>
              <a:t>Australian Financial Review</a:t>
            </a:r>
            <a:endParaRPr lang="en-GB" dirty="0"/>
          </a:p>
          <a:p>
            <a:r>
              <a:rPr lang="en-GB" dirty="0"/>
              <a:t>These tools have enabled employees to reinvest approximately 70% of time saved into higher-value activities. </a:t>
            </a:r>
            <a:r>
              <a:rPr lang="en-GB" dirty="0">
                <a:hlinkClick r:id="rId3"/>
              </a:rPr>
              <a:t>Business Insider</a:t>
            </a:r>
            <a:endParaRPr lang="en-GB" dirty="0"/>
          </a:p>
          <a:p>
            <a:r>
              <a:rPr lang="en-GB" b="1" dirty="0"/>
              <a:t>🤖 AI Services Offered to Clients</a:t>
            </a:r>
          </a:p>
          <a:p>
            <a:r>
              <a:rPr lang="en-GB" dirty="0"/>
              <a:t>BCG provides a range of AI services to clients through its tech division, BCG X:</a:t>
            </a:r>
            <a:r>
              <a:rPr lang="en-GB" dirty="0">
                <a:hlinkClick r:id="rId5"/>
              </a:rPr>
              <a:t>LinkedIn+2BCG Global+2BCG Global+2</a:t>
            </a:r>
            <a:endParaRPr lang="en-GB" dirty="0"/>
          </a:p>
          <a:p>
            <a:r>
              <a:rPr lang="en-GB" b="1" dirty="0"/>
              <a:t>AI Agents</a:t>
            </a:r>
            <a:r>
              <a:rPr lang="en-GB" dirty="0"/>
              <a:t>: Autonomous systems that observe, plan, and act to optimize business processes. For instance, a shipbuilding company reduced engineering resources by 45% using AI agents. </a:t>
            </a:r>
            <a:r>
              <a:rPr lang="en-GB" dirty="0">
                <a:hlinkClick r:id="rId6"/>
              </a:rPr>
              <a:t>BCG Global+1BCG Global+1</a:t>
            </a:r>
            <a:endParaRPr lang="en-GB" dirty="0"/>
          </a:p>
          <a:p>
            <a:r>
              <a:rPr lang="en-GB" b="1" dirty="0" err="1"/>
              <a:t>AgentKit</a:t>
            </a:r>
            <a:r>
              <a:rPr lang="en-GB" dirty="0"/>
              <a:t>: An open-source toolkit developed by BCG to build and implement AI agents, used in over 30 projects. </a:t>
            </a:r>
            <a:r>
              <a:rPr lang="en-GB" dirty="0">
                <a:hlinkClick r:id="rId6"/>
              </a:rPr>
              <a:t>BCG Global</a:t>
            </a:r>
            <a:endParaRPr lang="en-GB" dirty="0"/>
          </a:p>
          <a:p>
            <a:r>
              <a:rPr lang="en-GB" b="1" dirty="0"/>
              <a:t>Responsible AI Consulting</a:t>
            </a:r>
            <a:r>
              <a:rPr lang="en-GB" dirty="0"/>
              <a:t>: BCG assists organizations in executing strategic approaches to responsible AI through tailored programs. </a:t>
            </a:r>
            <a:r>
              <a:rPr lang="en-GB" dirty="0">
                <a:hlinkClick r:id="rId5"/>
              </a:rPr>
              <a:t>BCG Global+1BCG Global+1</a:t>
            </a:r>
            <a:endParaRPr lang="en-GB" dirty="0"/>
          </a:p>
          <a:p>
            <a:r>
              <a:rPr lang="en-GB" b="1" dirty="0"/>
              <a:t>📈 Impact on Revenue and Growth</a:t>
            </a:r>
          </a:p>
          <a:p>
            <a:r>
              <a:rPr lang="en-GB" dirty="0"/>
              <a:t>AI has become a significant revenue driver for BCG:</a:t>
            </a:r>
          </a:p>
          <a:p>
            <a:r>
              <a:rPr lang="en-GB" dirty="0"/>
              <a:t>In 2024, AI-related services accounted for 20% of BCG's total revenue, amounting to $2.7 billion. </a:t>
            </a:r>
            <a:r>
              <a:rPr lang="en-GB" dirty="0">
                <a:hlinkClick r:id="rId7"/>
              </a:rPr>
              <a:t>Technology Magazine</a:t>
            </a:r>
            <a:endParaRPr lang="en-GB" dirty="0"/>
          </a:p>
          <a:p>
            <a:r>
              <a:rPr lang="en-GB" dirty="0"/>
              <a:t>The firm reported a 10% global revenue growth in 2024, reaching $13.5 billion. </a:t>
            </a:r>
            <a:r>
              <a:rPr lang="en-GB" dirty="0">
                <a:hlinkClick r:id="rId8"/>
              </a:rPr>
              <a:t>Financial News London+2LinkedIn+2PR Newswire+2</a:t>
            </a:r>
            <a:endParaRPr lang="en-GB" dirty="0"/>
          </a:p>
          <a:p>
            <a:r>
              <a:rPr lang="en-GB" dirty="0"/>
              <a:t>CEO Christoph Schweizer noted, "Clients are rapidly shifting from AI exploration to full-scale implementation—unlocking new levels of productivity, speed, and growth." </a:t>
            </a:r>
            <a:r>
              <a:rPr lang="en-GB" dirty="0">
                <a:hlinkClick r:id="rId9"/>
              </a:rPr>
              <a:t>PR Newswire+3Financial News London+3LinkedIn+3</a:t>
            </a:r>
            <a:endParaRPr lang="en-GB" dirty="0"/>
          </a:p>
          <a:p>
            <a:r>
              <a:rPr lang="en-GB" b="1" dirty="0"/>
              <a:t>🗣️ Leadership Perspectives</a:t>
            </a:r>
          </a:p>
          <a:p>
            <a:r>
              <a:rPr lang="en-GB" dirty="0"/>
              <a:t>BCG leaders emphasize the transformative potential of AI:</a:t>
            </a:r>
          </a:p>
          <a:p>
            <a:r>
              <a:rPr lang="en-GB" dirty="0"/>
              <a:t>Alicia Pittman, Global People Team Chair, highlighted that over 70% of BCG's 35,000 employees actively use generative AI, fostering innovation and efficiency. </a:t>
            </a:r>
            <a:r>
              <a:rPr lang="en-GB" dirty="0">
                <a:hlinkClick r:id="rId10"/>
              </a:rPr>
              <a:t>Business Insider</a:t>
            </a:r>
            <a:endParaRPr lang="en-GB" dirty="0"/>
          </a:p>
          <a:p>
            <a:r>
              <a:rPr lang="en-GB" dirty="0"/>
              <a:t>Steven Mills, Chief AI Ethics Officer, stressed the importance of responsible AI use, stating, "Responsible AI doesn’t just mitigate risk; it can also increase innovation and productivity." </a:t>
            </a:r>
            <a:r>
              <a:rPr lang="en-GB" dirty="0">
                <a:hlinkClick r:id="rId11"/>
              </a:rPr>
              <a:t>BCG Global</a:t>
            </a:r>
            <a:endParaRPr lang="en-GB" dirty="0"/>
          </a:p>
          <a:p>
            <a:r>
              <a:rPr lang="en-GB" dirty="0"/>
              <a:t>In summary, BCG's integration of AI into its operations and client services has not only enhanced internal productivity but also significantly contributed to revenue growth, solidifying its position as a leader in AI-driven consulting.</a:t>
            </a:r>
          </a:p>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38</a:t>
            </a:fld>
            <a:endParaRPr lang="en-US"/>
          </a:p>
        </p:txBody>
      </p:sp>
    </p:spTree>
    <p:extLst>
      <p:ext uri="{BB962C8B-B14F-4D97-AF65-F5344CB8AC3E}">
        <p14:creationId xmlns:p14="http://schemas.microsoft.com/office/powerpoint/2010/main" val="3210474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Internal Adoption of AI at Bain</a:t>
            </a:r>
          </a:p>
          <a:p>
            <a:r>
              <a:rPr lang="en-GB" dirty="0"/>
              <a:t>Bain has embraced AI across its global workforce, providing all 18,000 employees access to AI tools. Notably, within two weeks of introducing ChatGPT Enterprise, 60% of consultants and expert delivery teams adopted the tool, utilizing it to expedite tasks that previously required hours or days. This rapid adoption has enabled consultants to focus more on delivering strategic insights to clients. </a:t>
            </a:r>
            <a:r>
              <a:rPr lang="en-GB" dirty="0">
                <a:hlinkClick r:id="rId3"/>
              </a:rPr>
              <a:t>Bain+1WSJ+1</a:t>
            </a:r>
            <a:endParaRPr lang="en-GB" dirty="0"/>
          </a:p>
          <a:p>
            <a:r>
              <a:rPr lang="en-GB" dirty="0"/>
              <a:t>Beyond ChatGPT, Bain has implemented various AI-powered tools, including Microsoft Copilot, to enhance productivity by automating routine tasks, drafting content, and summarizing insights across the Microsoft Office suite. Proprietary tools like the Expert Call Guide Draft Generator assist in creating interview guides, while other tools categorize datasets and perform sentiment analysis. </a:t>
            </a:r>
            <a:r>
              <a:rPr lang="en-GB" dirty="0">
                <a:hlinkClick r:id="rId4"/>
              </a:rPr>
              <a:t>Bain</a:t>
            </a:r>
            <a:endParaRPr lang="en-GB" dirty="0"/>
          </a:p>
          <a:p>
            <a:r>
              <a:rPr lang="en-GB" b="1" dirty="0"/>
              <a:t>🤖 AI Services Offered to Clients</a:t>
            </a:r>
          </a:p>
          <a:p>
            <a:r>
              <a:rPr lang="en-GB" dirty="0"/>
              <a:t>Bain's AI consulting services span multiple industries, offering tailored solutions such as:</a:t>
            </a:r>
          </a:p>
          <a:p>
            <a:r>
              <a:rPr lang="en-GB" b="1" dirty="0"/>
              <a:t>Financial Services</a:t>
            </a:r>
            <a:r>
              <a:rPr lang="en-GB" dirty="0"/>
              <a:t>: Deployment of customer service chatbots, intelligent assistants for wealth advisors, and personalized marketing content </a:t>
            </a:r>
            <a:r>
              <a:rPr lang="en-GB" dirty="0" err="1"/>
              <a:t>generation.</a:t>
            </a:r>
            <a:r>
              <a:rPr lang="en-GB" dirty="0" err="1">
                <a:hlinkClick r:id="rId5"/>
              </a:rPr>
              <a:t>Bain</a:t>
            </a:r>
            <a:endParaRPr lang="en-GB" dirty="0"/>
          </a:p>
          <a:p>
            <a:r>
              <a:rPr lang="en-GB" b="1" dirty="0"/>
              <a:t>Telecom and Media</a:t>
            </a:r>
            <a:r>
              <a:rPr lang="en-GB" dirty="0"/>
              <a:t>: Automation of contact </a:t>
            </a:r>
            <a:r>
              <a:rPr lang="en-GB" dirty="0" err="1"/>
              <a:t>centers</a:t>
            </a:r>
            <a:r>
              <a:rPr lang="en-GB" dirty="0"/>
              <a:t>, intelligent network engineer assistants, and AI-generated media </a:t>
            </a:r>
            <a:r>
              <a:rPr lang="en-GB" dirty="0" err="1"/>
              <a:t>content.</a:t>
            </a:r>
            <a:r>
              <a:rPr lang="en-GB" dirty="0" err="1">
                <a:hlinkClick r:id="rId5"/>
              </a:rPr>
              <a:t>Bain</a:t>
            </a:r>
            <a:endParaRPr lang="en-GB" dirty="0"/>
          </a:p>
          <a:p>
            <a:r>
              <a:rPr lang="en-GB" b="1" dirty="0"/>
              <a:t>Retail</a:t>
            </a:r>
            <a:r>
              <a:rPr lang="en-GB" dirty="0"/>
              <a:t>: Implementation of e-commerce content generation, analytics, and intelligent assistants for store </a:t>
            </a:r>
            <a:r>
              <a:rPr lang="en-GB" dirty="0" err="1"/>
              <a:t>operations.</a:t>
            </a:r>
            <a:r>
              <a:rPr lang="en-GB" dirty="0" err="1">
                <a:hlinkClick r:id="rId5"/>
              </a:rPr>
              <a:t>Bain</a:t>
            </a:r>
            <a:endParaRPr lang="en-GB" dirty="0"/>
          </a:p>
          <a:p>
            <a:r>
              <a:rPr lang="en-GB" b="1" dirty="0"/>
              <a:t>Healthcare</a:t>
            </a:r>
            <a:r>
              <a:rPr lang="en-GB" dirty="0"/>
              <a:t>: AI-driven communication tools for clinical development, compliance document generation, and intelligent assistants for sales representatives and clinicians. </a:t>
            </a:r>
            <a:r>
              <a:rPr lang="en-GB" dirty="0">
                <a:hlinkClick r:id="rId5"/>
              </a:rPr>
              <a:t>Bain</a:t>
            </a:r>
            <a:endParaRPr lang="en-GB" dirty="0"/>
          </a:p>
          <a:p>
            <a:r>
              <a:rPr lang="en-GB" dirty="0"/>
              <a:t>A notable collaboration is with The Coca-Cola Company, where Bain facilitated the "Create Real Magic" campaign, integrating ChatGPT and DALL·E to engage consumers through AI-generated content. </a:t>
            </a:r>
            <a:r>
              <a:rPr lang="en-GB" dirty="0">
                <a:hlinkClick r:id="rId5"/>
              </a:rPr>
              <a:t>Bain</a:t>
            </a:r>
            <a:endParaRPr lang="en-GB" dirty="0"/>
          </a:p>
          <a:p>
            <a:r>
              <a:rPr lang="en-GB" dirty="0"/>
              <a:t>Furthermore, Bain has expanded its partnership with OpenAI to develop industry-specific AI solutions. This includes tools for retail, such as AI-based shelf and space planning, and for life sciences, like automated document creation. Bain has equipped 13,000 consultants with ChatGPT Enterprise licenses to support these initiatives. </a:t>
            </a:r>
            <a:r>
              <a:rPr lang="en-GB" dirty="0">
                <a:hlinkClick r:id="rId6"/>
              </a:rPr>
              <a:t>AI Expert Network+2WSJ+2brainforge.ai+2</a:t>
            </a:r>
            <a:endParaRPr lang="en-GB" dirty="0"/>
          </a:p>
          <a:p>
            <a:r>
              <a:rPr lang="en-GB" b="1" dirty="0"/>
              <a:t>📈 Impact on Revenue and Growth</a:t>
            </a:r>
          </a:p>
          <a:p>
            <a:r>
              <a:rPr lang="en-GB" dirty="0"/>
              <a:t>As of December 2024, technology and AI-enabled services constitute 30% of Bain's business, with projections indicating an increase to over 50% in the coming years. AI is central to more than 25% of Bain's work, a figure expected to rise significantly. </a:t>
            </a:r>
            <a:r>
              <a:rPr lang="en-GB" dirty="0">
                <a:hlinkClick r:id="rId7"/>
              </a:rPr>
              <a:t>AI Expert Network+2Bain+2PR Newswire+2</a:t>
            </a:r>
            <a:endParaRPr lang="en-GB" dirty="0"/>
          </a:p>
          <a:p>
            <a:r>
              <a:rPr lang="en-GB" dirty="0"/>
              <a:t>This growth is driven by high client demand for AI capabilities, prompting Bain to enhance its leadership in digital practices. Chuck Whitten has been appointed as the global head of digital practices, overseeing AI, data science, and enterprise technology, to ensure effective adoption and integration across Bain's core practices. </a:t>
            </a:r>
            <a:r>
              <a:rPr lang="en-GB" dirty="0">
                <a:hlinkClick r:id="rId7"/>
              </a:rPr>
              <a:t>Bain+1PR Newswire+1</a:t>
            </a:r>
            <a:endParaRPr lang="en-GB" dirty="0"/>
          </a:p>
          <a:p>
            <a:r>
              <a:rPr lang="en-GB" b="1" dirty="0"/>
              <a:t>🗣️ Leadership Perspectives</a:t>
            </a:r>
          </a:p>
          <a:p>
            <a:r>
              <a:rPr lang="en-GB" dirty="0"/>
              <a:t>Bain's leadership emphasizes the transformative potential of AI. Chuck Whitten, Bain’s Global Head of Digital, highlights the importance of integrating AI into core business functions, stating that companies should pursue a dual-track approach: balancing large-scale, transformative initiatives with incremental improvements. </a:t>
            </a:r>
            <a:r>
              <a:rPr lang="en-GB" dirty="0">
                <a:hlinkClick r:id="rId8"/>
              </a:rPr>
              <a:t>huntclub.com</a:t>
            </a:r>
            <a:r>
              <a:rPr lang="en-GB" dirty="0">
                <a:hlinkClick r:id="rId9"/>
              </a:rPr>
              <a:t>Bain+1Bain+1</a:t>
            </a:r>
            <a:endParaRPr lang="en-GB" dirty="0"/>
          </a:p>
          <a:p>
            <a:r>
              <a:rPr lang="en-GB" dirty="0"/>
              <a:t>Christophe De </a:t>
            </a:r>
            <a:r>
              <a:rPr lang="en-GB" dirty="0" err="1"/>
              <a:t>Vusser</a:t>
            </a:r>
            <a:r>
              <a:rPr lang="en-GB" dirty="0"/>
              <a:t>, Bain's Worldwide Managing Partner and CEO, notes the shift from experimentation to practical application of AI, emphasizing the need for businesses to assess their data readiness and the tangible results AI investments can yield. </a:t>
            </a:r>
            <a:r>
              <a:rPr lang="en-GB" dirty="0">
                <a:hlinkClick r:id="rId6"/>
              </a:rPr>
              <a:t>WSJ</a:t>
            </a:r>
            <a:endParaRPr lang="en-GB" dirty="0"/>
          </a:p>
          <a:p>
            <a:r>
              <a:rPr lang="en-GB" dirty="0"/>
              <a:t>In summary, Bain &amp; Company's strategic integration of AI into its operations and client services has not only enhanced productivity and service offerings but also significantly contributed to its revenue growth. By investing in AI tools, partnerships, and leadership, Bain positions itself at the forefront of AI-driven transformation in the consulting industry.</a:t>
            </a:r>
          </a:p>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40</a:t>
            </a:fld>
            <a:endParaRPr lang="en-US"/>
          </a:p>
        </p:txBody>
      </p:sp>
    </p:spTree>
    <p:extLst>
      <p:ext uri="{BB962C8B-B14F-4D97-AF65-F5344CB8AC3E}">
        <p14:creationId xmlns:p14="http://schemas.microsoft.com/office/powerpoint/2010/main" val="2897758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Internal Use of AI at KPMG</a:t>
            </a:r>
          </a:p>
          <a:p>
            <a:r>
              <a:rPr lang="en-GB" dirty="0"/>
              <a:t>KPMG has embedded AI tools across its workforce to enhance productivity and innovation:</a:t>
            </a:r>
          </a:p>
          <a:p>
            <a:r>
              <a:rPr lang="en-GB" b="1" dirty="0"/>
              <a:t>AVA (Advanced Virtual Assistant)</a:t>
            </a:r>
            <a:r>
              <a:rPr lang="en-GB" dirty="0"/>
              <a:t>: A generative AI tool developed by KPMG UK to assist employees in accessing information, improving efficiency, and reducing risk. </a:t>
            </a:r>
            <a:r>
              <a:rPr lang="en-GB" dirty="0">
                <a:hlinkClick r:id="rId3"/>
              </a:rPr>
              <a:t>TechUK</a:t>
            </a:r>
            <a:endParaRPr lang="en-GB" dirty="0"/>
          </a:p>
          <a:p>
            <a:r>
              <a:rPr lang="en-GB" b="1" dirty="0"/>
              <a:t>KPMG Clara</a:t>
            </a:r>
            <a:r>
              <a:rPr lang="en-GB" dirty="0"/>
              <a:t>: A global smart audit platform that integrates AI to automate routine tasks, enabling auditors to focus on complex analysis and risk assessment. </a:t>
            </a:r>
            <a:r>
              <a:rPr lang="en-GB" dirty="0">
                <a:hlinkClick r:id="rId4"/>
              </a:rPr>
              <a:t>KPMG+1Construction Dive+1</a:t>
            </a:r>
            <a:endParaRPr lang="en-GB" dirty="0"/>
          </a:p>
          <a:p>
            <a:r>
              <a:rPr lang="en-GB" dirty="0"/>
              <a:t>These tools have enabled employees to reinvest time saved into higher-value activities, fostering a culture of continuous learning and innovation.</a:t>
            </a:r>
          </a:p>
          <a:p>
            <a:r>
              <a:rPr lang="en-GB" b="1" dirty="0"/>
              <a:t>🤖 AI Services Offered to Clients</a:t>
            </a:r>
          </a:p>
          <a:p>
            <a:r>
              <a:rPr lang="en-GB" dirty="0"/>
              <a:t>KPMG provides a range of AI services to clients, including:</a:t>
            </a:r>
          </a:p>
          <a:p>
            <a:r>
              <a:rPr lang="en-GB" b="1" dirty="0"/>
              <a:t>AI Agents</a:t>
            </a:r>
            <a:r>
              <a:rPr lang="en-GB" dirty="0"/>
              <a:t>: Autonomous systems that handle complex tasks, streamline operations, and offer predictive insights to enhance decision-making processes. </a:t>
            </a:r>
            <a:r>
              <a:rPr lang="en-GB" dirty="0">
                <a:hlinkClick r:id="rId5"/>
              </a:rPr>
              <a:t>KPMG</a:t>
            </a:r>
            <a:endParaRPr lang="en-GB" dirty="0"/>
          </a:p>
          <a:p>
            <a:r>
              <a:rPr lang="en-GB" b="1" dirty="0"/>
              <a:t>AI Trust Services</a:t>
            </a:r>
            <a:r>
              <a:rPr lang="en-GB" dirty="0"/>
              <a:t>: A suite of services designed to help clients ensure AI reliability, accountability, and transparency as they scale AI applications. </a:t>
            </a:r>
            <a:r>
              <a:rPr lang="en-GB" dirty="0">
                <a:hlinkClick r:id="rId6"/>
              </a:rPr>
              <a:t>KPMG</a:t>
            </a:r>
            <a:endParaRPr lang="en-GB" dirty="0"/>
          </a:p>
          <a:p>
            <a:r>
              <a:rPr lang="en-GB" b="1" dirty="0"/>
              <a:t>Tariff Risk Tool</a:t>
            </a:r>
            <a:r>
              <a:rPr lang="en-GB" dirty="0"/>
              <a:t>: An AI-powered tool that allows users to simulate potential tariff scenarios and visualize impacts on global supply chain operations. </a:t>
            </a:r>
            <a:r>
              <a:rPr lang="en-GB" dirty="0">
                <a:hlinkClick r:id="rId7"/>
              </a:rPr>
              <a:t>Construction Dive</a:t>
            </a:r>
            <a:endParaRPr lang="en-GB" dirty="0"/>
          </a:p>
          <a:p>
            <a:r>
              <a:rPr lang="en-GB" dirty="0"/>
              <a:t>These services assist clients in integrating AI into their operations effectively, enhancing decision-making, and driving innovation.</a:t>
            </a:r>
          </a:p>
          <a:p>
            <a:r>
              <a:rPr lang="en-GB" b="1" dirty="0"/>
              <a:t>📈 Impact on Revenue and Growth</a:t>
            </a:r>
          </a:p>
          <a:p>
            <a:r>
              <a:rPr lang="en-GB" dirty="0"/>
              <a:t>AI has become a significant revenue driver for KPMG:</a:t>
            </a:r>
          </a:p>
          <a:p>
            <a:r>
              <a:rPr lang="en-GB" dirty="0"/>
              <a:t>In 2024, KPMG reported global revenues of $38.4 billion, a 5.1% increase from the previous year. </a:t>
            </a:r>
            <a:r>
              <a:rPr lang="en-GB" dirty="0">
                <a:hlinkClick r:id="rId8"/>
              </a:rPr>
              <a:t>CPA Practice Advisor+2Going Concern+2KPMG+2</a:t>
            </a:r>
            <a:endParaRPr lang="en-GB" dirty="0"/>
          </a:p>
          <a:p>
            <a:r>
              <a:rPr lang="en-GB" dirty="0"/>
              <a:t>The firm has invested over $2 billion in AI and cloud services, aiming to generate $12 billion in revenue over the next five years. </a:t>
            </a:r>
            <a:r>
              <a:rPr lang="en-GB" dirty="0">
                <a:hlinkClick r:id="rId9"/>
              </a:rPr>
              <a:t>Business Insider+1Analytics Vidhya+1</a:t>
            </a:r>
            <a:endParaRPr lang="en-GB" dirty="0"/>
          </a:p>
          <a:p>
            <a:r>
              <a:rPr lang="en-GB" dirty="0"/>
              <a:t>These investments underscore KPMG's commitment to leveraging AI for sustained growth and client value.</a:t>
            </a:r>
          </a:p>
          <a:p>
            <a:r>
              <a:rPr lang="en-GB" b="1" dirty="0"/>
              <a:t>🗣️ Leadership Perspectives</a:t>
            </a:r>
          </a:p>
          <a:p>
            <a:r>
              <a:rPr lang="en-GB" dirty="0"/>
              <a:t>KPMG's leadership emphasizes the transformative potential of AI:</a:t>
            </a:r>
          </a:p>
          <a:p>
            <a:r>
              <a:rPr lang="en-GB" dirty="0"/>
              <a:t>David Rowlands, KPMG’s global head of AI, highlights the importance of embedding AI into operating models to maximize return on investment. </a:t>
            </a:r>
            <a:r>
              <a:rPr lang="en-GB" dirty="0">
                <a:hlinkClick r:id="rId10"/>
              </a:rPr>
              <a:t>Business Insider</a:t>
            </a:r>
            <a:endParaRPr lang="en-GB" dirty="0"/>
          </a:p>
          <a:p>
            <a:r>
              <a:rPr lang="en-GB" dirty="0"/>
              <a:t>Bryan McGowan, Global Trusted AI Leader, underscores the need for trustworthy AI systems, stating, "It's not enough for AI to simply work; it needs to be trustworthy." </a:t>
            </a:r>
            <a:r>
              <a:rPr lang="en-GB" dirty="0">
                <a:hlinkClick r:id="rId6"/>
              </a:rPr>
              <a:t>KPMG</a:t>
            </a:r>
            <a:endParaRPr lang="en-GB" dirty="0"/>
          </a:p>
          <a:p>
            <a:r>
              <a:rPr lang="en-GB" dirty="0"/>
              <a:t>These perspectives reflect KPMG's focus on responsible AI adoption and governance.</a:t>
            </a:r>
          </a:p>
          <a:p>
            <a:r>
              <a:rPr lang="en-GB" dirty="0"/>
              <a:t>In summary, KPMG's integration of AI into its operations and client services has not only enhanced internal productivity but also significantly contributed to revenue growth, solidifying its position as a leader in AI-driven consulting.</a:t>
            </a:r>
          </a:p>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43</a:t>
            </a:fld>
            <a:endParaRPr lang="en-US"/>
          </a:p>
        </p:txBody>
      </p:sp>
    </p:spTree>
    <p:extLst>
      <p:ext uri="{BB962C8B-B14F-4D97-AF65-F5344CB8AC3E}">
        <p14:creationId xmlns:p14="http://schemas.microsoft.com/office/powerpoint/2010/main" val="72033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According to </a:t>
            </a:r>
          </a:p>
          <a:p>
            <a:r>
              <a:rPr lang="en-GB" sz="1200" b="0" i="0" u="sng" strike="noStrike" kern="1200" dirty="0">
                <a:solidFill>
                  <a:schemeClr val="tx1"/>
                </a:solidFill>
                <a:effectLst/>
                <a:latin typeface="+mn-lt"/>
                <a:ea typeface="+mn-ea"/>
                <a:cs typeface="+mn-cs"/>
                <a:hlinkClick r:id="rId3"/>
              </a:rPr>
              <a:t>CB Insights data</a:t>
            </a:r>
            <a:r>
              <a:rPr lang="en-GB" sz="1200" b="0" i="0" u="none" strike="noStrike" kern="1200" dirty="0">
                <a:solidFill>
                  <a:schemeClr val="tx1"/>
                </a:solidFill>
                <a:effectLst/>
                <a:latin typeface="+mn-lt"/>
                <a:ea typeface="+mn-ea"/>
                <a:cs typeface="+mn-cs"/>
              </a:rPr>
              <a:t>, consultancies have been making significant investments in AI through acquisitions, partnerships, and internal development. The focus has been on integrating AI to streamline internal processes, launch AI-powered products, and provide enhanced solutions for their clients. </a:t>
            </a:r>
          </a:p>
          <a:p>
            <a:r>
              <a:rPr lang="en-GB" sz="1200" b="1" i="0" u="none" strike="noStrike" kern="1200" dirty="0">
                <a:solidFill>
                  <a:schemeClr val="tx1"/>
                </a:solidFill>
                <a:effectLst/>
                <a:latin typeface="+mn-lt"/>
                <a:ea typeface="+mn-ea"/>
                <a:cs typeface="+mn-cs"/>
              </a:rPr>
              <a:t>AI investments and strategies by top consultancies</a:t>
            </a:r>
          </a:p>
          <a:p>
            <a:r>
              <a:rPr lang="en-GB" sz="1200" b="1" i="0" u="none" strike="noStrike" kern="1200" dirty="0">
                <a:solidFill>
                  <a:schemeClr val="tx1"/>
                </a:solidFill>
                <a:effectLst/>
                <a:latin typeface="+mn-lt"/>
                <a:ea typeface="+mn-ea"/>
                <a:cs typeface="+mn-cs"/>
              </a:rPr>
              <a:t>Accenture</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Acquisitions:</a:t>
            </a:r>
            <a:r>
              <a:rPr lang="en-GB" sz="1200" b="0" i="0" u="none" strike="noStrike" kern="1200" dirty="0">
                <a:solidFill>
                  <a:schemeClr val="tx1"/>
                </a:solidFill>
                <a:effectLst/>
                <a:latin typeface="+mn-lt"/>
                <a:ea typeface="+mn-ea"/>
                <a:cs typeface="+mn-cs"/>
              </a:rPr>
              <a:t> Has acquired numerous AI startups, including Industrial AI company Flutura, to deepen its capabilities.</a:t>
            </a:r>
          </a:p>
          <a:p>
            <a:r>
              <a:rPr lang="en-GB" sz="1200" b="1" i="0" u="none" strike="noStrike" kern="1200" dirty="0">
                <a:solidFill>
                  <a:schemeClr val="tx1"/>
                </a:solidFill>
                <a:effectLst/>
                <a:latin typeface="+mn-lt"/>
                <a:ea typeface="+mn-ea"/>
                <a:cs typeface="+mn-cs"/>
              </a:rPr>
              <a:t>Strategic partnerships:</a:t>
            </a:r>
            <a:r>
              <a:rPr lang="en-GB" sz="1200" b="0" i="0" u="none" strike="noStrike" kern="1200" dirty="0">
                <a:solidFill>
                  <a:schemeClr val="tx1"/>
                </a:solidFill>
                <a:effectLst/>
                <a:latin typeface="+mn-lt"/>
                <a:ea typeface="+mn-ea"/>
                <a:cs typeface="+mn-cs"/>
              </a:rPr>
              <a:t> Is highly active, with key collaborations involving major tech companies like Microsoft, NVIDIA, and Anthropic.</a:t>
            </a:r>
          </a:p>
          <a:p>
            <a:r>
              <a:rPr lang="en-GB" sz="1200" b="1" i="0" u="none" strike="noStrike" kern="1200" dirty="0">
                <a:solidFill>
                  <a:schemeClr val="tx1"/>
                </a:solidFill>
                <a:effectLst/>
                <a:latin typeface="+mn-lt"/>
                <a:ea typeface="+mn-ea"/>
                <a:cs typeface="+mn-cs"/>
              </a:rPr>
              <a:t>Product development:</a:t>
            </a:r>
            <a:r>
              <a:rPr lang="en-GB" sz="1200" b="0" i="0" u="none" strike="noStrike" kern="1200" dirty="0">
                <a:solidFill>
                  <a:schemeClr val="tx1"/>
                </a:solidFill>
                <a:effectLst/>
                <a:latin typeface="+mn-lt"/>
                <a:ea typeface="+mn-ea"/>
                <a:cs typeface="+mn-cs"/>
              </a:rPr>
              <a:t> Launched the "AI Refinery" platform in 2024–2025 to evolve from custom consulting to scalable AI solutions.</a:t>
            </a:r>
          </a:p>
          <a:p>
            <a:r>
              <a:rPr lang="en-GB" sz="1200" b="1" i="0" u="none" strike="noStrike" kern="1200" dirty="0">
                <a:solidFill>
                  <a:schemeClr val="tx1"/>
                </a:solidFill>
                <a:effectLst/>
                <a:latin typeface="+mn-lt"/>
                <a:ea typeface="+mn-ea"/>
                <a:cs typeface="+mn-cs"/>
              </a:rPr>
              <a:t>Restructuring:</a:t>
            </a:r>
            <a:r>
              <a:rPr lang="en-GB" sz="1200" b="0" i="0" u="none" strike="noStrike" kern="1200" dirty="0">
                <a:solidFill>
                  <a:schemeClr val="tx1"/>
                </a:solidFill>
                <a:effectLst/>
                <a:latin typeface="+mn-lt"/>
                <a:ea typeface="+mn-ea"/>
                <a:cs typeface="+mn-cs"/>
              </a:rPr>
              <a:t> Merged five business units into a new "reinvention services" line to help clients restructure their operations with AI. </a:t>
            </a:r>
          </a:p>
          <a:p>
            <a:r>
              <a:rPr lang="en-GB" sz="1200" b="1" i="0" u="none" strike="noStrike" kern="1200" dirty="0">
                <a:solidFill>
                  <a:schemeClr val="tx1"/>
                </a:solidFill>
                <a:effectLst/>
                <a:latin typeface="+mn-lt"/>
                <a:ea typeface="+mn-ea"/>
                <a:cs typeface="+mn-cs"/>
              </a:rPr>
              <a:t>Deloitte</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Internal tools:</a:t>
            </a:r>
            <a:r>
              <a:rPr lang="en-GB" sz="1200" b="0" i="0" u="none" strike="noStrike" kern="1200" dirty="0">
                <a:solidFill>
                  <a:schemeClr val="tx1"/>
                </a:solidFill>
                <a:effectLst/>
                <a:latin typeface="+mn-lt"/>
                <a:ea typeface="+mn-ea"/>
                <a:cs typeface="+mn-cs"/>
              </a:rPr>
              <a:t> The Deloitte AI Institute launched an internal generative AI copilot in January 2024 for tasks like coding and project planning.</a:t>
            </a:r>
          </a:p>
          <a:p>
            <a:r>
              <a:rPr lang="en-GB" sz="1200" b="1" i="0" u="none" strike="noStrike" kern="1200" dirty="0">
                <a:solidFill>
                  <a:schemeClr val="tx1"/>
                </a:solidFill>
                <a:effectLst/>
                <a:latin typeface="+mn-lt"/>
                <a:ea typeface="+mn-ea"/>
                <a:cs typeface="+mn-cs"/>
              </a:rPr>
              <a:t>Product development:</a:t>
            </a:r>
            <a:r>
              <a:rPr lang="en-GB" sz="1200" b="0" i="0" u="none" strike="noStrike" kern="1200" dirty="0">
                <a:solidFill>
                  <a:schemeClr val="tx1"/>
                </a:solidFill>
                <a:effectLst/>
                <a:latin typeface="+mn-lt"/>
                <a:ea typeface="+mn-ea"/>
                <a:cs typeface="+mn-cs"/>
              </a:rPr>
              <a:t> Offers "Zora AI," one of many AI agent platforms launched by major </a:t>
            </a:r>
            <a:r>
              <a:rPr lang="en-GB" sz="1200" b="0" i="0" u="none" strike="noStrike" kern="1200" dirty="0" err="1">
                <a:solidFill>
                  <a:schemeClr val="tx1"/>
                </a:solidFill>
                <a:effectLst/>
                <a:latin typeface="+mn-lt"/>
                <a:ea typeface="+mn-ea"/>
                <a:cs typeface="+mn-cs"/>
              </a:rPr>
              <a:t>firms.</a:t>
            </a:r>
            <a:r>
              <a:rPr lang="en-GB" sz="1200" b="1" i="0" u="none" strike="noStrike" kern="1200" dirty="0" err="1">
                <a:solidFill>
                  <a:schemeClr val="tx1"/>
                </a:solidFill>
                <a:effectLst/>
                <a:latin typeface="+mn-lt"/>
                <a:ea typeface="+mn-ea"/>
                <a:cs typeface="+mn-cs"/>
              </a:rPr>
              <a:t>Strategic</a:t>
            </a:r>
            <a:r>
              <a:rPr lang="en-GB" sz="1200" b="1" i="0" u="none" strike="noStrike" kern="1200" dirty="0">
                <a:solidFill>
                  <a:schemeClr val="tx1"/>
                </a:solidFill>
                <a:effectLst/>
                <a:latin typeface="+mn-lt"/>
                <a:ea typeface="+mn-ea"/>
                <a:cs typeface="+mn-cs"/>
              </a:rPr>
              <a:t> partnerships:</a:t>
            </a:r>
            <a:r>
              <a:rPr lang="en-GB" sz="1200" b="0" i="0" u="none" strike="noStrike" kern="1200" dirty="0">
                <a:solidFill>
                  <a:schemeClr val="tx1"/>
                </a:solidFill>
                <a:effectLst/>
                <a:latin typeface="+mn-lt"/>
                <a:ea typeface="+mn-ea"/>
                <a:cs typeface="+mn-cs"/>
              </a:rPr>
              <a:t> Has formed alliances with AI-focused tech firms like Databricks and ServiceNow. </a:t>
            </a:r>
          </a:p>
          <a:p>
            <a:r>
              <a:rPr lang="en-GB" sz="1200" b="1" i="0" u="none" strike="noStrike" kern="1200" dirty="0">
                <a:solidFill>
                  <a:schemeClr val="tx1"/>
                </a:solidFill>
                <a:effectLst/>
                <a:latin typeface="+mn-lt"/>
                <a:ea typeface="+mn-ea"/>
                <a:cs typeface="+mn-cs"/>
              </a:rPr>
              <a:t>KPMG</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Acquisitions:</a:t>
            </a:r>
            <a:r>
              <a:rPr lang="en-GB" sz="1200" b="0" i="0" u="none" strike="noStrike" kern="1200" dirty="0">
                <a:solidFill>
                  <a:schemeClr val="tx1"/>
                </a:solidFill>
                <a:effectLst/>
                <a:latin typeface="+mn-lt"/>
                <a:ea typeface="+mn-ea"/>
                <a:cs typeface="+mn-cs"/>
              </a:rPr>
              <a:t> Acquired data infrastructure company Metaphor to strengthen its data management capabilities.</a:t>
            </a:r>
          </a:p>
          <a:p>
            <a:r>
              <a:rPr lang="en-GB" sz="1200" b="1" i="0" u="none" strike="noStrike" kern="1200" dirty="0">
                <a:solidFill>
                  <a:schemeClr val="tx1"/>
                </a:solidFill>
                <a:effectLst/>
                <a:latin typeface="+mn-lt"/>
                <a:ea typeface="+mn-ea"/>
                <a:cs typeface="+mn-cs"/>
              </a:rPr>
              <a:t>Investments:</a:t>
            </a:r>
            <a:r>
              <a:rPr lang="en-GB" sz="1200" b="0" i="0" u="none" strike="noStrike" kern="1200" dirty="0">
                <a:solidFill>
                  <a:schemeClr val="tx1"/>
                </a:solidFill>
                <a:effectLst/>
                <a:latin typeface="+mn-lt"/>
                <a:ea typeface="+mn-ea"/>
                <a:cs typeface="+mn-cs"/>
              </a:rPr>
              <a:t> Invested in </a:t>
            </a:r>
            <a:r>
              <a:rPr lang="en-GB" sz="1200" b="0" i="0" u="none" strike="noStrike" kern="1200" dirty="0" err="1">
                <a:solidFill>
                  <a:schemeClr val="tx1"/>
                </a:solidFill>
                <a:effectLst/>
                <a:latin typeface="+mn-lt"/>
                <a:ea typeface="+mn-ea"/>
                <a:cs typeface="+mn-cs"/>
              </a:rPr>
              <a:t>LlamaIndex</a:t>
            </a:r>
            <a:r>
              <a:rPr lang="en-GB" sz="1200" b="0" i="0" u="none" strike="noStrike" kern="1200" dirty="0">
                <a:solidFill>
                  <a:schemeClr val="tx1"/>
                </a:solidFill>
                <a:effectLst/>
                <a:latin typeface="+mn-lt"/>
                <a:ea typeface="+mn-ea"/>
                <a:cs typeface="+mn-cs"/>
              </a:rPr>
              <a:t>, which focuses on data management, to enhance its AI tools.</a:t>
            </a:r>
          </a:p>
          <a:p>
            <a:r>
              <a:rPr lang="en-GB" sz="1200" b="1" i="0" u="none" strike="noStrike" kern="1200" dirty="0">
                <a:solidFill>
                  <a:schemeClr val="tx1"/>
                </a:solidFill>
                <a:effectLst/>
                <a:latin typeface="+mn-lt"/>
                <a:ea typeface="+mn-ea"/>
                <a:cs typeface="+mn-cs"/>
              </a:rPr>
              <a:t>Strategic partnerships:</a:t>
            </a:r>
            <a:r>
              <a:rPr lang="en-GB" sz="1200" b="0" i="0" u="none" strike="noStrike" kern="1200" dirty="0">
                <a:solidFill>
                  <a:schemeClr val="tx1"/>
                </a:solidFill>
                <a:effectLst/>
                <a:latin typeface="+mn-lt"/>
                <a:ea typeface="+mn-ea"/>
                <a:cs typeface="+mn-cs"/>
              </a:rPr>
              <a:t> Is partnering with emerging AI startups, including Hippocratic AI. </a:t>
            </a:r>
          </a:p>
          <a:p>
            <a:r>
              <a:rPr lang="en-GB" sz="1200" b="1" i="0" u="none" strike="noStrike" kern="1200" dirty="0">
                <a:solidFill>
                  <a:schemeClr val="tx1"/>
                </a:solidFill>
                <a:effectLst/>
                <a:latin typeface="+mn-lt"/>
                <a:ea typeface="+mn-ea"/>
                <a:cs typeface="+mn-cs"/>
              </a:rPr>
              <a:t>PricewaterhouseCoopers (PwC)</a:t>
            </a:r>
            <a:r>
              <a:rPr lang="en-GB" sz="1200" b="0" i="0" u="none" strike="noStrike" kern="1200" dirty="0">
                <a:solidFill>
                  <a:schemeClr val="tx1"/>
                </a:solidFill>
                <a:effectLst/>
                <a:latin typeface="+mn-lt"/>
                <a:ea typeface="+mn-ea"/>
                <a:cs typeface="+mn-cs"/>
              </a:rPr>
              <a:t> </a:t>
            </a:r>
          </a:p>
          <a:p>
            <a:r>
              <a:rPr lang="en-GB" sz="1200" b="1" i="0" u="none" strike="noStrike" kern="1200" dirty="0">
                <a:solidFill>
                  <a:schemeClr val="tx1"/>
                </a:solidFill>
                <a:effectLst/>
                <a:latin typeface="+mn-lt"/>
                <a:ea typeface="+mn-ea"/>
                <a:cs typeface="+mn-cs"/>
              </a:rPr>
              <a:t>Investments:</a:t>
            </a:r>
            <a:r>
              <a:rPr lang="en-GB" sz="1200" b="0" i="0" u="none" strike="noStrike" kern="1200" dirty="0">
                <a:solidFill>
                  <a:schemeClr val="tx1"/>
                </a:solidFill>
                <a:effectLst/>
                <a:latin typeface="+mn-lt"/>
                <a:ea typeface="+mn-ea"/>
                <a:cs typeface="+mn-cs"/>
              </a:rPr>
              <a:t> Invested in AI tools such as Harvey to integrate advanced AI capabilities. </a:t>
            </a:r>
          </a:p>
          <a:p>
            <a:r>
              <a:rPr lang="en-GB" sz="1200" b="1" i="0" u="none" strike="noStrike" kern="1200" dirty="0">
                <a:solidFill>
                  <a:schemeClr val="tx1"/>
                </a:solidFill>
                <a:effectLst/>
                <a:latin typeface="+mn-lt"/>
                <a:ea typeface="+mn-ea"/>
                <a:cs typeface="+mn-cs"/>
              </a:rPr>
              <a:t>McKinsey &amp; Company</a:t>
            </a:r>
            <a:r>
              <a:rPr lang="en-GB" sz="1200" b="0" i="0" u="none" strike="noStrike" kern="1200" dirty="0">
                <a:solidFill>
                  <a:schemeClr val="tx1"/>
                </a:solidFill>
                <a:effectLst/>
                <a:latin typeface="+mn-lt"/>
                <a:ea typeface="+mn-ea"/>
                <a:cs typeface="+mn-cs"/>
              </a:rPr>
              <a:t> </a:t>
            </a:r>
          </a:p>
          <a:p>
            <a:r>
              <a:rPr lang="en-GB" sz="1200" b="1" i="0" u="none" strike="noStrike" kern="1200" dirty="0">
                <a:solidFill>
                  <a:schemeClr val="tx1"/>
                </a:solidFill>
                <a:effectLst/>
                <a:latin typeface="+mn-lt"/>
                <a:ea typeface="+mn-ea"/>
                <a:cs typeface="+mn-cs"/>
              </a:rPr>
              <a:t>Internal development:</a:t>
            </a:r>
            <a:r>
              <a:rPr lang="en-GB" sz="1200" b="0" i="0" u="none" strike="noStrike" kern="1200" dirty="0">
                <a:solidFill>
                  <a:schemeClr val="tx1"/>
                </a:solidFill>
                <a:effectLst/>
                <a:latin typeface="+mn-lt"/>
                <a:ea typeface="+mn-ea"/>
                <a:cs typeface="+mn-cs"/>
              </a:rPr>
              <a:t> Deployed an internal AI assistant, Lilli, to assist consultants. It is now used by over 72% of its workforce, significantly improving research efficiency.</a:t>
            </a:r>
          </a:p>
          <a:p>
            <a:r>
              <a:rPr lang="en-GB" sz="1200" b="1" i="0" u="none" strike="noStrike" kern="1200" dirty="0">
                <a:solidFill>
                  <a:schemeClr val="tx1"/>
                </a:solidFill>
                <a:effectLst/>
                <a:latin typeface="+mn-lt"/>
                <a:ea typeface="+mn-ea"/>
                <a:cs typeface="+mn-cs"/>
              </a:rPr>
              <a:t>Proprietary tools:</a:t>
            </a:r>
            <a:r>
              <a:rPr lang="en-GB" sz="1200" b="0" i="0" u="none" strike="noStrike" kern="1200" dirty="0">
                <a:solidFill>
                  <a:schemeClr val="tx1"/>
                </a:solidFill>
                <a:effectLst/>
                <a:latin typeface="+mn-lt"/>
                <a:ea typeface="+mn-ea"/>
                <a:cs typeface="+mn-cs"/>
              </a:rPr>
              <a:t> The development of tools like Lilli has led to leaner, more senior-heavy project teams as AI handles routine tasks.</a:t>
            </a:r>
          </a:p>
          <a:p>
            <a:r>
              <a:rPr lang="en-GB" sz="1200" b="1" i="0" u="none" strike="noStrike" kern="1200" dirty="0">
                <a:solidFill>
                  <a:schemeClr val="tx1"/>
                </a:solidFill>
                <a:effectLst/>
                <a:latin typeface="+mn-lt"/>
                <a:ea typeface="+mn-ea"/>
                <a:cs typeface="+mn-cs"/>
              </a:rPr>
              <a:t>Acquisition:</a:t>
            </a:r>
            <a:r>
              <a:rPr lang="en-GB" sz="1200" b="0" i="0" u="none" strike="noStrike" kern="1200" dirty="0">
                <a:solidFill>
                  <a:schemeClr val="tx1"/>
                </a:solidFill>
                <a:effectLst/>
                <a:latin typeface="+mn-lt"/>
                <a:ea typeface="+mn-ea"/>
                <a:cs typeface="+mn-cs"/>
              </a:rPr>
              <a:t> Acquired AI company </a:t>
            </a:r>
            <a:r>
              <a:rPr lang="en-GB" sz="1200" b="0" i="0" u="none" strike="noStrike" kern="1200" dirty="0" err="1">
                <a:solidFill>
                  <a:schemeClr val="tx1"/>
                </a:solidFill>
                <a:effectLst/>
                <a:latin typeface="+mn-lt"/>
                <a:ea typeface="+mn-ea"/>
                <a:cs typeface="+mn-cs"/>
              </a:rPr>
              <a:t>QuantumBlack</a:t>
            </a:r>
            <a:r>
              <a:rPr lang="en-GB" sz="1200" b="0" i="0" u="none" strike="noStrike" kern="1200" dirty="0">
                <a:solidFill>
                  <a:schemeClr val="tx1"/>
                </a:solidFill>
                <a:effectLst/>
                <a:latin typeface="+mn-lt"/>
                <a:ea typeface="+mn-ea"/>
                <a:cs typeface="+mn-cs"/>
              </a:rPr>
              <a:t> to expand its analytics capabilities. </a:t>
            </a:r>
          </a:p>
          <a:p>
            <a:r>
              <a:rPr lang="en-GB" sz="1200" b="1" i="0" u="none" strike="noStrike" kern="1200" dirty="0">
                <a:solidFill>
                  <a:schemeClr val="tx1"/>
                </a:solidFill>
                <a:effectLst/>
                <a:latin typeface="+mn-lt"/>
                <a:ea typeface="+mn-ea"/>
                <a:cs typeface="+mn-cs"/>
              </a:rPr>
              <a:t>Boston Consulting Group (BCG)</a:t>
            </a:r>
            <a:r>
              <a:rPr lang="en-GB" sz="1200" b="0" i="0" u="none" strike="noStrike" kern="1200" dirty="0">
                <a:solidFill>
                  <a:schemeClr val="tx1"/>
                </a:solidFill>
                <a:effectLst/>
                <a:latin typeface="+mn-lt"/>
                <a:ea typeface="+mn-ea"/>
                <a:cs typeface="+mn-cs"/>
              </a:rPr>
              <a:t> </a:t>
            </a:r>
          </a:p>
          <a:p>
            <a:r>
              <a:rPr lang="en-GB" sz="1200" b="1" i="0" u="none" strike="noStrike" kern="1200" dirty="0">
                <a:solidFill>
                  <a:schemeClr val="tx1"/>
                </a:solidFill>
                <a:effectLst/>
                <a:latin typeface="+mn-lt"/>
                <a:ea typeface="+mn-ea"/>
                <a:cs typeface="+mn-cs"/>
              </a:rPr>
              <a:t>Internal development:</a:t>
            </a:r>
            <a:r>
              <a:rPr lang="en-GB" sz="1200" b="0" i="0" u="none" strike="noStrike" kern="1200" dirty="0">
                <a:solidFill>
                  <a:schemeClr val="tx1"/>
                </a:solidFill>
                <a:effectLst/>
                <a:latin typeface="+mn-lt"/>
                <a:ea typeface="+mn-ea"/>
                <a:cs typeface="+mn-cs"/>
              </a:rPr>
              <a:t> Developed the AI tool "</a:t>
            </a:r>
            <a:r>
              <a:rPr lang="en-GB" sz="1200" b="0" i="0" u="none" strike="noStrike" kern="1200" dirty="0" err="1">
                <a:solidFill>
                  <a:schemeClr val="tx1"/>
                </a:solidFill>
                <a:effectLst/>
                <a:latin typeface="+mn-lt"/>
                <a:ea typeface="+mn-ea"/>
                <a:cs typeface="+mn-cs"/>
              </a:rPr>
              <a:t>Deckster</a:t>
            </a:r>
            <a:r>
              <a:rPr lang="en-GB" sz="1200" b="0" i="0" u="none" strike="noStrike" kern="1200" dirty="0">
                <a:solidFill>
                  <a:schemeClr val="tx1"/>
                </a:solidFill>
                <a:effectLst/>
                <a:latin typeface="+mn-lt"/>
                <a:ea typeface="+mn-ea"/>
                <a:cs typeface="+mn-cs"/>
              </a:rPr>
              <a:t>" to create presentation decks in minutes.</a:t>
            </a:r>
          </a:p>
          <a:p>
            <a:r>
              <a:rPr lang="en-GB" sz="1200" b="1" i="0" u="none" strike="noStrike" kern="1200" dirty="0">
                <a:solidFill>
                  <a:schemeClr val="tx1"/>
                </a:solidFill>
                <a:effectLst/>
                <a:latin typeface="+mn-lt"/>
                <a:ea typeface="+mn-ea"/>
                <a:cs typeface="+mn-cs"/>
              </a:rPr>
              <a:t>Strategic partnerships:</a:t>
            </a:r>
            <a:r>
              <a:rPr lang="en-GB" sz="1200" b="0" i="0" u="none" strike="noStrike" kern="1200" dirty="0">
                <a:solidFill>
                  <a:schemeClr val="tx1"/>
                </a:solidFill>
                <a:effectLst/>
                <a:latin typeface="+mn-lt"/>
                <a:ea typeface="+mn-ea"/>
                <a:cs typeface="+mn-cs"/>
              </a:rPr>
              <a:t> Partnered with large language model developer Anthropic to focus on responsible AI. </a:t>
            </a:r>
          </a:p>
          <a:p>
            <a:r>
              <a:rPr lang="en-GB" sz="1200" b="1" i="0" u="none" strike="noStrike" kern="1200" dirty="0">
                <a:solidFill>
                  <a:schemeClr val="tx1"/>
                </a:solidFill>
                <a:effectLst/>
                <a:latin typeface="+mn-lt"/>
                <a:ea typeface="+mn-ea"/>
                <a:cs typeface="+mn-cs"/>
              </a:rPr>
              <a:t>Bain &amp; Company</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Internal development:</a:t>
            </a:r>
            <a:r>
              <a:rPr lang="en-GB" sz="1200" b="0" i="0" u="none" strike="noStrike" kern="1200" dirty="0">
                <a:solidFill>
                  <a:schemeClr val="tx1"/>
                </a:solidFill>
                <a:effectLst/>
                <a:latin typeface="+mn-lt"/>
                <a:ea typeface="+mn-ea"/>
                <a:cs typeface="+mn-cs"/>
              </a:rPr>
              <a:t> Deployed "Sage," an AI copilot trained on its internal intellectual property. </a:t>
            </a:r>
          </a:p>
          <a:p>
            <a:r>
              <a:rPr lang="en-GB" sz="1200" b="1" i="0" u="none" strike="noStrike" kern="1200" dirty="0">
                <a:solidFill>
                  <a:schemeClr val="tx1"/>
                </a:solidFill>
                <a:effectLst/>
                <a:latin typeface="+mn-lt"/>
                <a:ea typeface="+mn-ea"/>
                <a:cs typeface="+mn-cs"/>
              </a:rPr>
              <a:t>Ernst &amp; Young (EY)</a:t>
            </a:r>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Product development:</a:t>
            </a:r>
            <a:r>
              <a:rPr lang="en-GB" sz="1200" b="0" i="0" u="none" strike="noStrike" kern="1200" dirty="0">
                <a:solidFill>
                  <a:schemeClr val="tx1"/>
                </a:solidFill>
                <a:effectLst/>
                <a:latin typeface="+mn-lt"/>
                <a:ea typeface="+mn-ea"/>
                <a:cs typeface="+mn-cs"/>
              </a:rPr>
              <a:t> Launched its "Agentic Platform" as part of the trend toward AI-agent-based services. </a:t>
            </a:r>
          </a:p>
          <a:p>
            <a:r>
              <a:rPr lang="en-GB" sz="1200" b="1" i="0" u="none" strike="noStrike" kern="1200" dirty="0">
                <a:solidFill>
                  <a:schemeClr val="tx1"/>
                </a:solidFill>
                <a:effectLst/>
                <a:latin typeface="+mn-lt"/>
                <a:ea typeface="+mn-ea"/>
                <a:cs typeface="+mn-cs"/>
              </a:rPr>
              <a:t>Key trends in consultancy AI investment</a:t>
            </a:r>
          </a:p>
          <a:p>
            <a:r>
              <a:rPr lang="en-GB" sz="1200" b="1" i="0" u="none" strike="noStrike" kern="1200" dirty="0">
                <a:solidFill>
                  <a:schemeClr val="tx1"/>
                </a:solidFill>
                <a:effectLst/>
                <a:latin typeface="+mn-lt"/>
                <a:ea typeface="+mn-ea"/>
                <a:cs typeface="+mn-cs"/>
              </a:rPr>
              <a:t>Move to scalable products:</a:t>
            </a:r>
            <a:r>
              <a:rPr lang="en-GB" sz="1200" b="0" i="0" u="none" strike="noStrike" kern="1200" dirty="0">
                <a:solidFill>
                  <a:schemeClr val="tx1"/>
                </a:solidFill>
                <a:effectLst/>
                <a:latin typeface="+mn-lt"/>
                <a:ea typeface="+mn-ea"/>
                <a:cs typeface="+mn-cs"/>
              </a:rPr>
              <a:t> Rather than solely providing customized consulting, firms are developing scalable, product-based AI solutions and new pricing models to deliver value.</a:t>
            </a:r>
          </a:p>
          <a:p>
            <a:r>
              <a:rPr lang="en-GB" sz="1200" b="1" i="0" u="none" strike="noStrike" kern="1200" dirty="0">
                <a:solidFill>
                  <a:schemeClr val="tx1"/>
                </a:solidFill>
                <a:effectLst/>
                <a:latin typeface="+mn-lt"/>
                <a:ea typeface="+mn-ea"/>
                <a:cs typeface="+mn-cs"/>
              </a:rPr>
              <a:t>AI agent platforms:</a:t>
            </a:r>
            <a:r>
              <a:rPr lang="en-GB" sz="1200" b="0" i="0" u="none" strike="noStrike" kern="1200" dirty="0">
                <a:solidFill>
                  <a:schemeClr val="tx1"/>
                </a:solidFill>
                <a:effectLst/>
                <a:latin typeface="+mn-lt"/>
                <a:ea typeface="+mn-ea"/>
                <a:cs typeface="+mn-cs"/>
              </a:rPr>
              <a:t> The major firms launched AI agent platforms in 2024–2025 to enable a transition toward a human-AI workforce.</a:t>
            </a:r>
          </a:p>
          <a:p>
            <a:r>
              <a:rPr lang="en-GB" sz="1200" b="1" i="0" u="none" strike="noStrike" kern="1200" dirty="0">
                <a:solidFill>
                  <a:schemeClr val="tx1"/>
                </a:solidFill>
                <a:effectLst/>
                <a:latin typeface="+mn-lt"/>
                <a:ea typeface="+mn-ea"/>
                <a:cs typeface="+mn-cs"/>
              </a:rPr>
              <a:t>Focus on partnerships and acquisitions:</a:t>
            </a:r>
            <a:r>
              <a:rPr lang="en-GB" sz="1200" b="0" i="0" u="none" strike="noStrike" kern="1200" dirty="0">
                <a:solidFill>
                  <a:schemeClr val="tx1"/>
                </a:solidFill>
                <a:effectLst/>
                <a:latin typeface="+mn-lt"/>
                <a:ea typeface="+mn-ea"/>
                <a:cs typeface="+mn-cs"/>
              </a:rPr>
              <a:t> The professional services sector has engaged in more than 100 AI agent-related partnerships, investments, and acquisitions since 2023.</a:t>
            </a:r>
          </a:p>
          <a:p>
            <a:r>
              <a:rPr lang="en-GB" sz="1200" b="1" i="0" u="none" strike="noStrike" kern="1200" dirty="0">
                <a:solidFill>
                  <a:schemeClr val="tx1"/>
                </a:solidFill>
                <a:effectLst/>
                <a:latin typeface="+mn-lt"/>
                <a:ea typeface="+mn-ea"/>
                <a:cs typeface="+mn-cs"/>
              </a:rPr>
              <a:t>Acquiring infrastructure:</a:t>
            </a:r>
            <a:r>
              <a:rPr lang="en-GB" sz="1200" b="0" i="0" u="none" strike="noStrike" kern="1200" dirty="0">
                <a:solidFill>
                  <a:schemeClr val="tx1"/>
                </a:solidFill>
                <a:effectLst/>
                <a:latin typeface="+mn-lt"/>
                <a:ea typeface="+mn-ea"/>
                <a:cs typeface="+mn-cs"/>
              </a:rPr>
              <a:t> Firms are acquiring data infrastructure companies to strengthen their ability to manage and utilize data, an essential step for building robust AI capabilities.</a:t>
            </a:r>
          </a:p>
          <a:p>
            <a:r>
              <a:rPr lang="en-GB" sz="1200" b="1" i="0" u="none" strike="noStrike" kern="1200" dirty="0">
                <a:solidFill>
                  <a:schemeClr val="tx1"/>
                </a:solidFill>
                <a:effectLst/>
                <a:latin typeface="+mn-lt"/>
                <a:ea typeface="+mn-ea"/>
                <a:cs typeface="+mn-cs"/>
              </a:rPr>
              <a:t>Reshaping the workforce:</a:t>
            </a:r>
            <a:r>
              <a:rPr lang="en-GB" sz="1200" b="0" i="0" u="none" strike="noStrike" kern="1200" dirty="0">
                <a:solidFill>
                  <a:schemeClr val="tx1"/>
                </a:solidFill>
                <a:effectLst/>
                <a:latin typeface="+mn-lt"/>
                <a:ea typeface="+mn-ea"/>
                <a:cs typeface="+mn-cs"/>
              </a:rPr>
              <a:t> As AI handles routine tasks, the traditional consulting model is shifting toward more senior-heavy teams. </a:t>
            </a:r>
          </a:p>
          <a:p>
            <a:endParaRPr lang="en-US" dirty="0"/>
          </a:p>
        </p:txBody>
      </p:sp>
      <p:sp>
        <p:nvSpPr>
          <p:cNvPr id="4" name="Slide Number Placeholder 3"/>
          <p:cNvSpPr>
            <a:spLocks noGrp="1"/>
          </p:cNvSpPr>
          <p:nvPr>
            <p:ph type="sldNum" sz="quarter" idx="5"/>
          </p:nvPr>
        </p:nvSpPr>
        <p:spPr/>
        <p:txBody>
          <a:bodyPr/>
          <a:lstStyle/>
          <a:p>
            <a:fld id="{C9E7B7F8-81FA-46DC-8926-8D6B124E54D6}" type="slidenum">
              <a:rPr lang="en-US" smtClean="0"/>
              <a:t>54</a:t>
            </a:fld>
            <a:endParaRPr lang="en-US"/>
          </a:p>
        </p:txBody>
      </p:sp>
    </p:spTree>
    <p:extLst>
      <p:ext uri="{BB962C8B-B14F-4D97-AF65-F5344CB8AC3E}">
        <p14:creationId xmlns:p14="http://schemas.microsoft.com/office/powerpoint/2010/main" val="1160028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9E7B7F8-81FA-46DC-8926-8D6B124E54D6}" type="slidenum">
              <a:rPr lang="en-US" smtClean="0"/>
              <a:t>80</a:t>
            </a:fld>
            <a:endParaRPr lang="en-US"/>
          </a:p>
        </p:txBody>
      </p:sp>
    </p:spTree>
    <p:extLst>
      <p:ext uri="{BB962C8B-B14F-4D97-AF65-F5344CB8AC3E}">
        <p14:creationId xmlns:p14="http://schemas.microsoft.com/office/powerpoint/2010/main" val="1523973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702746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38142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869022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0408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5552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3600" b="1">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16677816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608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372875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027764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92803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36452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961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1" name="Picture Placeholder 3"/>
          <p:cNvSpPr>
            <a:spLocks noGrp="1"/>
          </p:cNvSpPr>
          <p:nvPr>
            <p:ph type="pic" sz="quarter" idx="18"/>
          </p:nvPr>
        </p:nvSpPr>
        <p:spPr>
          <a:xfrm>
            <a:off x="1377095" y="1948482"/>
            <a:ext cx="3145536" cy="2020824"/>
          </a:xfrm>
        </p:spPr>
        <p:txBody>
          <a:bodyPr>
            <a:normAutofit/>
          </a:bodyPr>
          <a:lstStyle>
            <a:lvl1pPr>
              <a:defRPr sz="1600">
                <a:solidFill>
                  <a:schemeClr val="accent2"/>
                </a:solidFill>
              </a:defRPr>
            </a:lvl1pPr>
          </a:lstStyle>
          <a:p>
            <a:endParaRPr lang="id-ID"/>
          </a:p>
        </p:txBody>
      </p:sp>
      <p:sp>
        <p:nvSpPr>
          <p:cNvPr id="32" name="Picture Placeholder 3"/>
          <p:cNvSpPr>
            <a:spLocks noGrp="1"/>
          </p:cNvSpPr>
          <p:nvPr>
            <p:ph type="pic" sz="quarter" idx="19"/>
          </p:nvPr>
        </p:nvSpPr>
        <p:spPr>
          <a:xfrm>
            <a:off x="4571619" y="1948482"/>
            <a:ext cx="3145536" cy="2020824"/>
          </a:xfrm>
        </p:spPr>
        <p:txBody>
          <a:bodyPr>
            <a:normAutofit/>
          </a:bodyPr>
          <a:lstStyle>
            <a:lvl1pPr>
              <a:defRPr sz="1600">
                <a:solidFill>
                  <a:schemeClr val="accent2"/>
                </a:solidFill>
              </a:defRPr>
            </a:lvl1pPr>
          </a:lstStyle>
          <a:p>
            <a:endParaRPr lang="id-ID"/>
          </a:p>
        </p:txBody>
      </p:sp>
      <p:sp>
        <p:nvSpPr>
          <p:cNvPr id="33" name="Picture Placeholder 3"/>
          <p:cNvSpPr>
            <a:spLocks noGrp="1"/>
          </p:cNvSpPr>
          <p:nvPr>
            <p:ph type="pic" sz="quarter" idx="20"/>
          </p:nvPr>
        </p:nvSpPr>
        <p:spPr>
          <a:xfrm>
            <a:off x="7766144" y="1948482"/>
            <a:ext cx="3145536" cy="2020824"/>
          </a:xfrm>
        </p:spPr>
        <p:txBody>
          <a:bodyPr>
            <a:normAutofit/>
          </a:bodyPr>
          <a:lstStyle>
            <a:lvl1pPr>
              <a:defRPr sz="1600">
                <a:solidFill>
                  <a:schemeClr val="accent2"/>
                </a:solidFill>
              </a:defRPr>
            </a:lvl1pPr>
          </a:lstStyle>
          <a:p>
            <a:endParaRPr lang="id-ID"/>
          </a:p>
        </p:txBody>
      </p:sp>
      <p:sp>
        <p:nvSpPr>
          <p:cNvPr id="34" name="Picture Placeholder 3"/>
          <p:cNvSpPr>
            <a:spLocks noGrp="1"/>
          </p:cNvSpPr>
          <p:nvPr>
            <p:ph type="pic" sz="quarter" idx="21"/>
          </p:nvPr>
        </p:nvSpPr>
        <p:spPr>
          <a:xfrm>
            <a:off x="1377095" y="4015011"/>
            <a:ext cx="3145536" cy="2020824"/>
          </a:xfrm>
        </p:spPr>
        <p:txBody>
          <a:bodyPr>
            <a:normAutofit/>
          </a:bodyPr>
          <a:lstStyle>
            <a:lvl1pPr>
              <a:defRPr sz="1600">
                <a:solidFill>
                  <a:schemeClr val="accent2"/>
                </a:solidFill>
              </a:defRPr>
            </a:lvl1pPr>
          </a:lstStyle>
          <a:p>
            <a:endParaRPr lang="id-ID"/>
          </a:p>
        </p:txBody>
      </p:sp>
      <p:sp>
        <p:nvSpPr>
          <p:cNvPr id="35" name="Picture Placeholder 3"/>
          <p:cNvSpPr>
            <a:spLocks noGrp="1"/>
          </p:cNvSpPr>
          <p:nvPr>
            <p:ph type="pic" sz="quarter" idx="22"/>
          </p:nvPr>
        </p:nvSpPr>
        <p:spPr>
          <a:xfrm>
            <a:off x="4571619" y="4015011"/>
            <a:ext cx="3145536" cy="2020824"/>
          </a:xfrm>
        </p:spPr>
        <p:txBody>
          <a:bodyPr>
            <a:normAutofit/>
          </a:bodyPr>
          <a:lstStyle>
            <a:lvl1pPr>
              <a:defRPr sz="1600">
                <a:solidFill>
                  <a:schemeClr val="accent2"/>
                </a:solidFill>
              </a:defRPr>
            </a:lvl1pPr>
          </a:lstStyle>
          <a:p>
            <a:endParaRPr lang="id-ID"/>
          </a:p>
        </p:txBody>
      </p:sp>
      <p:sp>
        <p:nvSpPr>
          <p:cNvPr id="36" name="Picture Placeholder 3"/>
          <p:cNvSpPr>
            <a:spLocks noGrp="1"/>
          </p:cNvSpPr>
          <p:nvPr>
            <p:ph type="pic" sz="quarter" idx="23"/>
          </p:nvPr>
        </p:nvSpPr>
        <p:spPr>
          <a:xfrm>
            <a:off x="7766144" y="4015011"/>
            <a:ext cx="3145536" cy="2020824"/>
          </a:xfrm>
        </p:spPr>
        <p:txBody>
          <a:bodyPr>
            <a:normAutofit/>
          </a:bodyPr>
          <a:lstStyle>
            <a:lvl1pPr>
              <a:defRPr sz="1600">
                <a:solidFill>
                  <a:schemeClr val="accent2"/>
                </a:solidFill>
              </a:defRPr>
            </a:lvl1pPr>
          </a:lstStyle>
          <a:p>
            <a:endParaRPr lang="id-ID"/>
          </a:p>
        </p:txBody>
      </p:sp>
    </p:spTree>
    <p:extLst>
      <p:ext uri="{BB962C8B-B14F-4D97-AF65-F5344CB8AC3E}">
        <p14:creationId xmlns:p14="http://schemas.microsoft.com/office/powerpoint/2010/main" val="1791667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2" descr="BCS, The Chartered Institute for IT ...">
            <a:extLst>
              <a:ext uri="{FF2B5EF4-FFF2-40B4-BE49-F238E27FC236}">
                <a16:creationId xmlns:a16="http://schemas.microsoft.com/office/drawing/2014/main" id="{E52D7CE2-2A4B-C5F3-EB60-B43879F27CBE}"/>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5846" y="6004235"/>
            <a:ext cx="792354" cy="792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007702"/>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 id="2147483673" r:id="rId12"/>
    <p:sldLayoutId id="214748367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jpe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jpe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s://www.cityam.com/deloitte-refunds-australian-government-after-ai-made-up-citations-in-report/" TargetMode="External"/><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mckinsey.com/features/ask-mckinsey?cid=other-eml-alt-mip-mck&amp;hlkid=baad510143c24d918432caf08cff703b&amp;hctky=2182130&amp;hdpid=5c430f42-8bd0-4b02-a31e-7519aee08fa9#ask-mckinsey" TargetMode="External"/><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54.png"/><Relationship Id="rId4" Type="http://schemas.openxmlformats.org/officeDocument/2006/relationships/hyperlink" Target="https://www.forbes.com/sites/bernardmarr/2024/07/10/how-bcg-is-revolutionizing-consulting-with-ai-a-case-study/"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56.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hyperlink" Target="https://medium.com/@philwc/ten-lessons-i-learned-developing-ava-kpmg-uks-flagship-genai-as-a-service-platform-75e4644d282c" TargetMode="External"/><Relationship Id="rId2" Type="http://schemas.openxmlformats.org/officeDocument/2006/relationships/image" Target="../media/image59.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slides/_rels/slide6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svg"/><Relationship Id="rId7" Type="http://schemas.openxmlformats.org/officeDocument/2006/relationships/image" Target="../media/image85.svg"/><Relationship Id="rId2" Type="http://schemas.openxmlformats.org/officeDocument/2006/relationships/image" Target="../media/image80.png"/><Relationship Id="rId1" Type="http://schemas.openxmlformats.org/officeDocument/2006/relationships/slideLayout" Target="../slideLayouts/slideLayout6.xml"/><Relationship Id="rId6" Type="http://schemas.openxmlformats.org/officeDocument/2006/relationships/image" Target="../media/image84.png"/><Relationship Id="rId5" Type="http://schemas.openxmlformats.org/officeDocument/2006/relationships/image" Target="../media/image83.svg"/><Relationship Id="rId4" Type="http://schemas.openxmlformats.org/officeDocument/2006/relationships/image" Target="../media/image82.png"/><Relationship Id="rId9" Type="http://schemas.openxmlformats.org/officeDocument/2006/relationships/image" Target="../media/image87.svg"/></Relationships>
</file>

<file path=ppt/slides/_rels/slide63.xml.rels><?xml version="1.0" encoding="UTF-8" standalone="yes"?>
<Relationships xmlns="http://schemas.openxmlformats.org/package/2006/relationships"><Relationship Id="rId3" Type="http://schemas.openxmlformats.org/officeDocument/2006/relationships/hyperlink" Target="https://www.bcs.org/about-us/?utm_source=openai" TargetMode="External"/><Relationship Id="rId2" Type="http://schemas.openxmlformats.org/officeDocument/2006/relationships/hyperlink" Target="https://en.wikipedia.org/wiki/British_Computer_Society?utm_source=openai" TargetMode="External"/><Relationship Id="rId1" Type="http://schemas.openxmlformats.org/officeDocument/2006/relationships/slideLayout" Target="../slideLayouts/slideLayout6.xml"/><Relationship Id="rId6" Type="http://schemas.openxmlformats.org/officeDocument/2006/relationships/hyperlink" Target="https://www.bcs.org/policy-and-influence/?utm_source=openai" TargetMode="External"/><Relationship Id="rId5" Type="http://schemas.openxmlformats.org/officeDocument/2006/relationships/image" Target="../media/image81.svg"/><Relationship Id="rId4" Type="http://schemas.openxmlformats.org/officeDocument/2006/relationships/image" Target="../media/image80.png"/></Relationships>
</file>

<file path=ppt/slides/_rels/slide64.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82.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hyperlink" Target="https://www.clickthrough-marketing.com/industry-reports/sector-insights/uk-supermarkets-digital-marketing-benchmark-report-q4-2025" TargetMode="External"/><Relationship Id="rId2" Type="http://schemas.openxmlformats.org/officeDocument/2006/relationships/hyperlink" Target="https://ecommercedb.com/benchmarks/gb/grocery" TargetMode="Externa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76.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umanoid Robots Revolutionizing Mundane Tasks">
            <a:extLst>
              <a:ext uri="{FF2B5EF4-FFF2-40B4-BE49-F238E27FC236}">
                <a16:creationId xmlns:a16="http://schemas.microsoft.com/office/drawing/2014/main" id="{B2D643D0-C8DB-DFFE-4230-4841EF85B4CA}"/>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957263" y="0"/>
            <a:ext cx="10275887" cy="685800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F36854F6-EE9F-DC40-91C8-220D5434C7EE}"/>
              </a:ext>
            </a:extLst>
          </p:cNvPr>
          <p:cNvSpPr/>
          <p:nvPr/>
        </p:nvSpPr>
        <p:spPr>
          <a:xfrm>
            <a:off x="11091553" y="6356350"/>
            <a:ext cx="262247"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ack text on a white background&#10;&#10;Description automatically generated">
            <a:extLst>
              <a:ext uri="{FF2B5EF4-FFF2-40B4-BE49-F238E27FC236}">
                <a16:creationId xmlns:a16="http://schemas.microsoft.com/office/drawing/2014/main" id="{F98070F0-60F2-E3A7-2906-A9F5B16F2B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2247" y="872499"/>
            <a:ext cx="3364701" cy="587033"/>
          </a:xfrm>
          <a:prstGeom prst="rect">
            <a:avLst/>
          </a:prstGeom>
        </p:spPr>
      </p:pic>
      <p:sp>
        <p:nvSpPr>
          <p:cNvPr id="3" name="TextBox 2">
            <a:extLst>
              <a:ext uri="{FF2B5EF4-FFF2-40B4-BE49-F238E27FC236}">
                <a16:creationId xmlns:a16="http://schemas.microsoft.com/office/drawing/2014/main" id="{45A947F2-E803-9E7A-0F97-2BBFCEFB7665}"/>
              </a:ext>
            </a:extLst>
          </p:cNvPr>
          <p:cNvSpPr txBox="1"/>
          <p:nvPr/>
        </p:nvSpPr>
        <p:spPr>
          <a:xfrm>
            <a:off x="595060" y="2661158"/>
            <a:ext cx="11170622" cy="584775"/>
          </a:xfrm>
          <a:prstGeom prst="rect">
            <a:avLst/>
          </a:prstGeom>
          <a:solidFill>
            <a:schemeClr val="bg1">
              <a:alpha val="79000"/>
            </a:schemeClr>
          </a:solidFill>
        </p:spPr>
        <p:txBody>
          <a:bodyPr wrap="none" rtlCol="0">
            <a:spAutoFit/>
          </a:bodyPr>
          <a:lstStyle/>
          <a:p>
            <a:r>
              <a:rPr lang="en-GB" sz="3200" b="1" dirty="0"/>
              <a:t>Vibe Consulting – Death of Consultancy or Its New Superpower?</a:t>
            </a:r>
            <a:r>
              <a:rPr lang="en-GB" sz="3200" dirty="0"/>
              <a:t> </a:t>
            </a:r>
          </a:p>
        </p:txBody>
      </p:sp>
      <p:sp>
        <p:nvSpPr>
          <p:cNvPr id="7" name="TextBox 6">
            <a:extLst>
              <a:ext uri="{FF2B5EF4-FFF2-40B4-BE49-F238E27FC236}">
                <a16:creationId xmlns:a16="http://schemas.microsoft.com/office/drawing/2014/main" id="{0F14233B-0720-D9B8-E98B-3BB6E9E19149}"/>
              </a:ext>
            </a:extLst>
          </p:cNvPr>
          <p:cNvSpPr txBox="1"/>
          <p:nvPr/>
        </p:nvSpPr>
        <p:spPr>
          <a:xfrm>
            <a:off x="10084777" y="6261913"/>
            <a:ext cx="1472904" cy="276999"/>
          </a:xfrm>
          <a:prstGeom prst="rect">
            <a:avLst/>
          </a:prstGeom>
          <a:noFill/>
        </p:spPr>
        <p:txBody>
          <a:bodyPr wrap="none" rtlCol="0">
            <a:spAutoFit/>
          </a:bodyPr>
          <a:lstStyle/>
          <a:p>
            <a:r>
              <a:rPr lang="en-GB" sz="1200" dirty="0"/>
              <a:t>13</a:t>
            </a:r>
            <a:r>
              <a:rPr lang="en-GB" sz="1200" baseline="30000" dirty="0"/>
              <a:t>th</a:t>
            </a:r>
            <a:r>
              <a:rPr lang="en-GB" sz="1200" dirty="0"/>
              <a:t> November 2025</a:t>
            </a:r>
          </a:p>
        </p:txBody>
      </p:sp>
      <p:sp>
        <p:nvSpPr>
          <p:cNvPr id="8" name="TextBox 7">
            <a:extLst>
              <a:ext uri="{FF2B5EF4-FFF2-40B4-BE49-F238E27FC236}">
                <a16:creationId xmlns:a16="http://schemas.microsoft.com/office/drawing/2014/main" id="{93FFAA07-61E2-0DBD-7EA8-CFE6DE90E34C}"/>
              </a:ext>
            </a:extLst>
          </p:cNvPr>
          <p:cNvSpPr txBox="1"/>
          <p:nvPr/>
        </p:nvSpPr>
        <p:spPr>
          <a:xfrm>
            <a:off x="5352431" y="4262893"/>
            <a:ext cx="1487138" cy="369332"/>
          </a:xfrm>
          <a:prstGeom prst="rect">
            <a:avLst/>
          </a:prstGeom>
          <a:solidFill>
            <a:schemeClr val="bg1">
              <a:alpha val="76000"/>
            </a:schemeClr>
          </a:solidFill>
        </p:spPr>
        <p:txBody>
          <a:bodyPr wrap="none" rtlCol="0">
            <a:spAutoFit/>
          </a:bodyPr>
          <a:lstStyle/>
          <a:p>
            <a:r>
              <a:rPr lang="en-GB" b="1" dirty="0"/>
              <a:t>Dr. Alan Warr</a:t>
            </a:r>
          </a:p>
        </p:txBody>
      </p:sp>
    </p:spTree>
    <p:extLst>
      <p:ext uri="{BB962C8B-B14F-4D97-AF65-F5344CB8AC3E}">
        <p14:creationId xmlns:p14="http://schemas.microsoft.com/office/powerpoint/2010/main" val="790169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9A47D-A342-AC3F-D275-487FFF50D2B9}"/>
              </a:ext>
            </a:extLst>
          </p:cNvPr>
          <p:cNvSpPr>
            <a:spLocks noGrp="1"/>
          </p:cNvSpPr>
          <p:nvPr>
            <p:ph type="title"/>
          </p:nvPr>
        </p:nvSpPr>
        <p:spPr/>
        <p:txBody>
          <a:bodyPr/>
          <a:lstStyle/>
          <a:p>
            <a:r>
              <a:rPr lang="en-GB" dirty="0"/>
              <a:t>BCS / CONSIG Notices &amp; Announcements</a:t>
            </a:r>
          </a:p>
        </p:txBody>
      </p:sp>
      <p:pic>
        <p:nvPicPr>
          <p:cNvPr id="3" name="Picture 2" descr="73+ Thousand Training Participants Royalty-Free Images, Stock Photos &amp;  Pictures | Shutterstock">
            <a:extLst>
              <a:ext uri="{FF2B5EF4-FFF2-40B4-BE49-F238E27FC236}">
                <a16:creationId xmlns:a16="http://schemas.microsoft.com/office/drawing/2014/main" id="{034C04E4-9B10-600B-0E0C-95FE0B832F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429"/>
          <a:stretch>
            <a:fillRect/>
          </a:stretch>
        </p:blipFill>
        <p:spPr bwMode="auto">
          <a:xfrm>
            <a:off x="3563620" y="2005330"/>
            <a:ext cx="5499100" cy="3149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10B99AF-BE16-C62C-345B-34E05BE264B4}"/>
              </a:ext>
            </a:extLst>
          </p:cNvPr>
          <p:cNvSpPr txBox="1"/>
          <p:nvPr/>
        </p:nvSpPr>
        <p:spPr>
          <a:xfrm>
            <a:off x="4194810" y="5772150"/>
            <a:ext cx="4184351" cy="369332"/>
          </a:xfrm>
          <a:prstGeom prst="rect">
            <a:avLst/>
          </a:prstGeom>
          <a:noFill/>
        </p:spPr>
        <p:txBody>
          <a:bodyPr wrap="none" rtlCol="0">
            <a:spAutoFit/>
          </a:bodyPr>
          <a:lstStyle/>
          <a:p>
            <a:r>
              <a:rPr lang="en-GB" b="1" dirty="0">
                <a:solidFill>
                  <a:srgbClr val="FF0000"/>
                </a:solidFill>
              </a:rPr>
              <a:t>This event will NOT be posted on YouTube</a:t>
            </a:r>
          </a:p>
        </p:txBody>
      </p:sp>
    </p:spTree>
    <p:extLst>
      <p:ext uri="{BB962C8B-B14F-4D97-AF65-F5344CB8AC3E}">
        <p14:creationId xmlns:p14="http://schemas.microsoft.com/office/powerpoint/2010/main" val="323953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68F3F-B6A9-5FBB-3B43-31D4CE923BB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35368D9-FDD1-479B-17DA-1058CA8BB2C1}"/>
              </a:ext>
            </a:extLst>
          </p:cNvPr>
          <p:cNvSpPr txBox="1"/>
          <p:nvPr/>
        </p:nvSpPr>
        <p:spPr>
          <a:xfrm>
            <a:off x="2471450" y="919137"/>
            <a:ext cx="7249100" cy="1569660"/>
          </a:xfrm>
          <a:prstGeom prst="rect">
            <a:avLst/>
          </a:prstGeom>
          <a:noFill/>
        </p:spPr>
        <p:txBody>
          <a:bodyPr wrap="none" rtlCol="0">
            <a:spAutoFit/>
          </a:bodyPr>
          <a:lstStyle/>
          <a:p>
            <a:pPr algn="ctr"/>
            <a:r>
              <a:rPr lang="en-GB" sz="3200" b="1" dirty="0">
                <a:solidFill>
                  <a:schemeClr val="tx2"/>
                </a:solidFill>
              </a:rPr>
              <a:t>Section 1</a:t>
            </a:r>
          </a:p>
          <a:p>
            <a:pPr algn="ctr"/>
            <a:endParaRPr lang="en-GB" sz="3200" b="1" dirty="0"/>
          </a:p>
          <a:p>
            <a:pPr algn="ctr"/>
            <a:r>
              <a:rPr lang="en-GB" sz="3200" b="1" dirty="0">
                <a:solidFill>
                  <a:schemeClr val="tx2"/>
                </a:solidFill>
              </a:rPr>
              <a:t>Introduction &amp; Viewpoint from the Event</a:t>
            </a:r>
            <a:r>
              <a:rPr lang="en-GB" sz="3200" dirty="0">
                <a:solidFill>
                  <a:schemeClr val="tx2"/>
                </a:solidFill>
              </a:rPr>
              <a:t> </a:t>
            </a:r>
          </a:p>
        </p:txBody>
      </p:sp>
      <p:pic>
        <p:nvPicPr>
          <p:cNvPr id="9218" name="Picture 2" descr="Direction Signpost Stock Photos ...">
            <a:extLst>
              <a:ext uri="{FF2B5EF4-FFF2-40B4-BE49-F238E27FC236}">
                <a16:creationId xmlns:a16="http://schemas.microsoft.com/office/drawing/2014/main" id="{FF524073-80B8-EC2C-73C4-9483F133B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1360" y="3407934"/>
            <a:ext cx="5669280" cy="2530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88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E2B54-ECA8-E243-A6C5-BE1E86B3AA7C}"/>
              </a:ext>
            </a:extLst>
          </p:cNvPr>
          <p:cNvSpPr>
            <a:spLocks noGrp="1"/>
          </p:cNvSpPr>
          <p:nvPr>
            <p:ph type="title"/>
          </p:nvPr>
        </p:nvSpPr>
        <p:spPr/>
        <p:txBody>
          <a:bodyPr/>
          <a:lstStyle/>
          <a:p>
            <a:r>
              <a:rPr lang="en-GB" dirty="0"/>
              <a:t>Agenda</a:t>
            </a:r>
          </a:p>
        </p:txBody>
      </p:sp>
      <p:grpSp>
        <p:nvGrpSpPr>
          <p:cNvPr id="6" name="Group 5">
            <a:extLst>
              <a:ext uri="{FF2B5EF4-FFF2-40B4-BE49-F238E27FC236}">
                <a16:creationId xmlns:a16="http://schemas.microsoft.com/office/drawing/2014/main" id="{F0D969BF-B6B1-EBCE-6734-09D237D4B7EB}"/>
              </a:ext>
            </a:extLst>
          </p:cNvPr>
          <p:cNvGrpSpPr/>
          <p:nvPr/>
        </p:nvGrpSpPr>
        <p:grpSpPr>
          <a:xfrm>
            <a:off x="972095" y="923263"/>
            <a:ext cx="2280391" cy="2062103"/>
            <a:chOff x="7044908" y="2433638"/>
            <a:chExt cx="3849687" cy="3608388"/>
          </a:xfrm>
        </p:grpSpPr>
        <p:sp>
          <p:nvSpPr>
            <p:cNvPr id="7" name="Freeform 5">
              <a:extLst>
                <a:ext uri="{FF2B5EF4-FFF2-40B4-BE49-F238E27FC236}">
                  <a16:creationId xmlns:a16="http://schemas.microsoft.com/office/drawing/2014/main" id="{1D2D719F-0DA0-ADAC-D72E-487AE0BF3554}"/>
                </a:ext>
              </a:extLst>
            </p:cNvPr>
            <p:cNvSpPr>
              <a:spLocks/>
            </p:cNvSpPr>
            <p:nvPr/>
          </p:nvSpPr>
          <p:spPr bwMode="auto">
            <a:xfrm>
              <a:off x="8989595" y="3194050"/>
              <a:ext cx="1208087" cy="2071688"/>
            </a:xfrm>
            <a:custGeom>
              <a:avLst/>
              <a:gdLst>
                <a:gd name="T0" fmla="*/ 0 w 719"/>
                <a:gd name="T1" fmla="*/ 112 h 1232"/>
                <a:gd name="T2" fmla="*/ 0 w 719"/>
                <a:gd name="T3" fmla="*/ 1030 h 1232"/>
                <a:gd name="T4" fmla="*/ 154 w 719"/>
                <a:gd name="T5" fmla="*/ 1194 h 1232"/>
                <a:gd name="T6" fmla="*/ 381 w 719"/>
                <a:gd name="T7" fmla="*/ 1118 h 1232"/>
                <a:gd name="T8" fmla="*/ 570 w 719"/>
                <a:gd name="T9" fmla="*/ 950 h 1232"/>
                <a:gd name="T10" fmla="*/ 639 w 719"/>
                <a:gd name="T11" fmla="*/ 756 h 1232"/>
                <a:gd name="T12" fmla="*/ 639 w 719"/>
                <a:gd name="T13" fmla="*/ 559 h 1232"/>
                <a:gd name="T14" fmla="*/ 588 w 719"/>
                <a:gd name="T15" fmla="*/ 377 h 1232"/>
                <a:gd name="T16" fmla="*/ 460 w 719"/>
                <a:gd name="T17" fmla="*/ 197 h 1232"/>
                <a:gd name="T18" fmla="*/ 269 w 719"/>
                <a:gd name="T19" fmla="*/ 91 h 1232"/>
                <a:gd name="T20" fmla="*/ 133 w 719"/>
                <a:gd name="T21" fmla="*/ 4 h 1232"/>
                <a:gd name="T22" fmla="*/ 0 w 719"/>
                <a:gd name="T23" fmla="*/ 112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9" h="1232">
                  <a:moveTo>
                    <a:pt x="0" y="112"/>
                  </a:moveTo>
                  <a:cubicBezTo>
                    <a:pt x="0" y="1030"/>
                    <a:pt x="0" y="1030"/>
                    <a:pt x="0" y="1030"/>
                  </a:cubicBezTo>
                  <a:cubicBezTo>
                    <a:pt x="0" y="1030"/>
                    <a:pt x="19" y="1190"/>
                    <a:pt x="154" y="1194"/>
                  </a:cubicBezTo>
                  <a:cubicBezTo>
                    <a:pt x="154" y="1194"/>
                    <a:pt x="307" y="1232"/>
                    <a:pt x="381" y="1118"/>
                  </a:cubicBezTo>
                  <a:cubicBezTo>
                    <a:pt x="381" y="1118"/>
                    <a:pt x="528" y="1112"/>
                    <a:pt x="570" y="950"/>
                  </a:cubicBezTo>
                  <a:cubicBezTo>
                    <a:pt x="570" y="950"/>
                    <a:pt x="654" y="905"/>
                    <a:pt x="639" y="756"/>
                  </a:cubicBezTo>
                  <a:cubicBezTo>
                    <a:pt x="639" y="756"/>
                    <a:pt x="719" y="652"/>
                    <a:pt x="639" y="559"/>
                  </a:cubicBezTo>
                  <a:cubicBezTo>
                    <a:pt x="639" y="559"/>
                    <a:pt x="686" y="455"/>
                    <a:pt x="588" y="377"/>
                  </a:cubicBezTo>
                  <a:cubicBezTo>
                    <a:pt x="588" y="377"/>
                    <a:pt x="593" y="240"/>
                    <a:pt x="460" y="197"/>
                  </a:cubicBezTo>
                  <a:cubicBezTo>
                    <a:pt x="460" y="197"/>
                    <a:pt x="441" y="101"/>
                    <a:pt x="269" y="91"/>
                  </a:cubicBezTo>
                  <a:cubicBezTo>
                    <a:pt x="269" y="91"/>
                    <a:pt x="241" y="0"/>
                    <a:pt x="133" y="4"/>
                  </a:cubicBezTo>
                  <a:cubicBezTo>
                    <a:pt x="25" y="8"/>
                    <a:pt x="11" y="89"/>
                    <a:pt x="0" y="112"/>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8C736F10-0A5F-286E-9EFD-C04ED26CA7E1}"/>
                </a:ext>
              </a:extLst>
            </p:cNvPr>
            <p:cNvSpPr>
              <a:spLocks/>
            </p:cNvSpPr>
            <p:nvPr/>
          </p:nvSpPr>
          <p:spPr bwMode="auto">
            <a:xfrm>
              <a:off x="9045158" y="3162300"/>
              <a:ext cx="876300" cy="1030288"/>
            </a:xfrm>
            <a:custGeom>
              <a:avLst/>
              <a:gdLst>
                <a:gd name="T0" fmla="*/ 0 w 521"/>
                <a:gd name="T1" fmla="*/ 130 h 613"/>
                <a:gd name="T2" fmla="*/ 187 w 521"/>
                <a:gd name="T3" fmla="*/ 82 h 613"/>
                <a:gd name="T4" fmla="*/ 187 w 521"/>
                <a:gd name="T5" fmla="*/ 249 h 613"/>
                <a:gd name="T6" fmla="*/ 111 w 521"/>
                <a:gd name="T7" fmla="*/ 279 h 613"/>
                <a:gd name="T8" fmla="*/ 87 w 521"/>
                <a:gd name="T9" fmla="*/ 240 h 613"/>
                <a:gd name="T10" fmla="*/ 84 w 521"/>
                <a:gd name="T11" fmla="*/ 257 h 613"/>
                <a:gd name="T12" fmla="*/ 80 w 521"/>
                <a:gd name="T13" fmla="*/ 329 h 613"/>
                <a:gd name="T14" fmla="*/ 97 w 521"/>
                <a:gd name="T15" fmla="*/ 342 h 613"/>
                <a:gd name="T16" fmla="*/ 111 w 521"/>
                <a:gd name="T17" fmla="*/ 311 h 613"/>
                <a:gd name="T18" fmla="*/ 209 w 521"/>
                <a:gd name="T19" fmla="*/ 271 h 613"/>
                <a:gd name="T20" fmla="*/ 254 w 521"/>
                <a:gd name="T21" fmla="*/ 145 h 613"/>
                <a:gd name="T22" fmla="*/ 407 w 521"/>
                <a:gd name="T23" fmla="*/ 242 h 613"/>
                <a:gd name="T24" fmla="*/ 517 w 521"/>
                <a:gd name="T25" fmla="*/ 392 h 613"/>
                <a:gd name="T26" fmla="*/ 387 w 521"/>
                <a:gd name="T27" fmla="*/ 563 h 613"/>
                <a:gd name="T28" fmla="*/ 312 w 521"/>
                <a:gd name="T29" fmla="*/ 563 h 613"/>
                <a:gd name="T30" fmla="*/ 322 w 521"/>
                <a:gd name="T31" fmla="*/ 481 h 613"/>
                <a:gd name="T32" fmla="*/ 352 w 521"/>
                <a:gd name="T33" fmla="*/ 447 h 613"/>
                <a:gd name="T34" fmla="*/ 329 w 521"/>
                <a:gd name="T35" fmla="*/ 441 h 613"/>
                <a:gd name="T36" fmla="*/ 258 w 521"/>
                <a:gd name="T37" fmla="*/ 454 h 613"/>
                <a:gd name="T38" fmla="*/ 258 w 521"/>
                <a:gd name="T39" fmla="*/ 474 h 613"/>
                <a:gd name="T40" fmla="*/ 285 w 521"/>
                <a:gd name="T41" fmla="*/ 480 h 613"/>
                <a:gd name="T42" fmla="*/ 186 w 521"/>
                <a:gd name="T43" fmla="*/ 613 h 613"/>
                <a:gd name="T44" fmla="*/ 0 w 521"/>
                <a:gd name="T45" fmla="*/ 375 h 613"/>
                <a:gd name="T46" fmla="*/ 0 w 521"/>
                <a:gd name="T47" fmla="*/ 130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1" h="613">
                  <a:moveTo>
                    <a:pt x="0" y="130"/>
                  </a:moveTo>
                  <a:cubicBezTo>
                    <a:pt x="0" y="130"/>
                    <a:pt x="64" y="0"/>
                    <a:pt x="187" y="82"/>
                  </a:cubicBezTo>
                  <a:cubicBezTo>
                    <a:pt x="187" y="82"/>
                    <a:pt x="268" y="170"/>
                    <a:pt x="187" y="249"/>
                  </a:cubicBezTo>
                  <a:cubicBezTo>
                    <a:pt x="187" y="249"/>
                    <a:pt x="172" y="269"/>
                    <a:pt x="111" y="279"/>
                  </a:cubicBezTo>
                  <a:cubicBezTo>
                    <a:pt x="111" y="279"/>
                    <a:pt x="115" y="228"/>
                    <a:pt x="87" y="240"/>
                  </a:cubicBezTo>
                  <a:cubicBezTo>
                    <a:pt x="87" y="240"/>
                    <a:pt x="78" y="244"/>
                    <a:pt x="84" y="257"/>
                  </a:cubicBezTo>
                  <a:cubicBezTo>
                    <a:pt x="84" y="257"/>
                    <a:pt x="103" y="286"/>
                    <a:pt x="80" y="329"/>
                  </a:cubicBezTo>
                  <a:cubicBezTo>
                    <a:pt x="80" y="329"/>
                    <a:pt x="74" y="358"/>
                    <a:pt x="97" y="342"/>
                  </a:cubicBezTo>
                  <a:cubicBezTo>
                    <a:pt x="97" y="342"/>
                    <a:pt x="114" y="317"/>
                    <a:pt x="111" y="311"/>
                  </a:cubicBezTo>
                  <a:cubicBezTo>
                    <a:pt x="111" y="311"/>
                    <a:pt x="167" y="307"/>
                    <a:pt x="209" y="271"/>
                  </a:cubicBezTo>
                  <a:cubicBezTo>
                    <a:pt x="209" y="271"/>
                    <a:pt x="260" y="238"/>
                    <a:pt x="254" y="145"/>
                  </a:cubicBezTo>
                  <a:cubicBezTo>
                    <a:pt x="254" y="145"/>
                    <a:pt x="356" y="131"/>
                    <a:pt x="407" y="242"/>
                  </a:cubicBezTo>
                  <a:cubicBezTo>
                    <a:pt x="407" y="242"/>
                    <a:pt x="521" y="263"/>
                    <a:pt x="517" y="392"/>
                  </a:cubicBezTo>
                  <a:cubicBezTo>
                    <a:pt x="517" y="392"/>
                    <a:pt x="511" y="536"/>
                    <a:pt x="387" y="563"/>
                  </a:cubicBezTo>
                  <a:cubicBezTo>
                    <a:pt x="387" y="563"/>
                    <a:pt x="341" y="568"/>
                    <a:pt x="312" y="563"/>
                  </a:cubicBezTo>
                  <a:cubicBezTo>
                    <a:pt x="312" y="563"/>
                    <a:pt x="323" y="503"/>
                    <a:pt x="322" y="481"/>
                  </a:cubicBezTo>
                  <a:cubicBezTo>
                    <a:pt x="322" y="481"/>
                    <a:pt x="352" y="454"/>
                    <a:pt x="352" y="447"/>
                  </a:cubicBezTo>
                  <a:cubicBezTo>
                    <a:pt x="352" y="447"/>
                    <a:pt x="351" y="429"/>
                    <a:pt x="329" y="441"/>
                  </a:cubicBezTo>
                  <a:cubicBezTo>
                    <a:pt x="329" y="441"/>
                    <a:pt x="325" y="472"/>
                    <a:pt x="258" y="454"/>
                  </a:cubicBezTo>
                  <a:cubicBezTo>
                    <a:pt x="258" y="454"/>
                    <a:pt x="228" y="454"/>
                    <a:pt x="258" y="474"/>
                  </a:cubicBezTo>
                  <a:cubicBezTo>
                    <a:pt x="258" y="474"/>
                    <a:pt x="275" y="480"/>
                    <a:pt x="285" y="480"/>
                  </a:cubicBezTo>
                  <a:cubicBezTo>
                    <a:pt x="285" y="480"/>
                    <a:pt x="314" y="609"/>
                    <a:pt x="186" y="613"/>
                  </a:cubicBezTo>
                  <a:cubicBezTo>
                    <a:pt x="186" y="613"/>
                    <a:pt x="45" y="563"/>
                    <a:pt x="0" y="375"/>
                  </a:cubicBezTo>
                  <a:lnTo>
                    <a:pt x="0" y="1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EF427369-5AF4-C421-AE45-60895A61F0AA}"/>
                </a:ext>
              </a:extLst>
            </p:cNvPr>
            <p:cNvSpPr>
              <a:spLocks/>
            </p:cNvSpPr>
            <p:nvPr/>
          </p:nvSpPr>
          <p:spPr bwMode="auto">
            <a:xfrm>
              <a:off x="9045158" y="3897313"/>
              <a:ext cx="1125537" cy="1270000"/>
            </a:xfrm>
            <a:custGeom>
              <a:avLst/>
              <a:gdLst>
                <a:gd name="T0" fmla="*/ 369 w 670"/>
                <a:gd name="T1" fmla="*/ 344 h 756"/>
                <a:gd name="T2" fmla="*/ 542 w 670"/>
                <a:gd name="T3" fmla="*/ 352 h 756"/>
                <a:gd name="T4" fmla="*/ 571 w 670"/>
                <a:gd name="T5" fmla="*/ 151 h 756"/>
                <a:gd name="T6" fmla="*/ 548 w 670"/>
                <a:gd name="T7" fmla="*/ 0 h 756"/>
                <a:gd name="T8" fmla="*/ 294 w 670"/>
                <a:gd name="T9" fmla="*/ 159 h 756"/>
                <a:gd name="T10" fmla="*/ 242 w 670"/>
                <a:gd name="T11" fmla="*/ 199 h 756"/>
                <a:gd name="T12" fmla="*/ 304 w 670"/>
                <a:gd name="T13" fmla="*/ 205 h 756"/>
                <a:gd name="T14" fmla="*/ 294 w 670"/>
                <a:gd name="T15" fmla="*/ 244 h 756"/>
                <a:gd name="T16" fmla="*/ 0 w 670"/>
                <a:gd name="T17" fmla="*/ 52 h 756"/>
                <a:gd name="T18" fmla="*/ 0 w 670"/>
                <a:gd name="T19" fmla="*/ 612 h 756"/>
                <a:gd name="T20" fmla="*/ 167 w 670"/>
                <a:gd name="T21" fmla="*/ 754 h 756"/>
                <a:gd name="T22" fmla="*/ 354 w 670"/>
                <a:gd name="T23" fmla="*/ 612 h 756"/>
                <a:gd name="T24" fmla="*/ 300 w 670"/>
                <a:gd name="T25" fmla="*/ 449 h 756"/>
                <a:gd name="T26" fmla="*/ 333 w 670"/>
                <a:gd name="T27" fmla="*/ 427 h 756"/>
                <a:gd name="T28" fmla="*/ 374 w 670"/>
                <a:gd name="T29" fmla="*/ 661 h 756"/>
                <a:gd name="T30" fmla="*/ 517 w 670"/>
                <a:gd name="T31" fmla="*/ 514 h 756"/>
                <a:gd name="T32" fmla="*/ 583 w 670"/>
                <a:gd name="T33" fmla="*/ 369 h 756"/>
                <a:gd name="T34" fmla="*/ 438 w 670"/>
                <a:gd name="T35" fmla="*/ 403 h 756"/>
                <a:gd name="T36" fmla="*/ 362 w 670"/>
                <a:gd name="T37" fmla="*/ 369 h 756"/>
                <a:gd name="T38" fmla="*/ 169 w 670"/>
                <a:gd name="T39" fmla="*/ 391 h 756"/>
                <a:gd name="T40" fmla="*/ 126 w 670"/>
                <a:gd name="T41" fmla="*/ 403 h 756"/>
                <a:gd name="T42" fmla="*/ 167 w 670"/>
                <a:gd name="T43" fmla="*/ 367 h 756"/>
                <a:gd name="T44" fmla="*/ 165 w 670"/>
                <a:gd name="T45" fmla="*/ 321 h 756"/>
                <a:gd name="T46" fmla="*/ 186 w 670"/>
                <a:gd name="T47" fmla="*/ 330 h 756"/>
                <a:gd name="T48" fmla="*/ 188 w 670"/>
                <a:gd name="T49" fmla="*/ 366 h 756"/>
                <a:gd name="T50" fmla="*/ 352 w 670"/>
                <a:gd name="T51" fmla="*/ 330 h 756"/>
                <a:gd name="T52" fmla="*/ 369 w 670"/>
                <a:gd name="T53" fmla="*/ 344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70" h="756">
                  <a:moveTo>
                    <a:pt x="369" y="344"/>
                  </a:moveTo>
                  <a:cubicBezTo>
                    <a:pt x="369" y="344"/>
                    <a:pt x="451" y="404"/>
                    <a:pt x="542" y="352"/>
                  </a:cubicBezTo>
                  <a:cubicBezTo>
                    <a:pt x="542" y="352"/>
                    <a:pt x="670" y="300"/>
                    <a:pt x="571" y="151"/>
                  </a:cubicBezTo>
                  <a:cubicBezTo>
                    <a:pt x="571" y="151"/>
                    <a:pt x="616" y="54"/>
                    <a:pt x="548" y="0"/>
                  </a:cubicBezTo>
                  <a:cubicBezTo>
                    <a:pt x="548" y="0"/>
                    <a:pt x="500" y="193"/>
                    <a:pt x="294" y="159"/>
                  </a:cubicBezTo>
                  <a:cubicBezTo>
                    <a:pt x="294" y="159"/>
                    <a:pt x="267" y="190"/>
                    <a:pt x="242" y="199"/>
                  </a:cubicBezTo>
                  <a:cubicBezTo>
                    <a:pt x="304" y="205"/>
                    <a:pt x="304" y="205"/>
                    <a:pt x="304" y="205"/>
                  </a:cubicBezTo>
                  <a:cubicBezTo>
                    <a:pt x="304" y="205"/>
                    <a:pt x="337" y="232"/>
                    <a:pt x="294" y="244"/>
                  </a:cubicBezTo>
                  <a:cubicBezTo>
                    <a:pt x="294" y="244"/>
                    <a:pt x="107" y="240"/>
                    <a:pt x="0" y="52"/>
                  </a:cubicBezTo>
                  <a:cubicBezTo>
                    <a:pt x="0" y="612"/>
                    <a:pt x="0" y="612"/>
                    <a:pt x="0" y="612"/>
                  </a:cubicBezTo>
                  <a:cubicBezTo>
                    <a:pt x="0" y="612"/>
                    <a:pt x="31" y="756"/>
                    <a:pt x="167" y="754"/>
                  </a:cubicBezTo>
                  <a:cubicBezTo>
                    <a:pt x="167" y="754"/>
                    <a:pt x="329" y="753"/>
                    <a:pt x="354" y="612"/>
                  </a:cubicBezTo>
                  <a:cubicBezTo>
                    <a:pt x="354" y="612"/>
                    <a:pt x="380" y="507"/>
                    <a:pt x="300" y="449"/>
                  </a:cubicBezTo>
                  <a:cubicBezTo>
                    <a:pt x="300" y="449"/>
                    <a:pt x="302" y="408"/>
                    <a:pt x="333" y="427"/>
                  </a:cubicBezTo>
                  <a:cubicBezTo>
                    <a:pt x="333" y="427"/>
                    <a:pt x="432" y="518"/>
                    <a:pt x="374" y="661"/>
                  </a:cubicBezTo>
                  <a:cubicBezTo>
                    <a:pt x="374" y="661"/>
                    <a:pt x="465" y="660"/>
                    <a:pt x="517" y="514"/>
                  </a:cubicBezTo>
                  <a:cubicBezTo>
                    <a:pt x="517" y="514"/>
                    <a:pt x="590" y="456"/>
                    <a:pt x="583" y="369"/>
                  </a:cubicBezTo>
                  <a:cubicBezTo>
                    <a:pt x="583" y="369"/>
                    <a:pt x="503" y="416"/>
                    <a:pt x="438" y="403"/>
                  </a:cubicBezTo>
                  <a:cubicBezTo>
                    <a:pt x="438" y="403"/>
                    <a:pt x="376" y="389"/>
                    <a:pt x="362" y="369"/>
                  </a:cubicBezTo>
                  <a:cubicBezTo>
                    <a:pt x="362" y="369"/>
                    <a:pt x="281" y="453"/>
                    <a:pt x="169" y="391"/>
                  </a:cubicBezTo>
                  <a:cubicBezTo>
                    <a:pt x="169" y="391"/>
                    <a:pt x="146" y="420"/>
                    <a:pt x="126" y="403"/>
                  </a:cubicBezTo>
                  <a:cubicBezTo>
                    <a:pt x="126" y="403"/>
                    <a:pt x="140" y="393"/>
                    <a:pt x="167" y="367"/>
                  </a:cubicBezTo>
                  <a:cubicBezTo>
                    <a:pt x="165" y="321"/>
                    <a:pt x="165" y="321"/>
                    <a:pt x="165" y="321"/>
                  </a:cubicBezTo>
                  <a:cubicBezTo>
                    <a:pt x="165" y="321"/>
                    <a:pt x="188" y="304"/>
                    <a:pt x="186" y="330"/>
                  </a:cubicBezTo>
                  <a:cubicBezTo>
                    <a:pt x="188" y="366"/>
                    <a:pt x="188" y="366"/>
                    <a:pt x="188" y="366"/>
                  </a:cubicBezTo>
                  <a:cubicBezTo>
                    <a:pt x="188" y="366"/>
                    <a:pt x="281" y="418"/>
                    <a:pt x="352" y="330"/>
                  </a:cubicBezTo>
                  <a:cubicBezTo>
                    <a:pt x="369" y="344"/>
                    <a:pt x="369" y="344"/>
                    <a:pt x="369" y="344"/>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
              <a:extLst>
                <a:ext uri="{FF2B5EF4-FFF2-40B4-BE49-F238E27FC236}">
                  <a16:creationId xmlns:a16="http://schemas.microsoft.com/office/drawing/2014/main" id="{89FB0679-7856-CBA2-B966-46921A43388B}"/>
                </a:ext>
              </a:extLst>
            </p:cNvPr>
            <p:cNvSpPr>
              <a:spLocks/>
            </p:cNvSpPr>
            <p:nvPr/>
          </p:nvSpPr>
          <p:spPr bwMode="auto">
            <a:xfrm>
              <a:off x="7748170" y="3194050"/>
              <a:ext cx="1209675" cy="2071688"/>
            </a:xfrm>
            <a:custGeom>
              <a:avLst/>
              <a:gdLst>
                <a:gd name="T0" fmla="*/ 719 w 719"/>
                <a:gd name="T1" fmla="*/ 112 h 1232"/>
                <a:gd name="T2" fmla="*/ 719 w 719"/>
                <a:gd name="T3" fmla="*/ 1030 h 1232"/>
                <a:gd name="T4" fmla="*/ 564 w 719"/>
                <a:gd name="T5" fmla="*/ 1194 h 1232"/>
                <a:gd name="T6" fmla="*/ 338 w 719"/>
                <a:gd name="T7" fmla="*/ 1118 h 1232"/>
                <a:gd name="T8" fmla="*/ 148 w 719"/>
                <a:gd name="T9" fmla="*/ 950 h 1232"/>
                <a:gd name="T10" fmla="*/ 80 w 719"/>
                <a:gd name="T11" fmla="*/ 756 h 1232"/>
                <a:gd name="T12" fmla="*/ 80 w 719"/>
                <a:gd name="T13" fmla="*/ 559 h 1232"/>
                <a:gd name="T14" fmla="*/ 131 w 719"/>
                <a:gd name="T15" fmla="*/ 377 h 1232"/>
                <a:gd name="T16" fmla="*/ 259 w 719"/>
                <a:gd name="T17" fmla="*/ 197 h 1232"/>
                <a:gd name="T18" fmla="*/ 450 w 719"/>
                <a:gd name="T19" fmla="*/ 91 h 1232"/>
                <a:gd name="T20" fmla="*/ 586 w 719"/>
                <a:gd name="T21" fmla="*/ 4 h 1232"/>
                <a:gd name="T22" fmla="*/ 719 w 719"/>
                <a:gd name="T23" fmla="*/ 112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9" h="1232">
                  <a:moveTo>
                    <a:pt x="719" y="112"/>
                  </a:moveTo>
                  <a:cubicBezTo>
                    <a:pt x="719" y="1030"/>
                    <a:pt x="719" y="1030"/>
                    <a:pt x="719" y="1030"/>
                  </a:cubicBezTo>
                  <a:cubicBezTo>
                    <a:pt x="719" y="1030"/>
                    <a:pt x="700" y="1190"/>
                    <a:pt x="564" y="1194"/>
                  </a:cubicBezTo>
                  <a:cubicBezTo>
                    <a:pt x="564" y="1194"/>
                    <a:pt x="411" y="1232"/>
                    <a:pt x="338" y="1118"/>
                  </a:cubicBezTo>
                  <a:cubicBezTo>
                    <a:pt x="338" y="1118"/>
                    <a:pt x="191" y="1112"/>
                    <a:pt x="148" y="950"/>
                  </a:cubicBezTo>
                  <a:cubicBezTo>
                    <a:pt x="148" y="950"/>
                    <a:pt x="65" y="905"/>
                    <a:pt x="80" y="756"/>
                  </a:cubicBezTo>
                  <a:cubicBezTo>
                    <a:pt x="80" y="756"/>
                    <a:pt x="0" y="652"/>
                    <a:pt x="80" y="559"/>
                  </a:cubicBezTo>
                  <a:cubicBezTo>
                    <a:pt x="80" y="559"/>
                    <a:pt x="32" y="455"/>
                    <a:pt x="131" y="377"/>
                  </a:cubicBezTo>
                  <a:cubicBezTo>
                    <a:pt x="131" y="377"/>
                    <a:pt x="125" y="240"/>
                    <a:pt x="259" y="197"/>
                  </a:cubicBezTo>
                  <a:cubicBezTo>
                    <a:pt x="259" y="197"/>
                    <a:pt x="278" y="101"/>
                    <a:pt x="450" y="91"/>
                  </a:cubicBezTo>
                  <a:cubicBezTo>
                    <a:pt x="450" y="91"/>
                    <a:pt x="477" y="0"/>
                    <a:pt x="586" y="4"/>
                  </a:cubicBezTo>
                  <a:cubicBezTo>
                    <a:pt x="694" y="8"/>
                    <a:pt x="707" y="89"/>
                    <a:pt x="719" y="11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a:extLst>
                <a:ext uri="{FF2B5EF4-FFF2-40B4-BE49-F238E27FC236}">
                  <a16:creationId xmlns:a16="http://schemas.microsoft.com/office/drawing/2014/main" id="{033DADA5-4EE3-0648-7BA7-0D426093D662}"/>
                </a:ext>
              </a:extLst>
            </p:cNvPr>
            <p:cNvSpPr>
              <a:spLocks/>
            </p:cNvSpPr>
            <p:nvPr/>
          </p:nvSpPr>
          <p:spPr bwMode="auto">
            <a:xfrm>
              <a:off x="8025983" y="3162300"/>
              <a:ext cx="876300" cy="1030288"/>
            </a:xfrm>
            <a:custGeom>
              <a:avLst/>
              <a:gdLst>
                <a:gd name="T0" fmla="*/ 521 w 521"/>
                <a:gd name="T1" fmla="*/ 130 h 613"/>
                <a:gd name="T2" fmla="*/ 334 w 521"/>
                <a:gd name="T3" fmla="*/ 82 h 613"/>
                <a:gd name="T4" fmla="*/ 334 w 521"/>
                <a:gd name="T5" fmla="*/ 249 h 613"/>
                <a:gd name="T6" fmla="*/ 409 w 521"/>
                <a:gd name="T7" fmla="*/ 279 h 613"/>
                <a:gd name="T8" fmla="*/ 433 w 521"/>
                <a:gd name="T9" fmla="*/ 240 h 613"/>
                <a:gd name="T10" fmla="*/ 437 w 521"/>
                <a:gd name="T11" fmla="*/ 257 h 613"/>
                <a:gd name="T12" fmla="*/ 441 w 521"/>
                <a:gd name="T13" fmla="*/ 329 h 613"/>
                <a:gd name="T14" fmla="*/ 424 w 521"/>
                <a:gd name="T15" fmla="*/ 342 h 613"/>
                <a:gd name="T16" fmla="*/ 409 w 521"/>
                <a:gd name="T17" fmla="*/ 311 h 613"/>
                <a:gd name="T18" fmla="*/ 311 w 521"/>
                <a:gd name="T19" fmla="*/ 271 h 613"/>
                <a:gd name="T20" fmla="*/ 267 w 521"/>
                <a:gd name="T21" fmla="*/ 145 h 613"/>
                <a:gd name="T22" fmla="*/ 114 w 521"/>
                <a:gd name="T23" fmla="*/ 242 h 613"/>
                <a:gd name="T24" fmla="*/ 4 w 521"/>
                <a:gd name="T25" fmla="*/ 392 h 613"/>
                <a:gd name="T26" fmla="*/ 133 w 521"/>
                <a:gd name="T27" fmla="*/ 563 h 613"/>
                <a:gd name="T28" fmla="*/ 209 w 521"/>
                <a:gd name="T29" fmla="*/ 563 h 613"/>
                <a:gd name="T30" fmla="*/ 199 w 521"/>
                <a:gd name="T31" fmla="*/ 481 h 613"/>
                <a:gd name="T32" fmla="*/ 168 w 521"/>
                <a:gd name="T33" fmla="*/ 447 h 613"/>
                <a:gd name="T34" fmla="*/ 191 w 521"/>
                <a:gd name="T35" fmla="*/ 441 h 613"/>
                <a:gd name="T36" fmla="*/ 262 w 521"/>
                <a:gd name="T37" fmla="*/ 454 h 613"/>
                <a:gd name="T38" fmla="*/ 262 w 521"/>
                <a:gd name="T39" fmla="*/ 474 h 613"/>
                <a:gd name="T40" fmla="*/ 236 w 521"/>
                <a:gd name="T41" fmla="*/ 480 h 613"/>
                <a:gd name="T42" fmla="*/ 335 w 521"/>
                <a:gd name="T43" fmla="*/ 613 h 613"/>
                <a:gd name="T44" fmla="*/ 521 w 521"/>
                <a:gd name="T45" fmla="*/ 375 h 613"/>
                <a:gd name="T46" fmla="*/ 521 w 521"/>
                <a:gd name="T47" fmla="*/ 130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1" h="613">
                  <a:moveTo>
                    <a:pt x="521" y="130"/>
                  </a:moveTo>
                  <a:cubicBezTo>
                    <a:pt x="521" y="130"/>
                    <a:pt x="457" y="0"/>
                    <a:pt x="334" y="82"/>
                  </a:cubicBezTo>
                  <a:cubicBezTo>
                    <a:pt x="334" y="82"/>
                    <a:pt x="252" y="170"/>
                    <a:pt x="334" y="249"/>
                  </a:cubicBezTo>
                  <a:cubicBezTo>
                    <a:pt x="334" y="249"/>
                    <a:pt x="349" y="269"/>
                    <a:pt x="409" y="279"/>
                  </a:cubicBezTo>
                  <a:cubicBezTo>
                    <a:pt x="409" y="279"/>
                    <a:pt x="406" y="228"/>
                    <a:pt x="433" y="240"/>
                  </a:cubicBezTo>
                  <a:cubicBezTo>
                    <a:pt x="433" y="240"/>
                    <a:pt x="443" y="244"/>
                    <a:pt x="437" y="257"/>
                  </a:cubicBezTo>
                  <a:cubicBezTo>
                    <a:pt x="437" y="257"/>
                    <a:pt x="418" y="286"/>
                    <a:pt x="441" y="329"/>
                  </a:cubicBezTo>
                  <a:cubicBezTo>
                    <a:pt x="441" y="329"/>
                    <a:pt x="447" y="358"/>
                    <a:pt x="424" y="342"/>
                  </a:cubicBezTo>
                  <a:cubicBezTo>
                    <a:pt x="424" y="342"/>
                    <a:pt x="407" y="317"/>
                    <a:pt x="409" y="311"/>
                  </a:cubicBezTo>
                  <a:cubicBezTo>
                    <a:pt x="409" y="311"/>
                    <a:pt x="354" y="307"/>
                    <a:pt x="311" y="271"/>
                  </a:cubicBezTo>
                  <a:cubicBezTo>
                    <a:pt x="311" y="271"/>
                    <a:pt x="261" y="238"/>
                    <a:pt x="267" y="145"/>
                  </a:cubicBezTo>
                  <a:cubicBezTo>
                    <a:pt x="267" y="145"/>
                    <a:pt x="164" y="131"/>
                    <a:pt x="114" y="242"/>
                  </a:cubicBezTo>
                  <a:cubicBezTo>
                    <a:pt x="114" y="242"/>
                    <a:pt x="0" y="263"/>
                    <a:pt x="4" y="392"/>
                  </a:cubicBezTo>
                  <a:cubicBezTo>
                    <a:pt x="4" y="392"/>
                    <a:pt x="10" y="536"/>
                    <a:pt x="133" y="563"/>
                  </a:cubicBezTo>
                  <a:cubicBezTo>
                    <a:pt x="133" y="563"/>
                    <a:pt x="180" y="568"/>
                    <a:pt x="209" y="563"/>
                  </a:cubicBezTo>
                  <a:cubicBezTo>
                    <a:pt x="209" y="563"/>
                    <a:pt x="197" y="503"/>
                    <a:pt x="199" y="481"/>
                  </a:cubicBezTo>
                  <a:cubicBezTo>
                    <a:pt x="199" y="481"/>
                    <a:pt x="168" y="454"/>
                    <a:pt x="168" y="447"/>
                  </a:cubicBezTo>
                  <a:cubicBezTo>
                    <a:pt x="168" y="447"/>
                    <a:pt x="170" y="429"/>
                    <a:pt x="191" y="441"/>
                  </a:cubicBezTo>
                  <a:cubicBezTo>
                    <a:pt x="191" y="441"/>
                    <a:pt x="196" y="472"/>
                    <a:pt x="262" y="454"/>
                  </a:cubicBezTo>
                  <a:cubicBezTo>
                    <a:pt x="262" y="454"/>
                    <a:pt x="293" y="454"/>
                    <a:pt x="262" y="474"/>
                  </a:cubicBezTo>
                  <a:cubicBezTo>
                    <a:pt x="262" y="474"/>
                    <a:pt x="246" y="480"/>
                    <a:pt x="236" y="480"/>
                  </a:cubicBezTo>
                  <a:cubicBezTo>
                    <a:pt x="236" y="480"/>
                    <a:pt x="207" y="609"/>
                    <a:pt x="335" y="613"/>
                  </a:cubicBezTo>
                  <a:cubicBezTo>
                    <a:pt x="335" y="613"/>
                    <a:pt x="476" y="563"/>
                    <a:pt x="521" y="375"/>
                  </a:cubicBezTo>
                  <a:lnTo>
                    <a:pt x="521" y="1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0">
              <a:extLst>
                <a:ext uri="{FF2B5EF4-FFF2-40B4-BE49-F238E27FC236}">
                  <a16:creationId xmlns:a16="http://schemas.microsoft.com/office/drawing/2014/main" id="{04AF6CB7-DD5C-B565-E6A4-51ADE2B51DFB}"/>
                </a:ext>
              </a:extLst>
            </p:cNvPr>
            <p:cNvSpPr>
              <a:spLocks/>
            </p:cNvSpPr>
            <p:nvPr/>
          </p:nvSpPr>
          <p:spPr bwMode="auto">
            <a:xfrm>
              <a:off x="7775158" y="3897313"/>
              <a:ext cx="1127125" cy="1270000"/>
            </a:xfrm>
            <a:custGeom>
              <a:avLst/>
              <a:gdLst>
                <a:gd name="T0" fmla="*/ 300 w 670"/>
                <a:gd name="T1" fmla="*/ 344 h 756"/>
                <a:gd name="T2" fmla="*/ 128 w 670"/>
                <a:gd name="T3" fmla="*/ 352 h 756"/>
                <a:gd name="T4" fmla="*/ 99 w 670"/>
                <a:gd name="T5" fmla="*/ 151 h 756"/>
                <a:gd name="T6" fmla="*/ 122 w 670"/>
                <a:gd name="T7" fmla="*/ 0 h 756"/>
                <a:gd name="T8" fmla="*/ 375 w 670"/>
                <a:gd name="T9" fmla="*/ 159 h 756"/>
                <a:gd name="T10" fmla="*/ 427 w 670"/>
                <a:gd name="T11" fmla="*/ 199 h 756"/>
                <a:gd name="T12" fmla="*/ 366 w 670"/>
                <a:gd name="T13" fmla="*/ 205 h 756"/>
                <a:gd name="T14" fmla="*/ 375 w 670"/>
                <a:gd name="T15" fmla="*/ 244 h 756"/>
                <a:gd name="T16" fmla="*/ 670 w 670"/>
                <a:gd name="T17" fmla="*/ 52 h 756"/>
                <a:gd name="T18" fmla="*/ 670 w 670"/>
                <a:gd name="T19" fmla="*/ 612 h 756"/>
                <a:gd name="T20" fmla="*/ 503 w 670"/>
                <a:gd name="T21" fmla="*/ 754 h 756"/>
                <a:gd name="T22" fmla="*/ 315 w 670"/>
                <a:gd name="T23" fmla="*/ 612 h 756"/>
                <a:gd name="T24" fmla="*/ 369 w 670"/>
                <a:gd name="T25" fmla="*/ 449 h 756"/>
                <a:gd name="T26" fmla="*/ 337 w 670"/>
                <a:gd name="T27" fmla="*/ 427 h 756"/>
                <a:gd name="T28" fmla="*/ 296 w 670"/>
                <a:gd name="T29" fmla="*/ 661 h 756"/>
                <a:gd name="T30" fmla="*/ 153 w 670"/>
                <a:gd name="T31" fmla="*/ 514 h 756"/>
                <a:gd name="T32" fmla="*/ 87 w 670"/>
                <a:gd name="T33" fmla="*/ 369 h 756"/>
                <a:gd name="T34" fmla="*/ 232 w 670"/>
                <a:gd name="T35" fmla="*/ 403 h 756"/>
                <a:gd name="T36" fmla="*/ 307 w 670"/>
                <a:gd name="T37" fmla="*/ 369 h 756"/>
                <a:gd name="T38" fmla="*/ 501 w 670"/>
                <a:gd name="T39" fmla="*/ 391 h 756"/>
                <a:gd name="T40" fmla="*/ 543 w 670"/>
                <a:gd name="T41" fmla="*/ 403 h 756"/>
                <a:gd name="T42" fmla="*/ 503 w 670"/>
                <a:gd name="T43" fmla="*/ 367 h 756"/>
                <a:gd name="T44" fmla="*/ 505 w 670"/>
                <a:gd name="T45" fmla="*/ 321 h 756"/>
                <a:gd name="T46" fmla="*/ 484 w 670"/>
                <a:gd name="T47" fmla="*/ 330 h 756"/>
                <a:gd name="T48" fmla="*/ 482 w 670"/>
                <a:gd name="T49" fmla="*/ 366 h 756"/>
                <a:gd name="T50" fmla="*/ 317 w 670"/>
                <a:gd name="T51" fmla="*/ 33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70" h="756">
                  <a:moveTo>
                    <a:pt x="300" y="344"/>
                  </a:moveTo>
                  <a:cubicBezTo>
                    <a:pt x="300" y="344"/>
                    <a:pt x="219" y="404"/>
                    <a:pt x="128" y="352"/>
                  </a:cubicBezTo>
                  <a:cubicBezTo>
                    <a:pt x="128" y="352"/>
                    <a:pt x="0" y="300"/>
                    <a:pt x="99" y="151"/>
                  </a:cubicBezTo>
                  <a:cubicBezTo>
                    <a:pt x="99" y="151"/>
                    <a:pt x="54" y="54"/>
                    <a:pt x="122" y="0"/>
                  </a:cubicBezTo>
                  <a:cubicBezTo>
                    <a:pt x="122" y="0"/>
                    <a:pt x="170" y="193"/>
                    <a:pt x="375" y="159"/>
                  </a:cubicBezTo>
                  <a:cubicBezTo>
                    <a:pt x="375" y="159"/>
                    <a:pt x="402" y="190"/>
                    <a:pt x="427" y="199"/>
                  </a:cubicBezTo>
                  <a:cubicBezTo>
                    <a:pt x="366" y="205"/>
                    <a:pt x="366" y="205"/>
                    <a:pt x="366" y="205"/>
                  </a:cubicBezTo>
                  <a:cubicBezTo>
                    <a:pt x="366" y="205"/>
                    <a:pt x="333" y="232"/>
                    <a:pt x="375" y="244"/>
                  </a:cubicBezTo>
                  <a:cubicBezTo>
                    <a:pt x="375" y="244"/>
                    <a:pt x="563" y="240"/>
                    <a:pt x="670" y="52"/>
                  </a:cubicBezTo>
                  <a:cubicBezTo>
                    <a:pt x="670" y="612"/>
                    <a:pt x="670" y="612"/>
                    <a:pt x="670" y="612"/>
                  </a:cubicBezTo>
                  <a:cubicBezTo>
                    <a:pt x="670" y="612"/>
                    <a:pt x="638" y="756"/>
                    <a:pt x="503" y="754"/>
                  </a:cubicBezTo>
                  <a:cubicBezTo>
                    <a:pt x="503" y="754"/>
                    <a:pt x="340" y="753"/>
                    <a:pt x="315" y="612"/>
                  </a:cubicBezTo>
                  <a:cubicBezTo>
                    <a:pt x="315" y="612"/>
                    <a:pt x="290" y="507"/>
                    <a:pt x="369" y="449"/>
                  </a:cubicBezTo>
                  <a:cubicBezTo>
                    <a:pt x="369" y="449"/>
                    <a:pt x="367" y="408"/>
                    <a:pt x="337" y="427"/>
                  </a:cubicBezTo>
                  <a:cubicBezTo>
                    <a:pt x="337" y="427"/>
                    <a:pt x="238" y="518"/>
                    <a:pt x="296" y="661"/>
                  </a:cubicBezTo>
                  <a:cubicBezTo>
                    <a:pt x="296" y="661"/>
                    <a:pt x="205" y="660"/>
                    <a:pt x="153" y="514"/>
                  </a:cubicBezTo>
                  <a:cubicBezTo>
                    <a:pt x="153" y="514"/>
                    <a:pt x="79" y="456"/>
                    <a:pt x="87" y="369"/>
                  </a:cubicBezTo>
                  <a:cubicBezTo>
                    <a:pt x="87" y="369"/>
                    <a:pt x="166" y="416"/>
                    <a:pt x="232" y="403"/>
                  </a:cubicBezTo>
                  <a:cubicBezTo>
                    <a:pt x="232" y="403"/>
                    <a:pt x="294" y="389"/>
                    <a:pt x="307" y="369"/>
                  </a:cubicBezTo>
                  <a:cubicBezTo>
                    <a:pt x="307" y="369"/>
                    <a:pt x="389" y="453"/>
                    <a:pt x="501" y="391"/>
                  </a:cubicBezTo>
                  <a:cubicBezTo>
                    <a:pt x="501" y="391"/>
                    <a:pt x="524" y="420"/>
                    <a:pt x="543" y="403"/>
                  </a:cubicBezTo>
                  <a:cubicBezTo>
                    <a:pt x="543" y="403"/>
                    <a:pt x="530" y="393"/>
                    <a:pt x="503" y="367"/>
                  </a:cubicBezTo>
                  <a:cubicBezTo>
                    <a:pt x="505" y="321"/>
                    <a:pt x="505" y="321"/>
                    <a:pt x="505" y="321"/>
                  </a:cubicBezTo>
                  <a:cubicBezTo>
                    <a:pt x="505" y="321"/>
                    <a:pt x="482" y="304"/>
                    <a:pt x="484" y="330"/>
                  </a:cubicBezTo>
                  <a:cubicBezTo>
                    <a:pt x="482" y="366"/>
                    <a:pt x="482" y="366"/>
                    <a:pt x="482" y="366"/>
                  </a:cubicBezTo>
                  <a:cubicBezTo>
                    <a:pt x="482" y="366"/>
                    <a:pt x="389" y="418"/>
                    <a:pt x="317" y="33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1">
              <a:extLst>
                <a:ext uri="{FF2B5EF4-FFF2-40B4-BE49-F238E27FC236}">
                  <a16:creationId xmlns:a16="http://schemas.microsoft.com/office/drawing/2014/main" id="{A382CFD0-B743-8175-47AE-1690CD89C0D1}"/>
                </a:ext>
              </a:extLst>
            </p:cNvPr>
            <p:cNvSpPr>
              <a:spLocks/>
            </p:cNvSpPr>
            <p:nvPr/>
          </p:nvSpPr>
          <p:spPr bwMode="auto">
            <a:xfrm>
              <a:off x="8514933" y="5284788"/>
              <a:ext cx="914400" cy="131763"/>
            </a:xfrm>
            <a:custGeom>
              <a:avLst/>
              <a:gdLst>
                <a:gd name="T0" fmla="*/ 509 w 544"/>
                <a:gd name="T1" fmla="*/ 0 h 78"/>
                <a:gd name="T2" fmla="*/ 36 w 544"/>
                <a:gd name="T3" fmla="*/ 0 h 78"/>
                <a:gd name="T4" fmla="*/ 0 w 544"/>
                <a:gd name="T5" fmla="*/ 29 h 78"/>
                <a:gd name="T6" fmla="*/ 0 w 544"/>
                <a:gd name="T7" fmla="*/ 49 h 78"/>
                <a:gd name="T8" fmla="*/ 36 w 544"/>
                <a:gd name="T9" fmla="*/ 78 h 78"/>
                <a:gd name="T10" fmla="*/ 509 w 544"/>
                <a:gd name="T11" fmla="*/ 78 h 78"/>
                <a:gd name="T12" fmla="*/ 544 w 544"/>
                <a:gd name="T13" fmla="*/ 49 h 78"/>
                <a:gd name="T14" fmla="*/ 544 w 544"/>
                <a:gd name="T15" fmla="*/ 29 h 78"/>
                <a:gd name="T16" fmla="*/ 509 w 544"/>
                <a:gd name="T1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78">
                  <a:moveTo>
                    <a:pt x="509" y="0"/>
                  </a:moveTo>
                  <a:cubicBezTo>
                    <a:pt x="36" y="0"/>
                    <a:pt x="36" y="0"/>
                    <a:pt x="36" y="0"/>
                  </a:cubicBezTo>
                  <a:cubicBezTo>
                    <a:pt x="16" y="0"/>
                    <a:pt x="0" y="13"/>
                    <a:pt x="0" y="29"/>
                  </a:cubicBezTo>
                  <a:cubicBezTo>
                    <a:pt x="0" y="49"/>
                    <a:pt x="0" y="49"/>
                    <a:pt x="0" y="49"/>
                  </a:cubicBezTo>
                  <a:cubicBezTo>
                    <a:pt x="0" y="65"/>
                    <a:pt x="16" y="78"/>
                    <a:pt x="36" y="78"/>
                  </a:cubicBezTo>
                  <a:cubicBezTo>
                    <a:pt x="509" y="78"/>
                    <a:pt x="509" y="78"/>
                    <a:pt x="509" y="78"/>
                  </a:cubicBezTo>
                  <a:cubicBezTo>
                    <a:pt x="528" y="78"/>
                    <a:pt x="544" y="65"/>
                    <a:pt x="544" y="49"/>
                  </a:cubicBezTo>
                  <a:cubicBezTo>
                    <a:pt x="544" y="29"/>
                    <a:pt x="544" y="29"/>
                    <a:pt x="544" y="29"/>
                  </a:cubicBezTo>
                  <a:cubicBezTo>
                    <a:pt x="544" y="13"/>
                    <a:pt x="528" y="0"/>
                    <a:pt x="509"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2">
              <a:extLst>
                <a:ext uri="{FF2B5EF4-FFF2-40B4-BE49-F238E27FC236}">
                  <a16:creationId xmlns:a16="http://schemas.microsoft.com/office/drawing/2014/main" id="{A5314A69-E01D-19E7-45B8-8325BC698C66}"/>
                </a:ext>
              </a:extLst>
            </p:cNvPr>
            <p:cNvSpPr>
              <a:spLocks/>
            </p:cNvSpPr>
            <p:nvPr/>
          </p:nvSpPr>
          <p:spPr bwMode="auto">
            <a:xfrm>
              <a:off x="8514933" y="5481638"/>
              <a:ext cx="914400" cy="131763"/>
            </a:xfrm>
            <a:custGeom>
              <a:avLst/>
              <a:gdLst>
                <a:gd name="T0" fmla="*/ 509 w 544"/>
                <a:gd name="T1" fmla="*/ 0 h 78"/>
                <a:gd name="T2" fmla="*/ 36 w 544"/>
                <a:gd name="T3" fmla="*/ 0 h 78"/>
                <a:gd name="T4" fmla="*/ 0 w 544"/>
                <a:gd name="T5" fmla="*/ 29 h 78"/>
                <a:gd name="T6" fmla="*/ 0 w 544"/>
                <a:gd name="T7" fmla="*/ 49 h 78"/>
                <a:gd name="T8" fmla="*/ 36 w 544"/>
                <a:gd name="T9" fmla="*/ 78 h 78"/>
                <a:gd name="T10" fmla="*/ 509 w 544"/>
                <a:gd name="T11" fmla="*/ 78 h 78"/>
                <a:gd name="T12" fmla="*/ 544 w 544"/>
                <a:gd name="T13" fmla="*/ 49 h 78"/>
                <a:gd name="T14" fmla="*/ 544 w 544"/>
                <a:gd name="T15" fmla="*/ 29 h 78"/>
                <a:gd name="T16" fmla="*/ 509 w 544"/>
                <a:gd name="T1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78">
                  <a:moveTo>
                    <a:pt x="509" y="0"/>
                  </a:moveTo>
                  <a:cubicBezTo>
                    <a:pt x="36" y="0"/>
                    <a:pt x="36" y="0"/>
                    <a:pt x="36" y="0"/>
                  </a:cubicBezTo>
                  <a:cubicBezTo>
                    <a:pt x="16" y="0"/>
                    <a:pt x="0" y="13"/>
                    <a:pt x="0" y="29"/>
                  </a:cubicBezTo>
                  <a:cubicBezTo>
                    <a:pt x="0" y="49"/>
                    <a:pt x="0" y="49"/>
                    <a:pt x="0" y="49"/>
                  </a:cubicBezTo>
                  <a:cubicBezTo>
                    <a:pt x="0" y="65"/>
                    <a:pt x="16" y="78"/>
                    <a:pt x="36" y="78"/>
                  </a:cubicBezTo>
                  <a:cubicBezTo>
                    <a:pt x="509" y="78"/>
                    <a:pt x="509" y="78"/>
                    <a:pt x="509" y="78"/>
                  </a:cubicBezTo>
                  <a:cubicBezTo>
                    <a:pt x="528" y="78"/>
                    <a:pt x="544" y="65"/>
                    <a:pt x="544" y="49"/>
                  </a:cubicBezTo>
                  <a:cubicBezTo>
                    <a:pt x="544" y="29"/>
                    <a:pt x="544" y="29"/>
                    <a:pt x="544" y="29"/>
                  </a:cubicBezTo>
                  <a:cubicBezTo>
                    <a:pt x="544" y="13"/>
                    <a:pt x="528" y="0"/>
                    <a:pt x="509"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3">
              <a:extLst>
                <a:ext uri="{FF2B5EF4-FFF2-40B4-BE49-F238E27FC236}">
                  <a16:creationId xmlns:a16="http://schemas.microsoft.com/office/drawing/2014/main" id="{49519493-28F0-AF65-AF80-D61441DEB2F7}"/>
                </a:ext>
              </a:extLst>
            </p:cNvPr>
            <p:cNvSpPr>
              <a:spLocks/>
            </p:cNvSpPr>
            <p:nvPr/>
          </p:nvSpPr>
          <p:spPr bwMode="auto">
            <a:xfrm>
              <a:off x="8514933" y="5678488"/>
              <a:ext cx="914400" cy="133350"/>
            </a:xfrm>
            <a:custGeom>
              <a:avLst/>
              <a:gdLst>
                <a:gd name="T0" fmla="*/ 509 w 544"/>
                <a:gd name="T1" fmla="*/ 0 h 79"/>
                <a:gd name="T2" fmla="*/ 36 w 544"/>
                <a:gd name="T3" fmla="*/ 0 h 79"/>
                <a:gd name="T4" fmla="*/ 0 w 544"/>
                <a:gd name="T5" fmla="*/ 30 h 79"/>
                <a:gd name="T6" fmla="*/ 0 w 544"/>
                <a:gd name="T7" fmla="*/ 49 h 79"/>
                <a:gd name="T8" fmla="*/ 36 w 544"/>
                <a:gd name="T9" fmla="*/ 79 h 79"/>
                <a:gd name="T10" fmla="*/ 509 w 544"/>
                <a:gd name="T11" fmla="*/ 79 h 79"/>
                <a:gd name="T12" fmla="*/ 544 w 544"/>
                <a:gd name="T13" fmla="*/ 49 h 79"/>
                <a:gd name="T14" fmla="*/ 544 w 544"/>
                <a:gd name="T15" fmla="*/ 30 h 79"/>
                <a:gd name="T16" fmla="*/ 509 w 544"/>
                <a:gd name="T17"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79">
                  <a:moveTo>
                    <a:pt x="509" y="0"/>
                  </a:moveTo>
                  <a:cubicBezTo>
                    <a:pt x="36" y="0"/>
                    <a:pt x="36" y="0"/>
                    <a:pt x="36" y="0"/>
                  </a:cubicBezTo>
                  <a:cubicBezTo>
                    <a:pt x="16" y="0"/>
                    <a:pt x="0" y="14"/>
                    <a:pt x="0" y="30"/>
                  </a:cubicBezTo>
                  <a:cubicBezTo>
                    <a:pt x="0" y="49"/>
                    <a:pt x="0" y="49"/>
                    <a:pt x="0" y="49"/>
                  </a:cubicBezTo>
                  <a:cubicBezTo>
                    <a:pt x="0" y="66"/>
                    <a:pt x="16" y="79"/>
                    <a:pt x="36" y="79"/>
                  </a:cubicBezTo>
                  <a:cubicBezTo>
                    <a:pt x="509" y="79"/>
                    <a:pt x="509" y="79"/>
                    <a:pt x="509" y="79"/>
                  </a:cubicBezTo>
                  <a:cubicBezTo>
                    <a:pt x="528" y="79"/>
                    <a:pt x="544" y="66"/>
                    <a:pt x="544" y="49"/>
                  </a:cubicBezTo>
                  <a:cubicBezTo>
                    <a:pt x="544" y="30"/>
                    <a:pt x="544" y="30"/>
                    <a:pt x="544" y="30"/>
                  </a:cubicBezTo>
                  <a:cubicBezTo>
                    <a:pt x="544" y="14"/>
                    <a:pt x="528" y="0"/>
                    <a:pt x="509"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4">
              <a:extLst>
                <a:ext uri="{FF2B5EF4-FFF2-40B4-BE49-F238E27FC236}">
                  <a16:creationId xmlns:a16="http://schemas.microsoft.com/office/drawing/2014/main" id="{CBB9C1A1-D9A8-E195-1535-4A6488F6521E}"/>
                </a:ext>
              </a:extLst>
            </p:cNvPr>
            <p:cNvSpPr>
              <a:spLocks/>
            </p:cNvSpPr>
            <p:nvPr/>
          </p:nvSpPr>
          <p:spPr bwMode="auto">
            <a:xfrm>
              <a:off x="8675270" y="5876926"/>
              <a:ext cx="596900" cy="165100"/>
            </a:xfrm>
            <a:custGeom>
              <a:avLst/>
              <a:gdLst>
                <a:gd name="T0" fmla="*/ 0 w 355"/>
                <a:gd name="T1" fmla="*/ 0 h 98"/>
                <a:gd name="T2" fmla="*/ 355 w 355"/>
                <a:gd name="T3" fmla="*/ 0 h 98"/>
                <a:gd name="T4" fmla="*/ 177 w 355"/>
                <a:gd name="T5" fmla="*/ 98 h 98"/>
                <a:gd name="T6" fmla="*/ 0 w 355"/>
                <a:gd name="T7" fmla="*/ 0 h 98"/>
              </a:gdLst>
              <a:ahLst/>
              <a:cxnLst>
                <a:cxn ang="0">
                  <a:pos x="T0" y="T1"/>
                </a:cxn>
                <a:cxn ang="0">
                  <a:pos x="T2" y="T3"/>
                </a:cxn>
                <a:cxn ang="0">
                  <a:pos x="T4" y="T5"/>
                </a:cxn>
                <a:cxn ang="0">
                  <a:pos x="T6" y="T7"/>
                </a:cxn>
              </a:cxnLst>
              <a:rect l="0" t="0" r="r" b="b"/>
              <a:pathLst>
                <a:path w="355" h="98">
                  <a:moveTo>
                    <a:pt x="0" y="0"/>
                  </a:moveTo>
                  <a:cubicBezTo>
                    <a:pt x="355" y="0"/>
                    <a:pt x="355" y="0"/>
                    <a:pt x="355" y="0"/>
                  </a:cubicBezTo>
                  <a:cubicBezTo>
                    <a:pt x="355" y="58"/>
                    <a:pt x="260" y="98"/>
                    <a:pt x="177" y="98"/>
                  </a:cubicBezTo>
                  <a:cubicBezTo>
                    <a:pt x="95" y="98"/>
                    <a:pt x="0" y="58"/>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5">
              <a:extLst>
                <a:ext uri="{FF2B5EF4-FFF2-40B4-BE49-F238E27FC236}">
                  <a16:creationId xmlns:a16="http://schemas.microsoft.com/office/drawing/2014/main" id="{655BAD56-39A3-7A6E-2658-55022BED7026}"/>
                </a:ext>
              </a:extLst>
            </p:cNvPr>
            <p:cNvSpPr>
              <a:spLocks/>
            </p:cNvSpPr>
            <p:nvPr/>
          </p:nvSpPr>
          <p:spPr bwMode="auto">
            <a:xfrm>
              <a:off x="8895933" y="2433638"/>
              <a:ext cx="152400" cy="673100"/>
            </a:xfrm>
            <a:custGeom>
              <a:avLst/>
              <a:gdLst>
                <a:gd name="T0" fmla="*/ 90 w 90"/>
                <a:gd name="T1" fmla="*/ 355 h 400"/>
                <a:gd name="T2" fmla="*/ 45 w 90"/>
                <a:gd name="T3" fmla="*/ 400 h 400"/>
                <a:gd name="T4" fmla="*/ 0 w 90"/>
                <a:gd name="T5" fmla="*/ 355 h 400"/>
                <a:gd name="T6" fmla="*/ 0 w 90"/>
                <a:gd name="T7" fmla="*/ 45 h 400"/>
                <a:gd name="T8" fmla="*/ 45 w 90"/>
                <a:gd name="T9" fmla="*/ 0 h 400"/>
                <a:gd name="T10" fmla="*/ 90 w 90"/>
                <a:gd name="T11" fmla="*/ 45 h 400"/>
                <a:gd name="T12" fmla="*/ 90 w 90"/>
                <a:gd name="T13" fmla="*/ 355 h 400"/>
              </a:gdLst>
              <a:ahLst/>
              <a:cxnLst>
                <a:cxn ang="0">
                  <a:pos x="T0" y="T1"/>
                </a:cxn>
                <a:cxn ang="0">
                  <a:pos x="T2" y="T3"/>
                </a:cxn>
                <a:cxn ang="0">
                  <a:pos x="T4" y="T5"/>
                </a:cxn>
                <a:cxn ang="0">
                  <a:pos x="T6" y="T7"/>
                </a:cxn>
                <a:cxn ang="0">
                  <a:pos x="T8" y="T9"/>
                </a:cxn>
                <a:cxn ang="0">
                  <a:pos x="T10" y="T11"/>
                </a:cxn>
                <a:cxn ang="0">
                  <a:pos x="T12" y="T13"/>
                </a:cxn>
              </a:cxnLst>
              <a:rect l="0" t="0" r="r" b="b"/>
              <a:pathLst>
                <a:path w="90" h="400">
                  <a:moveTo>
                    <a:pt x="90" y="355"/>
                  </a:moveTo>
                  <a:cubicBezTo>
                    <a:pt x="90" y="380"/>
                    <a:pt x="70" y="400"/>
                    <a:pt x="45" y="400"/>
                  </a:cubicBezTo>
                  <a:cubicBezTo>
                    <a:pt x="21" y="400"/>
                    <a:pt x="0" y="380"/>
                    <a:pt x="0" y="355"/>
                  </a:cubicBezTo>
                  <a:cubicBezTo>
                    <a:pt x="0" y="45"/>
                    <a:pt x="0" y="45"/>
                    <a:pt x="0" y="45"/>
                  </a:cubicBezTo>
                  <a:cubicBezTo>
                    <a:pt x="0" y="20"/>
                    <a:pt x="21" y="0"/>
                    <a:pt x="45" y="0"/>
                  </a:cubicBezTo>
                  <a:cubicBezTo>
                    <a:pt x="70" y="0"/>
                    <a:pt x="90" y="20"/>
                    <a:pt x="90" y="45"/>
                  </a:cubicBezTo>
                  <a:lnTo>
                    <a:pt x="90" y="355"/>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EEBFC54B-D61D-CB8A-C2AF-A3ECB1189D5D}"/>
                </a:ext>
              </a:extLst>
            </p:cNvPr>
            <p:cNvSpPr>
              <a:spLocks/>
            </p:cNvSpPr>
            <p:nvPr/>
          </p:nvSpPr>
          <p:spPr bwMode="auto">
            <a:xfrm>
              <a:off x="10221495" y="4241801"/>
              <a:ext cx="673100" cy="149225"/>
            </a:xfrm>
            <a:custGeom>
              <a:avLst/>
              <a:gdLst>
                <a:gd name="T0" fmla="*/ 45 w 400"/>
                <a:gd name="T1" fmla="*/ 89 h 89"/>
                <a:gd name="T2" fmla="*/ 0 w 400"/>
                <a:gd name="T3" fmla="*/ 44 h 89"/>
                <a:gd name="T4" fmla="*/ 45 w 400"/>
                <a:gd name="T5" fmla="*/ 0 h 89"/>
                <a:gd name="T6" fmla="*/ 355 w 400"/>
                <a:gd name="T7" fmla="*/ 0 h 89"/>
                <a:gd name="T8" fmla="*/ 400 w 400"/>
                <a:gd name="T9" fmla="*/ 44 h 89"/>
                <a:gd name="T10" fmla="*/ 355 w 400"/>
                <a:gd name="T11" fmla="*/ 89 h 89"/>
                <a:gd name="T12" fmla="*/ 45 w 400"/>
                <a:gd name="T13" fmla="*/ 89 h 89"/>
              </a:gdLst>
              <a:ahLst/>
              <a:cxnLst>
                <a:cxn ang="0">
                  <a:pos x="T0" y="T1"/>
                </a:cxn>
                <a:cxn ang="0">
                  <a:pos x="T2" y="T3"/>
                </a:cxn>
                <a:cxn ang="0">
                  <a:pos x="T4" y="T5"/>
                </a:cxn>
                <a:cxn ang="0">
                  <a:pos x="T6" y="T7"/>
                </a:cxn>
                <a:cxn ang="0">
                  <a:pos x="T8" y="T9"/>
                </a:cxn>
                <a:cxn ang="0">
                  <a:pos x="T10" y="T11"/>
                </a:cxn>
                <a:cxn ang="0">
                  <a:pos x="T12" y="T13"/>
                </a:cxn>
              </a:cxnLst>
              <a:rect l="0" t="0" r="r" b="b"/>
              <a:pathLst>
                <a:path w="400" h="89">
                  <a:moveTo>
                    <a:pt x="45" y="89"/>
                  </a:moveTo>
                  <a:cubicBezTo>
                    <a:pt x="20" y="89"/>
                    <a:pt x="0" y="69"/>
                    <a:pt x="0" y="44"/>
                  </a:cubicBezTo>
                  <a:cubicBezTo>
                    <a:pt x="0" y="20"/>
                    <a:pt x="20" y="0"/>
                    <a:pt x="45" y="0"/>
                  </a:cubicBezTo>
                  <a:cubicBezTo>
                    <a:pt x="355" y="0"/>
                    <a:pt x="355" y="0"/>
                    <a:pt x="355" y="0"/>
                  </a:cubicBezTo>
                  <a:cubicBezTo>
                    <a:pt x="380" y="0"/>
                    <a:pt x="400" y="20"/>
                    <a:pt x="400" y="44"/>
                  </a:cubicBezTo>
                  <a:cubicBezTo>
                    <a:pt x="400" y="69"/>
                    <a:pt x="380" y="89"/>
                    <a:pt x="355" y="89"/>
                  </a:cubicBezTo>
                  <a:lnTo>
                    <a:pt x="45" y="89"/>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7">
              <a:extLst>
                <a:ext uri="{FF2B5EF4-FFF2-40B4-BE49-F238E27FC236}">
                  <a16:creationId xmlns:a16="http://schemas.microsoft.com/office/drawing/2014/main" id="{9C775BE0-1BBD-70E7-EDEC-9E2ECE8A020A}"/>
                </a:ext>
              </a:extLst>
            </p:cNvPr>
            <p:cNvSpPr>
              <a:spLocks/>
            </p:cNvSpPr>
            <p:nvPr/>
          </p:nvSpPr>
          <p:spPr bwMode="auto">
            <a:xfrm>
              <a:off x="7044908" y="4241801"/>
              <a:ext cx="671512" cy="149225"/>
            </a:xfrm>
            <a:custGeom>
              <a:avLst/>
              <a:gdLst>
                <a:gd name="T0" fmla="*/ 45 w 399"/>
                <a:gd name="T1" fmla="*/ 89 h 89"/>
                <a:gd name="T2" fmla="*/ 0 w 399"/>
                <a:gd name="T3" fmla="*/ 44 h 89"/>
                <a:gd name="T4" fmla="*/ 45 w 399"/>
                <a:gd name="T5" fmla="*/ 0 h 89"/>
                <a:gd name="T6" fmla="*/ 354 w 399"/>
                <a:gd name="T7" fmla="*/ 0 h 89"/>
                <a:gd name="T8" fmla="*/ 399 w 399"/>
                <a:gd name="T9" fmla="*/ 44 h 89"/>
                <a:gd name="T10" fmla="*/ 354 w 399"/>
                <a:gd name="T11" fmla="*/ 89 h 89"/>
                <a:gd name="T12" fmla="*/ 45 w 399"/>
                <a:gd name="T13" fmla="*/ 89 h 89"/>
              </a:gdLst>
              <a:ahLst/>
              <a:cxnLst>
                <a:cxn ang="0">
                  <a:pos x="T0" y="T1"/>
                </a:cxn>
                <a:cxn ang="0">
                  <a:pos x="T2" y="T3"/>
                </a:cxn>
                <a:cxn ang="0">
                  <a:pos x="T4" y="T5"/>
                </a:cxn>
                <a:cxn ang="0">
                  <a:pos x="T6" y="T7"/>
                </a:cxn>
                <a:cxn ang="0">
                  <a:pos x="T8" y="T9"/>
                </a:cxn>
                <a:cxn ang="0">
                  <a:pos x="T10" y="T11"/>
                </a:cxn>
                <a:cxn ang="0">
                  <a:pos x="T12" y="T13"/>
                </a:cxn>
              </a:cxnLst>
              <a:rect l="0" t="0" r="r" b="b"/>
              <a:pathLst>
                <a:path w="399" h="89">
                  <a:moveTo>
                    <a:pt x="45" y="89"/>
                  </a:moveTo>
                  <a:cubicBezTo>
                    <a:pt x="20" y="89"/>
                    <a:pt x="0" y="69"/>
                    <a:pt x="0" y="44"/>
                  </a:cubicBezTo>
                  <a:cubicBezTo>
                    <a:pt x="0" y="20"/>
                    <a:pt x="20" y="0"/>
                    <a:pt x="45" y="0"/>
                  </a:cubicBezTo>
                  <a:cubicBezTo>
                    <a:pt x="354" y="0"/>
                    <a:pt x="354" y="0"/>
                    <a:pt x="354" y="0"/>
                  </a:cubicBezTo>
                  <a:cubicBezTo>
                    <a:pt x="379" y="0"/>
                    <a:pt x="399" y="20"/>
                    <a:pt x="399" y="44"/>
                  </a:cubicBezTo>
                  <a:cubicBezTo>
                    <a:pt x="399" y="69"/>
                    <a:pt x="379" y="89"/>
                    <a:pt x="354" y="89"/>
                  </a:cubicBezTo>
                  <a:lnTo>
                    <a:pt x="45" y="8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8">
              <a:extLst>
                <a:ext uri="{FF2B5EF4-FFF2-40B4-BE49-F238E27FC236}">
                  <a16:creationId xmlns:a16="http://schemas.microsoft.com/office/drawing/2014/main" id="{EA2259ED-804D-848B-D4D0-6F3E681EAFED}"/>
                </a:ext>
              </a:extLst>
            </p:cNvPr>
            <p:cNvSpPr>
              <a:spLocks/>
            </p:cNvSpPr>
            <p:nvPr/>
          </p:nvSpPr>
          <p:spPr bwMode="auto">
            <a:xfrm>
              <a:off x="9762708" y="2838450"/>
              <a:ext cx="533400" cy="534988"/>
            </a:xfrm>
            <a:custGeom>
              <a:avLst/>
              <a:gdLst>
                <a:gd name="T0" fmla="*/ 81 w 317"/>
                <a:gd name="T1" fmla="*/ 300 h 318"/>
                <a:gd name="T2" fmla="*/ 17 w 317"/>
                <a:gd name="T3" fmla="*/ 300 h 318"/>
                <a:gd name="T4" fmla="*/ 17 w 317"/>
                <a:gd name="T5" fmla="*/ 237 h 318"/>
                <a:gd name="T6" fmla="*/ 236 w 317"/>
                <a:gd name="T7" fmla="*/ 18 h 318"/>
                <a:gd name="T8" fmla="*/ 300 w 317"/>
                <a:gd name="T9" fmla="*/ 18 h 318"/>
                <a:gd name="T10" fmla="*/ 300 w 317"/>
                <a:gd name="T11" fmla="*/ 81 h 318"/>
                <a:gd name="T12" fmla="*/ 81 w 317"/>
                <a:gd name="T13" fmla="*/ 300 h 318"/>
              </a:gdLst>
              <a:ahLst/>
              <a:cxnLst>
                <a:cxn ang="0">
                  <a:pos x="T0" y="T1"/>
                </a:cxn>
                <a:cxn ang="0">
                  <a:pos x="T2" y="T3"/>
                </a:cxn>
                <a:cxn ang="0">
                  <a:pos x="T4" y="T5"/>
                </a:cxn>
                <a:cxn ang="0">
                  <a:pos x="T6" y="T7"/>
                </a:cxn>
                <a:cxn ang="0">
                  <a:pos x="T8" y="T9"/>
                </a:cxn>
                <a:cxn ang="0">
                  <a:pos x="T10" y="T11"/>
                </a:cxn>
                <a:cxn ang="0">
                  <a:pos x="T12" y="T13"/>
                </a:cxn>
              </a:cxnLst>
              <a:rect l="0" t="0" r="r" b="b"/>
              <a:pathLst>
                <a:path w="317" h="318">
                  <a:moveTo>
                    <a:pt x="81" y="300"/>
                  </a:moveTo>
                  <a:cubicBezTo>
                    <a:pt x="63" y="318"/>
                    <a:pt x="35" y="318"/>
                    <a:pt x="17" y="300"/>
                  </a:cubicBezTo>
                  <a:cubicBezTo>
                    <a:pt x="0" y="283"/>
                    <a:pt x="0" y="254"/>
                    <a:pt x="17" y="237"/>
                  </a:cubicBezTo>
                  <a:cubicBezTo>
                    <a:pt x="236" y="18"/>
                    <a:pt x="236" y="18"/>
                    <a:pt x="236" y="18"/>
                  </a:cubicBezTo>
                  <a:cubicBezTo>
                    <a:pt x="254" y="0"/>
                    <a:pt x="282" y="0"/>
                    <a:pt x="300" y="18"/>
                  </a:cubicBezTo>
                  <a:cubicBezTo>
                    <a:pt x="317" y="35"/>
                    <a:pt x="317" y="64"/>
                    <a:pt x="300" y="81"/>
                  </a:cubicBezTo>
                  <a:lnTo>
                    <a:pt x="81" y="30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9">
              <a:extLst>
                <a:ext uri="{FF2B5EF4-FFF2-40B4-BE49-F238E27FC236}">
                  <a16:creationId xmlns:a16="http://schemas.microsoft.com/office/drawing/2014/main" id="{8068DC8D-09F8-B8C4-426D-50568E517728}"/>
                </a:ext>
              </a:extLst>
            </p:cNvPr>
            <p:cNvSpPr>
              <a:spLocks/>
            </p:cNvSpPr>
            <p:nvPr/>
          </p:nvSpPr>
          <p:spPr bwMode="auto">
            <a:xfrm>
              <a:off x="7648158" y="2838450"/>
              <a:ext cx="534987" cy="534988"/>
            </a:xfrm>
            <a:custGeom>
              <a:avLst/>
              <a:gdLst>
                <a:gd name="T0" fmla="*/ 237 w 318"/>
                <a:gd name="T1" fmla="*/ 300 h 318"/>
                <a:gd name="T2" fmla="*/ 301 w 318"/>
                <a:gd name="T3" fmla="*/ 300 h 318"/>
                <a:gd name="T4" fmla="*/ 301 w 318"/>
                <a:gd name="T5" fmla="*/ 237 h 318"/>
                <a:gd name="T6" fmla="*/ 81 w 318"/>
                <a:gd name="T7" fmla="*/ 18 h 318"/>
                <a:gd name="T8" fmla="*/ 18 w 318"/>
                <a:gd name="T9" fmla="*/ 18 h 318"/>
                <a:gd name="T10" fmla="*/ 18 w 318"/>
                <a:gd name="T11" fmla="*/ 81 h 318"/>
                <a:gd name="T12" fmla="*/ 237 w 318"/>
                <a:gd name="T13" fmla="*/ 300 h 318"/>
              </a:gdLst>
              <a:ahLst/>
              <a:cxnLst>
                <a:cxn ang="0">
                  <a:pos x="T0" y="T1"/>
                </a:cxn>
                <a:cxn ang="0">
                  <a:pos x="T2" y="T3"/>
                </a:cxn>
                <a:cxn ang="0">
                  <a:pos x="T4" y="T5"/>
                </a:cxn>
                <a:cxn ang="0">
                  <a:pos x="T6" y="T7"/>
                </a:cxn>
                <a:cxn ang="0">
                  <a:pos x="T8" y="T9"/>
                </a:cxn>
                <a:cxn ang="0">
                  <a:pos x="T10" y="T11"/>
                </a:cxn>
                <a:cxn ang="0">
                  <a:pos x="T12" y="T13"/>
                </a:cxn>
              </a:cxnLst>
              <a:rect l="0" t="0" r="r" b="b"/>
              <a:pathLst>
                <a:path w="318" h="318">
                  <a:moveTo>
                    <a:pt x="237" y="300"/>
                  </a:moveTo>
                  <a:cubicBezTo>
                    <a:pt x="255" y="318"/>
                    <a:pt x="283" y="318"/>
                    <a:pt x="301" y="300"/>
                  </a:cubicBezTo>
                  <a:cubicBezTo>
                    <a:pt x="318" y="283"/>
                    <a:pt x="318" y="254"/>
                    <a:pt x="301" y="237"/>
                  </a:cubicBezTo>
                  <a:cubicBezTo>
                    <a:pt x="81" y="18"/>
                    <a:pt x="81" y="18"/>
                    <a:pt x="81" y="18"/>
                  </a:cubicBezTo>
                  <a:cubicBezTo>
                    <a:pt x="64" y="0"/>
                    <a:pt x="36" y="0"/>
                    <a:pt x="18" y="18"/>
                  </a:cubicBezTo>
                  <a:cubicBezTo>
                    <a:pt x="0" y="35"/>
                    <a:pt x="0" y="64"/>
                    <a:pt x="18" y="81"/>
                  </a:cubicBezTo>
                  <a:lnTo>
                    <a:pt x="237" y="30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5">
              <a:extLst>
                <a:ext uri="{FF2B5EF4-FFF2-40B4-BE49-F238E27FC236}">
                  <a16:creationId xmlns:a16="http://schemas.microsoft.com/office/drawing/2014/main" id="{D7B8A325-103C-34EA-904C-47BB2D736477}"/>
                </a:ext>
              </a:extLst>
            </p:cNvPr>
            <p:cNvSpPr>
              <a:spLocks/>
            </p:cNvSpPr>
            <p:nvPr/>
          </p:nvSpPr>
          <p:spPr bwMode="auto">
            <a:xfrm>
              <a:off x="9318208" y="4619626"/>
              <a:ext cx="247650" cy="209550"/>
            </a:xfrm>
            <a:custGeom>
              <a:avLst/>
              <a:gdLst>
                <a:gd name="T0" fmla="*/ 139 w 147"/>
                <a:gd name="T1" fmla="*/ 76 h 125"/>
                <a:gd name="T2" fmla="*/ 54 w 147"/>
                <a:gd name="T3" fmla="*/ 125 h 125"/>
                <a:gd name="T4" fmla="*/ 11 w 147"/>
                <a:gd name="T5" fmla="*/ 36 h 125"/>
                <a:gd name="T6" fmla="*/ 78 w 147"/>
                <a:gd name="T7" fmla="*/ 40 h 125"/>
                <a:gd name="T8" fmla="*/ 139 w 147"/>
                <a:gd name="T9" fmla="*/ 76 h 125"/>
              </a:gdLst>
              <a:ahLst/>
              <a:cxnLst>
                <a:cxn ang="0">
                  <a:pos x="T0" y="T1"/>
                </a:cxn>
                <a:cxn ang="0">
                  <a:pos x="T2" y="T3"/>
                </a:cxn>
                <a:cxn ang="0">
                  <a:pos x="T4" y="T5"/>
                </a:cxn>
                <a:cxn ang="0">
                  <a:pos x="T6" y="T7"/>
                </a:cxn>
                <a:cxn ang="0">
                  <a:pos x="T8" y="T9"/>
                </a:cxn>
              </a:cxnLst>
              <a:rect l="0" t="0" r="r" b="b"/>
              <a:pathLst>
                <a:path w="147" h="125">
                  <a:moveTo>
                    <a:pt x="139" y="76"/>
                  </a:moveTo>
                  <a:cubicBezTo>
                    <a:pt x="128" y="114"/>
                    <a:pt x="98" y="113"/>
                    <a:pt x="54" y="125"/>
                  </a:cubicBezTo>
                  <a:cubicBezTo>
                    <a:pt x="20" y="85"/>
                    <a:pt x="0" y="75"/>
                    <a:pt x="11" y="36"/>
                  </a:cubicBezTo>
                  <a:cubicBezTo>
                    <a:pt x="19" y="9"/>
                    <a:pt x="68" y="0"/>
                    <a:pt x="78" y="40"/>
                  </a:cubicBezTo>
                  <a:cubicBezTo>
                    <a:pt x="117" y="9"/>
                    <a:pt x="147" y="48"/>
                    <a:pt x="139" y="7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26">
              <a:extLst>
                <a:ext uri="{FF2B5EF4-FFF2-40B4-BE49-F238E27FC236}">
                  <a16:creationId xmlns:a16="http://schemas.microsoft.com/office/drawing/2014/main" id="{6AB9B594-1C06-5AFB-AEDB-363B3B05F603}"/>
                </a:ext>
              </a:extLst>
            </p:cNvPr>
            <p:cNvSpPr>
              <a:spLocks/>
            </p:cNvSpPr>
            <p:nvPr/>
          </p:nvSpPr>
          <p:spPr bwMode="auto">
            <a:xfrm>
              <a:off x="9100720" y="3275013"/>
              <a:ext cx="242887" cy="220663"/>
            </a:xfrm>
            <a:custGeom>
              <a:avLst/>
              <a:gdLst>
                <a:gd name="T0" fmla="*/ 138 w 145"/>
                <a:gd name="T1" fmla="*/ 51 h 132"/>
                <a:gd name="T2" fmla="*/ 83 w 145"/>
                <a:gd name="T3" fmla="*/ 132 h 132"/>
                <a:gd name="T4" fmla="*/ 5 w 145"/>
                <a:gd name="T5" fmla="*/ 71 h 132"/>
                <a:gd name="T6" fmla="*/ 67 w 145"/>
                <a:gd name="T7" fmla="*/ 45 h 132"/>
                <a:gd name="T8" fmla="*/ 138 w 145"/>
                <a:gd name="T9" fmla="*/ 51 h 132"/>
              </a:gdLst>
              <a:ahLst/>
              <a:cxnLst>
                <a:cxn ang="0">
                  <a:pos x="T0" y="T1"/>
                </a:cxn>
                <a:cxn ang="0">
                  <a:pos x="T2" y="T3"/>
                </a:cxn>
                <a:cxn ang="0">
                  <a:pos x="T4" y="T5"/>
                </a:cxn>
                <a:cxn ang="0">
                  <a:pos x="T6" y="T7"/>
                </a:cxn>
                <a:cxn ang="0">
                  <a:pos x="T8" y="T9"/>
                </a:cxn>
              </a:cxnLst>
              <a:rect l="0" t="0" r="r" b="b"/>
              <a:pathLst>
                <a:path w="145" h="132">
                  <a:moveTo>
                    <a:pt x="138" y="51"/>
                  </a:moveTo>
                  <a:cubicBezTo>
                    <a:pt x="145" y="91"/>
                    <a:pt x="117" y="103"/>
                    <a:pt x="83" y="132"/>
                  </a:cubicBezTo>
                  <a:cubicBezTo>
                    <a:pt x="35" y="111"/>
                    <a:pt x="13" y="111"/>
                    <a:pt x="5" y="71"/>
                  </a:cubicBezTo>
                  <a:cubicBezTo>
                    <a:pt x="0" y="44"/>
                    <a:pt x="41" y="14"/>
                    <a:pt x="67" y="45"/>
                  </a:cubicBezTo>
                  <a:cubicBezTo>
                    <a:pt x="89" y="0"/>
                    <a:pt x="132" y="23"/>
                    <a:pt x="138"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27">
              <a:extLst>
                <a:ext uri="{FF2B5EF4-FFF2-40B4-BE49-F238E27FC236}">
                  <a16:creationId xmlns:a16="http://schemas.microsoft.com/office/drawing/2014/main" id="{77B8D33B-1546-8F75-D86E-DACB5AB13318}"/>
                </a:ext>
              </a:extLst>
            </p:cNvPr>
            <p:cNvSpPr>
              <a:spLocks noEditPoints="1"/>
            </p:cNvSpPr>
            <p:nvPr/>
          </p:nvSpPr>
          <p:spPr bwMode="auto">
            <a:xfrm>
              <a:off x="9765883" y="4273551"/>
              <a:ext cx="236537" cy="196850"/>
            </a:xfrm>
            <a:custGeom>
              <a:avLst/>
              <a:gdLst>
                <a:gd name="T0" fmla="*/ 53 w 141"/>
                <a:gd name="T1" fmla="*/ 0 h 117"/>
                <a:gd name="T2" fmla="*/ 29 w 141"/>
                <a:gd name="T3" fmla="*/ 64 h 117"/>
                <a:gd name="T4" fmla="*/ 27 w 141"/>
                <a:gd name="T5" fmla="*/ 63 h 117"/>
                <a:gd name="T6" fmla="*/ 4 w 141"/>
                <a:gd name="T7" fmla="*/ 74 h 117"/>
                <a:gd name="T8" fmla="*/ 15 w 141"/>
                <a:gd name="T9" fmla="*/ 98 h 117"/>
                <a:gd name="T10" fmla="*/ 38 w 141"/>
                <a:gd name="T11" fmla="*/ 87 h 117"/>
                <a:gd name="T12" fmla="*/ 54 w 141"/>
                <a:gd name="T13" fmla="*/ 42 h 117"/>
                <a:gd name="T14" fmla="*/ 111 w 141"/>
                <a:gd name="T15" fmla="*/ 55 h 117"/>
                <a:gd name="T16" fmla="*/ 102 w 141"/>
                <a:gd name="T17" fmla="*/ 80 h 117"/>
                <a:gd name="T18" fmla="*/ 100 w 141"/>
                <a:gd name="T19" fmla="*/ 79 h 117"/>
                <a:gd name="T20" fmla="*/ 76 w 141"/>
                <a:gd name="T21" fmla="*/ 90 h 117"/>
                <a:gd name="T22" fmla="*/ 87 w 141"/>
                <a:gd name="T23" fmla="*/ 113 h 117"/>
                <a:gd name="T24" fmla="*/ 111 w 141"/>
                <a:gd name="T25" fmla="*/ 103 h 117"/>
                <a:gd name="T26" fmla="*/ 111 w 141"/>
                <a:gd name="T27" fmla="*/ 103 h 117"/>
                <a:gd name="T28" fmla="*/ 141 w 141"/>
                <a:gd name="T29" fmla="*/ 19 h 117"/>
                <a:gd name="T30" fmla="*/ 53 w 141"/>
                <a:gd name="T31" fmla="*/ 0 h 117"/>
                <a:gd name="T32" fmla="*/ 60 w 141"/>
                <a:gd name="T33" fmla="*/ 27 h 117"/>
                <a:gd name="T34" fmla="*/ 63 w 141"/>
                <a:gd name="T35" fmla="*/ 18 h 117"/>
                <a:gd name="T36" fmla="*/ 120 w 141"/>
                <a:gd name="T37" fmla="*/ 31 h 117"/>
                <a:gd name="T38" fmla="*/ 117 w 141"/>
                <a:gd name="T39" fmla="*/ 39 h 117"/>
                <a:gd name="T40" fmla="*/ 60 w 141"/>
                <a:gd name="T41" fmla="*/ 2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 h="117">
                  <a:moveTo>
                    <a:pt x="53" y="0"/>
                  </a:moveTo>
                  <a:cubicBezTo>
                    <a:pt x="29" y="64"/>
                    <a:pt x="29" y="64"/>
                    <a:pt x="29" y="64"/>
                  </a:cubicBezTo>
                  <a:cubicBezTo>
                    <a:pt x="29" y="64"/>
                    <a:pt x="28" y="64"/>
                    <a:pt x="27" y="63"/>
                  </a:cubicBezTo>
                  <a:cubicBezTo>
                    <a:pt x="18" y="60"/>
                    <a:pt x="7" y="65"/>
                    <a:pt x="4" y="74"/>
                  </a:cubicBezTo>
                  <a:cubicBezTo>
                    <a:pt x="0" y="84"/>
                    <a:pt x="5" y="94"/>
                    <a:pt x="15" y="98"/>
                  </a:cubicBezTo>
                  <a:cubicBezTo>
                    <a:pt x="24" y="101"/>
                    <a:pt x="35" y="96"/>
                    <a:pt x="38" y="87"/>
                  </a:cubicBezTo>
                  <a:cubicBezTo>
                    <a:pt x="54" y="42"/>
                    <a:pt x="54" y="42"/>
                    <a:pt x="54" y="42"/>
                  </a:cubicBezTo>
                  <a:cubicBezTo>
                    <a:pt x="111" y="55"/>
                    <a:pt x="111" y="55"/>
                    <a:pt x="111" y="55"/>
                  </a:cubicBezTo>
                  <a:cubicBezTo>
                    <a:pt x="102" y="80"/>
                    <a:pt x="102" y="80"/>
                    <a:pt x="102" y="80"/>
                  </a:cubicBezTo>
                  <a:cubicBezTo>
                    <a:pt x="101" y="80"/>
                    <a:pt x="101" y="79"/>
                    <a:pt x="100" y="79"/>
                  </a:cubicBezTo>
                  <a:cubicBezTo>
                    <a:pt x="90" y="75"/>
                    <a:pt x="80" y="80"/>
                    <a:pt x="76" y="90"/>
                  </a:cubicBezTo>
                  <a:cubicBezTo>
                    <a:pt x="73" y="99"/>
                    <a:pt x="78" y="110"/>
                    <a:pt x="87" y="113"/>
                  </a:cubicBezTo>
                  <a:cubicBezTo>
                    <a:pt x="97" y="117"/>
                    <a:pt x="107" y="112"/>
                    <a:pt x="111" y="103"/>
                  </a:cubicBezTo>
                  <a:cubicBezTo>
                    <a:pt x="111" y="103"/>
                    <a:pt x="111" y="103"/>
                    <a:pt x="111" y="103"/>
                  </a:cubicBezTo>
                  <a:cubicBezTo>
                    <a:pt x="141" y="19"/>
                    <a:pt x="141" y="19"/>
                    <a:pt x="141" y="19"/>
                  </a:cubicBezTo>
                  <a:lnTo>
                    <a:pt x="53" y="0"/>
                  </a:lnTo>
                  <a:close/>
                  <a:moveTo>
                    <a:pt x="60" y="27"/>
                  </a:moveTo>
                  <a:cubicBezTo>
                    <a:pt x="63" y="18"/>
                    <a:pt x="63" y="18"/>
                    <a:pt x="63" y="18"/>
                  </a:cubicBezTo>
                  <a:cubicBezTo>
                    <a:pt x="120" y="31"/>
                    <a:pt x="120" y="31"/>
                    <a:pt x="120" y="31"/>
                  </a:cubicBezTo>
                  <a:cubicBezTo>
                    <a:pt x="117" y="39"/>
                    <a:pt x="117" y="39"/>
                    <a:pt x="117" y="39"/>
                  </a:cubicBezTo>
                  <a:lnTo>
                    <a:pt x="60" y="27"/>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28">
              <a:extLst>
                <a:ext uri="{FF2B5EF4-FFF2-40B4-BE49-F238E27FC236}">
                  <a16:creationId xmlns:a16="http://schemas.microsoft.com/office/drawing/2014/main" id="{E2B676CD-88F7-7390-C4CA-258B092FE5D3}"/>
                </a:ext>
              </a:extLst>
            </p:cNvPr>
            <p:cNvSpPr>
              <a:spLocks/>
            </p:cNvSpPr>
            <p:nvPr/>
          </p:nvSpPr>
          <p:spPr bwMode="auto">
            <a:xfrm>
              <a:off x="9911933" y="4041776"/>
              <a:ext cx="66675" cy="169863"/>
            </a:xfrm>
            <a:custGeom>
              <a:avLst/>
              <a:gdLst>
                <a:gd name="T0" fmla="*/ 23 w 39"/>
                <a:gd name="T1" fmla="*/ 100 h 101"/>
                <a:gd name="T2" fmla="*/ 37 w 39"/>
                <a:gd name="T3" fmla="*/ 78 h 101"/>
                <a:gd name="T4" fmla="*/ 24 w 39"/>
                <a:gd name="T5" fmla="*/ 0 h 101"/>
                <a:gd name="T6" fmla="*/ 8 w 39"/>
                <a:gd name="T7" fmla="*/ 3 h 101"/>
                <a:gd name="T8" fmla="*/ 18 w 39"/>
                <a:gd name="T9" fmla="*/ 63 h 101"/>
                <a:gd name="T10" fmla="*/ 16 w 39"/>
                <a:gd name="T11" fmla="*/ 63 h 101"/>
                <a:gd name="T12" fmla="*/ 1 w 39"/>
                <a:gd name="T13" fmla="*/ 85 h 101"/>
                <a:gd name="T14" fmla="*/ 23 w 39"/>
                <a:gd name="T15" fmla="*/ 100 h 1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01">
                  <a:moveTo>
                    <a:pt x="23" y="100"/>
                  </a:moveTo>
                  <a:cubicBezTo>
                    <a:pt x="32" y="98"/>
                    <a:pt x="39" y="88"/>
                    <a:pt x="37" y="78"/>
                  </a:cubicBezTo>
                  <a:cubicBezTo>
                    <a:pt x="24" y="0"/>
                    <a:pt x="24" y="0"/>
                    <a:pt x="24" y="0"/>
                  </a:cubicBezTo>
                  <a:cubicBezTo>
                    <a:pt x="8" y="3"/>
                    <a:pt x="8" y="3"/>
                    <a:pt x="8" y="3"/>
                  </a:cubicBezTo>
                  <a:cubicBezTo>
                    <a:pt x="18" y="63"/>
                    <a:pt x="18" y="63"/>
                    <a:pt x="18" y="63"/>
                  </a:cubicBezTo>
                  <a:cubicBezTo>
                    <a:pt x="18" y="63"/>
                    <a:pt x="17" y="63"/>
                    <a:pt x="16" y="63"/>
                  </a:cubicBezTo>
                  <a:cubicBezTo>
                    <a:pt x="6" y="65"/>
                    <a:pt x="0" y="75"/>
                    <a:pt x="1" y="85"/>
                  </a:cubicBezTo>
                  <a:cubicBezTo>
                    <a:pt x="3" y="95"/>
                    <a:pt x="13" y="101"/>
                    <a:pt x="23" y="10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6" name="Group 25">
              <a:extLst>
                <a:ext uri="{FF2B5EF4-FFF2-40B4-BE49-F238E27FC236}">
                  <a16:creationId xmlns:a16="http://schemas.microsoft.com/office/drawing/2014/main" id="{BF366BBC-CEE1-B8A6-178C-CF0EC10728F3}"/>
                </a:ext>
              </a:extLst>
            </p:cNvPr>
            <p:cNvGrpSpPr/>
            <p:nvPr/>
          </p:nvGrpSpPr>
          <p:grpSpPr>
            <a:xfrm>
              <a:off x="9116595" y="4832351"/>
              <a:ext cx="250825" cy="255587"/>
              <a:chOff x="9613900" y="4832351"/>
              <a:chExt cx="250825" cy="255587"/>
            </a:xfrm>
            <a:solidFill>
              <a:schemeClr val="accent4"/>
            </a:solidFill>
          </p:grpSpPr>
          <p:sp>
            <p:nvSpPr>
              <p:cNvPr id="46" name="Freeform 29">
                <a:extLst>
                  <a:ext uri="{FF2B5EF4-FFF2-40B4-BE49-F238E27FC236}">
                    <a16:creationId xmlns:a16="http://schemas.microsoft.com/office/drawing/2014/main" id="{0CA82429-A9D5-788A-FA95-46F6D4594211}"/>
                  </a:ext>
                </a:extLst>
              </p:cNvPr>
              <p:cNvSpPr>
                <a:spLocks/>
              </p:cNvSpPr>
              <p:nvPr/>
            </p:nvSpPr>
            <p:spPr bwMode="auto">
              <a:xfrm>
                <a:off x="9783763" y="5024438"/>
                <a:ext cx="39687" cy="39688"/>
              </a:xfrm>
              <a:custGeom>
                <a:avLst/>
                <a:gdLst>
                  <a:gd name="T0" fmla="*/ 23 w 23"/>
                  <a:gd name="T1" fmla="*/ 12 h 23"/>
                  <a:gd name="T2" fmla="*/ 11 w 23"/>
                  <a:gd name="T3" fmla="*/ 22 h 23"/>
                  <a:gd name="T4" fmla="*/ 1 w 23"/>
                  <a:gd name="T5" fmla="*/ 11 h 23"/>
                  <a:gd name="T6" fmla="*/ 13 w 23"/>
                  <a:gd name="T7" fmla="*/ 0 h 23"/>
                  <a:gd name="T8" fmla="*/ 23 w 23"/>
                  <a:gd name="T9" fmla="*/ 12 h 23"/>
                </a:gdLst>
                <a:ahLst/>
                <a:cxnLst>
                  <a:cxn ang="0">
                    <a:pos x="T0" y="T1"/>
                  </a:cxn>
                  <a:cxn ang="0">
                    <a:pos x="T2" y="T3"/>
                  </a:cxn>
                  <a:cxn ang="0">
                    <a:pos x="T4" y="T5"/>
                  </a:cxn>
                  <a:cxn ang="0">
                    <a:pos x="T6" y="T7"/>
                  </a:cxn>
                  <a:cxn ang="0">
                    <a:pos x="T8" y="T9"/>
                  </a:cxn>
                </a:cxnLst>
                <a:rect l="0" t="0" r="r" b="b"/>
                <a:pathLst>
                  <a:path w="23" h="23">
                    <a:moveTo>
                      <a:pt x="23" y="12"/>
                    </a:moveTo>
                    <a:cubicBezTo>
                      <a:pt x="23" y="18"/>
                      <a:pt x="18" y="23"/>
                      <a:pt x="11" y="22"/>
                    </a:cubicBezTo>
                    <a:cubicBezTo>
                      <a:pt x="5" y="22"/>
                      <a:pt x="0" y="17"/>
                      <a:pt x="1" y="11"/>
                    </a:cubicBezTo>
                    <a:cubicBezTo>
                      <a:pt x="1" y="4"/>
                      <a:pt x="6" y="0"/>
                      <a:pt x="13" y="0"/>
                    </a:cubicBezTo>
                    <a:cubicBezTo>
                      <a:pt x="19" y="0"/>
                      <a:pt x="23" y="6"/>
                      <a:pt x="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4CB0B76C-D78D-AACD-1EEE-2B48A1FDE04A}"/>
                  </a:ext>
                </a:extLst>
              </p:cNvPr>
              <p:cNvSpPr>
                <a:spLocks/>
              </p:cNvSpPr>
              <p:nvPr/>
            </p:nvSpPr>
            <p:spPr bwMode="auto">
              <a:xfrm>
                <a:off x="9810750" y="5062538"/>
                <a:ext cx="26987" cy="25400"/>
              </a:xfrm>
              <a:custGeom>
                <a:avLst/>
                <a:gdLst>
                  <a:gd name="T0" fmla="*/ 16 w 16"/>
                  <a:gd name="T1" fmla="*/ 9 h 16"/>
                  <a:gd name="T2" fmla="*/ 8 w 16"/>
                  <a:gd name="T3" fmla="*/ 16 h 16"/>
                  <a:gd name="T4" fmla="*/ 0 w 16"/>
                  <a:gd name="T5" fmla="*/ 8 h 16"/>
                  <a:gd name="T6" fmla="*/ 9 w 16"/>
                  <a:gd name="T7" fmla="*/ 1 h 16"/>
                  <a:gd name="T8" fmla="*/ 16 w 16"/>
                  <a:gd name="T9" fmla="*/ 9 h 16"/>
                </a:gdLst>
                <a:ahLst/>
                <a:cxnLst>
                  <a:cxn ang="0">
                    <a:pos x="T0" y="T1"/>
                  </a:cxn>
                  <a:cxn ang="0">
                    <a:pos x="T2" y="T3"/>
                  </a:cxn>
                  <a:cxn ang="0">
                    <a:pos x="T4" y="T5"/>
                  </a:cxn>
                  <a:cxn ang="0">
                    <a:pos x="T6" y="T7"/>
                  </a:cxn>
                  <a:cxn ang="0">
                    <a:pos x="T8" y="T9"/>
                  </a:cxn>
                </a:cxnLst>
                <a:rect l="0" t="0" r="r" b="b"/>
                <a:pathLst>
                  <a:path w="16" h="16">
                    <a:moveTo>
                      <a:pt x="16" y="9"/>
                    </a:moveTo>
                    <a:cubicBezTo>
                      <a:pt x="16" y="13"/>
                      <a:pt x="12" y="16"/>
                      <a:pt x="8" y="16"/>
                    </a:cubicBezTo>
                    <a:cubicBezTo>
                      <a:pt x="3" y="16"/>
                      <a:pt x="0" y="12"/>
                      <a:pt x="0" y="8"/>
                    </a:cubicBezTo>
                    <a:cubicBezTo>
                      <a:pt x="1" y="4"/>
                      <a:pt x="4" y="0"/>
                      <a:pt x="9" y="1"/>
                    </a:cubicBezTo>
                    <a:cubicBezTo>
                      <a:pt x="13" y="1"/>
                      <a:pt x="16" y="5"/>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E628265C-D7A5-B158-D06F-9F3201C11F68}"/>
                  </a:ext>
                </a:extLst>
              </p:cNvPr>
              <p:cNvSpPr>
                <a:spLocks/>
              </p:cNvSpPr>
              <p:nvPr/>
            </p:nvSpPr>
            <p:spPr bwMode="auto">
              <a:xfrm>
                <a:off x="9613900" y="4832351"/>
                <a:ext cx="250825" cy="214313"/>
              </a:xfrm>
              <a:custGeom>
                <a:avLst/>
                <a:gdLst>
                  <a:gd name="T0" fmla="*/ 63 w 158"/>
                  <a:gd name="T1" fmla="*/ 2 h 135"/>
                  <a:gd name="T2" fmla="*/ 83 w 158"/>
                  <a:gd name="T3" fmla="*/ 16 h 135"/>
                  <a:gd name="T4" fmla="*/ 104 w 158"/>
                  <a:gd name="T5" fmla="*/ 0 h 135"/>
                  <a:gd name="T6" fmla="*/ 112 w 158"/>
                  <a:gd name="T7" fmla="*/ 23 h 135"/>
                  <a:gd name="T8" fmla="*/ 139 w 158"/>
                  <a:gd name="T9" fmla="*/ 17 h 135"/>
                  <a:gd name="T10" fmla="*/ 133 w 158"/>
                  <a:gd name="T11" fmla="*/ 41 h 135"/>
                  <a:gd name="T12" fmla="*/ 158 w 158"/>
                  <a:gd name="T13" fmla="*/ 48 h 135"/>
                  <a:gd name="T14" fmla="*/ 139 w 158"/>
                  <a:gd name="T15" fmla="*/ 67 h 135"/>
                  <a:gd name="T16" fmla="*/ 156 w 158"/>
                  <a:gd name="T17" fmla="*/ 84 h 135"/>
                  <a:gd name="T18" fmla="*/ 129 w 158"/>
                  <a:gd name="T19" fmla="*/ 93 h 135"/>
                  <a:gd name="T20" fmla="*/ 133 w 158"/>
                  <a:gd name="T21" fmla="*/ 116 h 135"/>
                  <a:gd name="T22" fmla="*/ 106 w 158"/>
                  <a:gd name="T23" fmla="*/ 112 h 135"/>
                  <a:gd name="T24" fmla="*/ 96 w 158"/>
                  <a:gd name="T25" fmla="*/ 134 h 135"/>
                  <a:gd name="T26" fmla="*/ 75 w 158"/>
                  <a:gd name="T27" fmla="*/ 120 h 135"/>
                  <a:gd name="T28" fmla="*/ 54 w 158"/>
                  <a:gd name="T29" fmla="*/ 135 h 135"/>
                  <a:gd name="T30" fmla="*/ 46 w 158"/>
                  <a:gd name="T31" fmla="*/ 114 h 135"/>
                  <a:gd name="T32" fmla="*/ 19 w 158"/>
                  <a:gd name="T33" fmla="*/ 118 h 135"/>
                  <a:gd name="T34" fmla="*/ 26 w 158"/>
                  <a:gd name="T35" fmla="*/ 95 h 135"/>
                  <a:gd name="T36" fmla="*/ 0 w 158"/>
                  <a:gd name="T37" fmla="*/ 87 h 135"/>
                  <a:gd name="T38" fmla="*/ 19 w 158"/>
                  <a:gd name="T39" fmla="*/ 69 h 135"/>
                  <a:gd name="T40" fmla="*/ 2 w 158"/>
                  <a:gd name="T41" fmla="*/ 51 h 135"/>
                  <a:gd name="T42" fmla="*/ 29 w 158"/>
                  <a:gd name="T43" fmla="*/ 43 h 135"/>
                  <a:gd name="T44" fmla="*/ 26 w 158"/>
                  <a:gd name="T45" fmla="*/ 21 h 135"/>
                  <a:gd name="T46" fmla="*/ 52 w 158"/>
                  <a:gd name="T47" fmla="*/ 24 h 135"/>
                  <a:gd name="T48" fmla="*/ 63 w 158"/>
                  <a:gd name="T49" fmla="*/ 2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8" h="135">
                    <a:moveTo>
                      <a:pt x="63" y="2"/>
                    </a:moveTo>
                    <a:lnTo>
                      <a:pt x="83" y="16"/>
                    </a:lnTo>
                    <a:lnTo>
                      <a:pt x="104" y="0"/>
                    </a:lnTo>
                    <a:lnTo>
                      <a:pt x="112" y="23"/>
                    </a:lnTo>
                    <a:lnTo>
                      <a:pt x="139" y="17"/>
                    </a:lnTo>
                    <a:lnTo>
                      <a:pt x="133" y="41"/>
                    </a:lnTo>
                    <a:lnTo>
                      <a:pt x="158" y="48"/>
                    </a:lnTo>
                    <a:lnTo>
                      <a:pt x="139" y="67"/>
                    </a:lnTo>
                    <a:lnTo>
                      <a:pt x="156" y="84"/>
                    </a:lnTo>
                    <a:lnTo>
                      <a:pt x="129" y="93"/>
                    </a:lnTo>
                    <a:lnTo>
                      <a:pt x="133" y="116"/>
                    </a:lnTo>
                    <a:lnTo>
                      <a:pt x="106" y="112"/>
                    </a:lnTo>
                    <a:lnTo>
                      <a:pt x="96" y="134"/>
                    </a:lnTo>
                    <a:lnTo>
                      <a:pt x="75" y="120"/>
                    </a:lnTo>
                    <a:lnTo>
                      <a:pt x="54" y="135"/>
                    </a:lnTo>
                    <a:lnTo>
                      <a:pt x="46" y="114"/>
                    </a:lnTo>
                    <a:lnTo>
                      <a:pt x="19" y="118"/>
                    </a:lnTo>
                    <a:lnTo>
                      <a:pt x="26" y="95"/>
                    </a:lnTo>
                    <a:lnTo>
                      <a:pt x="0" y="87"/>
                    </a:lnTo>
                    <a:lnTo>
                      <a:pt x="19" y="69"/>
                    </a:lnTo>
                    <a:lnTo>
                      <a:pt x="2" y="51"/>
                    </a:lnTo>
                    <a:lnTo>
                      <a:pt x="29" y="43"/>
                    </a:lnTo>
                    <a:lnTo>
                      <a:pt x="26" y="21"/>
                    </a:lnTo>
                    <a:lnTo>
                      <a:pt x="52" y="24"/>
                    </a:lnTo>
                    <a:lnTo>
                      <a:pt x="63"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7" name="Freeform 32">
              <a:extLst>
                <a:ext uri="{FF2B5EF4-FFF2-40B4-BE49-F238E27FC236}">
                  <a16:creationId xmlns:a16="http://schemas.microsoft.com/office/drawing/2014/main" id="{8ECFF4A4-BD57-54AA-752D-6F928E7F13FD}"/>
                </a:ext>
              </a:extLst>
            </p:cNvPr>
            <p:cNvSpPr>
              <a:spLocks/>
            </p:cNvSpPr>
            <p:nvPr/>
          </p:nvSpPr>
          <p:spPr bwMode="auto">
            <a:xfrm>
              <a:off x="9505533" y="3586163"/>
              <a:ext cx="298450" cy="287338"/>
            </a:xfrm>
            <a:custGeom>
              <a:avLst/>
              <a:gdLst>
                <a:gd name="T0" fmla="*/ 20 w 178"/>
                <a:gd name="T1" fmla="*/ 52 h 171"/>
                <a:gd name="T2" fmla="*/ 9 w 178"/>
                <a:gd name="T3" fmla="*/ 46 h 171"/>
                <a:gd name="T4" fmla="*/ 18 w 178"/>
                <a:gd name="T5" fmla="*/ 28 h 171"/>
                <a:gd name="T6" fmla="*/ 39 w 178"/>
                <a:gd name="T7" fmla="*/ 21 h 171"/>
                <a:gd name="T8" fmla="*/ 43 w 178"/>
                <a:gd name="T9" fmla="*/ 32 h 171"/>
                <a:gd name="T10" fmla="*/ 46 w 178"/>
                <a:gd name="T11" fmla="*/ 39 h 171"/>
                <a:gd name="T12" fmla="*/ 88 w 178"/>
                <a:gd name="T13" fmla="*/ 0 h 171"/>
                <a:gd name="T14" fmla="*/ 120 w 178"/>
                <a:gd name="T15" fmla="*/ 23 h 171"/>
                <a:gd name="T16" fmla="*/ 111 w 178"/>
                <a:gd name="T17" fmla="*/ 28 h 171"/>
                <a:gd name="T18" fmla="*/ 96 w 178"/>
                <a:gd name="T19" fmla="*/ 39 h 171"/>
                <a:gd name="T20" fmla="*/ 104 w 178"/>
                <a:gd name="T21" fmla="*/ 59 h 171"/>
                <a:gd name="T22" fmla="*/ 127 w 178"/>
                <a:gd name="T23" fmla="*/ 67 h 171"/>
                <a:gd name="T24" fmla="*/ 133 w 178"/>
                <a:gd name="T25" fmla="*/ 53 h 171"/>
                <a:gd name="T26" fmla="*/ 139 w 178"/>
                <a:gd name="T27" fmla="*/ 42 h 171"/>
                <a:gd name="T28" fmla="*/ 178 w 178"/>
                <a:gd name="T29" fmla="*/ 82 h 171"/>
                <a:gd name="T30" fmla="*/ 140 w 178"/>
                <a:gd name="T31" fmla="*/ 119 h 171"/>
                <a:gd name="T32" fmla="*/ 148 w 178"/>
                <a:gd name="T33" fmla="*/ 125 h 171"/>
                <a:gd name="T34" fmla="*/ 159 w 178"/>
                <a:gd name="T35" fmla="*/ 130 h 171"/>
                <a:gd name="T36" fmla="*/ 148 w 178"/>
                <a:gd name="T37" fmla="*/ 153 h 171"/>
                <a:gd name="T38" fmla="*/ 130 w 178"/>
                <a:gd name="T39" fmla="*/ 160 h 171"/>
                <a:gd name="T40" fmla="*/ 123 w 178"/>
                <a:gd name="T41" fmla="*/ 150 h 171"/>
                <a:gd name="T42" fmla="*/ 115 w 178"/>
                <a:gd name="T43" fmla="*/ 142 h 171"/>
                <a:gd name="T44" fmla="*/ 86 w 178"/>
                <a:gd name="T45" fmla="*/ 171 h 171"/>
                <a:gd name="T46" fmla="*/ 0 w 178"/>
                <a:gd name="T47" fmla="*/ 86 h 171"/>
                <a:gd name="T48" fmla="*/ 27 w 178"/>
                <a:gd name="T49" fmla="*/ 59 h 171"/>
                <a:gd name="T50" fmla="*/ 20 w 178"/>
                <a:gd name="T51" fmla="*/ 52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8" h="171">
                  <a:moveTo>
                    <a:pt x="20" y="52"/>
                  </a:moveTo>
                  <a:cubicBezTo>
                    <a:pt x="13" y="50"/>
                    <a:pt x="9" y="49"/>
                    <a:pt x="9" y="46"/>
                  </a:cubicBezTo>
                  <a:cubicBezTo>
                    <a:pt x="8" y="41"/>
                    <a:pt x="10" y="34"/>
                    <a:pt x="18" y="28"/>
                  </a:cubicBezTo>
                  <a:cubicBezTo>
                    <a:pt x="27" y="20"/>
                    <a:pt x="34" y="18"/>
                    <a:pt x="39" y="21"/>
                  </a:cubicBezTo>
                  <a:cubicBezTo>
                    <a:pt x="42" y="23"/>
                    <a:pt x="42" y="27"/>
                    <a:pt x="43" y="32"/>
                  </a:cubicBezTo>
                  <a:cubicBezTo>
                    <a:pt x="43" y="36"/>
                    <a:pt x="43" y="37"/>
                    <a:pt x="46" y="39"/>
                  </a:cubicBezTo>
                  <a:cubicBezTo>
                    <a:pt x="52" y="43"/>
                    <a:pt x="71" y="24"/>
                    <a:pt x="88" y="0"/>
                  </a:cubicBezTo>
                  <a:cubicBezTo>
                    <a:pt x="102" y="1"/>
                    <a:pt x="121" y="18"/>
                    <a:pt x="120" y="23"/>
                  </a:cubicBezTo>
                  <a:cubicBezTo>
                    <a:pt x="120" y="26"/>
                    <a:pt x="115" y="27"/>
                    <a:pt x="111" y="28"/>
                  </a:cubicBezTo>
                  <a:cubicBezTo>
                    <a:pt x="103" y="30"/>
                    <a:pt x="97" y="34"/>
                    <a:pt x="96" y="39"/>
                  </a:cubicBezTo>
                  <a:cubicBezTo>
                    <a:pt x="95" y="43"/>
                    <a:pt x="95" y="50"/>
                    <a:pt x="104" y="59"/>
                  </a:cubicBezTo>
                  <a:cubicBezTo>
                    <a:pt x="113" y="67"/>
                    <a:pt x="122" y="70"/>
                    <a:pt x="127" y="67"/>
                  </a:cubicBezTo>
                  <a:cubicBezTo>
                    <a:pt x="132" y="64"/>
                    <a:pt x="135" y="61"/>
                    <a:pt x="133" y="53"/>
                  </a:cubicBezTo>
                  <a:cubicBezTo>
                    <a:pt x="132" y="50"/>
                    <a:pt x="131" y="43"/>
                    <a:pt x="139" y="42"/>
                  </a:cubicBezTo>
                  <a:cubicBezTo>
                    <a:pt x="146" y="40"/>
                    <a:pt x="170" y="62"/>
                    <a:pt x="178" y="82"/>
                  </a:cubicBezTo>
                  <a:cubicBezTo>
                    <a:pt x="157" y="92"/>
                    <a:pt x="139" y="113"/>
                    <a:pt x="140" y="119"/>
                  </a:cubicBezTo>
                  <a:cubicBezTo>
                    <a:pt x="140" y="121"/>
                    <a:pt x="142" y="125"/>
                    <a:pt x="148" y="125"/>
                  </a:cubicBezTo>
                  <a:cubicBezTo>
                    <a:pt x="153" y="125"/>
                    <a:pt x="157" y="127"/>
                    <a:pt x="159" y="130"/>
                  </a:cubicBezTo>
                  <a:cubicBezTo>
                    <a:pt x="161" y="134"/>
                    <a:pt x="160" y="141"/>
                    <a:pt x="148" y="153"/>
                  </a:cubicBezTo>
                  <a:cubicBezTo>
                    <a:pt x="141" y="160"/>
                    <a:pt x="134" y="161"/>
                    <a:pt x="130" y="160"/>
                  </a:cubicBezTo>
                  <a:cubicBezTo>
                    <a:pt x="126" y="159"/>
                    <a:pt x="125" y="155"/>
                    <a:pt x="123" y="150"/>
                  </a:cubicBezTo>
                  <a:cubicBezTo>
                    <a:pt x="122" y="144"/>
                    <a:pt x="120" y="142"/>
                    <a:pt x="115" y="142"/>
                  </a:cubicBezTo>
                  <a:cubicBezTo>
                    <a:pt x="105" y="143"/>
                    <a:pt x="94" y="155"/>
                    <a:pt x="86" y="171"/>
                  </a:cubicBezTo>
                  <a:cubicBezTo>
                    <a:pt x="0" y="86"/>
                    <a:pt x="0" y="86"/>
                    <a:pt x="0" y="86"/>
                  </a:cubicBezTo>
                  <a:cubicBezTo>
                    <a:pt x="18" y="72"/>
                    <a:pt x="28" y="65"/>
                    <a:pt x="27" y="59"/>
                  </a:cubicBezTo>
                  <a:cubicBezTo>
                    <a:pt x="27" y="56"/>
                    <a:pt x="27" y="53"/>
                    <a:pt x="20" y="52"/>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33">
              <a:extLst>
                <a:ext uri="{FF2B5EF4-FFF2-40B4-BE49-F238E27FC236}">
                  <a16:creationId xmlns:a16="http://schemas.microsoft.com/office/drawing/2014/main" id="{AED8A937-D9B7-A20C-C78E-CBBDB670F5C7}"/>
                </a:ext>
              </a:extLst>
            </p:cNvPr>
            <p:cNvSpPr>
              <a:spLocks/>
            </p:cNvSpPr>
            <p:nvPr/>
          </p:nvSpPr>
          <p:spPr bwMode="auto">
            <a:xfrm>
              <a:off x="7957720" y="4157663"/>
              <a:ext cx="247650" cy="247650"/>
            </a:xfrm>
            <a:custGeom>
              <a:avLst/>
              <a:gdLst>
                <a:gd name="T0" fmla="*/ 77 w 147"/>
                <a:gd name="T1" fmla="*/ 5 h 148"/>
                <a:gd name="T2" fmla="*/ 85 w 147"/>
                <a:gd name="T3" fmla="*/ 6 h 148"/>
                <a:gd name="T4" fmla="*/ 91 w 147"/>
                <a:gd name="T5" fmla="*/ 7 h 148"/>
                <a:gd name="T6" fmla="*/ 99 w 147"/>
                <a:gd name="T7" fmla="*/ 10 h 148"/>
                <a:gd name="T8" fmla="*/ 105 w 147"/>
                <a:gd name="T9" fmla="*/ 12 h 148"/>
                <a:gd name="T10" fmla="*/ 112 w 147"/>
                <a:gd name="T11" fmla="*/ 16 h 148"/>
                <a:gd name="T12" fmla="*/ 117 w 147"/>
                <a:gd name="T13" fmla="*/ 20 h 148"/>
                <a:gd name="T14" fmla="*/ 123 w 147"/>
                <a:gd name="T15" fmla="*/ 25 h 148"/>
                <a:gd name="T16" fmla="*/ 127 w 147"/>
                <a:gd name="T17" fmla="*/ 30 h 148"/>
                <a:gd name="T18" fmla="*/ 132 w 147"/>
                <a:gd name="T19" fmla="*/ 37 h 148"/>
                <a:gd name="T20" fmla="*/ 135 w 147"/>
                <a:gd name="T21" fmla="*/ 42 h 148"/>
                <a:gd name="T22" fmla="*/ 139 w 147"/>
                <a:gd name="T23" fmla="*/ 50 h 148"/>
                <a:gd name="T24" fmla="*/ 141 w 147"/>
                <a:gd name="T25" fmla="*/ 56 h 148"/>
                <a:gd name="T26" fmla="*/ 142 w 147"/>
                <a:gd name="T27" fmla="*/ 64 h 148"/>
                <a:gd name="T28" fmla="*/ 143 w 147"/>
                <a:gd name="T29" fmla="*/ 70 h 148"/>
                <a:gd name="T30" fmla="*/ 143 w 147"/>
                <a:gd name="T31" fmla="*/ 78 h 148"/>
                <a:gd name="T32" fmla="*/ 142 w 147"/>
                <a:gd name="T33" fmla="*/ 85 h 148"/>
                <a:gd name="T34" fmla="*/ 141 w 147"/>
                <a:gd name="T35" fmla="*/ 93 h 148"/>
                <a:gd name="T36" fmla="*/ 139 w 147"/>
                <a:gd name="T37" fmla="*/ 99 h 148"/>
                <a:gd name="T38" fmla="*/ 135 w 147"/>
                <a:gd name="T39" fmla="*/ 106 h 148"/>
                <a:gd name="T40" fmla="*/ 132 w 147"/>
                <a:gd name="T41" fmla="*/ 112 h 148"/>
                <a:gd name="T42" fmla="*/ 127 w 147"/>
                <a:gd name="T43" fmla="*/ 118 h 148"/>
                <a:gd name="T44" fmla="*/ 123 w 147"/>
                <a:gd name="T45" fmla="*/ 123 h 148"/>
                <a:gd name="T46" fmla="*/ 117 w 147"/>
                <a:gd name="T47" fmla="*/ 129 h 148"/>
                <a:gd name="T48" fmla="*/ 112 w 147"/>
                <a:gd name="T49" fmla="*/ 133 h 148"/>
                <a:gd name="T50" fmla="*/ 105 w 147"/>
                <a:gd name="T51" fmla="*/ 137 h 148"/>
                <a:gd name="T52" fmla="*/ 99 w 147"/>
                <a:gd name="T53" fmla="*/ 139 h 148"/>
                <a:gd name="T54" fmla="*/ 91 w 147"/>
                <a:gd name="T55" fmla="*/ 142 h 148"/>
                <a:gd name="T56" fmla="*/ 85 w 147"/>
                <a:gd name="T57" fmla="*/ 143 h 148"/>
                <a:gd name="T58" fmla="*/ 77 w 147"/>
                <a:gd name="T59" fmla="*/ 144 h 148"/>
                <a:gd name="T60" fmla="*/ 70 w 147"/>
                <a:gd name="T61" fmla="*/ 144 h 148"/>
                <a:gd name="T62" fmla="*/ 62 w 147"/>
                <a:gd name="T63" fmla="*/ 143 h 148"/>
                <a:gd name="T64" fmla="*/ 56 w 147"/>
                <a:gd name="T65" fmla="*/ 142 h 148"/>
                <a:gd name="T66" fmla="*/ 48 w 147"/>
                <a:gd name="T67" fmla="*/ 139 h 148"/>
                <a:gd name="T68" fmla="*/ 42 w 147"/>
                <a:gd name="T69" fmla="*/ 137 h 148"/>
                <a:gd name="T70" fmla="*/ 35 w 147"/>
                <a:gd name="T71" fmla="*/ 133 h 148"/>
                <a:gd name="T72" fmla="*/ 30 w 147"/>
                <a:gd name="T73" fmla="*/ 129 h 148"/>
                <a:gd name="T74" fmla="*/ 24 w 147"/>
                <a:gd name="T75" fmla="*/ 123 h 148"/>
                <a:gd name="T76" fmla="*/ 20 w 147"/>
                <a:gd name="T77" fmla="*/ 118 h 148"/>
                <a:gd name="T78" fmla="*/ 15 w 147"/>
                <a:gd name="T79" fmla="*/ 112 h 148"/>
                <a:gd name="T80" fmla="*/ 12 w 147"/>
                <a:gd name="T81" fmla="*/ 106 h 148"/>
                <a:gd name="T82" fmla="*/ 8 w 147"/>
                <a:gd name="T83" fmla="*/ 99 h 148"/>
                <a:gd name="T84" fmla="*/ 6 w 147"/>
                <a:gd name="T85" fmla="*/ 93 h 148"/>
                <a:gd name="T86" fmla="*/ 5 w 147"/>
                <a:gd name="T87" fmla="*/ 85 h 148"/>
                <a:gd name="T88" fmla="*/ 4 w 147"/>
                <a:gd name="T89" fmla="*/ 78 h 148"/>
                <a:gd name="T90" fmla="*/ 4 w 147"/>
                <a:gd name="T91" fmla="*/ 70 h 148"/>
                <a:gd name="T92" fmla="*/ 5 w 147"/>
                <a:gd name="T93" fmla="*/ 64 h 148"/>
                <a:gd name="T94" fmla="*/ 6 w 147"/>
                <a:gd name="T95" fmla="*/ 56 h 148"/>
                <a:gd name="T96" fmla="*/ 8 w 147"/>
                <a:gd name="T97" fmla="*/ 50 h 148"/>
                <a:gd name="T98" fmla="*/ 12 w 147"/>
                <a:gd name="T99" fmla="*/ 42 h 148"/>
                <a:gd name="T100" fmla="*/ 15 w 147"/>
                <a:gd name="T101" fmla="*/ 37 h 148"/>
                <a:gd name="T102" fmla="*/ 20 w 147"/>
                <a:gd name="T103" fmla="*/ 30 h 148"/>
                <a:gd name="T104" fmla="*/ 24 w 147"/>
                <a:gd name="T105" fmla="*/ 25 h 148"/>
                <a:gd name="T106" fmla="*/ 30 w 147"/>
                <a:gd name="T107" fmla="*/ 20 h 148"/>
                <a:gd name="T108" fmla="*/ 35 w 147"/>
                <a:gd name="T109" fmla="*/ 16 h 148"/>
                <a:gd name="T110" fmla="*/ 42 w 147"/>
                <a:gd name="T111" fmla="*/ 12 h 148"/>
                <a:gd name="T112" fmla="*/ 48 w 147"/>
                <a:gd name="T113" fmla="*/ 10 h 148"/>
                <a:gd name="T114" fmla="*/ 56 w 147"/>
                <a:gd name="T115" fmla="*/ 7 h 148"/>
                <a:gd name="T116" fmla="*/ 62 w 147"/>
                <a:gd name="T117" fmla="*/ 6 h 148"/>
                <a:gd name="T118" fmla="*/ 70 w 147"/>
                <a:gd name="T119" fmla="*/ 5 h 148"/>
                <a:gd name="T120" fmla="*/ 77 w 147"/>
                <a:gd name="T121" fmla="*/ 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7" h="148">
                  <a:moveTo>
                    <a:pt x="77" y="5"/>
                  </a:moveTo>
                  <a:cubicBezTo>
                    <a:pt x="78" y="9"/>
                    <a:pt x="82" y="10"/>
                    <a:pt x="85" y="6"/>
                  </a:cubicBezTo>
                  <a:cubicBezTo>
                    <a:pt x="87" y="2"/>
                    <a:pt x="90" y="2"/>
                    <a:pt x="91" y="7"/>
                  </a:cubicBezTo>
                  <a:cubicBezTo>
                    <a:pt x="92" y="12"/>
                    <a:pt x="95" y="13"/>
                    <a:pt x="99" y="10"/>
                  </a:cubicBezTo>
                  <a:cubicBezTo>
                    <a:pt x="102" y="6"/>
                    <a:pt x="105" y="7"/>
                    <a:pt x="105" y="12"/>
                  </a:cubicBezTo>
                  <a:cubicBezTo>
                    <a:pt x="105" y="17"/>
                    <a:pt x="108" y="19"/>
                    <a:pt x="112" y="16"/>
                  </a:cubicBezTo>
                  <a:cubicBezTo>
                    <a:pt x="116" y="14"/>
                    <a:pt x="118" y="15"/>
                    <a:pt x="117" y="20"/>
                  </a:cubicBezTo>
                  <a:cubicBezTo>
                    <a:pt x="116" y="25"/>
                    <a:pt x="118" y="27"/>
                    <a:pt x="123" y="25"/>
                  </a:cubicBezTo>
                  <a:cubicBezTo>
                    <a:pt x="128" y="24"/>
                    <a:pt x="129" y="26"/>
                    <a:pt x="127" y="30"/>
                  </a:cubicBezTo>
                  <a:cubicBezTo>
                    <a:pt x="125" y="35"/>
                    <a:pt x="127" y="37"/>
                    <a:pt x="132" y="37"/>
                  </a:cubicBezTo>
                  <a:cubicBezTo>
                    <a:pt x="137" y="36"/>
                    <a:pt x="138" y="39"/>
                    <a:pt x="135" y="42"/>
                  </a:cubicBezTo>
                  <a:cubicBezTo>
                    <a:pt x="132" y="46"/>
                    <a:pt x="134" y="49"/>
                    <a:pt x="139" y="50"/>
                  </a:cubicBezTo>
                  <a:cubicBezTo>
                    <a:pt x="143" y="50"/>
                    <a:pt x="144" y="53"/>
                    <a:pt x="141" y="56"/>
                  </a:cubicBezTo>
                  <a:cubicBezTo>
                    <a:pt x="137" y="59"/>
                    <a:pt x="138" y="63"/>
                    <a:pt x="142" y="64"/>
                  </a:cubicBezTo>
                  <a:cubicBezTo>
                    <a:pt x="147" y="65"/>
                    <a:pt x="147" y="68"/>
                    <a:pt x="143" y="70"/>
                  </a:cubicBezTo>
                  <a:cubicBezTo>
                    <a:pt x="139" y="73"/>
                    <a:pt x="139" y="76"/>
                    <a:pt x="143" y="78"/>
                  </a:cubicBezTo>
                  <a:cubicBezTo>
                    <a:pt x="147" y="81"/>
                    <a:pt x="147" y="84"/>
                    <a:pt x="142" y="85"/>
                  </a:cubicBezTo>
                  <a:cubicBezTo>
                    <a:pt x="138" y="86"/>
                    <a:pt x="137" y="90"/>
                    <a:pt x="141" y="93"/>
                  </a:cubicBezTo>
                  <a:cubicBezTo>
                    <a:pt x="144" y="96"/>
                    <a:pt x="143" y="99"/>
                    <a:pt x="139" y="99"/>
                  </a:cubicBezTo>
                  <a:cubicBezTo>
                    <a:pt x="134" y="99"/>
                    <a:pt x="132" y="103"/>
                    <a:pt x="135" y="106"/>
                  </a:cubicBezTo>
                  <a:cubicBezTo>
                    <a:pt x="138" y="110"/>
                    <a:pt x="137" y="113"/>
                    <a:pt x="132" y="112"/>
                  </a:cubicBezTo>
                  <a:cubicBezTo>
                    <a:pt x="127" y="111"/>
                    <a:pt x="125" y="114"/>
                    <a:pt x="127" y="118"/>
                  </a:cubicBezTo>
                  <a:cubicBezTo>
                    <a:pt x="129" y="123"/>
                    <a:pt x="128" y="125"/>
                    <a:pt x="123" y="123"/>
                  </a:cubicBezTo>
                  <a:cubicBezTo>
                    <a:pt x="118" y="122"/>
                    <a:pt x="116" y="124"/>
                    <a:pt x="117" y="129"/>
                  </a:cubicBezTo>
                  <a:cubicBezTo>
                    <a:pt x="118" y="133"/>
                    <a:pt x="116" y="135"/>
                    <a:pt x="112" y="133"/>
                  </a:cubicBezTo>
                  <a:cubicBezTo>
                    <a:pt x="108" y="130"/>
                    <a:pt x="105" y="132"/>
                    <a:pt x="105" y="137"/>
                  </a:cubicBezTo>
                  <a:cubicBezTo>
                    <a:pt x="105" y="141"/>
                    <a:pt x="102" y="143"/>
                    <a:pt x="99" y="139"/>
                  </a:cubicBezTo>
                  <a:cubicBezTo>
                    <a:pt x="95" y="136"/>
                    <a:pt x="92" y="137"/>
                    <a:pt x="91" y="142"/>
                  </a:cubicBezTo>
                  <a:cubicBezTo>
                    <a:pt x="90" y="146"/>
                    <a:pt x="87" y="147"/>
                    <a:pt x="85" y="143"/>
                  </a:cubicBezTo>
                  <a:cubicBezTo>
                    <a:pt x="82" y="139"/>
                    <a:pt x="78" y="139"/>
                    <a:pt x="77" y="144"/>
                  </a:cubicBezTo>
                  <a:cubicBezTo>
                    <a:pt x="75" y="148"/>
                    <a:pt x="72" y="148"/>
                    <a:pt x="70" y="144"/>
                  </a:cubicBezTo>
                  <a:cubicBezTo>
                    <a:pt x="68" y="139"/>
                    <a:pt x="65" y="139"/>
                    <a:pt x="62" y="143"/>
                  </a:cubicBezTo>
                  <a:cubicBezTo>
                    <a:pt x="60" y="147"/>
                    <a:pt x="57" y="146"/>
                    <a:pt x="56" y="142"/>
                  </a:cubicBezTo>
                  <a:cubicBezTo>
                    <a:pt x="55" y="137"/>
                    <a:pt x="52" y="136"/>
                    <a:pt x="48" y="139"/>
                  </a:cubicBezTo>
                  <a:cubicBezTo>
                    <a:pt x="45" y="143"/>
                    <a:pt x="42" y="141"/>
                    <a:pt x="42" y="137"/>
                  </a:cubicBezTo>
                  <a:cubicBezTo>
                    <a:pt x="42" y="132"/>
                    <a:pt x="39" y="130"/>
                    <a:pt x="35" y="133"/>
                  </a:cubicBezTo>
                  <a:cubicBezTo>
                    <a:pt x="31" y="135"/>
                    <a:pt x="29" y="133"/>
                    <a:pt x="30" y="129"/>
                  </a:cubicBezTo>
                  <a:cubicBezTo>
                    <a:pt x="31" y="124"/>
                    <a:pt x="28" y="122"/>
                    <a:pt x="24" y="123"/>
                  </a:cubicBezTo>
                  <a:cubicBezTo>
                    <a:pt x="19" y="125"/>
                    <a:pt x="18" y="123"/>
                    <a:pt x="20" y="118"/>
                  </a:cubicBezTo>
                  <a:cubicBezTo>
                    <a:pt x="22" y="114"/>
                    <a:pt x="20" y="111"/>
                    <a:pt x="15" y="112"/>
                  </a:cubicBezTo>
                  <a:cubicBezTo>
                    <a:pt x="10" y="113"/>
                    <a:pt x="9" y="110"/>
                    <a:pt x="12" y="106"/>
                  </a:cubicBezTo>
                  <a:cubicBezTo>
                    <a:pt x="15" y="103"/>
                    <a:pt x="13" y="99"/>
                    <a:pt x="8" y="99"/>
                  </a:cubicBezTo>
                  <a:cubicBezTo>
                    <a:pt x="4" y="99"/>
                    <a:pt x="3" y="96"/>
                    <a:pt x="6" y="93"/>
                  </a:cubicBezTo>
                  <a:cubicBezTo>
                    <a:pt x="10" y="90"/>
                    <a:pt x="9" y="86"/>
                    <a:pt x="5" y="85"/>
                  </a:cubicBezTo>
                  <a:cubicBezTo>
                    <a:pt x="0" y="84"/>
                    <a:pt x="0" y="81"/>
                    <a:pt x="4" y="78"/>
                  </a:cubicBezTo>
                  <a:cubicBezTo>
                    <a:pt x="8" y="76"/>
                    <a:pt x="8" y="73"/>
                    <a:pt x="4" y="70"/>
                  </a:cubicBezTo>
                  <a:cubicBezTo>
                    <a:pt x="0" y="68"/>
                    <a:pt x="0" y="65"/>
                    <a:pt x="5" y="64"/>
                  </a:cubicBezTo>
                  <a:cubicBezTo>
                    <a:pt x="9" y="63"/>
                    <a:pt x="10" y="59"/>
                    <a:pt x="6" y="56"/>
                  </a:cubicBezTo>
                  <a:cubicBezTo>
                    <a:pt x="3" y="53"/>
                    <a:pt x="4" y="50"/>
                    <a:pt x="8" y="50"/>
                  </a:cubicBezTo>
                  <a:cubicBezTo>
                    <a:pt x="13" y="49"/>
                    <a:pt x="15" y="46"/>
                    <a:pt x="12" y="42"/>
                  </a:cubicBezTo>
                  <a:cubicBezTo>
                    <a:pt x="9" y="39"/>
                    <a:pt x="10" y="36"/>
                    <a:pt x="15" y="37"/>
                  </a:cubicBezTo>
                  <a:cubicBezTo>
                    <a:pt x="20" y="37"/>
                    <a:pt x="22" y="35"/>
                    <a:pt x="20" y="30"/>
                  </a:cubicBezTo>
                  <a:cubicBezTo>
                    <a:pt x="18" y="26"/>
                    <a:pt x="19" y="24"/>
                    <a:pt x="24" y="25"/>
                  </a:cubicBezTo>
                  <a:cubicBezTo>
                    <a:pt x="28" y="27"/>
                    <a:pt x="31" y="25"/>
                    <a:pt x="30" y="20"/>
                  </a:cubicBezTo>
                  <a:cubicBezTo>
                    <a:pt x="29" y="15"/>
                    <a:pt x="31" y="14"/>
                    <a:pt x="35" y="16"/>
                  </a:cubicBezTo>
                  <a:cubicBezTo>
                    <a:pt x="39" y="19"/>
                    <a:pt x="42" y="17"/>
                    <a:pt x="42" y="12"/>
                  </a:cubicBezTo>
                  <a:cubicBezTo>
                    <a:pt x="42" y="7"/>
                    <a:pt x="45" y="6"/>
                    <a:pt x="48" y="10"/>
                  </a:cubicBezTo>
                  <a:cubicBezTo>
                    <a:pt x="52" y="13"/>
                    <a:pt x="55" y="12"/>
                    <a:pt x="56" y="7"/>
                  </a:cubicBezTo>
                  <a:cubicBezTo>
                    <a:pt x="57" y="2"/>
                    <a:pt x="60" y="2"/>
                    <a:pt x="62" y="6"/>
                  </a:cubicBezTo>
                  <a:cubicBezTo>
                    <a:pt x="65" y="10"/>
                    <a:pt x="68" y="9"/>
                    <a:pt x="70" y="5"/>
                  </a:cubicBezTo>
                  <a:cubicBezTo>
                    <a:pt x="72" y="0"/>
                    <a:pt x="75" y="0"/>
                    <a:pt x="77" y="5"/>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Oval 34">
              <a:extLst>
                <a:ext uri="{FF2B5EF4-FFF2-40B4-BE49-F238E27FC236}">
                  <a16:creationId xmlns:a16="http://schemas.microsoft.com/office/drawing/2014/main" id="{24AF3A62-01CA-41CF-037C-2405925FCD6D}"/>
                </a:ext>
              </a:extLst>
            </p:cNvPr>
            <p:cNvSpPr>
              <a:spLocks noChangeArrowheads="1"/>
            </p:cNvSpPr>
            <p:nvPr/>
          </p:nvSpPr>
          <p:spPr bwMode="auto">
            <a:xfrm>
              <a:off x="7995820" y="4195763"/>
              <a:ext cx="173037" cy="173038"/>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29">
              <a:extLst>
                <a:ext uri="{FF2B5EF4-FFF2-40B4-BE49-F238E27FC236}">
                  <a16:creationId xmlns:a16="http://schemas.microsoft.com/office/drawing/2014/main" id="{9F1063FD-27A8-8EF6-53F3-A5009606DE4D}"/>
                </a:ext>
              </a:extLst>
            </p:cNvPr>
            <p:cNvSpPr>
              <a:spLocks/>
            </p:cNvSpPr>
            <p:nvPr/>
          </p:nvSpPr>
          <p:spPr bwMode="auto">
            <a:xfrm>
              <a:off x="9090609" y="4242756"/>
              <a:ext cx="227760" cy="286866"/>
            </a:xfrm>
            <a:custGeom>
              <a:avLst/>
              <a:gdLst>
                <a:gd name="connsiteX0" fmla="*/ 5700 w 227760"/>
                <a:gd name="connsiteY0" fmla="*/ 256220 h 286866"/>
                <a:gd name="connsiteX1" fmla="*/ 46622 w 227760"/>
                <a:gd name="connsiteY1" fmla="*/ 281224 h 286866"/>
                <a:gd name="connsiteX2" fmla="*/ 17636 w 227760"/>
                <a:gd name="connsiteY2" fmla="*/ 281224 h 286866"/>
                <a:gd name="connsiteX3" fmla="*/ 5700 w 227760"/>
                <a:gd name="connsiteY3" fmla="*/ 256220 h 286866"/>
                <a:gd name="connsiteX4" fmla="*/ 9256 w 227760"/>
                <a:gd name="connsiteY4" fmla="*/ 235696 h 286866"/>
                <a:gd name="connsiteX5" fmla="*/ 63963 w 227760"/>
                <a:gd name="connsiteY5" fmla="*/ 269714 h 286866"/>
                <a:gd name="connsiteX6" fmla="*/ 65673 w 227760"/>
                <a:gd name="connsiteY6" fmla="*/ 276518 h 286866"/>
                <a:gd name="connsiteX7" fmla="*/ 63963 w 227760"/>
                <a:gd name="connsiteY7" fmla="*/ 278218 h 286866"/>
                <a:gd name="connsiteX8" fmla="*/ 57125 w 227760"/>
                <a:gd name="connsiteY8" fmla="*/ 279919 h 286866"/>
                <a:gd name="connsiteX9" fmla="*/ 2417 w 227760"/>
                <a:gd name="connsiteY9" fmla="*/ 245901 h 286866"/>
                <a:gd name="connsiteX10" fmla="*/ 708 w 227760"/>
                <a:gd name="connsiteY10" fmla="*/ 239097 h 286866"/>
                <a:gd name="connsiteX11" fmla="*/ 2417 w 227760"/>
                <a:gd name="connsiteY11" fmla="*/ 237397 h 286866"/>
                <a:gd name="connsiteX12" fmla="*/ 9256 w 227760"/>
                <a:gd name="connsiteY12" fmla="*/ 235696 h 286866"/>
                <a:gd name="connsiteX13" fmla="*/ 20123 w 227760"/>
                <a:gd name="connsiteY13" fmla="*/ 218233 h 286866"/>
                <a:gd name="connsiteX14" fmla="*/ 73528 w 227760"/>
                <a:gd name="connsiteY14" fmla="*/ 252251 h 286866"/>
                <a:gd name="connsiteX15" fmla="*/ 75197 w 227760"/>
                <a:gd name="connsiteY15" fmla="*/ 259055 h 286866"/>
                <a:gd name="connsiteX16" fmla="*/ 73528 w 227760"/>
                <a:gd name="connsiteY16" fmla="*/ 262456 h 286866"/>
                <a:gd name="connsiteX17" fmla="*/ 66853 w 227760"/>
                <a:gd name="connsiteY17" fmla="*/ 264157 h 286866"/>
                <a:gd name="connsiteX18" fmla="*/ 13448 w 227760"/>
                <a:gd name="connsiteY18" fmla="*/ 230139 h 286866"/>
                <a:gd name="connsiteX19" fmla="*/ 11779 w 227760"/>
                <a:gd name="connsiteY19" fmla="*/ 223335 h 286866"/>
                <a:gd name="connsiteX20" fmla="*/ 13448 w 227760"/>
                <a:gd name="connsiteY20" fmla="*/ 219934 h 286866"/>
                <a:gd name="connsiteX21" fmla="*/ 20123 w 227760"/>
                <a:gd name="connsiteY21" fmla="*/ 218233 h 286866"/>
                <a:gd name="connsiteX22" fmla="*/ 29648 w 227760"/>
                <a:gd name="connsiteY22" fmla="*/ 203889 h 286866"/>
                <a:gd name="connsiteX23" fmla="*/ 83053 w 227760"/>
                <a:gd name="connsiteY23" fmla="*/ 236773 h 286866"/>
                <a:gd name="connsiteX24" fmla="*/ 84722 w 227760"/>
                <a:gd name="connsiteY24" fmla="*/ 243350 h 286866"/>
                <a:gd name="connsiteX25" fmla="*/ 83053 w 227760"/>
                <a:gd name="connsiteY25" fmla="*/ 244994 h 286866"/>
                <a:gd name="connsiteX26" fmla="*/ 76378 w 227760"/>
                <a:gd name="connsiteY26" fmla="*/ 246639 h 286866"/>
                <a:gd name="connsiteX27" fmla="*/ 22973 w 227760"/>
                <a:gd name="connsiteY27" fmla="*/ 213754 h 286866"/>
                <a:gd name="connsiteX28" fmla="*/ 21304 w 227760"/>
                <a:gd name="connsiteY28" fmla="*/ 207177 h 286866"/>
                <a:gd name="connsiteX29" fmla="*/ 22973 w 227760"/>
                <a:gd name="connsiteY29" fmla="*/ 205533 h 286866"/>
                <a:gd name="connsiteX30" fmla="*/ 29648 w 227760"/>
                <a:gd name="connsiteY30" fmla="*/ 203889 h 286866"/>
                <a:gd name="connsiteX31" fmla="*/ 153786 w 227760"/>
                <a:gd name="connsiteY31" fmla="*/ 1093 h 286866"/>
                <a:gd name="connsiteX32" fmla="*/ 186297 w 227760"/>
                <a:gd name="connsiteY32" fmla="*/ 13202 h 286866"/>
                <a:gd name="connsiteX33" fmla="*/ 213297 w 227760"/>
                <a:gd name="connsiteY33" fmla="*/ 136185 h 286866"/>
                <a:gd name="connsiteX34" fmla="*/ 181235 w 227760"/>
                <a:gd name="connsiteY34" fmla="*/ 166509 h 286866"/>
                <a:gd name="connsiteX35" fmla="*/ 110360 w 227760"/>
                <a:gd name="connsiteY35" fmla="*/ 220420 h 286866"/>
                <a:gd name="connsiteX36" fmla="*/ 81672 w 227760"/>
                <a:gd name="connsiteY36" fmla="*/ 227158 h 286866"/>
                <a:gd name="connsiteX37" fmla="*/ 59735 w 227760"/>
                <a:gd name="connsiteY37" fmla="*/ 213681 h 286866"/>
                <a:gd name="connsiteX38" fmla="*/ 37797 w 227760"/>
                <a:gd name="connsiteY38" fmla="*/ 201888 h 286866"/>
                <a:gd name="connsiteX39" fmla="*/ 32735 w 227760"/>
                <a:gd name="connsiteY39" fmla="*/ 171563 h 286866"/>
                <a:gd name="connsiteX40" fmla="*/ 49610 w 227760"/>
                <a:gd name="connsiteY40" fmla="*/ 85644 h 286866"/>
                <a:gd name="connsiteX41" fmla="*/ 64797 w 227760"/>
                <a:gd name="connsiteY41" fmla="*/ 41842 h 286866"/>
                <a:gd name="connsiteX42" fmla="*/ 153786 w 227760"/>
                <a:gd name="connsiteY42" fmla="*/ 1093 h 28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27760" h="286866">
                  <a:moveTo>
                    <a:pt x="5700" y="256220"/>
                  </a:moveTo>
                  <a:cubicBezTo>
                    <a:pt x="46622" y="281224"/>
                    <a:pt x="46622" y="281224"/>
                    <a:pt x="46622" y="281224"/>
                  </a:cubicBezTo>
                  <a:cubicBezTo>
                    <a:pt x="41507" y="289558"/>
                    <a:pt x="26161" y="287891"/>
                    <a:pt x="17636" y="281224"/>
                  </a:cubicBezTo>
                  <a:cubicBezTo>
                    <a:pt x="7405" y="276223"/>
                    <a:pt x="585" y="264555"/>
                    <a:pt x="5700" y="256220"/>
                  </a:cubicBezTo>
                  <a:close/>
                  <a:moveTo>
                    <a:pt x="9256" y="235696"/>
                  </a:moveTo>
                  <a:cubicBezTo>
                    <a:pt x="9256" y="235696"/>
                    <a:pt x="9256" y="235696"/>
                    <a:pt x="63963" y="269714"/>
                  </a:cubicBezTo>
                  <a:cubicBezTo>
                    <a:pt x="65673" y="271415"/>
                    <a:pt x="65673" y="273116"/>
                    <a:pt x="65673" y="276518"/>
                  </a:cubicBezTo>
                  <a:cubicBezTo>
                    <a:pt x="65673" y="276518"/>
                    <a:pt x="65673" y="276518"/>
                    <a:pt x="63963" y="278218"/>
                  </a:cubicBezTo>
                  <a:cubicBezTo>
                    <a:pt x="62254" y="281620"/>
                    <a:pt x="58835" y="281620"/>
                    <a:pt x="57125" y="279919"/>
                  </a:cubicBezTo>
                  <a:cubicBezTo>
                    <a:pt x="57125" y="279919"/>
                    <a:pt x="57125" y="279919"/>
                    <a:pt x="2417" y="245901"/>
                  </a:cubicBezTo>
                  <a:cubicBezTo>
                    <a:pt x="708" y="244200"/>
                    <a:pt x="-1002" y="240798"/>
                    <a:pt x="708" y="239097"/>
                  </a:cubicBezTo>
                  <a:cubicBezTo>
                    <a:pt x="708" y="239097"/>
                    <a:pt x="708" y="239097"/>
                    <a:pt x="2417" y="237397"/>
                  </a:cubicBezTo>
                  <a:cubicBezTo>
                    <a:pt x="4127" y="233995"/>
                    <a:pt x="7546" y="233995"/>
                    <a:pt x="9256" y="235696"/>
                  </a:cubicBezTo>
                  <a:close/>
                  <a:moveTo>
                    <a:pt x="20123" y="218233"/>
                  </a:moveTo>
                  <a:cubicBezTo>
                    <a:pt x="20123" y="218233"/>
                    <a:pt x="20123" y="218233"/>
                    <a:pt x="73528" y="252251"/>
                  </a:cubicBezTo>
                  <a:cubicBezTo>
                    <a:pt x="75197" y="253951"/>
                    <a:pt x="75197" y="257354"/>
                    <a:pt x="75197" y="259055"/>
                  </a:cubicBezTo>
                  <a:cubicBezTo>
                    <a:pt x="75197" y="259055"/>
                    <a:pt x="75197" y="259055"/>
                    <a:pt x="73528" y="262456"/>
                  </a:cubicBezTo>
                  <a:cubicBezTo>
                    <a:pt x="71859" y="264157"/>
                    <a:pt x="68521" y="264157"/>
                    <a:pt x="66853" y="264157"/>
                  </a:cubicBezTo>
                  <a:cubicBezTo>
                    <a:pt x="66853" y="264157"/>
                    <a:pt x="66853" y="264157"/>
                    <a:pt x="13448" y="230139"/>
                  </a:cubicBezTo>
                  <a:cubicBezTo>
                    <a:pt x="11779" y="228438"/>
                    <a:pt x="10110" y="225036"/>
                    <a:pt x="11779" y="223335"/>
                  </a:cubicBezTo>
                  <a:cubicBezTo>
                    <a:pt x="11779" y="223335"/>
                    <a:pt x="11779" y="223335"/>
                    <a:pt x="13448" y="219934"/>
                  </a:cubicBezTo>
                  <a:cubicBezTo>
                    <a:pt x="15117" y="218233"/>
                    <a:pt x="18454" y="216532"/>
                    <a:pt x="20123" y="218233"/>
                  </a:cubicBezTo>
                  <a:close/>
                  <a:moveTo>
                    <a:pt x="29648" y="203889"/>
                  </a:moveTo>
                  <a:cubicBezTo>
                    <a:pt x="29648" y="203889"/>
                    <a:pt x="29648" y="203889"/>
                    <a:pt x="83053" y="236773"/>
                  </a:cubicBezTo>
                  <a:cubicBezTo>
                    <a:pt x="84722" y="238417"/>
                    <a:pt x="84722" y="240062"/>
                    <a:pt x="84722" y="243350"/>
                  </a:cubicBezTo>
                  <a:cubicBezTo>
                    <a:pt x="84722" y="243350"/>
                    <a:pt x="84722" y="243350"/>
                    <a:pt x="83053" y="244994"/>
                  </a:cubicBezTo>
                  <a:cubicBezTo>
                    <a:pt x="81384" y="246639"/>
                    <a:pt x="78046" y="248283"/>
                    <a:pt x="76378" y="246639"/>
                  </a:cubicBezTo>
                  <a:cubicBezTo>
                    <a:pt x="76378" y="246639"/>
                    <a:pt x="76378" y="246639"/>
                    <a:pt x="22973" y="213754"/>
                  </a:cubicBezTo>
                  <a:cubicBezTo>
                    <a:pt x="21304" y="212110"/>
                    <a:pt x="19635" y="208822"/>
                    <a:pt x="21304" y="207177"/>
                  </a:cubicBezTo>
                  <a:cubicBezTo>
                    <a:pt x="21304" y="207177"/>
                    <a:pt x="21304" y="207177"/>
                    <a:pt x="22973" y="205533"/>
                  </a:cubicBezTo>
                  <a:cubicBezTo>
                    <a:pt x="24642" y="202245"/>
                    <a:pt x="27979" y="202245"/>
                    <a:pt x="29648" y="203889"/>
                  </a:cubicBezTo>
                  <a:close/>
                  <a:moveTo>
                    <a:pt x="153786" y="1093"/>
                  </a:moveTo>
                  <a:cubicBezTo>
                    <a:pt x="165098" y="2883"/>
                    <a:pt x="176172" y="6885"/>
                    <a:pt x="186297" y="13202"/>
                  </a:cubicBezTo>
                  <a:cubicBezTo>
                    <a:pt x="228485" y="40157"/>
                    <a:pt x="240297" y="94067"/>
                    <a:pt x="213297" y="136185"/>
                  </a:cubicBezTo>
                  <a:cubicBezTo>
                    <a:pt x="204860" y="149662"/>
                    <a:pt x="193047" y="159771"/>
                    <a:pt x="181235" y="166509"/>
                  </a:cubicBezTo>
                  <a:cubicBezTo>
                    <a:pt x="140735" y="188410"/>
                    <a:pt x="123860" y="203573"/>
                    <a:pt x="110360" y="220420"/>
                  </a:cubicBezTo>
                  <a:cubicBezTo>
                    <a:pt x="98547" y="233897"/>
                    <a:pt x="91797" y="235582"/>
                    <a:pt x="81672" y="227158"/>
                  </a:cubicBezTo>
                  <a:cubicBezTo>
                    <a:pt x="76610" y="225474"/>
                    <a:pt x="68172" y="220420"/>
                    <a:pt x="59735" y="213681"/>
                  </a:cubicBezTo>
                  <a:cubicBezTo>
                    <a:pt x="51297" y="208627"/>
                    <a:pt x="42860" y="203573"/>
                    <a:pt x="37797" y="201888"/>
                  </a:cubicBezTo>
                  <a:cubicBezTo>
                    <a:pt x="27672" y="193464"/>
                    <a:pt x="25985" y="188410"/>
                    <a:pt x="32735" y="171563"/>
                  </a:cubicBezTo>
                  <a:cubicBezTo>
                    <a:pt x="41172" y="151347"/>
                    <a:pt x="47922" y="129446"/>
                    <a:pt x="49610" y="85644"/>
                  </a:cubicBezTo>
                  <a:cubicBezTo>
                    <a:pt x="51297" y="70482"/>
                    <a:pt x="54672" y="55320"/>
                    <a:pt x="64797" y="41842"/>
                  </a:cubicBezTo>
                  <a:cubicBezTo>
                    <a:pt x="83782" y="10254"/>
                    <a:pt x="119852" y="-4276"/>
                    <a:pt x="153786" y="1093"/>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1" name="Freeform 30">
              <a:extLst>
                <a:ext uri="{FF2B5EF4-FFF2-40B4-BE49-F238E27FC236}">
                  <a16:creationId xmlns:a16="http://schemas.microsoft.com/office/drawing/2014/main" id="{A4F5AA70-AA4C-ABA4-F9C9-F28B22DE3B45}"/>
                </a:ext>
              </a:extLst>
            </p:cNvPr>
            <p:cNvSpPr>
              <a:spLocks/>
            </p:cNvSpPr>
            <p:nvPr/>
          </p:nvSpPr>
          <p:spPr bwMode="auto">
            <a:xfrm>
              <a:off x="9591320" y="4184651"/>
              <a:ext cx="180912" cy="208545"/>
            </a:xfrm>
            <a:custGeom>
              <a:avLst/>
              <a:gdLst>
                <a:gd name="connsiteX0" fmla="*/ 120673 w 180912"/>
                <a:gd name="connsiteY0" fmla="*/ 44450 h 208545"/>
                <a:gd name="connsiteX1" fmla="*/ 180912 w 180912"/>
                <a:gd name="connsiteY1" fmla="*/ 96615 h 208545"/>
                <a:gd name="connsiteX2" fmla="*/ 119000 w 180912"/>
                <a:gd name="connsiteY2" fmla="*/ 89884 h 208545"/>
                <a:gd name="connsiteX3" fmla="*/ 83860 w 180912"/>
                <a:gd name="connsiteY3" fmla="*/ 184118 h 208545"/>
                <a:gd name="connsiteX4" fmla="*/ 83860 w 180912"/>
                <a:gd name="connsiteY4" fmla="*/ 185801 h 208545"/>
                <a:gd name="connsiteX5" fmla="*/ 82187 w 180912"/>
                <a:gd name="connsiteY5" fmla="*/ 187484 h 208545"/>
                <a:gd name="connsiteX6" fmla="*/ 30314 w 180912"/>
                <a:gd name="connsiteY6" fmla="*/ 205994 h 208545"/>
                <a:gd name="connsiteX7" fmla="*/ 1868 w 180912"/>
                <a:gd name="connsiteY7" fmla="*/ 158877 h 208545"/>
                <a:gd name="connsiteX8" fmla="*/ 53741 w 180912"/>
                <a:gd name="connsiteY8" fmla="*/ 140367 h 208545"/>
                <a:gd name="connsiteX9" fmla="*/ 78840 w 180912"/>
                <a:gd name="connsiteY9" fmla="*/ 158877 h 208545"/>
                <a:gd name="connsiteX10" fmla="*/ 120673 w 180912"/>
                <a:gd name="connsiteY10" fmla="*/ 44450 h 208545"/>
                <a:gd name="connsiteX11" fmla="*/ 96315 w 180912"/>
                <a:gd name="connsiteY11" fmla="*/ 0 h 208545"/>
                <a:gd name="connsiteX12" fmla="*/ 130113 w 180912"/>
                <a:gd name="connsiteY12" fmla="*/ 30162 h 208545"/>
                <a:gd name="connsiteX13" fmla="*/ 114904 w 180912"/>
                <a:gd name="connsiteY13" fmla="*/ 31838 h 208545"/>
                <a:gd name="connsiteX14" fmla="*/ 96315 w 180912"/>
                <a:gd name="connsiteY14" fmla="*/ 25135 h 208545"/>
                <a:gd name="connsiteX15" fmla="*/ 76036 w 180912"/>
                <a:gd name="connsiteY15" fmla="*/ 78758 h 208545"/>
                <a:gd name="connsiteX16" fmla="*/ 55757 w 180912"/>
                <a:gd name="connsiteY16" fmla="*/ 90488 h 208545"/>
                <a:gd name="connsiteX17" fmla="*/ 45617 w 180912"/>
                <a:gd name="connsiteY17" fmla="*/ 88813 h 208545"/>
                <a:gd name="connsiteX18" fmla="*/ 28718 w 180912"/>
                <a:gd name="connsiteY18" fmla="*/ 63677 h 208545"/>
                <a:gd name="connsiteX19" fmla="*/ 48997 w 180912"/>
                <a:gd name="connsiteY19" fmla="*/ 51947 h 208545"/>
                <a:gd name="connsiteX20" fmla="*/ 59136 w 180912"/>
                <a:gd name="connsiteY20" fmla="*/ 53623 h 208545"/>
                <a:gd name="connsiteX21" fmla="*/ 72656 w 180912"/>
                <a:gd name="connsiteY21" fmla="*/ 63677 h 208545"/>
                <a:gd name="connsiteX22" fmla="*/ 96315 w 180912"/>
                <a:gd name="connsiteY22" fmla="*/ 0 h 2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0912" h="208545">
                  <a:moveTo>
                    <a:pt x="120673" y="44450"/>
                  </a:moveTo>
                  <a:cubicBezTo>
                    <a:pt x="122346" y="52864"/>
                    <a:pt x="140753" y="93250"/>
                    <a:pt x="180912" y="96615"/>
                  </a:cubicBezTo>
                  <a:cubicBezTo>
                    <a:pt x="180912" y="96615"/>
                    <a:pt x="145773" y="113443"/>
                    <a:pt x="119000" y="89884"/>
                  </a:cubicBezTo>
                  <a:cubicBezTo>
                    <a:pt x="119000" y="89884"/>
                    <a:pt x="119000" y="89884"/>
                    <a:pt x="83860" y="184118"/>
                  </a:cubicBezTo>
                  <a:cubicBezTo>
                    <a:pt x="83860" y="184118"/>
                    <a:pt x="83860" y="184118"/>
                    <a:pt x="83860" y="185801"/>
                  </a:cubicBezTo>
                  <a:cubicBezTo>
                    <a:pt x="83860" y="185801"/>
                    <a:pt x="83860" y="185801"/>
                    <a:pt x="82187" y="187484"/>
                  </a:cubicBezTo>
                  <a:cubicBezTo>
                    <a:pt x="75494" y="205994"/>
                    <a:pt x="52067" y="212725"/>
                    <a:pt x="30314" y="205994"/>
                  </a:cubicBezTo>
                  <a:cubicBezTo>
                    <a:pt x="6888" y="197580"/>
                    <a:pt x="-4825" y="175705"/>
                    <a:pt x="1868" y="158877"/>
                  </a:cubicBezTo>
                  <a:cubicBezTo>
                    <a:pt x="8561" y="140367"/>
                    <a:pt x="31988" y="131953"/>
                    <a:pt x="53741" y="140367"/>
                  </a:cubicBezTo>
                  <a:cubicBezTo>
                    <a:pt x="65454" y="143732"/>
                    <a:pt x="73820" y="150463"/>
                    <a:pt x="78840" y="158877"/>
                  </a:cubicBezTo>
                  <a:cubicBezTo>
                    <a:pt x="78840" y="158877"/>
                    <a:pt x="78840" y="158877"/>
                    <a:pt x="120673" y="44450"/>
                  </a:cubicBezTo>
                  <a:close/>
                  <a:moveTo>
                    <a:pt x="96315" y="0"/>
                  </a:moveTo>
                  <a:cubicBezTo>
                    <a:pt x="98005" y="5027"/>
                    <a:pt x="108144" y="26811"/>
                    <a:pt x="130113" y="30162"/>
                  </a:cubicBezTo>
                  <a:cubicBezTo>
                    <a:pt x="130113" y="30162"/>
                    <a:pt x="123353" y="31838"/>
                    <a:pt x="114904" y="31838"/>
                  </a:cubicBezTo>
                  <a:cubicBezTo>
                    <a:pt x="109834" y="31838"/>
                    <a:pt x="103074" y="30162"/>
                    <a:pt x="96315" y="25135"/>
                  </a:cubicBezTo>
                  <a:cubicBezTo>
                    <a:pt x="96315" y="25135"/>
                    <a:pt x="96315" y="25135"/>
                    <a:pt x="76036" y="78758"/>
                  </a:cubicBezTo>
                  <a:cubicBezTo>
                    <a:pt x="72656" y="87137"/>
                    <a:pt x="64206" y="90488"/>
                    <a:pt x="55757" y="90488"/>
                  </a:cubicBezTo>
                  <a:cubicBezTo>
                    <a:pt x="52377" y="90488"/>
                    <a:pt x="48997" y="90488"/>
                    <a:pt x="45617" y="88813"/>
                  </a:cubicBezTo>
                  <a:cubicBezTo>
                    <a:pt x="33788" y="85461"/>
                    <a:pt x="25338" y="73731"/>
                    <a:pt x="28718" y="63677"/>
                  </a:cubicBezTo>
                  <a:cubicBezTo>
                    <a:pt x="32098" y="56974"/>
                    <a:pt x="40547" y="51947"/>
                    <a:pt x="48997" y="51947"/>
                  </a:cubicBezTo>
                  <a:cubicBezTo>
                    <a:pt x="52377" y="51947"/>
                    <a:pt x="55757" y="51947"/>
                    <a:pt x="59136" y="53623"/>
                  </a:cubicBezTo>
                  <a:cubicBezTo>
                    <a:pt x="65896" y="55298"/>
                    <a:pt x="69276" y="58650"/>
                    <a:pt x="72656" y="63677"/>
                  </a:cubicBezTo>
                  <a:cubicBezTo>
                    <a:pt x="72656" y="63677"/>
                    <a:pt x="72656" y="63677"/>
                    <a:pt x="96315" y="0"/>
                  </a:cubicBez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2" name="Freeform 31">
              <a:extLst>
                <a:ext uri="{FF2B5EF4-FFF2-40B4-BE49-F238E27FC236}">
                  <a16:creationId xmlns:a16="http://schemas.microsoft.com/office/drawing/2014/main" id="{6C29311B-5621-B0CB-DC87-64432DFC1FC2}"/>
                </a:ext>
              </a:extLst>
            </p:cNvPr>
            <p:cNvSpPr>
              <a:spLocks/>
            </p:cNvSpPr>
            <p:nvPr/>
          </p:nvSpPr>
          <p:spPr bwMode="auto">
            <a:xfrm>
              <a:off x="9748341" y="4619626"/>
              <a:ext cx="152478" cy="213099"/>
            </a:xfrm>
            <a:custGeom>
              <a:avLst/>
              <a:gdLst>
                <a:gd name="connsiteX0" fmla="*/ 74889 w 152478"/>
                <a:gd name="connsiteY0" fmla="*/ 28575 h 213099"/>
                <a:gd name="connsiteX1" fmla="*/ 152478 w 152478"/>
                <a:gd name="connsiteY1" fmla="*/ 47139 h 213099"/>
                <a:gd name="connsiteX2" fmla="*/ 93443 w 152478"/>
                <a:gd name="connsiteY2" fmla="*/ 69078 h 213099"/>
                <a:gd name="connsiteX3" fmla="*/ 105250 w 152478"/>
                <a:gd name="connsiteY3" fmla="*/ 170335 h 213099"/>
                <a:gd name="connsiteX4" fmla="*/ 105250 w 152478"/>
                <a:gd name="connsiteY4" fmla="*/ 172022 h 213099"/>
                <a:gd name="connsiteX5" fmla="*/ 106937 w 152478"/>
                <a:gd name="connsiteY5" fmla="*/ 172022 h 213099"/>
                <a:gd name="connsiteX6" fmla="*/ 66456 w 152478"/>
                <a:gd name="connsiteY6" fmla="*/ 212525 h 213099"/>
                <a:gd name="connsiteX7" fmla="*/ 19228 w 152478"/>
                <a:gd name="connsiteY7" fmla="*/ 185523 h 213099"/>
                <a:gd name="connsiteX8" fmla="*/ 59709 w 152478"/>
                <a:gd name="connsiteY8" fmla="*/ 145021 h 213099"/>
                <a:gd name="connsiteX9" fmla="*/ 90070 w 152478"/>
                <a:gd name="connsiteY9" fmla="*/ 150083 h 213099"/>
                <a:gd name="connsiteX10" fmla="*/ 74889 w 152478"/>
                <a:gd name="connsiteY10" fmla="*/ 28575 h 213099"/>
                <a:gd name="connsiteX11" fmla="*/ 30664 w 152478"/>
                <a:gd name="connsiteY11" fmla="*/ 0 h 213099"/>
                <a:gd name="connsiteX12" fmla="*/ 61144 w 152478"/>
                <a:gd name="connsiteY12" fmla="*/ 11841 h 213099"/>
                <a:gd name="connsiteX13" fmla="*/ 74691 w 152478"/>
                <a:gd name="connsiteY13" fmla="*/ 10149 h 213099"/>
                <a:gd name="connsiteX14" fmla="*/ 49291 w 152478"/>
                <a:gd name="connsiteY14" fmla="*/ 23682 h 213099"/>
                <a:gd name="connsiteX15" fmla="*/ 40824 w 152478"/>
                <a:gd name="connsiteY15" fmla="*/ 21991 h 213099"/>
                <a:gd name="connsiteX16" fmla="*/ 47598 w 152478"/>
                <a:gd name="connsiteY16" fmla="*/ 79506 h 213099"/>
                <a:gd name="connsiteX17" fmla="*/ 49291 w 152478"/>
                <a:gd name="connsiteY17" fmla="*/ 79506 h 213099"/>
                <a:gd name="connsiteX18" fmla="*/ 27278 w 152478"/>
                <a:gd name="connsiteY18" fmla="*/ 103188 h 213099"/>
                <a:gd name="connsiteX19" fmla="*/ 22198 w 152478"/>
                <a:gd name="connsiteY19" fmla="*/ 103188 h 213099"/>
                <a:gd name="connsiteX20" fmla="*/ 184 w 152478"/>
                <a:gd name="connsiteY20" fmla="*/ 86272 h 213099"/>
                <a:gd name="connsiteX21" fmla="*/ 22198 w 152478"/>
                <a:gd name="connsiteY21" fmla="*/ 64281 h 213099"/>
                <a:gd name="connsiteX22" fmla="*/ 25584 w 152478"/>
                <a:gd name="connsiteY22" fmla="*/ 64281 h 213099"/>
                <a:gd name="connsiteX23" fmla="*/ 39131 w 152478"/>
                <a:gd name="connsiteY23" fmla="*/ 67665 h 213099"/>
                <a:gd name="connsiteX24" fmla="*/ 30664 w 152478"/>
                <a:gd name="connsiteY24" fmla="*/ 0 h 213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78" h="213099">
                  <a:moveTo>
                    <a:pt x="74889" y="28575"/>
                  </a:moveTo>
                  <a:cubicBezTo>
                    <a:pt x="78263" y="35326"/>
                    <a:pt x="115370" y="62328"/>
                    <a:pt x="152478" y="47139"/>
                  </a:cubicBezTo>
                  <a:cubicBezTo>
                    <a:pt x="152478" y="47139"/>
                    <a:pt x="128864" y="77516"/>
                    <a:pt x="93443" y="69078"/>
                  </a:cubicBezTo>
                  <a:cubicBezTo>
                    <a:pt x="93443" y="69078"/>
                    <a:pt x="93443" y="69078"/>
                    <a:pt x="105250" y="170335"/>
                  </a:cubicBezTo>
                  <a:cubicBezTo>
                    <a:pt x="105250" y="170335"/>
                    <a:pt x="105250" y="170335"/>
                    <a:pt x="105250" y="172022"/>
                  </a:cubicBezTo>
                  <a:cubicBezTo>
                    <a:pt x="105250" y="172022"/>
                    <a:pt x="105250" y="172022"/>
                    <a:pt x="106937" y="172022"/>
                  </a:cubicBezTo>
                  <a:cubicBezTo>
                    <a:pt x="108623" y="192274"/>
                    <a:pt x="91756" y="209150"/>
                    <a:pt x="66456" y="212525"/>
                  </a:cubicBezTo>
                  <a:cubicBezTo>
                    <a:pt x="42842" y="215900"/>
                    <a:pt x="22601" y="204087"/>
                    <a:pt x="19228" y="185523"/>
                  </a:cubicBezTo>
                  <a:cubicBezTo>
                    <a:pt x="17541" y="165272"/>
                    <a:pt x="34408" y="148396"/>
                    <a:pt x="59709" y="145021"/>
                  </a:cubicBezTo>
                  <a:cubicBezTo>
                    <a:pt x="69829" y="143333"/>
                    <a:pt x="81636" y="145021"/>
                    <a:pt x="90070" y="150083"/>
                  </a:cubicBezTo>
                  <a:cubicBezTo>
                    <a:pt x="90070" y="150083"/>
                    <a:pt x="90070" y="150083"/>
                    <a:pt x="74889" y="28575"/>
                  </a:cubicBezTo>
                  <a:close/>
                  <a:moveTo>
                    <a:pt x="30664" y="0"/>
                  </a:moveTo>
                  <a:cubicBezTo>
                    <a:pt x="32358" y="1691"/>
                    <a:pt x="45904" y="11841"/>
                    <a:pt x="61144" y="11841"/>
                  </a:cubicBezTo>
                  <a:cubicBezTo>
                    <a:pt x="66224" y="11841"/>
                    <a:pt x="69611" y="11841"/>
                    <a:pt x="74691" y="10149"/>
                  </a:cubicBezTo>
                  <a:cubicBezTo>
                    <a:pt x="74691" y="10149"/>
                    <a:pt x="64531" y="23682"/>
                    <a:pt x="49291" y="23682"/>
                  </a:cubicBezTo>
                  <a:cubicBezTo>
                    <a:pt x="45904" y="23682"/>
                    <a:pt x="44211" y="21991"/>
                    <a:pt x="40824" y="21991"/>
                  </a:cubicBezTo>
                  <a:cubicBezTo>
                    <a:pt x="40824" y="21991"/>
                    <a:pt x="40824" y="21991"/>
                    <a:pt x="47598" y="79506"/>
                  </a:cubicBezTo>
                  <a:cubicBezTo>
                    <a:pt x="47598" y="79506"/>
                    <a:pt x="47598" y="79506"/>
                    <a:pt x="49291" y="79506"/>
                  </a:cubicBezTo>
                  <a:cubicBezTo>
                    <a:pt x="49291" y="91347"/>
                    <a:pt x="40824" y="101497"/>
                    <a:pt x="27278" y="103188"/>
                  </a:cubicBezTo>
                  <a:cubicBezTo>
                    <a:pt x="25584" y="103188"/>
                    <a:pt x="23891" y="103188"/>
                    <a:pt x="22198" y="103188"/>
                  </a:cubicBezTo>
                  <a:cubicBezTo>
                    <a:pt x="10344" y="103188"/>
                    <a:pt x="1878" y="96422"/>
                    <a:pt x="184" y="86272"/>
                  </a:cubicBezTo>
                  <a:cubicBezTo>
                    <a:pt x="-1509" y="76123"/>
                    <a:pt x="8651" y="65973"/>
                    <a:pt x="22198" y="64281"/>
                  </a:cubicBezTo>
                  <a:cubicBezTo>
                    <a:pt x="23891" y="64281"/>
                    <a:pt x="25584" y="64281"/>
                    <a:pt x="25584" y="64281"/>
                  </a:cubicBezTo>
                  <a:cubicBezTo>
                    <a:pt x="30664" y="64281"/>
                    <a:pt x="35744" y="65973"/>
                    <a:pt x="39131" y="67665"/>
                  </a:cubicBezTo>
                  <a:cubicBezTo>
                    <a:pt x="39131" y="67665"/>
                    <a:pt x="39131" y="67665"/>
                    <a:pt x="30664"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3" name="Freeform 46">
              <a:extLst>
                <a:ext uri="{FF2B5EF4-FFF2-40B4-BE49-F238E27FC236}">
                  <a16:creationId xmlns:a16="http://schemas.microsoft.com/office/drawing/2014/main" id="{1C32DC4E-F1E5-372F-E8E6-37A9CB302A2A}"/>
                </a:ext>
              </a:extLst>
            </p:cNvPr>
            <p:cNvSpPr>
              <a:spLocks/>
            </p:cNvSpPr>
            <p:nvPr/>
          </p:nvSpPr>
          <p:spPr bwMode="auto">
            <a:xfrm>
              <a:off x="8383170" y="4705351"/>
              <a:ext cx="95250" cy="136525"/>
            </a:xfrm>
            <a:custGeom>
              <a:avLst/>
              <a:gdLst>
                <a:gd name="T0" fmla="*/ 24 w 60"/>
                <a:gd name="T1" fmla="*/ 22 h 86"/>
                <a:gd name="T2" fmla="*/ 27 w 60"/>
                <a:gd name="T3" fmla="*/ 35 h 86"/>
                <a:gd name="T4" fmla="*/ 49 w 60"/>
                <a:gd name="T5" fmla="*/ 30 h 86"/>
                <a:gd name="T6" fmla="*/ 52 w 60"/>
                <a:gd name="T7" fmla="*/ 47 h 86"/>
                <a:gd name="T8" fmla="*/ 30 w 60"/>
                <a:gd name="T9" fmla="*/ 51 h 86"/>
                <a:gd name="T10" fmla="*/ 33 w 60"/>
                <a:gd name="T11" fmla="*/ 65 h 86"/>
                <a:gd name="T12" fmla="*/ 56 w 60"/>
                <a:gd name="T13" fmla="*/ 59 h 86"/>
                <a:gd name="T14" fmla="*/ 60 w 60"/>
                <a:gd name="T15" fmla="*/ 76 h 86"/>
                <a:gd name="T16" fmla="*/ 17 w 60"/>
                <a:gd name="T17" fmla="*/ 86 h 86"/>
                <a:gd name="T18" fmla="*/ 0 w 60"/>
                <a:gd name="T19" fmla="*/ 10 h 86"/>
                <a:gd name="T20" fmla="*/ 44 w 60"/>
                <a:gd name="T21" fmla="*/ 0 h 86"/>
                <a:gd name="T22" fmla="*/ 47 w 60"/>
                <a:gd name="T23" fmla="*/ 17 h 86"/>
                <a:gd name="T24" fmla="*/ 24 w 60"/>
                <a:gd name="T25" fmla="*/ 2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 h="86">
                  <a:moveTo>
                    <a:pt x="24" y="22"/>
                  </a:moveTo>
                  <a:lnTo>
                    <a:pt x="27" y="35"/>
                  </a:lnTo>
                  <a:lnTo>
                    <a:pt x="49" y="30"/>
                  </a:lnTo>
                  <a:lnTo>
                    <a:pt x="52" y="47"/>
                  </a:lnTo>
                  <a:lnTo>
                    <a:pt x="30" y="51"/>
                  </a:lnTo>
                  <a:lnTo>
                    <a:pt x="33" y="65"/>
                  </a:lnTo>
                  <a:lnTo>
                    <a:pt x="56" y="59"/>
                  </a:lnTo>
                  <a:lnTo>
                    <a:pt x="60" y="76"/>
                  </a:lnTo>
                  <a:lnTo>
                    <a:pt x="17" y="86"/>
                  </a:lnTo>
                  <a:lnTo>
                    <a:pt x="0" y="10"/>
                  </a:lnTo>
                  <a:lnTo>
                    <a:pt x="44" y="0"/>
                  </a:lnTo>
                  <a:lnTo>
                    <a:pt x="47" y="17"/>
                  </a:lnTo>
                  <a:lnTo>
                    <a:pt x="24" y="2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7">
              <a:extLst>
                <a:ext uri="{FF2B5EF4-FFF2-40B4-BE49-F238E27FC236}">
                  <a16:creationId xmlns:a16="http://schemas.microsoft.com/office/drawing/2014/main" id="{3AC0009E-5131-3E1F-7615-F78B67C0B46B}"/>
                </a:ext>
              </a:extLst>
            </p:cNvPr>
            <p:cNvSpPr>
              <a:spLocks noEditPoints="1"/>
            </p:cNvSpPr>
            <p:nvPr/>
          </p:nvSpPr>
          <p:spPr bwMode="auto">
            <a:xfrm>
              <a:off x="8486358" y="4730751"/>
              <a:ext cx="93662" cy="80963"/>
            </a:xfrm>
            <a:custGeom>
              <a:avLst/>
              <a:gdLst>
                <a:gd name="T0" fmla="*/ 51 w 59"/>
                <a:gd name="T1" fmla="*/ 0 h 51"/>
                <a:gd name="T2" fmla="*/ 54 w 59"/>
                <a:gd name="T3" fmla="*/ 15 h 51"/>
                <a:gd name="T4" fmla="*/ 3 w 59"/>
                <a:gd name="T5" fmla="*/ 26 h 51"/>
                <a:gd name="T6" fmla="*/ 0 w 59"/>
                <a:gd name="T7" fmla="*/ 12 h 51"/>
                <a:gd name="T8" fmla="*/ 51 w 59"/>
                <a:gd name="T9" fmla="*/ 0 h 51"/>
                <a:gd name="T10" fmla="*/ 56 w 59"/>
                <a:gd name="T11" fmla="*/ 24 h 51"/>
                <a:gd name="T12" fmla="*/ 59 w 59"/>
                <a:gd name="T13" fmla="*/ 39 h 51"/>
                <a:gd name="T14" fmla="*/ 8 w 59"/>
                <a:gd name="T15" fmla="*/ 51 h 51"/>
                <a:gd name="T16" fmla="*/ 5 w 59"/>
                <a:gd name="T17" fmla="*/ 36 h 51"/>
                <a:gd name="T18" fmla="*/ 56 w 59"/>
                <a:gd name="T19" fmla="*/ 2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51">
                  <a:moveTo>
                    <a:pt x="51" y="0"/>
                  </a:moveTo>
                  <a:lnTo>
                    <a:pt x="54" y="15"/>
                  </a:lnTo>
                  <a:lnTo>
                    <a:pt x="3" y="26"/>
                  </a:lnTo>
                  <a:lnTo>
                    <a:pt x="0" y="12"/>
                  </a:lnTo>
                  <a:lnTo>
                    <a:pt x="51" y="0"/>
                  </a:lnTo>
                  <a:close/>
                  <a:moveTo>
                    <a:pt x="56" y="24"/>
                  </a:moveTo>
                  <a:lnTo>
                    <a:pt x="59" y="39"/>
                  </a:lnTo>
                  <a:lnTo>
                    <a:pt x="8" y="51"/>
                  </a:lnTo>
                  <a:lnTo>
                    <a:pt x="5" y="36"/>
                  </a:lnTo>
                  <a:lnTo>
                    <a:pt x="56" y="2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8">
              <a:extLst>
                <a:ext uri="{FF2B5EF4-FFF2-40B4-BE49-F238E27FC236}">
                  <a16:creationId xmlns:a16="http://schemas.microsoft.com/office/drawing/2014/main" id="{F013CBDF-DC22-B89E-1F7C-F921D1F34E7E}"/>
                </a:ext>
              </a:extLst>
            </p:cNvPr>
            <p:cNvSpPr>
              <a:spLocks/>
            </p:cNvSpPr>
            <p:nvPr/>
          </p:nvSpPr>
          <p:spPr bwMode="auto">
            <a:xfrm>
              <a:off x="8589545" y="4684713"/>
              <a:ext cx="155575" cy="112713"/>
            </a:xfrm>
            <a:custGeom>
              <a:avLst/>
              <a:gdLst>
                <a:gd name="T0" fmla="*/ 19 w 93"/>
                <a:gd name="T1" fmla="*/ 21 h 67"/>
                <a:gd name="T2" fmla="*/ 19 w 93"/>
                <a:gd name="T3" fmla="*/ 21 h 67"/>
                <a:gd name="T4" fmla="*/ 32 w 93"/>
                <a:gd name="T5" fmla="*/ 10 h 67"/>
                <a:gd name="T6" fmla="*/ 51 w 93"/>
                <a:gd name="T7" fmla="*/ 15 h 67"/>
                <a:gd name="T8" fmla="*/ 66 w 93"/>
                <a:gd name="T9" fmla="*/ 2 h 67"/>
                <a:gd name="T10" fmla="*/ 86 w 93"/>
                <a:gd name="T11" fmla="*/ 18 h 67"/>
                <a:gd name="T12" fmla="*/ 93 w 93"/>
                <a:gd name="T13" fmla="*/ 49 h 67"/>
                <a:gd name="T14" fmla="*/ 76 w 93"/>
                <a:gd name="T15" fmla="*/ 53 h 67"/>
                <a:gd name="T16" fmla="*/ 71 w 93"/>
                <a:gd name="T17" fmla="*/ 29 h 67"/>
                <a:gd name="T18" fmla="*/ 61 w 93"/>
                <a:gd name="T19" fmla="*/ 18 h 67"/>
                <a:gd name="T20" fmla="*/ 55 w 93"/>
                <a:gd name="T21" fmla="*/ 33 h 67"/>
                <a:gd name="T22" fmla="*/ 60 w 93"/>
                <a:gd name="T23" fmla="*/ 56 h 67"/>
                <a:gd name="T24" fmla="*/ 43 w 93"/>
                <a:gd name="T25" fmla="*/ 60 h 67"/>
                <a:gd name="T26" fmla="*/ 38 w 93"/>
                <a:gd name="T27" fmla="*/ 37 h 67"/>
                <a:gd name="T28" fmla="*/ 27 w 93"/>
                <a:gd name="T29" fmla="*/ 25 h 67"/>
                <a:gd name="T30" fmla="*/ 23 w 93"/>
                <a:gd name="T31" fmla="*/ 40 h 67"/>
                <a:gd name="T32" fmla="*/ 28 w 93"/>
                <a:gd name="T33" fmla="*/ 63 h 67"/>
                <a:gd name="T34" fmla="*/ 11 w 93"/>
                <a:gd name="T35" fmla="*/ 67 h 67"/>
                <a:gd name="T36" fmla="*/ 0 w 93"/>
                <a:gd name="T37" fmla="*/ 18 h 67"/>
                <a:gd name="T38" fmla="*/ 17 w 93"/>
                <a:gd name="T39" fmla="*/ 15 h 67"/>
                <a:gd name="T40" fmla="*/ 19 w 93"/>
                <a:gd name="T41" fmla="*/ 2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 h="67">
                  <a:moveTo>
                    <a:pt x="19" y="21"/>
                  </a:moveTo>
                  <a:cubicBezTo>
                    <a:pt x="19" y="21"/>
                    <a:pt x="19" y="21"/>
                    <a:pt x="19" y="21"/>
                  </a:cubicBezTo>
                  <a:cubicBezTo>
                    <a:pt x="22" y="14"/>
                    <a:pt x="26" y="11"/>
                    <a:pt x="32" y="10"/>
                  </a:cubicBezTo>
                  <a:cubicBezTo>
                    <a:pt x="39" y="8"/>
                    <a:pt x="46" y="9"/>
                    <a:pt x="51" y="15"/>
                  </a:cubicBezTo>
                  <a:cubicBezTo>
                    <a:pt x="53" y="8"/>
                    <a:pt x="59" y="4"/>
                    <a:pt x="66" y="2"/>
                  </a:cubicBezTo>
                  <a:cubicBezTo>
                    <a:pt x="78" y="0"/>
                    <a:pt x="84" y="7"/>
                    <a:pt x="86" y="18"/>
                  </a:cubicBezTo>
                  <a:cubicBezTo>
                    <a:pt x="93" y="49"/>
                    <a:pt x="93" y="49"/>
                    <a:pt x="93" y="49"/>
                  </a:cubicBezTo>
                  <a:cubicBezTo>
                    <a:pt x="76" y="53"/>
                    <a:pt x="76" y="53"/>
                    <a:pt x="76" y="53"/>
                  </a:cubicBezTo>
                  <a:cubicBezTo>
                    <a:pt x="71" y="29"/>
                    <a:pt x="71" y="29"/>
                    <a:pt x="71" y="29"/>
                  </a:cubicBezTo>
                  <a:cubicBezTo>
                    <a:pt x="70" y="24"/>
                    <a:pt x="68" y="16"/>
                    <a:pt x="61" y="18"/>
                  </a:cubicBezTo>
                  <a:cubicBezTo>
                    <a:pt x="53" y="19"/>
                    <a:pt x="54" y="27"/>
                    <a:pt x="55" y="33"/>
                  </a:cubicBezTo>
                  <a:cubicBezTo>
                    <a:pt x="60" y="56"/>
                    <a:pt x="60" y="56"/>
                    <a:pt x="60" y="56"/>
                  </a:cubicBezTo>
                  <a:cubicBezTo>
                    <a:pt x="43" y="60"/>
                    <a:pt x="43" y="60"/>
                    <a:pt x="43" y="60"/>
                  </a:cubicBezTo>
                  <a:cubicBezTo>
                    <a:pt x="38" y="37"/>
                    <a:pt x="38" y="37"/>
                    <a:pt x="38" y="37"/>
                  </a:cubicBezTo>
                  <a:cubicBezTo>
                    <a:pt x="37" y="31"/>
                    <a:pt x="35" y="23"/>
                    <a:pt x="27" y="25"/>
                  </a:cubicBezTo>
                  <a:cubicBezTo>
                    <a:pt x="20" y="26"/>
                    <a:pt x="22" y="35"/>
                    <a:pt x="23" y="40"/>
                  </a:cubicBezTo>
                  <a:cubicBezTo>
                    <a:pt x="28" y="63"/>
                    <a:pt x="28" y="63"/>
                    <a:pt x="28" y="63"/>
                  </a:cubicBezTo>
                  <a:cubicBezTo>
                    <a:pt x="11" y="67"/>
                    <a:pt x="11" y="67"/>
                    <a:pt x="11" y="67"/>
                  </a:cubicBezTo>
                  <a:cubicBezTo>
                    <a:pt x="0" y="18"/>
                    <a:pt x="0" y="18"/>
                    <a:pt x="0" y="18"/>
                  </a:cubicBezTo>
                  <a:cubicBezTo>
                    <a:pt x="17" y="15"/>
                    <a:pt x="17" y="15"/>
                    <a:pt x="17" y="15"/>
                  </a:cubicBezTo>
                  <a:lnTo>
                    <a:pt x="19" y="2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9">
              <a:extLst>
                <a:ext uri="{FF2B5EF4-FFF2-40B4-BE49-F238E27FC236}">
                  <a16:creationId xmlns:a16="http://schemas.microsoft.com/office/drawing/2014/main" id="{9C307DE4-0DD8-4F78-FC3E-6D58D6AFAD95}"/>
                </a:ext>
              </a:extLst>
            </p:cNvPr>
            <p:cNvSpPr>
              <a:spLocks/>
            </p:cNvSpPr>
            <p:nvPr/>
          </p:nvSpPr>
          <p:spPr bwMode="auto">
            <a:xfrm>
              <a:off x="8743533" y="4668838"/>
              <a:ext cx="79375" cy="93663"/>
            </a:xfrm>
            <a:custGeom>
              <a:avLst/>
              <a:gdLst>
                <a:gd name="T0" fmla="*/ 40 w 47"/>
                <a:gd name="T1" fmla="*/ 16 h 56"/>
                <a:gd name="T2" fmla="*/ 31 w 47"/>
                <a:gd name="T3" fmla="*/ 14 h 56"/>
                <a:gd name="T4" fmla="*/ 21 w 47"/>
                <a:gd name="T5" fmla="*/ 29 h 56"/>
                <a:gd name="T6" fmla="*/ 36 w 47"/>
                <a:gd name="T7" fmla="*/ 38 h 56"/>
                <a:gd name="T8" fmla="*/ 44 w 47"/>
                <a:gd name="T9" fmla="*/ 33 h 56"/>
                <a:gd name="T10" fmla="*/ 47 w 47"/>
                <a:gd name="T11" fmla="*/ 48 h 56"/>
                <a:gd name="T12" fmla="*/ 36 w 47"/>
                <a:gd name="T13" fmla="*/ 53 h 56"/>
                <a:gd name="T14" fmla="*/ 4 w 47"/>
                <a:gd name="T15" fmla="*/ 33 h 56"/>
                <a:gd name="T16" fmla="*/ 25 w 47"/>
                <a:gd name="T17" fmla="*/ 1 h 56"/>
                <a:gd name="T18" fmla="*/ 37 w 47"/>
                <a:gd name="T19" fmla="*/ 1 h 56"/>
                <a:gd name="T20" fmla="*/ 40 w 47"/>
                <a:gd name="T21" fmla="*/ 1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56">
                  <a:moveTo>
                    <a:pt x="40" y="16"/>
                  </a:moveTo>
                  <a:cubicBezTo>
                    <a:pt x="37" y="15"/>
                    <a:pt x="34" y="14"/>
                    <a:pt x="31" y="14"/>
                  </a:cubicBezTo>
                  <a:cubicBezTo>
                    <a:pt x="24" y="16"/>
                    <a:pt x="20" y="22"/>
                    <a:pt x="21" y="29"/>
                  </a:cubicBezTo>
                  <a:cubicBezTo>
                    <a:pt x="23" y="36"/>
                    <a:pt x="29" y="40"/>
                    <a:pt x="36" y="38"/>
                  </a:cubicBezTo>
                  <a:cubicBezTo>
                    <a:pt x="39" y="38"/>
                    <a:pt x="42" y="36"/>
                    <a:pt x="44" y="33"/>
                  </a:cubicBezTo>
                  <a:cubicBezTo>
                    <a:pt x="47" y="48"/>
                    <a:pt x="47" y="48"/>
                    <a:pt x="47" y="48"/>
                  </a:cubicBezTo>
                  <a:cubicBezTo>
                    <a:pt x="44" y="50"/>
                    <a:pt x="40" y="52"/>
                    <a:pt x="36" y="53"/>
                  </a:cubicBezTo>
                  <a:cubicBezTo>
                    <a:pt x="21" y="56"/>
                    <a:pt x="7" y="48"/>
                    <a:pt x="4" y="33"/>
                  </a:cubicBezTo>
                  <a:cubicBezTo>
                    <a:pt x="0" y="18"/>
                    <a:pt x="10" y="4"/>
                    <a:pt x="25" y="1"/>
                  </a:cubicBezTo>
                  <a:cubicBezTo>
                    <a:pt x="29" y="0"/>
                    <a:pt x="33" y="0"/>
                    <a:pt x="37" y="1"/>
                  </a:cubicBezTo>
                  <a:lnTo>
                    <a:pt x="40" y="1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0">
              <a:extLst>
                <a:ext uri="{FF2B5EF4-FFF2-40B4-BE49-F238E27FC236}">
                  <a16:creationId xmlns:a16="http://schemas.microsoft.com/office/drawing/2014/main" id="{F346B31A-732B-7084-BAF0-83A6E85EC54C}"/>
                </a:ext>
              </a:extLst>
            </p:cNvPr>
            <p:cNvSpPr>
              <a:spLocks noEditPoints="1"/>
            </p:cNvSpPr>
            <p:nvPr/>
          </p:nvSpPr>
          <p:spPr bwMode="auto">
            <a:xfrm>
              <a:off x="8568908" y="4873626"/>
              <a:ext cx="165100" cy="185738"/>
            </a:xfrm>
            <a:custGeom>
              <a:avLst/>
              <a:gdLst>
                <a:gd name="T0" fmla="*/ 49 w 98"/>
                <a:gd name="T1" fmla="*/ 31 h 111"/>
                <a:gd name="T2" fmla="*/ 20 w 98"/>
                <a:gd name="T3" fmla="*/ 44 h 111"/>
                <a:gd name="T4" fmla="*/ 4 w 98"/>
                <a:gd name="T5" fmla="*/ 17 h 111"/>
                <a:gd name="T6" fmla="*/ 33 w 98"/>
                <a:gd name="T7" fmla="*/ 4 h 111"/>
                <a:gd name="T8" fmla="*/ 49 w 98"/>
                <a:gd name="T9" fmla="*/ 31 h 111"/>
                <a:gd name="T10" fmla="*/ 91 w 98"/>
                <a:gd name="T11" fmla="*/ 23 h 111"/>
                <a:gd name="T12" fmla="*/ 17 w 98"/>
                <a:gd name="T13" fmla="*/ 91 h 111"/>
                <a:gd name="T14" fmla="*/ 6 w 98"/>
                <a:gd name="T15" fmla="*/ 88 h 111"/>
                <a:gd name="T16" fmla="*/ 80 w 98"/>
                <a:gd name="T17" fmla="*/ 19 h 111"/>
                <a:gd name="T18" fmla="*/ 91 w 98"/>
                <a:gd name="T19" fmla="*/ 23 h 111"/>
                <a:gd name="T20" fmla="*/ 17 w 98"/>
                <a:gd name="T21" fmla="*/ 21 h 111"/>
                <a:gd name="T22" fmla="*/ 24 w 98"/>
                <a:gd name="T23" fmla="*/ 33 h 111"/>
                <a:gd name="T24" fmla="*/ 36 w 98"/>
                <a:gd name="T25" fmla="*/ 27 h 111"/>
                <a:gd name="T26" fmla="*/ 29 w 98"/>
                <a:gd name="T27" fmla="*/ 15 h 111"/>
                <a:gd name="T28" fmla="*/ 17 w 98"/>
                <a:gd name="T29" fmla="*/ 21 h 111"/>
                <a:gd name="T30" fmla="*/ 93 w 98"/>
                <a:gd name="T31" fmla="*/ 94 h 111"/>
                <a:gd name="T32" fmla="*/ 64 w 98"/>
                <a:gd name="T33" fmla="*/ 107 h 111"/>
                <a:gd name="T34" fmla="*/ 48 w 98"/>
                <a:gd name="T35" fmla="*/ 79 h 111"/>
                <a:gd name="T36" fmla="*/ 77 w 98"/>
                <a:gd name="T37" fmla="*/ 66 h 111"/>
                <a:gd name="T38" fmla="*/ 93 w 98"/>
                <a:gd name="T39" fmla="*/ 94 h 111"/>
                <a:gd name="T40" fmla="*/ 61 w 98"/>
                <a:gd name="T41" fmla="*/ 84 h 111"/>
                <a:gd name="T42" fmla="*/ 68 w 98"/>
                <a:gd name="T43" fmla="*/ 96 h 111"/>
                <a:gd name="T44" fmla="*/ 80 w 98"/>
                <a:gd name="T45" fmla="*/ 90 h 111"/>
                <a:gd name="T46" fmla="*/ 73 w 98"/>
                <a:gd name="T47" fmla="*/ 77 h 111"/>
                <a:gd name="T48" fmla="*/ 61 w 98"/>
                <a:gd name="T49" fmla="*/ 8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8" h="111">
                  <a:moveTo>
                    <a:pt x="49" y="31"/>
                  </a:moveTo>
                  <a:cubicBezTo>
                    <a:pt x="45" y="44"/>
                    <a:pt x="33" y="48"/>
                    <a:pt x="20" y="44"/>
                  </a:cubicBezTo>
                  <a:cubicBezTo>
                    <a:pt x="7" y="40"/>
                    <a:pt x="0" y="30"/>
                    <a:pt x="4" y="17"/>
                  </a:cubicBezTo>
                  <a:cubicBezTo>
                    <a:pt x="8" y="3"/>
                    <a:pt x="20" y="0"/>
                    <a:pt x="33" y="4"/>
                  </a:cubicBezTo>
                  <a:cubicBezTo>
                    <a:pt x="45" y="7"/>
                    <a:pt x="53" y="18"/>
                    <a:pt x="49" y="31"/>
                  </a:cubicBezTo>
                  <a:close/>
                  <a:moveTo>
                    <a:pt x="91" y="23"/>
                  </a:moveTo>
                  <a:cubicBezTo>
                    <a:pt x="17" y="91"/>
                    <a:pt x="17" y="91"/>
                    <a:pt x="17" y="91"/>
                  </a:cubicBezTo>
                  <a:cubicBezTo>
                    <a:pt x="6" y="88"/>
                    <a:pt x="6" y="88"/>
                    <a:pt x="6" y="88"/>
                  </a:cubicBezTo>
                  <a:cubicBezTo>
                    <a:pt x="80" y="19"/>
                    <a:pt x="80" y="19"/>
                    <a:pt x="80" y="19"/>
                  </a:cubicBezTo>
                  <a:lnTo>
                    <a:pt x="91" y="23"/>
                  </a:lnTo>
                  <a:close/>
                  <a:moveTo>
                    <a:pt x="17" y="21"/>
                  </a:moveTo>
                  <a:cubicBezTo>
                    <a:pt x="15" y="26"/>
                    <a:pt x="18" y="32"/>
                    <a:pt x="24" y="33"/>
                  </a:cubicBezTo>
                  <a:cubicBezTo>
                    <a:pt x="29" y="35"/>
                    <a:pt x="34" y="32"/>
                    <a:pt x="36" y="27"/>
                  </a:cubicBezTo>
                  <a:cubicBezTo>
                    <a:pt x="37" y="22"/>
                    <a:pt x="35" y="16"/>
                    <a:pt x="29" y="15"/>
                  </a:cubicBezTo>
                  <a:cubicBezTo>
                    <a:pt x="24" y="13"/>
                    <a:pt x="19" y="16"/>
                    <a:pt x="17" y="21"/>
                  </a:cubicBezTo>
                  <a:close/>
                  <a:moveTo>
                    <a:pt x="93" y="94"/>
                  </a:moveTo>
                  <a:cubicBezTo>
                    <a:pt x="89" y="107"/>
                    <a:pt x="77" y="111"/>
                    <a:pt x="64" y="107"/>
                  </a:cubicBezTo>
                  <a:cubicBezTo>
                    <a:pt x="52" y="103"/>
                    <a:pt x="44" y="93"/>
                    <a:pt x="48" y="79"/>
                  </a:cubicBezTo>
                  <a:cubicBezTo>
                    <a:pt x="52" y="66"/>
                    <a:pt x="65" y="62"/>
                    <a:pt x="77" y="66"/>
                  </a:cubicBezTo>
                  <a:cubicBezTo>
                    <a:pt x="89" y="70"/>
                    <a:pt x="98" y="80"/>
                    <a:pt x="93" y="94"/>
                  </a:cubicBezTo>
                  <a:close/>
                  <a:moveTo>
                    <a:pt x="61" y="84"/>
                  </a:moveTo>
                  <a:cubicBezTo>
                    <a:pt x="60" y="89"/>
                    <a:pt x="62" y="94"/>
                    <a:pt x="68" y="96"/>
                  </a:cubicBezTo>
                  <a:cubicBezTo>
                    <a:pt x="73" y="98"/>
                    <a:pt x="78" y="95"/>
                    <a:pt x="80" y="90"/>
                  </a:cubicBezTo>
                  <a:cubicBezTo>
                    <a:pt x="82" y="84"/>
                    <a:pt x="79" y="79"/>
                    <a:pt x="73" y="77"/>
                  </a:cubicBezTo>
                  <a:cubicBezTo>
                    <a:pt x="68" y="76"/>
                    <a:pt x="63" y="79"/>
                    <a:pt x="61" y="8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1">
              <a:extLst>
                <a:ext uri="{FF2B5EF4-FFF2-40B4-BE49-F238E27FC236}">
                  <a16:creationId xmlns:a16="http://schemas.microsoft.com/office/drawing/2014/main" id="{77D57BD0-C1AE-6C19-2D32-F96FD239FB44}"/>
                </a:ext>
              </a:extLst>
            </p:cNvPr>
            <p:cNvSpPr>
              <a:spLocks/>
            </p:cNvSpPr>
            <p:nvPr/>
          </p:nvSpPr>
          <p:spPr bwMode="auto">
            <a:xfrm>
              <a:off x="8641933" y="3343275"/>
              <a:ext cx="190500" cy="139700"/>
            </a:xfrm>
            <a:custGeom>
              <a:avLst/>
              <a:gdLst>
                <a:gd name="T0" fmla="*/ 29 w 120"/>
                <a:gd name="T1" fmla="*/ 45 h 88"/>
                <a:gd name="T2" fmla="*/ 53 w 120"/>
                <a:gd name="T3" fmla="*/ 17 h 88"/>
                <a:gd name="T4" fmla="*/ 66 w 120"/>
                <a:gd name="T5" fmla="*/ 21 h 88"/>
                <a:gd name="T6" fmla="*/ 71 w 120"/>
                <a:gd name="T7" fmla="*/ 58 h 88"/>
                <a:gd name="T8" fmla="*/ 97 w 120"/>
                <a:gd name="T9" fmla="*/ 31 h 88"/>
                <a:gd name="T10" fmla="*/ 120 w 120"/>
                <a:gd name="T11" fmla="*/ 38 h 88"/>
                <a:gd name="T12" fmla="*/ 70 w 120"/>
                <a:gd name="T13" fmla="*/ 88 h 88"/>
                <a:gd name="T14" fmla="*/ 57 w 120"/>
                <a:gd name="T15" fmla="*/ 84 h 88"/>
                <a:gd name="T16" fmla="*/ 51 w 120"/>
                <a:gd name="T17" fmla="*/ 47 h 88"/>
                <a:gd name="T18" fmla="*/ 27 w 120"/>
                <a:gd name="T19" fmla="*/ 74 h 88"/>
                <a:gd name="T20" fmla="*/ 13 w 120"/>
                <a:gd name="T21" fmla="*/ 70 h 88"/>
                <a:gd name="T22" fmla="*/ 0 w 120"/>
                <a:gd name="T23" fmla="*/ 0 h 88"/>
                <a:gd name="T24" fmla="*/ 24 w 120"/>
                <a:gd name="T25" fmla="*/ 7 h 88"/>
                <a:gd name="T26" fmla="*/ 29 w 120"/>
                <a:gd name="T27" fmla="*/ 4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88">
                  <a:moveTo>
                    <a:pt x="29" y="45"/>
                  </a:moveTo>
                  <a:lnTo>
                    <a:pt x="53" y="17"/>
                  </a:lnTo>
                  <a:lnTo>
                    <a:pt x="66" y="21"/>
                  </a:lnTo>
                  <a:lnTo>
                    <a:pt x="71" y="58"/>
                  </a:lnTo>
                  <a:lnTo>
                    <a:pt x="97" y="31"/>
                  </a:lnTo>
                  <a:lnTo>
                    <a:pt x="120" y="38"/>
                  </a:lnTo>
                  <a:lnTo>
                    <a:pt x="70" y="88"/>
                  </a:lnTo>
                  <a:lnTo>
                    <a:pt x="57" y="84"/>
                  </a:lnTo>
                  <a:lnTo>
                    <a:pt x="51" y="47"/>
                  </a:lnTo>
                  <a:lnTo>
                    <a:pt x="27" y="74"/>
                  </a:lnTo>
                  <a:lnTo>
                    <a:pt x="13" y="70"/>
                  </a:lnTo>
                  <a:lnTo>
                    <a:pt x="0" y="0"/>
                  </a:lnTo>
                  <a:lnTo>
                    <a:pt x="24" y="7"/>
                  </a:lnTo>
                  <a:lnTo>
                    <a:pt x="29" y="45"/>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2">
              <a:extLst>
                <a:ext uri="{FF2B5EF4-FFF2-40B4-BE49-F238E27FC236}">
                  <a16:creationId xmlns:a16="http://schemas.microsoft.com/office/drawing/2014/main" id="{B50737DD-227B-095A-8A2C-425C3CC9B835}"/>
                </a:ext>
              </a:extLst>
            </p:cNvPr>
            <p:cNvSpPr>
              <a:spLocks noEditPoints="1"/>
            </p:cNvSpPr>
            <p:nvPr/>
          </p:nvSpPr>
          <p:spPr bwMode="auto">
            <a:xfrm>
              <a:off x="8448258" y="3735388"/>
              <a:ext cx="58737" cy="158750"/>
            </a:xfrm>
            <a:custGeom>
              <a:avLst/>
              <a:gdLst>
                <a:gd name="T0" fmla="*/ 21 w 35"/>
                <a:gd name="T1" fmla="*/ 95 h 95"/>
                <a:gd name="T2" fmla="*/ 0 w 35"/>
                <a:gd name="T3" fmla="*/ 92 h 95"/>
                <a:gd name="T4" fmla="*/ 9 w 35"/>
                <a:gd name="T5" fmla="*/ 33 h 95"/>
                <a:gd name="T6" fmla="*/ 30 w 35"/>
                <a:gd name="T7" fmla="*/ 36 h 95"/>
                <a:gd name="T8" fmla="*/ 21 w 35"/>
                <a:gd name="T9" fmla="*/ 95 h 95"/>
                <a:gd name="T10" fmla="*/ 34 w 35"/>
                <a:gd name="T11" fmla="*/ 14 h 95"/>
                <a:gd name="T12" fmla="*/ 21 w 35"/>
                <a:gd name="T13" fmla="*/ 24 h 95"/>
                <a:gd name="T14" fmla="*/ 11 w 35"/>
                <a:gd name="T15" fmla="*/ 11 h 95"/>
                <a:gd name="T16" fmla="*/ 24 w 35"/>
                <a:gd name="T17" fmla="*/ 1 h 95"/>
                <a:gd name="T18" fmla="*/ 34 w 35"/>
                <a:gd name="T19" fmla="*/ 14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95">
                  <a:moveTo>
                    <a:pt x="21" y="95"/>
                  </a:moveTo>
                  <a:cubicBezTo>
                    <a:pt x="0" y="92"/>
                    <a:pt x="0" y="92"/>
                    <a:pt x="0" y="92"/>
                  </a:cubicBezTo>
                  <a:cubicBezTo>
                    <a:pt x="9" y="33"/>
                    <a:pt x="9" y="33"/>
                    <a:pt x="9" y="33"/>
                  </a:cubicBezTo>
                  <a:cubicBezTo>
                    <a:pt x="30" y="36"/>
                    <a:pt x="30" y="36"/>
                    <a:pt x="30" y="36"/>
                  </a:cubicBezTo>
                  <a:lnTo>
                    <a:pt x="21" y="95"/>
                  </a:lnTo>
                  <a:close/>
                  <a:moveTo>
                    <a:pt x="34" y="14"/>
                  </a:moveTo>
                  <a:cubicBezTo>
                    <a:pt x="33" y="20"/>
                    <a:pt x="27" y="25"/>
                    <a:pt x="21" y="24"/>
                  </a:cubicBezTo>
                  <a:cubicBezTo>
                    <a:pt x="14" y="23"/>
                    <a:pt x="10" y="17"/>
                    <a:pt x="11" y="11"/>
                  </a:cubicBezTo>
                  <a:cubicBezTo>
                    <a:pt x="11" y="4"/>
                    <a:pt x="18" y="0"/>
                    <a:pt x="24" y="1"/>
                  </a:cubicBezTo>
                  <a:cubicBezTo>
                    <a:pt x="30" y="2"/>
                    <a:pt x="35" y="8"/>
                    <a:pt x="34" y="14"/>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53">
              <a:extLst>
                <a:ext uri="{FF2B5EF4-FFF2-40B4-BE49-F238E27FC236}">
                  <a16:creationId xmlns:a16="http://schemas.microsoft.com/office/drawing/2014/main" id="{F5CDB162-C3B8-9C0C-0CEA-4FD1FE0AF898}"/>
                </a:ext>
              </a:extLst>
            </p:cNvPr>
            <p:cNvSpPr>
              <a:spLocks/>
            </p:cNvSpPr>
            <p:nvPr/>
          </p:nvSpPr>
          <p:spPr bwMode="auto">
            <a:xfrm>
              <a:off x="8516520" y="3805238"/>
              <a:ext cx="103187" cy="103188"/>
            </a:xfrm>
            <a:custGeom>
              <a:avLst/>
              <a:gdLst>
                <a:gd name="T0" fmla="*/ 28 w 65"/>
                <a:gd name="T1" fmla="*/ 0 h 65"/>
                <a:gd name="T2" fmla="*/ 46 w 65"/>
                <a:gd name="T3" fmla="*/ 2 h 65"/>
                <a:gd name="T4" fmla="*/ 42 w 65"/>
                <a:gd name="T5" fmla="*/ 25 h 65"/>
                <a:gd name="T6" fmla="*/ 65 w 65"/>
                <a:gd name="T7" fmla="*/ 28 h 65"/>
                <a:gd name="T8" fmla="*/ 62 w 65"/>
                <a:gd name="T9" fmla="*/ 46 h 65"/>
                <a:gd name="T10" fmla="*/ 40 w 65"/>
                <a:gd name="T11" fmla="*/ 43 h 65"/>
                <a:gd name="T12" fmla="*/ 37 w 65"/>
                <a:gd name="T13" fmla="*/ 65 h 65"/>
                <a:gd name="T14" fmla="*/ 19 w 65"/>
                <a:gd name="T15" fmla="*/ 62 h 65"/>
                <a:gd name="T16" fmla="*/ 22 w 65"/>
                <a:gd name="T17" fmla="*/ 41 h 65"/>
                <a:gd name="T18" fmla="*/ 0 w 65"/>
                <a:gd name="T19" fmla="*/ 37 h 65"/>
                <a:gd name="T20" fmla="*/ 2 w 65"/>
                <a:gd name="T21" fmla="*/ 18 h 65"/>
                <a:gd name="T22" fmla="*/ 24 w 65"/>
                <a:gd name="T23" fmla="*/ 22 h 65"/>
                <a:gd name="T24" fmla="*/ 28 w 65"/>
                <a:gd name="T2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65">
                  <a:moveTo>
                    <a:pt x="28" y="0"/>
                  </a:moveTo>
                  <a:lnTo>
                    <a:pt x="46" y="2"/>
                  </a:lnTo>
                  <a:lnTo>
                    <a:pt x="42" y="25"/>
                  </a:lnTo>
                  <a:lnTo>
                    <a:pt x="65" y="28"/>
                  </a:lnTo>
                  <a:lnTo>
                    <a:pt x="62" y="46"/>
                  </a:lnTo>
                  <a:lnTo>
                    <a:pt x="40" y="43"/>
                  </a:lnTo>
                  <a:lnTo>
                    <a:pt x="37" y="65"/>
                  </a:lnTo>
                  <a:lnTo>
                    <a:pt x="19" y="62"/>
                  </a:lnTo>
                  <a:lnTo>
                    <a:pt x="22" y="41"/>
                  </a:lnTo>
                  <a:lnTo>
                    <a:pt x="0" y="37"/>
                  </a:lnTo>
                  <a:lnTo>
                    <a:pt x="2" y="18"/>
                  </a:lnTo>
                  <a:lnTo>
                    <a:pt x="24" y="22"/>
                  </a:lnTo>
                  <a:lnTo>
                    <a:pt x="28"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54">
              <a:extLst>
                <a:ext uri="{FF2B5EF4-FFF2-40B4-BE49-F238E27FC236}">
                  <a16:creationId xmlns:a16="http://schemas.microsoft.com/office/drawing/2014/main" id="{84952C0C-2786-F0E4-061D-9A9FE40208DA}"/>
                </a:ext>
              </a:extLst>
            </p:cNvPr>
            <p:cNvSpPr>
              <a:spLocks noEditPoints="1"/>
            </p:cNvSpPr>
            <p:nvPr/>
          </p:nvSpPr>
          <p:spPr bwMode="auto">
            <a:xfrm>
              <a:off x="8635583" y="3767138"/>
              <a:ext cx="134937" cy="165100"/>
            </a:xfrm>
            <a:custGeom>
              <a:avLst/>
              <a:gdLst>
                <a:gd name="T0" fmla="*/ 47 w 80"/>
                <a:gd name="T1" fmla="*/ 89 h 98"/>
                <a:gd name="T2" fmla="*/ 46 w 80"/>
                <a:gd name="T3" fmla="*/ 89 h 98"/>
                <a:gd name="T4" fmla="*/ 28 w 80"/>
                <a:gd name="T5" fmla="*/ 95 h 98"/>
                <a:gd name="T6" fmla="*/ 2 w 80"/>
                <a:gd name="T7" fmla="*/ 59 h 98"/>
                <a:gd name="T8" fmla="*/ 36 w 80"/>
                <a:gd name="T9" fmla="*/ 32 h 98"/>
                <a:gd name="T10" fmla="*/ 53 w 80"/>
                <a:gd name="T11" fmla="*/ 42 h 98"/>
                <a:gd name="T12" fmla="*/ 59 w 80"/>
                <a:gd name="T13" fmla="*/ 0 h 98"/>
                <a:gd name="T14" fmla="*/ 80 w 80"/>
                <a:gd name="T15" fmla="*/ 3 h 98"/>
                <a:gd name="T16" fmla="*/ 67 w 80"/>
                <a:gd name="T17" fmla="*/ 98 h 98"/>
                <a:gd name="T18" fmla="*/ 46 w 80"/>
                <a:gd name="T19" fmla="*/ 95 h 98"/>
                <a:gd name="T20" fmla="*/ 47 w 80"/>
                <a:gd name="T21" fmla="*/ 89 h 98"/>
                <a:gd name="T22" fmla="*/ 24 w 80"/>
                <a:gd name="T23" fmla="*/ 62 h 98"/>
                <a:gd name="T24" fmla="*/ 35 w 80"/>
                <a:gd name="T25" fmla="*/ 77 h 98"/>
                <a:gd name="T26" fmla="*/ 51 w 80"/>
                <a:gd name="T27" fmla="*/ 66 h 98"/>
                <a:gd name="T28" fmla="*/ 39 w 80"/>
                <a:gd name="T29" fmla="*/ 51 h 98"/>
                <a:gd name="T30" fmla="*/ 24 w 80"/>
                <a:gd name="T31"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98">
                  <a:moveTo>
                    <a:pt x="47" y="89"/>
                  </a:moveTo>
                  <a:cubicBezTo>
                    <a:pt x="46" y="89"/>
                    <a:pt x="46" y="89"/>
                    <a:pt x="46" y="89"/>
                  </a:cubicBezTo>
                  <a:cubicBezTo>
                    <a:pt x="42" y="94"/>
                    <a:pt x="34" y="96"/>
                    <a:pt x="28" y="95"/>
                  </a:cubicBezTo>
                  <a:cubicBezTo>
                    <a:pt x="10" y="92"/>
                    <a:pt x="0" y="76"/>
                    <a:pt x="2" y="59"/>
                  </a:cubicBezTo>
                  <a:cubicBezTo>
                    <a:pt x="5" y="42"/>
                    <a:pt x="19" y="30"/>
                    <a:pt x="36" y="32"/>
                  </a:cubicBezTo>
                  <a:cubicBezTo>
                    <a:pt x="43" y="33"/>
                    <a:pt x="50" y="37"/>
                    <a:pt x="53" y="42"/>
                  </a:cubicBezTo>
                  <a:cubicBezTo>
                    <a:pt x="59" y="0"/>
                    <a:pt x="59" y="0"/>
                    <a:pt x="59" y="0"/>
                  </a:cubicBezTo>
                  <a:cubicBezTo>
                    <a:pt x="80" y="3"/>
                    <a:pt x="80" y="3"/>
                    <a:pt x="80" y="3"/>
                  </a:cubicBezTo>
                  <a:cubicBezTo>
                    <a:pt x="67" y="98"/>
                    <a:pt x="67" y="98"/>
                    <a:pt x="67" y="98"/>
                  </a:cubicBezTo>
                  <a:cubicBezTo>
                    <a:pt x="46" y="95"/>
                    <a:pt x="46" y="95"/>
                    <a:pt x="46" y="95"/>
                  </a:cubicBezTo>
                  <a:lnTo>
                    <a:pt x="47" y="89"/>
                  </a:lnTo>
                  <a:close/>
                  <a:moveTo>
                    <a:pt x="24" y="62"/>
                  </a:moveTo>
                  <a:cubicBezTo>
                    <a:pt x="23" y="70"/>
                    <a:pt x="27" y="76"/>
                    <a:pt x="35" y="77"/>
                  </a:cubicBezTo>
                  <a:cubicBezTo>
                    <a:pt x="44" y="79"/>
                    <a:pt x="50" y="74"/>
                    <a:pt x="51" y="66"/>
                  </a:cubicBezTo>
                  <a:cubicBezTo>
                    <a:pt x="52" y="59"/>
                    <a:pt x="48" y="52"/>
                    <a:pt x="39" y="51"/>
                  </a:cubicBezTo>
                  <a:cubicBezTo>
                    <a:pt x="31" y="50"/>
                    <a:pt x="25" y="55"/>
                    <a:pt x="24" y="62"/>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55">
              <a:extLst>
                <a:ext uri="{FF2B5EF4-FFF2-40B4-BE49-F238E27FC236}">
                  <a16:creationId xmlns:a16="http://schemas.microsoft.com/office/drawing/2014/main" id="{ABD548F9-5D0B-F359-248B-9039FC9F15B7}"/>
                </a:ext>
              </a:extLst>
            </p:cNvPr>
            <p:cNvSpPr>
              <a:spLocks noEditPoints="1"/>
            </p:cNvSpPr>
            <p:nvPr/>
          </p:nvSpPr>
          <p:spPr bwMode="auto">
            <a:xfrm>
              <a:off x="8165683" y="3625850"/>
              <a:ext cx="161925" cy="198438"/>
            </a:xfrm>
            <a:custGeom>
              <a:avLst/>
              <a:gdLst>
                <a:gd name="T0" fmla="*/ 20 w 102"/>
                <a:gd name="T1" fmla="*/ 91 h 125"/>
                <a:gd name="T2" fmla="*/ 13 w 102"/>
                <a:gd name="T3" fmla="*/ 122 h 125"/>
                <a:gd name="T4" fmla="*/ 0 w 102"/>
                <a:gd name="T5" fmla="*/ 125 h 125"/>
                <a:gd name="T6" fmla="*/ 24 w 102"/>
                <a:gd name="T7" fmla="*/ 0 h 125"/>
                <a:gd name="T8" fmla="*/ 102 w 102"/>
                <a:gd name="T9" fmla="*/ 101 h 125"/>
                <a:gd name="T10" fmla="*/ 89 w 102"/>
                <a:gd name="T11" fmla="*/ 104 h 125"/>
                <a:gd name="T12" fmla="*/ 69 w 102"/>
                <a:gd name="T13" fmla="*/ 79 h 125"/>
                <a:gd name="T14" fmla="*/ 20 w 102"/>
                <a:gd name="T15" fmla="*/ 91 h 125"/>
                <a:gd name="T16" fmla="*/ 31 w 102"/>
                <a:gd name="T17" fmla="*/ 30 h 125"/>
                <a:gd name="T18" fmla="*/ 23 w 102"/>
                <a:gd name="T19" fmla="*/ 77 h 125"/>
                <a:gd name="T20" fmla="*/ 61 w 102"/>
                <a:gd name="T21" fmla="*/ 69 h 125"/>
                <a:gd name="T22" fmla="*/ 31 w 102"/>
                <a:gd name="T23" fmla="*/ 3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 h="125">
                  <a:moveTo>
                    <a:pt x="20" y="91"/>
                  </a:moveTo>
                  <a:lnTo>
                    <a:pt x="13" y="122"/>
                  </a:lnTo>
                  <a:lnTo>
                    <a:pt x="0" y="125"/>
                  </a:lnTo>
                  <a:lnTo>
                    <a:pt x="24" y="0"/>
                  </a:lnTo>
                  <a:lnTo>
                    <a:pt x="102" y="101"/>
                  </a:lnTo>
                  <a:lnTo>
                    <a:pt x="89" y="104"/>
                  </a:lnTo>
                  <a:lnTo>
                    <a:pt x="69" y="79"/>
                  </a:lnTo>
                  <a:lnTo>
                    <a:pt x="20" y="91"/>
                  </a:lnTo>
                  <a:close/>
                  <a:moveTo>
                    <a:pt x="31" y="30"/>
                  </a:moveTo>
                  <a:lnTo>
                    <a:pt x="23" y="77"/>
                  </a:lnTo>
                  <a:lnTo>
                    <a:pt x="61" y="69"/>
                  </a:lnTo>
                  <a:lnTo>
                    <a:pt x="31" y="3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56">
              <a:extLst>
                <a:ext uri="{FF2B5EF4-FFF2-40B4-BE49-F238E27FC236}">
                  <a16:creationId xmlns:a16="http://schemas.microsoft.com/office/drawing/2014/main" id="{07C8BD65-5B01-6EBD-7DA0-3369D98FB437}"/>
                </a:ext>
              </a:extLst>
            </p:cNvPr>
            <p:cNvSpPr>
              <a:spLocks/>
            </p:cNvSpPr>
            <p:nvPr/>
          </p:nvSpPr>
          <p:spPr bwMode="auto">
            <a:xfrm>
              <a:off x="8681620" y="4248151"/>
              <a:ext cx="131762" cy="192088"/>
            </a:xfrm>
            <a:custGeom>
              <a:avLst/>
              <a:gdLst>
                <a:gd name="T0" fmla="*/ 33 w 79"/>
                <a:gd name="T1" fmla="*/ 49 h 114"/>
                <a:gd name="T2" fmla="*/ 49 w 79"/>
                <a:gd name="T3" fmla="*/ 28 h 114"/>
                <a:gd name="T4" fmla="*/ 28 w 79"/>
                <a:gd name="T5" fmla="*/ 15 h 114"/>
                <a:gd name="T6" fmla="*/ 14 w 79"/>
                <a:gd name="T7" fmla="*/ 33 h 114"/>
                <a:gd name="T8" fmla="*/ 1 w 79"/>
                <a:gd name="T9" fmla="*/ 36 h 114"/>
                <a:gd name="T10" fmla="*/ 25 w 79"/>
                <a:gd name="T11" fmla="*/ 4 h 114"/>
                <a:gd name="T12" fmla="*/ 61 w 79"/>
                <a:gd name="T13" fmla="*/ 24 h 114"/>
                <a:gd name="T14" fmla="*/ 54 w 79"/>
                <a:gd name="T15" fmla="*/ 50 h 114"/>
                <a:gd name="T16" fmla="*/ 74 w 79"/>
                <a:gd name="T17" fmla="*/ 72 h 114"/>
                <a:gd name="T18" fmla="*/ 49 w 79"/>
                <a:gd name="T19" fmla="*/ 110 h 114"/>
                <a:gd name="T20" fmla="*/ 11 w 79"/>
                <a:gd name="T21" fmla="*/ 90 h 114"/>
                <a:gd name="T22" fmla="*/ 23 w 79"/>
                <a:gd name="T23" fmla="*/ 88 h 114"/>
                <a:gd name="T24" fmla="*/ 47 w 79"/>
                <a:gd name="T25" fmla="*/ 99 h 114"/>
                <a:gd name="T26" fmla="*/ 62 w 79"/>
                <a:gd name="T27" fmla="*/ 74 h 114"/>
                <a:gd name="T28" fmla="*/ 36 w 79"/>
                <a:gd name="T29" fmla="*/ 60 h 114"/>
                <a:gd name="T30" fmla="*/ 33 w 79"/>
                <a:gd name="T31" fmla="*/ 4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114">
                  <a:moveTo>
                    <a:pt x="33" y="49"/>
                  </a:moveTo>
                  <a:cubicBezTo>
                    <a:pt x="44" y="47"/>
                    <a:pt x="52" y="40"/>
                    <a:pt x="49" y="28"/>
                  </a:cubicBezTo>
                  <a:cubicBezTo>
                    <a:pt x="47" y="18"/>
                    <a:pt x="38" y="12"/>
                    <a:pt x="28" y="15"/>
                  </a:cubicBezTo>
                  <a:cubicBezTo>
                    <a:pt x="18" y="17"/>
                    <a:pt x="13" y="24"/>
                    <a:pt x="14" y="33"/>
                  </a:cubicBezTo>
                  <a:cubicBezTo>
                    <a:pt x="1" y="36"/>
                    <a:pt x="1" y="36"/>
                    <a:pt x="1" y="36"/>
                  </a:cubicBezTo>
                  <a:cubicBezTo>
                    <a:pt x="0" y="19"/>
                    <a:pt x="9" y="8"/>
                    <a:pt x="25" y="4"/>
                  </a:cubicBezTo>
                  <a:cubicBezTo>
                    <a:pt x="42" y="0"/>
                    <a:pt x="57" y="7"/>
                    <a:pt x="61" y="24"/>
                  </a:cubicBezTo>
                  <a:cubicBezTo>
                    <a:pt x="64" y="34"/>
                    <a:pt x="61" y="43"/>
                    <a:pt x="54" y="50"/>
                  </a:cubicBezTo>
                  <a:cubicBezTo>
                    <a:pt x="65" y="53"/>
                    <a:pt x="72" y="61"/>
                    <a:pt x="74" y="72"/>
                  </a:cubicBezTo>
                  <a:cubicBezTo>
                    <a:pt x="79" y="91"/>
                    <a:pt x="67" y="106"/>
                    <a:pt x="49" y="110"/>
                  </a:cubicBezTo>
                  <a:cubicBezTo>
                    <a:pt x="33" y="114"/>
                    <a:pt x="16" y="107"/>
                    <a:pt x="11" y="90"/>
                  </a:cubicBezTo>
                  <a:cubicBezTo>
                    <a:pt x="23" y="88"/>
                    <a:pt x="23" y="88"/>
                    <a:pt x="23" y="88"/>
                  </a:cubicBezTo>
                  <a:cubicBezTo>
                    <a:pt x="27" y="97"/>
                    <a:pt x="37" y="101"/>
                    <a:pt x="47" y="99"/>
                  </a:cubicBezTo>
                  <a:cubicBezTo>
                    <a:pt x="58" y="96"/>
                    <a:pt x="64" y="86"/>
                    <a:pt x="62" y="74"/>
                  </a:cubicBezTo>
                  <a:cubicBezTo>
                    <a:pt x="59" y="61"/>
                    <a:pt x="48" y="56"/>
                    <a:pt x="36" y="60"/>
                  </a:cubicBezTo>
                  <a:lnTo>
                    <a:pt x="33" y="49"/>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57">
              <a:extLst>
                <a:ext uri="{FF2B5EF4-FFF2-40B4-BE49-F238E27FC236}">
                  <a16:creationId xmlns:a16="http://schemas.microsoft.com/office/drawing/2014/main" id="{4AF6252C-1FE5-F33F-86E1-8D9BC7E986BE}"/>
                </a:ext>
              </a:extLst>
            </p:cNvPr>
            <p:cNvSpPr>
              <a:spLocks/>
            </p:cNvSpPr>
            <p:nvPr/>
          </p:nvSpPr>
          <p:spPr bwMode="auto">
            <a:xfrm>
              <a:off x="8794333" y="4581526"/>
              <a:ext cx="61912" cy="74613"/>
            </a:xfrm>
            <a:custGeom>
              <a:avLst/>
              <a:gdLst>
                <a:gd name="T0" fmla="*/ 36 w 37"/>
                <a:gd name="T1" fmla="*/ 30 h 45"/>
                <a:gd name="T2" fmla="*/ 37 w 37"/>
                <a:gd name="T3" fmla="*/ 38 h 45"/>
                <a:gd name="T4" fmla="*/ 7 w 37"/>
                <a:gd name="T5" fmla="*/ 45 h 45"/>
                <a:gd name="T6" fmla="*/ 19 w 37"/>
                <a:gd name="T7" fmla="*/ 25 h 45"/>
                <a:gd name="T8" fmla="*/ 21 w 37"/>
                <a:gd name="T9" fmla="*/ 14 h 45"/>
                <a:gd name="T10" fmla="*/ 15 w 37"/>
                <a:gd name="T11" fmla="*/ 10 h 45"/>
                <a:gd name="T12" fmla="*/ 12 w 37"/>
                <a:gd name="T13" fmla="*/ 16 h 45"/>
                <a:gd name="T14" fmla="*/ 13 w 37"/>
                <a:gd name="T15" fmla="*/ 17 h 45"/>
                <a:gd name="T16" fmla="*/ 2 w 37"/>
                <a:gd name="T17" fmla="*/ 20 h 45"/>
                <a:gd name="T18" fmla="*/ 14 w 37"/>
                <a:gd name="T19" fmla="*/ 2 h 45"/>
                <a:gd name="T20" fmla="*/ 31 w 37"/>
                <a:gd name="T21" fmla="*/ 12 h 45"/>
                <a:gd name="T22" fmla="*/ 28 w 37"/>
                <a:gd name="T23" fmla="*/ 26 h 45"/>
                <a:gd name="T24" fmla="*/ 23 w 37"/>
                <a:gd name="T25" fmla="*/ 33 h 45"/>
                <a:gd name="T26" fmla="*/ 36 w 37"/>
                <a:gd name="T27" fmla="*/ 3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 h="45">
                  <a:moveTo>
                    <a:pt x="36" y="30"/>
                  </a:moveTo>
                  <a:cubicBezTo>
                    <a:pt x="37" y="38"/>
                    <a:pt x="37" y="38"/>
                    <a:pt x="37" y="38"/>
                  </a:cubicBezTo>
                  <a:cubicBezTo>
                    <a:pt x="7" y="45"/>
                    <a:pt x="7" y="45"/>
                    <a:pt x="7" y="45"/>
                  </a:cubicBezTo>
                  <a:cubicBezTo>
                    <a:pt x="19" y="25"/>
                    <a:pt x="19" y="25"/>
                    <a:pt x="19" y="25"/>
                  </a:cubicBezTo>
                  <a:cubicBezTo>
                    <a:pt x="20" y="22"/>
                    <a:pt x="22" y="18"/>
                    <a:pt x="21" y="14"/>
                  </a:cubicBezTo>
                  <a:cubicBezTo>
                    <a:pt x="20" y="12"/>
                    <a:pt x="18" y="10"/>
                    <a:pt x="15" y="10"/>
                  </a:cubicBezTo>
                  <a:cubicBezTo>
                    <a:pt x="13" y="11"/>
                    <a:pt x="12" y="13"/>
                    <a:pt x="12" y="16"/>
                  </a:cubicBezTo>
                  <a:cubicBezTo>
                    <a:pt x="12" y="16"/>
                    <a:pt x="13" y="17"/>
                    <a:pt x="13" y="17"/>
                  </a:cubicBezTo>
                  <a:cubicBezTo>
                    <a:pt x="2" y="20"/>
                    <a:pt x="2" y="20"/>
                    <a:pt x="2" y="20"/>
                  </a:cubicBezTo>
                  <a:cubicBezTo>
                    <a:pt x="0" y="11"/>
                    <a:pt x="5" y="4"/>
                    <a:pt x="14" y="2"/>
                  </a:cubicBezTo>
                  <a:cubicBezTo>
                    <a:pt x="22" y="0"/>
                    <a:pt x="30" y="4"/>
                    <a:pt x="31" y="12"/>
                  </a:cubicBezTo>
                  <a:cubicBezTo>
                    <a:pt x="33" y="18"/>
                    <a:pt x="31" y="21"/>
                    <a:pt x="28" y="26"/>
                  </a:cubicBezTo>
                  <a:cubicBezTo>
                    <a:pt x="23" y="33"/>
                    <a:pt x="23" y="33"/>
                    <a:pt x="23" y="33"/>
                  </a:cubicBezTo>
                  <a:lnTo>
                    <a:pt x="36" y="3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5">
              <a:extLst>
                <a:ext uri="{FF2B5EF4-FFF2-40B4-BE49-F238E27FC236}">
                  <a16:creationId xmlns:a16="http://schemas.microsoft.com/office/drawing/2014/main" id="{FFF257A9-D683-200C-9E56-38F2A27F2CCC}"/>
                </a:ext>
              </a:extLst>
            </p:cNvPr>
            <p:cNvSpPr>
              <a:spLocks/>
            </p:cNvSpPr>
            <p:nvPr/>
          </p:nvSpPr>
          <p:spPr bwMode="auto">
            <a:xfrm>
              <a:off x="9145170" y="3744913"/>
              <a:ext cx="347662" cy="303213"/>
            </a:xfrm>
            <a:custGeom>
              <a:avLst/>
              <a:gdLst>
                <a:gd name="T0" fmla="*/ 119 w 207"/>
                <a:gd name="T1" fmla="*/ 118 h 180"/>
                <a:gd name="T2" fmla="*/ 95 w 207"/>
                <a:gd name="T3" fmla="*/ 141 h 180"/>
                <a:gd name="T4" fmla="*/ 75 w 207"/>
                <a:gd name="T5" fmla="*/ 168 h 180"/>
                <a:gd name="T6" fmla="*/ 58 w 207"/>
                <a:gd name="T7" fmla="*/ 172 h 180"/>
                <a:gd name="T8" fmla="*/ 71 w 207"/>
                <a:gd name="T9" fmla="*/ 153 h 180"/>
                <a:gd name="T10" fmla="*/ 81 w 207"/>
                <a:gd name="T11" fmla="*/ 128 h 180"/>
                <a:gd name="T12" fmla="*/ 78 w 207"/>
                <a:gd name="T13" fmla="*/ 106 h 180"/>
                <a:gd name="T14" fmla="*/ 47 w 207"/>
                <a:gd name="T15" fmla="*/ 105 h 180"/>
                <a:gd name="T16" fmla="*/ 22 w 207"/>
                <a:gd name="T17" fmla="*/ 92 h 180"/>
                <a:gd name="T18" fmla="*/ 51 w 207"/>
                <a:gd name="T19" fmla="*/ 85 h 180"/>
                <a:gd name="T20" fmla="*/ 80 w 207"/>
                <a:gd name="T21" fmla="*/ 75 h 180"/>
                <a:gd name="T22" fmla="*/ 82 w 207"/>
                <a:gd name="T23" fmla="*/ 53 h 180"/>
                <a:gd name="T24" fmla="*/ 75 w 207"/>
                <a:gd name="T25" fmla="*/ 27 h 180"/>
                <a:gd name="T26" fmla="*/ 65 w 207"/>
                <a:gd name="T27" fmla="*/ 10 h 180"/>
                <a:gd name="T28" fmla="*/ 77 w 207"/>
                <a:gd name="T29" fmla="*/ 8 h 180"/>
                <a:gd name="T30" fmla="*/ 104 w 207"/>
                <a:gd name="T31" fmla="*/ 48 h 180"/>
                <a:gd name="T32" fmla="*/ 117 w 207"/>
                <a:gd name="T33" fmla="*/ 70 h 180"/>
                <a:gd name="T34" fmla="*/ 151 w 207"/>
                <a:gd name="T35" fmla="*/ 56 h 180"/>
                <a:gd name="T36" fmla="*/ 175 w 207"/>
                <a:gd name="T37" fmla="*/ 44 h 180"/>
                <a:gd name="T38" fmla="*/ 163 w 207"/>
                <a:gd name="T39" fmla="*/ 71 h 180"/>
                <a:gd name="T40" fmla="*/ 138 w 207"/>
                <a:gd name="T41" fmla="*/ 95 h 180"/>
                <a:gd name="T42" fmla="*/ 143 w 207"/>
                <a:gd name="T43" fmla="*/ 113 h 180"/>
                <a:gd name="T44" fmla="*/ 161 w 207"/>
                <a:gd name="T45" fmla="*/ 141 h 180"/>
                <a:gd name="T46" fmla="*/ 163 w 207"/>
                <a:gd name="T47" fmla="*/ 160 h 180"/>
                <a:gd name="T48" fmla="*/ 150 w 207"/>
                <a:gd name="T49" fmla="*/ 157 h 180"/>
                <a:gd name="T50" fmla="*/ 139 w 207"/>
                <a:gd name="T51" fmla="*/ 136 h 180"/>
                <a:gd name="T52" fmla="*/ 130 w 207"/>
                <a:gd name="T53" fmla="*/ 126 h 180"/>
                <a:gd name="T54" fmla="*/ 119 w 207"/>
                <a:gd name="T55" fmla="*/ 11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7" h="180">
                  <a:moveTo>
                    <a:pt x="119" y="118"/>
                  </a:moveTo>
                  <a:cubicBezTo>
                    <a:pt x="104" y="108"/>
                    <a:pt x="99" y="130"/>
                    <a:pt x="95" y="141"/>
                  </a:cubicBezTo>
                  <a:cubicBezTo>
                    <a:pt x="91" y="152"/>
                    <a:pt x="81" y="162"/>
                    <a:pt x="75" y="168"/>
                  </a:cubicBezTo>
                  <a:cubicBezTo>
                    <a:pt x="70" y="173"/>
                    <a:pt x="57" y="180"/>
                    <a:pt x="58" y="172"/>
                  </a:cubicBezTo>
                  <a:cubicBezTo>
                    <a:pt x="60" y="165"/>
                    <a:pt x="68" y="159"/>
                    <a:pt x="71" y="153"/>
                  </a:cubicBezTo>
                  <a:cubicBezTo>
                    <a:pt x="76" y="145"/>
                    <a:pt x="79" y="137"/>
                    <a:pt x="81" y="128"/>
                  </a:cubicBezTo>
                  <a:cubicBezTo>
                    <a:pt x="82" y="124"/>
                    <a:pt x="87" y="109"/>
                    <a:pt x="78" y="106"/>
                  </a:cubicBezTo>
                  <a:cubicBezTo>
                    <a:pt x="68" y="104"/>
                    <a:pt x="58" y="105"/>
                    <a:pt x="47" y="105"/>
                  </a:cubicBezTo>
                  <a:cubicBezTo>
                    <a:pt x="39" y="105"/>
                    <a:pt x="0" y="104"/>
                    <a:pt x="22" y="92"/>
                  </a:cubicBezTo>
                  <a:cubicBezTo>
                    <a:pt x="31" y="87"/>
                    <a:pt x="42" y="87"/>
                    <a:pt x="51" y="85"/>
                  </a:cubicBezTo>
                  <a:cubicBezTo>
                    <a:pt x="58" y="85"/>
                    <a:pt x="76" y="83"/>
                    <a:pt x="80" y="75"/>
                  </a:cubicBezTo>
                  <a:cubicBezTo>
                    <a:pt x="83" y="69"/>
                    <a:pt x="83" y="60"/>
                    <a:pt x="82" y="53"/>
                  </a:cubicBezTo>
                  <a:cubicBezTo>
                    <a:pt x="80" y="44"/>
                    <a:pt x="79" y="35"/>
                    <a:pt x="75" y="27"/>
                  </a:cubicBezTo>
                  <a:cubicBezTo>
                    <a:pt x="73" y="21"/>
                    <a:pt x="69" y="14"/>
                    <a:pt x="65" y="10"/>
                  </a:cubicBezTo>
                  <a:cubicBezTo>
                    <a:pt x="56" y="0"/>
                    <a:pt x="72" y="5"/>
                    <a:pt x="77" y="8"/>
                  </a:cubicBezTo>
                  <a:cubicBezTo>
                    <a:pt x="94" y="20"/>
                    <a:pt x="100" y="32"/>
                    <a:pt x="104" y="48"/>
                  </a:cubicBezTo>
                  <a:cubicBezTo>
                    <a:pt x="106" y="54"/>
                    <a:pt x="111" y="67"/>
                    <a:pt x="117" y="70"/>
                  </a:cubicBezTo>
                  <a:cubicBezTo>
                    <a:pt x="126" y="74"/>
                    <a:pt x="143" y="61"/>
                    <a:pt x="151" y="56"/>
                  </a:cubicBezTo>
                  <a:cubicBezTo>
                    <a:pt x="159" y="52"/>
                    <a:pt x="166" y="48"/>
                    <a:pt x="175" y="44"/>
                  </a:cubicBezTo>
                  <a:cubicBezTo>
                    <a:pt x="207" y="33"/>
                    <a:pt x="177" y="61"/>
                    <a:pt x="163" y="71"/>
                  </a:cubicBezTo>
                  <a:cubicBezTo>
                    <a:pt x="152" y="80"/>
                    <a:pt x="141" y="83"/>
                    <a:pt x="138" y="95"/>
                  </a:cubicBezTo>
                  <a:cubicBezTo>
                    <a:pt x="136" y="102"/>
                    <a:pt x="139" y="108"/>
                    <a:pt x="143" y="113"/>
                  </a:cubicBezTo>
                  <a:cubicBezTo>
                    <a:pt x="150" y="121"/>
                    <a:pt x="157" y="131"/>
                    <a:pt x="161" y="141"/>
                  </a:cubicBezTo>
                  <a:cubicBezTo>
                    <a:pt x="162" y="145"/>
                    <a:pt x="165" y="158"/>
                    <a:pt x="163" y="160"/>
                  </a:cubicBezTo>
                  <a:cubicBezTo>
                    <a:pt x="160" y="167"/>
                    <a:pt x="153" y="163"/>
                    <a:pt x="150" y="157"/>
                  </a:cubicBezTo>
                  <a:cubicBezTo>
                    <a:pt x="147" y="149"/>
                    <a:pt x="144" y="142"/>
                    <a:pt x="139" y="136"/>
                  </a:cubicBezTo>
                  <a:cubicBezTo>
                    <a:pt x="136" y="133"/>
                    <a:pt x="133" y="129"/>
                    <a:pt x="130" y="126"/>
                  </a:cubicBezTo>
                  <a:cubicBezTo>
                    <a:pt x="127" y="122"/>
                    <a:pt x="123" y="120"/>
                    <a:pt x="119" y="1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9" name="Rectangle 48">
            <a:extLst>
              <a:ext uri="{FF2B5EF4-FFF2-40B4-BE49-F238E27FC236}">
                <a16:creationId xmlns:a16="http://schemas.microsoft.com/office/drawing/2014/main" id="{47E6BE43-AC73-1392-A46E-C85BFFB17402}"/>
              </a:ext>
            </a:extLst>
          </p:cNvPr>
          <p:cNvSpPr/>
          <p:nvPr/>
        </p:nvSpPr>
        <p:spPr>
          <a:xfrm>
            <a:off x="1369870" y="4085470"/>
            <a:ext cx="9983930" cy="369332"/>
          </a:xfrm>
          <a:prstGeom prst="rect">
            <a:avLst/>
          </a:prstGeom>
        </p:spPr>
        <p:txBody>
          <a:bodyPr wrap="square">
            <a:spAutoFit/>
          </a:bodyPr>
          <a:lstStyle/>
          <a:p>
            <a:pPr marL="358775" indent="-358775">
              <a:buFont typeface="Arial" panose="020B0604020202020204" pitchFamily="34" charset="0"/>
              <a:buChar char="•"/>
            </a:pPr>
            <a:r>
              <a:rPr lang="en-US" b="1" i="1" dirty="0">
                <a:solidFill>
                  <a:schemeClr val="accent1"/>
                </a:solidFill>
              </a:rPr>
              <a:t>Where are we now?				Recap -&gt; Demo -&gt; Exercise</a:t>
            </a:r>
            <a:endParaRPr lang="en-US" dirty="0"/>
          </a:p>
        </p:txBody>
      </p:sp>
      <p:sp>
        <p:nvSpPr>
          <p:cNvPr id="50" name="Rectangle 49">
            <a:extLst>
              <a:ext uri="{FF2B5EF4-FFF2-40B4-BE49-F238E27FC236}">
                <a16:creationId xmlns:a16="http://schemas.microsoft.com/office/drawing/2014/main" id="{10BFCB2B-C450-9DC6-E21F-218B63AC3A2D}"/>
              </a:ext>
            </a:extLst>
          </p:cNvPr>
          <p:cNvSpPr/>
          <p:nvPr/>
        </p:nvSpPr>
        <p:spPr>
          <a:xfrm>
            <a:off x="1404663" y="4743551"/>
            <a:ext cx="10644583" cy="369332"/>
          </a:xfrm>
          <a:prstGeom prst="rect">
            <a:avLst/>
          </a:prstGeom>
        </p:spPr>
        <p:txBody>
          <a:bodyPr wrap="square">
            <a:spAutoFit/>
          </a:bodyPr>
          <a:lstStyle/>
          <a:p>
            <a:pPr marL="358775" indent="-358775">
              <a:buFont typeface="Arial" panose="020B0604020202020204" pitchFamily="34" charset="0"/>
              <a:buChar char="•"/>
            </a:pPr>
            <a:r>
              <a:rPr lang="en-US" b="1" i="1" dirty="0">
                <a:solidFill>
                  <a:schemeClr val="accent2"/>
                </a:solidFill>
              </a:rPr>
              <a:t>What is the consultancy industry doing? 		Research Review (General &amp; Consultancy Specific) </a:t>
            </a:r>
            <a:endParaRPr lang="en-US" dirty="0"/>
          </a:p>
        </p:txBody>
      </p:sp>
      <p:sp>
        <p:nvSpPr>
          <p:cNvPr id="51" name="Rectangle 50">
            <a:extLst>
              <a:ext uri="{FF2B5EF4-FFF2-40B4-BE49-F238E27FC236}">
                <a16:creationId xmlns:a16="http://schemas.microsoft.com/office/drawing/2014/main" id="{2D94087F-82FA-C8F0-41DE-CF03C9C24BD6}"/>
              </a:ext>
            </a:extLst>
          </p:cNvPr>
          <p:cNvSpPr/>
          <p:nvPr/>
        </p:nvSpPr>
        <p:spPr>
          <a:xfrm>
            <a:off x="1404662" y="5401632"/>
            <a:ext cx="9568035" cy="369332"/>
          </a:xfrm>
          <a:prstGeom prst="rect">
            <a:avLst/>
          </a:prstGeom>
        </p:spPr>
        <p:txBody>
          <a:bodyPr wrap="square">
            <a:spAutoFit/>
          </a:bodyPr>
          <a:lstStyle/>
          <a:p>
            <a:pPr marL="314325" indent="-314325">
              <a:buFont typeface="Arial" panose="020B0604020202020204" pitchFamily="34" charset="0"/>
              <a:buChar char="•"/>
            </a:pPr>
            <a:r>
              <a:rPr lang="en-US" b="1" i="1" dirty="0">
                <a:solidFill>
                  <a:schemeClr val="accent3"/>
                </a:solidFill>
              </a:rPr>
              <a:t>Where are we going?				Insights from Research -&gt; Tech Demos</a:t>
            </a:r>
          </a:p>
        </p:txBody>
      </p:sp>
      <p:sp>
        <p:nvSpPr>
          <p:cNvPr id="52" name="Rectangle 51">
            <a:extLst>
              <a:ext uri="{FF2B5EF4-FFF2-40B4-BE49-F238E27FC236}">
                <a16:creationId xmlns:a16="http://schemas.microsoft.com/office/drawing/2014/main" id="{EFB2D2A7-1254-529B-7370-D551E32DC65F}"/>
              </a:ext>
            </a:extLst>
          </p:cNvPr>
          <p:cNvSpPr/>
          <p:nvPr/>
        </p:nvSpPr>
        <p:spPr>
          <a:xfrm>
            <a:off x="1369869" y="6059713"/>
            <a:ext cx="9568035" cy="369332"/>
          </a:xfrm>
          <a:prstGeom prst="rect">
            <a:avLst/>
          </a:prstGeom>
        </p:spPr>
        <p:txBody>
          <a:bodyPr wrap="square">
            <a:spAutoFit/>
          </a:bodyPr>
          <a:lstStyle/>
          <a:p>
            <a:pPr marL="358775" indent="-358775">
              <a:buFont typeface="Arial" panose="020B0604020202020204" pitchFamily="34" charset="0"/>
              <a:buChar char="•"/>
            </a:pPr>
            <a:r>
              <a:rPr lang="en-US" b="1" i="1" dirty="0">
                <a:solidFill>
                  <a:schemeClr val="accent4"/>
                </a:solidFill>
              </a:rPr>
              <a:t>What should WE be doing now?			Exercise -&gt; Futures -&gt; Discussion</a:t>
            </a:r>
            <a:endParaRPr lang="en-US" dirty="0"/>
          </a:p>
        </p:txBody>
      </p:sp>
      <p:sp>
        <p:nvSpPr>
          <p:cNvPr id="54" name="TextBox 53">
            <a:extLst>
              <a:ext uri="{FF2B5EF4-FFF2-40B4-BE49-F238E27FC236}">
                <a16:creationId xmlns:a16="http://schemas.microsoft.com/office/drawing/2014/main" id="{569E96E6-87EB-516D-9248-62CF39E8AA6F}"/>
              </a:ext>
            </a:extLst>
          </p:cNvPr>
          <p:cNvSpPr txBox="1"/>
          <p:nvPr/>
        </p:nvSpPr>
        <p:spPr>
          <a:xfrm>
            <a:off x="5695189" y="1634463"/>
            <a:ext cx="5277509" cy="2062103"/>
          </a:xfrm>
          <a:prstGeom prst="rect">
            <a:avLst/>
          </a:prstGeom>
          <a:noFill/>
        </p:spPr>
        <p:txBody>
          <a:bodyPr wrap="square">
            <a:spAutoFit/>
          </a:bodyPr>
          <a:lstStyle/>
          <a:p>
            <a:r>
              <a:rPr lang="en-GB" sz="1600" b="1" i="0" u="none" strike="noStrike" dirty="0">
                <a:solidFill>
                  <a:schemeClr val="tx2"/>
                </a:solidFill>
                <a:effectLst/>
              </a:rPr>
              <a:t>Vibe Consulting</a:t>
            </a:r>
            <a:r>
              <a:rPr lang="en-GB" sz="1600" b="0" i="0" u="none" strike="noStrike" dirty="0">
                <a:solidFill>
                  <a:schemeClr val="tx2"/>
                </a:solidFill>
                <a:effectLst/>
                <a:latin typeface="-webkit-standard"/>
              </a:rPr>
              <a:t>: </a:t>
            </a:r>
            <a:r>
              <a:rPr lang="en-GB" sz="1600" b="0" i="1" u="none" strike="noStrike" dirty="0">
                <a:solidFill>
                  <a:schemeClr val="tx2"/>
                </a:solidFill>
                <a:effectLst/>
              </a:rPr>
              <a:t>The practice of using artificial intelligence to augment consultancy services, where consultants and consultancies integrate AI tools, insights, and automation into their work to enhance analysis, decision-making, client engagement, and delivery of outcomes. Vibe Consulting combines human expertise with AI-driven capabilities to create faster, deeper, and more adaptive consulting interventions.</a:t>
            </a:r>
            <a:endParaRPr lang="en-GB" sz="1600" dirty="0">
              <a:solidFill>
                <a:schemeClr val="tx2"/>
              </a:solidFill>
            </a:endParaRPr>
          </a:p>
        </p:txBody>
      </p:sp>
    </p:spTree>
    <p:extLst>
      <p:ext uri="{BB962C8B-B14F-4D97-AF65-F5344CB8AC3E}">
        <p14:creationId xmlns:p14="http://schemas.microsoft.com/office/powerpoint/2010/main" val="136003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12" presetClass="entr" presetSubtype="8" fill="hold" grpId="0" nodeType="withEffect">
                                  <p:stCondLst>
                                    <p:cond delay="75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p:tgtEl>
                                          <p:spTgt spid="49"/>
                                        </p:tgtEl>
                                        <p:attrNameLst>
                                          <p:attrName>ppt_x</p:attrName>
                                        </p:attrNameLst>
                                      </p:cBhvr>
                                      <p:tavLst>
                                        <p:tav tm="0">
                                          <p:val>
                                            <p:strVal val="#ppt_x-#ppt_w*1.125000"/>
                                          </p:val>
                                        </p:tav>
                                        <p:tav tm="100000">
                                          <p:val>
                                            <p:strVal val="#ppt_x"/>
                                          </p:val>
                                        </p:tav>
                                      </p:tavLst>
                                    </p:anim>
                                    <p:animEffect transition="in" filter="wipe(right)">
                                      <p:cBhvr>
                                        <p:cTn id="12" dur="500"/>
                                        <p:tgtEl>
                                          <p:spTgt spid="49"/>
                                        </p:tgtEl>
                                      </p:cBhvr>
                                    </p:animEffect>
                                  </p:childTnLst>
                                </p:cTn>
                              </p:par>
                              <p:par>
                                <p:cTn id="13" presetID="12" presetClass="entr" presetSubtype="8" fill="hold" grpId="0" nodeType="withEffect">
                                  <p:stCondLst>
                                    <p:cond delay="75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p:tgtEl>
                                          <p:spTgt spid="50"/>
                                        </p:tgtEl>
                                        <p:attrNameLst>
                                          <p:attrName>ppt_x</p:attrName>
                                        </p:attrNameLst>
                                      </p:cBhvr>
                                      <p:tavLst>
                                        <p:tav tm="0">
                                          <p:val>
                                            <p:strVal val="#ppt_x-#ppt_w*1.125000"/>
                                          </p:val>
                                        </p:tav>
                                        <p:tav tm="100000">
                                          <p:val>
                                            <p:strVal val="#ppt_x"/>
                                          </p:val>
                                        </p:tav>
                                      </p:tavLst>
                                    </p:anim>
                                    <p:animEffect transition="in" filter="wipe(right)">
                                      <p:cBhvr>
                                        <p:cTn id="16" dur="500"/>
                                        <p:tgtEl>
                                          <p:spTgt spid="50"/>
                                        </p:tgtEl>
                                      </p:cBhvr>
                                    </p:animEffect>
                                  </p:childTnLst>
                                </p:cTn>
                              </p:par>
                              <p:par>
                                <p:cTn id="17" presetID="12" presetClass="entr" presetSubtype="8" fill="hold" grpId="0" nodeType="withEffect">
                                  <p:stCondLst>
                                    <p:cond delay="75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p:tgtEl>
                                          <p:spTgt spid="51"/>
                                        </p:tgtEl>
                                        <p:attrNameLst>
                                          <p:attrName>ppt_x</p:attrName>
                                        </p:attrNameLst>
                                      </p:cBhvr>
                                      <p:tavLst>
                                        <p:tav tm="0">
                                          <p:val>
                                            <p:strVal val="#ppt_x-#ppt_w*1.125000"/>
                                          </p:val>
                                        </p:tav>
                                        <p:tav tm="100000">
                                          <p:val>
                                            <p:strVal val="#ppt_x"/>
                                          </p:val>
                                        </p:tav>
                                      </p:tavLst>
                                    </p:anim>
                                    <p:animEffect transition="in" filter="wipe(right)">
                                      <p:cBhvr>
                                        <p:cTn id="20" dur="500"/>
                                        <p:tgtEl>
                                          <p:spTgt spid="51"/>
                                        </p:tgtEl>
                                      </p:cBhvr>
                                    </p:animEffect>
                                  </p:childTnLst>
                                </p:cTn>
                              </p:par>
                              <p:par>
                                <p:cTn id="21" presetID="12" presetClass="entr" presetSubtype="8" fill="hold" grpId="0" nodeType="withEffect">
                                  <p:stCondLst>
                                    <p:cond delay="75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500"/>
                                        <p:tgtEl>
                                          <p:spTgt spid="52"/>
                                        </p:tgtEl>
                                        <p:attrNameLst>
                                          <p:attrName>ppt_x</p:attrName>
                                        </p:attrNameLst>
                                      </p:cBhvr>
                                      <p:tavLst>
                                        <p:tav tm="0">
                                          <p:val>
                                            <p:strVal val="#ppt_x-#ppt_w*1.125000"/>
                                          </p:val>
                                        </p:tav>
                                        <p:tav tm="100000">
                                          <p:val>
                                            <p:strVal val="#ppt_x"/>
                                          </p:val>
                                        </p:tav>
                                      </p:tavLst>
                                    </p:anim>
                                    <p:animEffect transition="in" filter="wipe(right)">
                                      <p:cBhvr>
                                        <p:cTn id="2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EE82-AC88-D6B7-CEA5-4E6876CF5CE2}"/>
              </a:ext>
            </a:extLst>
          </p:cNvPr>
          <p:cNvSpPr>
            <a:spLocks noGrp="1"/>
          </p:cNvSpPr>
          <p:nvPr>
            <p:ph type="title"/>
          </p:nvPr>
        </p:nvSpPr>
        <p:spPr/>
        <p:txBody>
          <a:bodyPr/>
          <a:lstStyle/>
          <a:p>
            <a:r>
              <a:rPr lang="en-GB"/>
              <a:t>Welcome from Nestor</a:t>
            </a:r>
            <a:endParaRPr lang="en-GB" dirty="0"/>
          </a:p>
        </p:txBody>
      </p:sp>
      <p:pic>
        <p:nvPicPr>
          <p:cNvPr id="9" name="Picture 8">
            <a:extLst>
              <a:ext uri="{FF2B5EF4-FFF2-40B4-BE49-F238E27FC236}">
                <a16:creationId xmlns:a16="http://schemas.microsoft.com/office/drawing/2014/main" id="{B4AB783D-2935-B836-AF08-E8A03E7AAB81}"/>
              </a:ext>
            </a:extLst>
          </p:cNvPr>
          <p:cNvPicPr>
            <a:picLocks noChangeAspect="1"/>
          </p:cNvPicPr>
          <p:nvPr/>
        </p:nvPicPr>
        <p:blipFill>
          <a:blip r:embed="rId2"/>
          <a:stretch>
            <a:fillRect/>
          </a:stretch>
        </p:blipFill>
        <p:spPr>
          <a:xfrm>
            <a:off x="3302000" y="1876543"/>
            <a:ext cx="5588000" cy="3733800"/>
          </a:xfrm>
          <a:prstGeom prst="rect">
            <a:avLst/>
          </a:prstGeom>
        </p:spPr>
      </p:pic>
    </p:spTree>
    <p:extLst>
      <p:ext uri="{BB962C8B-B14F-4D97-AF65-F5344CB8AC3E}">
        <p14:creationId xmlns:p14="http://schemas.microsoft.com/office/powerpoint/2010/main" val="293742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4990B-FAB0-5607-BB2A-EBE2E62DC684}"/>
              </a:ext>
            </a:extLst>
          </p:cNvPr>
          <p:cNvSpPr>
            <a:spLocks noGrp="1"/>
          </p:cNvSpPr>
          <p:nvPr>
            <p:ph type="title"/>
          </p:nvPr>
        </p:nvSpPr>
        <p:spPr>
          <a:xfrm>
            <a:off x="838200" y="356333"/>
            <a:ext cx="10515600" cy="716329"/>
          </a:xfrm>
        </p:spPr>
        <p:txBody>
          <a:bodyPr/>
          <a:lstStyle/>
          <a:p>
            <a:pPr algn="ctr"/>
            <a:r>
              <a:rPr lang="en-GB" b="1" dirty="0">
                <a:solidFill>
                  <a:schemeClr val="tx2"/>
                </a:solidFill>
              </a:rPr>
              <a:t>Will consultants be replaced by AI?</a:t>
            </a:r>
          </a:p>
        </p:txBody>
      </p:sp>
      <p:sp>
        <p:nvSpPr>
          <p:cNvPr id="4" name="TextBox 3">
            <a:extLst>
              <a:ext uri="{FF2B5EF4-FFF2-40B4-BE49-F238E27FC236}">
                <a16:creationId xmlns:a16="http://schemas.microsoft.com/office/drawing/2014/main" id="{7BD6DF6C-FC0B-5EC5-2125-649C9ECA79B0}"/>
              </a:ext>
            </a:extLst>
          </p:cNvPr>
          <p:cNvSpPr txBox="1"/>
          <p:nvPr/>
        </p:nvSpPr>
        <p:spPr>
          <a:xfrm>
            <a:off x="571500" y="1151940"/>
            <a:ext cx="11201400" cy="584775"/>
          </a:xfrm>
          <a:prstGeom prst="rect">
            <a:avLst/>
          </a:prstGeom>
          <a:noFill/>
        </p:spPr>
        <p:txBody>
          <a:bodyPr wrap="square" rtlCol="0">
            <a:spAutoFit/>
          </a:bodyPr>
          <a:lstStyle/>
          <a:p>
            <a:r>
              <a:rPr lang="en-GB" sz="1600" dirty="0"/>
              <a:t>Growing consensus among industry leaders that generative AI is poised to transform the consulting landscape, particularly by automating routine and procedural tasks.</a:t>
            </a:r>
          </a:p>
        </p:txBody>
      </p:sp>
      <p:pic>
        <p:nvPicPr>
          <p:cNvPr id="5122" name="Picture 2" descr="Sam Altman to Return as CEO of OpenAI ...">
            <a:extLst>
              <a:ext uri="{FF2B5EF4-FFF2-40B4-BE49-F238E27FC236}">
                <a16:creationId xmlns:a16="http://schemas.microsoft.com/office/drawing/2014/main" id="{5BF7CEC1-ED37-F7D8-C8DB-95056072BF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907" y="3066661"/>
            <a:ext cx="1056428" cy="10564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C86FD0B-89BA-7477-9675-8F4AD9CFFD1A}"/>
              </a:ext>
            </a:extLst>
          </p:cNvPr>
          <p:cNvSpPr txBox="1"/>
          <p:nvPr/>
        </p:nvSpPr>
        <p:spPr>
          <a:xfrm>
            <a:off x="2628896" y="3179376"/>
            <a:ext cx="8343901" cy="1077218"/>
          </a:xfrm>
          <a:prstGeom prst="rect">
            <a:avLst/>
          </a:prstGeom>
          <a:noFill/>
        </p:spPr>
        <p:txBody>
          <a:bodyPr wrap="square" rtlCol="0">
            <a:spAutoFit/>
          </a:bodyPr>
          <a:lstStyle/>
          <a:p>
            <a:r>
              <a:rPr lang="en-GB" sz="1600" i="1" dirty="0">
                <a:solidFill>
                  <a:schemeClr val="tx2"/>
                </a:solidFill>
              </a:rPr>
              <a:t>“Deep Research now handles 5% of all economic tasks, performing complex tasks such as product comparison and financial analysis, which were traditionally carried out by highly paid consultants.” </a:t>
            </a:r>
            <a:br>
              <a:rPr lang="en-GB" sz="1600" i="1" dirty="0">
                <a:solidFill>
                  <a:schemeClr val="tx2"/>
                </a:solidFill>
              </a:rPr>
            </a:br>
            <a:endParaRPr lang="en-GB" sz="1600" i="1" dirty="0">
              <a:solidFill>
                <a:schemeClr val="tx2"/>
              </a:solidFill>
            </a:endParaRPr>
          </a:p>
          <a:p>
            <a:r>
              <a:rPr lang="en-GB" sz="1600" b="1" i="1" dirty="0">
                <a:solidFill>
                  <a:schemeClr val="tx2"/>
                </a:solidFill>
              </a:rPr>
              <a:t>Sam Altman</a:t>
            </a:r>
            <a:r>
              <a:rPr lang="en-GB" sz="1600" i="1" dirty="0">
                <a:solidFill>
                  <a:schemeClr val="tx2"/>
                </a:solidFill>
              </a:rPr>
              <a:t>, CEO, OpenAI, February 2025 on Times Tech Podcast.</a:t>
            </a:r>
          </a:p>
        </p:txBody>
      </p:sp>
      <p:pic>
        <p:nvPicPr>
          <p:cNvPr id="5124" name="Picture 4" descr="Our Team | Google Cloud Partner | Qodea">
            <a:extLst>
              <a:ext uri="{FF2B5EF4-FFF2-40B4-BE49-F238E27FC236}">
                <a16:creationId xmlns:a16="http://schemas.microsoft.com/office/drawing/2014/main" id="{2A5C3BD9-BDEA-7A9F-FA64-4FBD4AE70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907" y="4322566"/>
            <a:ext cx="1056428" cy="1056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4E16B22-0DB7-DED4-C1AB-F7ADB7E13275}"/>
              </a:ext>
            </a:extLst>
          </p:cNvPr>
          <p:cNvSpPr txBox="1"/>
          <p:nvPr/>
        </p:nvSpPr>
        <p:spPr>
          <a:xfrm>
            <a:off x="2628896" y="4435281"/>
            <a:ext cx="8203225" cy="1077218"/>
          </a:xfrm>
          <a:prstGeom prst="rect">
            <a:avLst/>
          </a:prstGeom>
          <a:noFill/>
        </p:spPr>
        <p:txBody>
          <a:bodyPr wrap="square" rtlCol="0">
            <a:spAutoFit/>
          </a:bodyPr>
          <a:lstStyle/>
          <a:p>
            <a:r>
              <a:rPr lang="en-GB" sz="1600" i="1" dirty="0">
                <a:solidFill>
                  <a:schemeClr val="tx2"/>
                </a:solidFill>
              </a:rPr>
              <a:t>“AI-driven automation could eliminate up to 50% of jobs in audit, tax, and advisory within three to five years.” </a:t>
            </a:r>
            <a:br>
              <a:rPr lang="en-GB" sz="1600" i="1" dirty="0">
                <a:solidFill>
                  <a:schemeClr val="tx2"/>
                </a:solidFill>
              </a:rPr>
            </a:br>
            <a:endParaRPr lang="en-GB" sz="1600" i="1" dirty="0">
              <a:solidFill>
                <a:schemeClr val="tx2"/>
              </a:solidFill>
            </a:endParaRPr>
          </a:p>
          <a:p>
            <a:r>
              <a:rPr lang="en-GB" sz="1600" b="1" i="1" dirty="0">
                <a:solidFill>
                  <a:schemeClr val="tx2"/>
                </a:solidFill>
              </a:rPr>
              <a:t>Alan Paton</a:t>
            </a:r>
            <a:r>
              <a:rPr lang="en-GB" sz="1600" i="1" dirty="0">
                <a:solidFill>
                  <a:schemeClr val="tx2"/>
                </a:solidFill>
              </a:rPr>
              <a:t> – Former PwC Partner and CEO of </a:t>
            </a:r>
            <a:r>
              <a:rPr lang="en-GB" sz="1600" i="1" dirty="0" err="1">
                <a:solidFill>
                  <a:schemeClr val="tx2"/>
                </a:solidFill>
              </a:rPr>
              <a:t>Qodea</a:t>
            </a:r>
            <a:r>
              <a:rPr lang="en-GB" sz="1600" i="1" dirty="0">
                <a:solidFill>
                  <a:schemeClr val="tx2"/>
                </a:solidFill>
              </a:rPr>
              <a:t>, May 2025 in Business Insider.</a:t>
            </a:r>
            <a:endParaRPr lang="en-GB" dirty="0"/>
          </a:p>
        </p:txBody>
      </p:sp>
      <p:sp>
        <p:nvSpPr>
          <p:cNvPr id="8" name="TextBox 7">
            <a:extLst>
              <a:ext uri="{FF2B5EF4-FFF2-40B4-BE49-F238E27FC236}">
                <a16:creationId xmlns:a16="http://schemas.microsoft.com/office/drawing/2014/main" id="{67C2AD52-CE66-7E8E-F25E-066A635CA3BF}"/>
              </a:ext>
            </a:extLst>
          </p:cNvPr>
          <p:cNvSpPr txBox="1"/>
          <p:nvPr/>
        </p:nvSpPr>
        <p:spPr>
          <a:xfrm>
            <a:off x="2628897" y="5833009"/>
            <a:ext cx="8203225" cy="1107996"/>
          </a:xfrm>
          <a:prstGeom prst="rect">
            <a:avLst/>
          </a:prstGeom>
          <a:noFill/>
        </p:spPr>
        <p:txBody>
          <a:bodyPr wrap="square" rtlCol="0">
            <a:spAutoFit/>
          </a:bodyPr>
          <a:lstStyle/>
          <a:p>
            <a:r>
              <a:rPr lang="en-GB" sz="1600" i="1" dirty="0">
                <a:solidFill>
                  <a:schemeClr val="tx2"/>
                </a:solidFill>
              </a:rPr>
              <a:t>“The future of consulting is going to be a hybrid of people plus software, like, a lot of software. </a:t>
            </a:r>
            <a:br>
              <a:rPr lang="en-GB" sz="1600" i="1" dirty="0">
                <a:solidFill>
                  <a:schemeClr val="tx2"/>
                </a:solidFill>
              </a:rPr>
            </a:br>
            <a:r>
              <a:rPr lang="en-GB" sz="1600" i="1" dirty="0">
                <a:solidFill>
                  <a:schemeClr val="tx2"/>
                </a:solidFill>
              </a:rPr>
              <a:t>I think that consulting companies that can’t do that are going to fall away.”</a:t>
            </a:r>
            <a:br>
              <a:rPr lang="en-GB" sz="1600" i="1" dirty="0">
                <a:solidFill>
                  <a:schemeClr val="tx2"/>
                </a:solidFill>
              </a:rPr>
            </a:br>
            <a:endParaRPr lang="en-GB" sz="1600" i="1" dirty="0">
              <a:solidFill>
                <a:schemeClr val="tx2"/>
              </a:solidFill>
            </a:endParaRPr>
          </a:p>
          <a:p>
            <a:r>
              <a:rPr lang="en-GB" sz="1600" b="1" i="1" dirty="0">
                <a:solidFill>
                  <a:schemeClr val="tx2"/>
                </a:solidFill>
              </a:rPr>
              <a:t>Mohamad Ali </a:t>
            </a:r>
            <a:r>
              <a:rPr lang="en-GB" sz="1600" i="1" dirty="0">
                <a:solidFill>
                  <a:schemeClr val="tx2"/>
                </a:solidFill>
              </a:rPr>
              <a:t>– Head of IBM Consulting, October 2025</a:t>
            </a:r>
          </a:p>
        </p:txBody>
      </p:sp>
      <p:sp>
        <p:nvSpPr>
          <p:cNvPr id="9" name="TextBox 8">
            <a:extLst>
              <a:ext uri="{FF2B5EF4-FFF2-40B4-BE49-F238E27FC236}">
                <a16:creationId xmlns:a16="http://schemas.microsoft.com/office/drawing/2014/main" id="{8F5C3D0B-831C-C505-1436-694658C28F99}"/>
              </a:ext>
            </a:extLst>
          </p:cNvPr>
          <p:cNvSpPr txBox="1"/>
          <p:nvPr/>
        </p:nvSpPr>
        <p:spPr>
          <a:xfrm>
            <a:off x="2708906" y="1915402"/>
            <a:ext cx="8503917" cy="1077218"/>
          </a:xfrm>
          <a:prstGeom prst="rect">
            <a:avLst/>
          </a:prstGeom>
          <a:noFill/>
        </p:spPr>
        <p:txBody>
          <a:bodyPr wrap="square" rtlCol="0">
            <a:spAutoFit/>
          </a:bodyPr>
          <a:lstStyle/>
          <a:p>
            <a:r>
              <a:rPr lang="en-GB" sz="1600" i="1" dirty="0">
                <a:solidFill>
                  <a:schemeClr val="tx2"/>
                </a:solidFill>
              </a:rPr>
              <a:t>“Who needs Accenture in the age of AI? …… As semi-autonomous AI agents sweep the world, who needs consultants?”</a:t>
            </a:r>
            <a:br>
              <a:rPr lang="en-GB" sz="1600" i="1" dirty="0">
                <a:solidFill>
                  <a:schemeClr val="tx2"/>
                </a:solidFill>
              </a:rPr>
            </a:br>
            <a:br>
              <a:rPr lang="en-GB" sz="1600" i="1" dirty="0">
                <a:solidFill>
                  <a:schemeClr val="tx2"/>
                </a:solidFill>
              </a:rPr>
            </a:br>
            <a:r>
              <a:rPr lang="en-GB" sz="1600" b="1" i="1" dirty="0">
                <a:solidFill>
                  <a:schemeClr val="tx2"/>
                </a:solidFill>
              </a:rPr>
              <a:t>Economist,</a:t>
            </a:r>
            <a:r>
              <a:rPr lang="en-GB" sz="1600" i="1" dirty="0">
                <a:solidFill>
                  <a:schemeClr val="tx2"/>
                </a:solidFill>
              </a:rPr>
              <a:t> June 2025</a:t>
            </a:r>
          </a:p>
        </p:txBody>
      </p:sp>
      <p:pic>
        <p:nvPicPr>
          <p:cNvPr id="4098" name="Picture 2" descr="Download The Economist Logo in SVG ...">
            <a:extLst>
              <a:ext uri="{FF2B5EF4-FFF2-40B4-BE49-F238E27FC236}">
                <a16:creationId xmlns:a16="http://schemas.microsoft.com/office/drawing/2014/main" id="{3C55B84E-3919-93EE-BDF7-D6D7301831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815993"/>
            <a:ext cx="1540506" cy="10251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ohamad Ali - IBM | LinkedIn">
            <a:extLst>
              <a:ext uri="{FF2B5EF4-FFF2-40B4-BE49-F238E27FC236}">
                <a16:creationId xmlns:a16="http://schemas.microsoft.com/office/drawing/2014/main" id="{4D65686E-5176-7F47-DEC9-98306A4A84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907" y="5706060"/>
            <a:ext cx="1077219" cy="1077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831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9476D-1BF5-7A15-C4C0-41BEEAE9659B}"/>
              </a:ext>
            </a:extLst>
          </p:cNvPr>
          <p:cNvSpPr>
            <a:spLocks noGrp="1"/>
          </p:cNvSpPr>
          <p:nvPr>
            <p:ph type="title"/>
          </p:nvPr>
        </p:nvSpPr>
        <p:spPr/>
        <p:txBody>
          <a:bodyPr/>
          <a:lstStyle/>
          <a:p>
            <a:pPr algn="ctr"/>
            <a:r>
              <a:rPr lang="en-GB" b="1">
                <a:solidFill>
                  <a:schemeClr val="tx2"/>
                </a:solidFill>
              </a:rPr>
              <a:t>BCS Expert Panel - AI in Consultancy</a:t>
            </a:r>
            <a:endParaRPr lang="en-GB" dirty="0">
              <a:solidFill>
                <a:schemeClr val="tx2"/>
              </a:solidFill>
            </a:endParaRPr>
          </a:p>
        </p:txBody>
      </p:sp>
      <p:sp>
        <p:nvSpPr>
          <p:cNvPr id="5" name="TextBox 4">
            <a:extLst>
              <a:ext uri="{FF2B5EF4-FFF2-40B4-BE49-F238E27FC236}">
                <a16:creationId xmlns:a16="http://schemas.microsoft.com/office/drawing/2014/main" id="{C4DACE3C-19A1-6DA6-BB1C-7AF83A9316A3}"/>
              </a:ext>
            </a:extLst>
          </p:cNvPr>
          <p:cNvSpPr txBox="1"/>
          <p:nvPr/>
        </p:nvSpPr>
        <p:spPr>
          <a:xfrm>
            <a:off x="6096000" y="1427718"/>
            <a:ext cx="5369960" cy="5293757"/>
          </a:xfrm>
          <a:prstGeom prst="rect">
            <a:avLst/>
          </a:prstGeom>
          <a:noFill/>
        </p:spPr>
        <p:txBody>
          <a:bodyPr wrap="square">
            <a:spAutoFit/>
          </a:bodyPr>
          <a:lstStyle/>
          <a:p>
            <a:r>
              <a:rPr lang="en-GB" b="1" dirty="0"/>
              <a:t>Innovative Applications:</a:t>
            </a:r>
            <a:br>
              <a:rPr lang="en-GB" b="1" dirty="0"/>
            </a:br>
            <a:endParaRPr lang="en-GB" dirty="0"/>
          </a:p>
          <a:p>
            <a:pPr marL="742950" lvl="1" indent="-285750">
              <a:buFont typeface="Arial" panose="020B0604020202020204" pitchFamily="34" charset="0"/>
              <a:buChar char="•"/>
            </a:pPr>
            <a:r>
              <a:rPr lang="en-GB" dirty="0"/>
              <a:t>Generative AI for enhanced client interaction</a:t>
            </a:r>
          </a:p>
          <a:p>
            <a:pPr marL="742950" lvl="1" indent="-285750">
              <a:buFont typeface="Arial" panose="020B0604020202020204" pitchFamily="34" charset="0"/>
              <a:buChar char="•"/>
            </a:pPr>
            <a:r>
              <a:rPr lang="en-GB" dirty="0"/>
              <a:t>Predictive analytics for strategic insights</a:t>
            </a:r>
          </a:p>
          <a:p>
            <a:pPr marL="742950" lvl="1" indent="-285750">
              <a:buFont typeface="Arial" panose="020B0604020202020204" pitchFamily="34" charset="0"/>
              <a:buChar char="•"/>
            </a:pPr>
            <a:r>
              <a:rPr lang="en-GB" dirty="0"/>
              <a:t>Intelligent automation streamlining processes</a:t>
            </a:r>
          </a:p>
          <a:p>
            <a:pPr marL="742950" lvl="1" indent="-285750">
              <a:buFont typeface="Arial" panose="020B0604020202020204" pitchFamily="34" charset="0"/>
              <a:buChar char="•"/>
            </a:pPr>
            <a:endParaRPr lang="en-GB" dirty="0"/>
          </a:p>
          <a:p>
            <a:r>
              <a:rPr lang="en-GB" b="1" dirty="0"/>
              <a:t>Implementation Challenges:</a:t>
            </a:r>
          </a:p>
          <a:p>
            <a:endParaRPr lang="en-GB" dirty="0"/>
          </a:p>
          <a:p>
            <a:pPr marL="742950" lvl="1" indent="-285750">
              <a:buFont typeface="Arial" panose="020B0604020202020204" pitchFamily="34" charset="0"/>
              <a:buChar char="•"/>
            </a:pPr>
            <a:r>
              <a:rPr lang="en-GB" dirty="0"/>
              <a:t>Ethical implications of AI usage</a:t>
            </a:r>
          </a:p>
          <a:p>
            <a:pPr marL="742950" lvl="1" indent="-285750">
              <a:buFont typeface="Arial" panose="020B0604020202020204" pitchFamily="34" charset="0"/>
              <a:buChar char="•"/>
            </a:pPr>
            <a:r>
              <a:rPr lang="en-GB" dirty="0"/>
              <a:t>Data privacy and compliance issues</a:t>
            </a:r>
          </a:p>
          <a:p>
            <a:pPr marL="742950" lvl="1" indent="-285750">
              <a:buFont typeface="Arial" panose="020B0604020202020204" pitchFamily="34" charset="0"/>
              <a:buChar char="•"/>
            </a:pPr>
            <a:r>
              <a:rPr lang="en-GB" dirty="0"/>
              <a:t>Continuous upskilling requirements</a:t>
            </a:r>
          </a:p>
          <a:p>
            <a:pPr marL="742950" lvl="1" indent="-285750">
              <a:buFont typeface="Arial" panose="020B0604020202020204" pitchFamily="34" charset="0"/>
              <a:buChar char="•"/>
            </a:pPr>
            <a:endParaRPr lang="en-GB" dirty="0"/>
          </a:p>
          <a:p>
            <a:r>
              <a:rPr lang="en-GB" b="1" dirty="0"/>
              <a:t>Real-World Impact:</a:t>
            </a:r>
          </a:p>
          <a:p>
            <a:endParaRPr lang="en-GB" dirty="0"/>
          </a:p>
          <a:p>
            <a:pPr marL="742950" lvl="1" indent="-285750">
              <a:buFont typeface="Arial" panose="020B0604020202020204" pitchFamily="34" charset="0"/>
              <a:buChar char="•"/>
            </a:pPr>
            <a:r>
              <a:rPr lang="en-GB" dirty="0"/>
              <a:t>Improved service delivery efficiency</a:t>
            </a:r>
          </a:p>
          <a:p>
            <a:pPr marL="742950" lvl="1" indent="-285750">
              <a:buFont typeface="Arial" panose="020B0604020202020204" pitchFamily="34" charset="0"/>
              <a:buChar char="•"/>
            </a:pPr>
            <a:r>
              <a:rPr lang="en-GB" dirty="0"/>
              <a:t>Enhanced client outcomes</a:t>
            </a:r>
          </a:p>
          <a:p>
            <a:pPr marL="742950" lvl="1" indent="-285750">
              <a:buFont typeface="Arial" panose="020B0604020202020204" pitchFamily="34" charset="0"/>
              <a:buChar char="•"/>
            </a:pPr>
            <a:r>
              <a:rPr lang="en-GB" dirty="0"/>
              <a:t>Competitive advantage through AI integration</a:t>
            </a:r>
            <a:br>
              <a:rPr lang="en-GB" dirty="0"/>
            </a:br>
            <a:endParaRPr lang="en-GB" dirty="0"/>
          </a:p>
          <a:p>
            <a:r>
              <a:rPr lang="en-GB" sz="1400" i="1" dirty="0"/>
              <a:t>Event by BCS Consultancy &amp; AI Specialist Groups (December 2024)</a:t>
            </a:r>
            <a:endParaRPr lang="en-GB" sz="1400" dirty="0"/>
          </a:p>
        </p:txBody>
      </p:sp>
      <p:pic>
        <p:nvPicPr>
          <p:cNvPr id="8" name="Picture 7">
            <a:extLst>
              <a:ext uri="{FF2B5EF4-FFF2-40B4-BE49-F238E27FC236}">
                <a16:creationId xmlns:a16="http://schemas.microsoft.com/office/drawing/2014/main" id="{44A3F101-5F5F-82A1-5D93-3F9EC3A6A34D}"/>
              </a:ext>
            </a:extLst>
          </p:cNvPr>
          <p:cNvPicPr>
            <a:picLocks noChangeAspect="1"/>
          </p:cNvPicPr>
          <p:nvPr/>
        </p:nvPicPr>
        <p:blipFill>
          <a:blip r:embed="rId2"/>
          <a:stretch>
            <a:fillRect/>
          </a:stretch>
        </p:blipFill>
        <p:spPr>
          <a:xfrm>
            <a:off x="399696" y="2379057"/>
            <a:ext cx="5250799" cy="2994328"/>
          </a:xfrm>
          <a:prstGeom prst="rect">
            <a:avLst/>
          </a:prstGeom>
        </p:spPr>
      </p:pic>
    </p:spTree>
    <p:extLst>
      <p:ext uri="{BB962C8B-B14F-4D97-AF65-F5344CB8AC3E}">
        <p14:creationId xmlns:p14="http://schemas.microsoft.com/office/powerpoint/2010/main" val="989612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A4A4B-2ACE-C9AE-E57E-9F6034663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171A6-33B8-30CE-AA91-73D193D2BE3B}"/>
              </a:ext>
            </a:extLst>
          </p:cNvPr>
          <p:cNvSpPr>
            <a:spLocks noGrp="1"/>
          </p:cNvSpPr>
          <p:nvPr>
            <p:ph type="title"/>
          </p:nvPr>
        </p:nvSpPr>
        <p:spPr>
          <a:xfrm>
            <a:off x="838200" y="365125"/>
            <a:ext cx="10515600" cy="1325563"/>
          </a:xfrm>
        </p:spPr>
        <p:txBody>
          <a:bodyPr anchor="ctr">
            <a:normAutofit/>
          </a:bodyPr>
          <a:lstStyle/>
          <a:p>
            <a:r>
              <a:rPr lang="en-US" dirty="0"/>
              <a:t>Live Demo 1 | AI-Enabled DIY Consultancy</a:t>
            </a:r>
          </a:p>
        </p:txBody>
      </p:sp>
      <p:pic>
        <p:nvPicPr>
          <p:cNvPr id="26626" name="Picture 2" descr="Finding calm in the chaos: BCS SIGiST 2025 | BCS">
            <a:extLst>
              <a:ext uri="{FF2B5EF4-FFF2-40B4-BE49-F238E27FC236}">
                <a16:creationId xmlns:a16="http://schemas.microsoft.com/office/drawing/2014/main" id="{E10551D5-30ED-6C90-5CF7-82B6D6331C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020" b="14101"/>
          <a:stretch>
            <a:fillRect/>
          </a:stretch>
        </p:blipFill>
        <p:spPr bwMode="auto">
          <a:xfrm>
            <a:off x="838200" y="1825625"/>
            <a:ext cx="10515600" cy="435133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835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3968A-AEE7-9175-3F37-09862841F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BAA09-903A-44E4-91E0-CCC6C8D856BB}"/>
              </a:ext>
            </a:extLst>
          </p:cNvPr>
          <p:cNvSpPr>
            <a:spLocks noGrp="1"/>
          </p:cNvSpPr>
          <p:nvPr>
            <p:ph type="title"/>
          </p:nvPr>
        </p:nvSpPr>
        <p:spPr/>
        <p:txBody>
          <a:bodyPr>
            <a:normAutofit fontScale="90000"/>
          </a:bodyPr>
          <a:lstStyle/>
          <a:p>
            <a:r>
              <a:rPr lang="en-GB" dirty="0"/>
              <a:t>Demo: The Threat to Consultancy (&amp; the Opportunity) (1)</a:t>
            </a:r>
            <a:br>
              <a:rPr lang="en-GB" dirty="0"/>
            </a:br>
            <a:br>
              <a:rPr lang="en-GB" dirty="0"/>
            </a:br>
            <a:r>
              <a:rPr lang="en-GB" sz="2000" i="1" dirty="0"/>
              <a:t>Obtaining consultancy advice from an AI model rather than a consultant (cheaper, faster, maybe not better)</a:t>
            </a:r>
          </a:p>
        </p:txBody>
      </p:sp>
      <p:pic>
        <p:nvPicPr>
          <p:cNvPr id="6" name="Graphic 5" descr="User outline">
            <a:extLst>
              <a:ext uri="{FF2B5EF4-FFF2-40B4-BE49-F238E27FC236}">
                <a16:creationId xmlns:a16="http://schemas.microsoft.com/office/drawing/2014/main" id="{57AEE88E-6871-74DD-E928-B3F0167971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07556" y="2746094"/>
            <a:ext cx="914400" cy="914400"/>
          </a:xfrm>
          <a:prstGeom prst="rect">
            <a:avLst/>
          </a:prstGeom>
        </p:spPr>
      </p:pic>
      <p:pic>
        <p:nvPicPr>
          <p:cNvPr id="9" name="Graphic 8" descr="Artificial Intelligence outline">
            <a:extLst>
              <a:ext uri="{FF2B5EF4-FFF2-40B4-BE49-F238E27FC236}">
                <a16:creationId xmlns:a16="http://schemas.microsoft.com/office/drawing/2014/main" id="{60A53EF2-E655-217D-53BB-C2484B2C6E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2940" y="2812650"/>
            <a:ext cx="914400" cy="914400"/>
          </a:xfrm>
          <a:prstGeom prst="rect">
            <a:avLst/>
          </a:prstGeom>
        </p:spPr>
      </p:pic>
      <p:pic>
        <p:nvPicPr>
          <p:cNvPr id="12" name="Graphic 11" descr="Thought bubble outline">
            <a:extLst>
              <a:ext uri="{FF2B5EF4-FFF2-40B4-BE49-F238E27FC236}">
                <a16:creationId xmlns:a16="http://schemas.microsoft.com/office/drawing/2014/main" id="{6113CEA2-619C-E4E7-DB38-F8350B793E8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65248" y="2850266"/>
            <a:ext cx="914400" cy="914400"/>
          </a:xfrm>
          <a:prstGeom prst="rect">
            <a:avLst/>
          </a:prstGeom>
        </p:spPr>
      </p:pic>
      <p:pic>
        <p:nvPicPr>
          <p:cNvPr id="15" name="Graphic 14" descr="Document outline">
            <a:extLst>
              <a:ext uri="{FF2B5EF4-FFF2-40B4-BE49-F238E27FC236}">
                <a16:creationId xmlns:a16="http://schemas.microsoft.com/office/drawing/2014/main" id="{E93F5901-EBA1-655A-31F6-44F9827DD00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80632" y="2746094"/>
            <a:ext cx="914400" cy="914400"/>
          </a:xfrm>
          <a:prstGeom prst="rect">
            <a:avLst/>
          </a:prstGeom>
        </p:spPr>
      </p:pic>
      <p:pic>
        <p:nvPicPr>
          <p:cNvPr id="17" name="Graphic 16" descr="Arrow: Straight outline">
            <a:extLst>
              <a:ext uri="{FF2B5EF4-FFF2-40B4-BE49-F238E27FC236}">
                <a16:creationId xmlns:a16="http://schemas.microsoft.com/office/drawing/2014/main" id="{BCF3CE61-DA58-A151-F063-CB7A82F6C53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3336402" y="2850266"/>
            <a:ext cx="914400" cy="914400"/>
          </a:xfrm>
          <a:prstGeom prst="rect">
            <a:avLst/>
          </a:prstGeom>
        </p:spPr>
      </p:pic>
      <p:pic>
        <p:nvPicPr>
          <p:cNvPr id="18" name="Graphic 17" descr="Arrow: Straight outline">
            <a:extLst>
              <a:ext uri="{FF2B5EF4-FFF2-40B4-BE49-F238E27FC236}">
                <a16:creationId xmlns:a16="http://schemas.microsoft.com/office/drawing/2014/main" id="{03F1B23D-4411-8414-6F2F-FB90E7049DA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5794094" y="2812650"/>
            <a:ext cx="914400" cy="914400"/>
          </a:xfrm>
          <a:prstGeom prst="rect">
            <a:avLst/>
          </a:prstGeom>
        </p:spPr>
      </p:pic>
      <p:pic>
        <p:nvPicPr>
          <p:cNvPr id="19" name="Graphic 18" descr="Arrow: Straight outline">
            <a:extLst>
              <a:ext uri="{FF2B5EF4-FFF2-40B4-BE49-F238E27FC236}">
                <a16:creationId xmlns:a16="http://schemas.microsoft.com/office/drawing/2014/main" id="{9E84BE37-C0F9-F007-DA9C-AB592BBDB30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8251786" y="2746094"/>
            <a:ext cx="914400" cy="914400"/>
          </a:xfrm>
          <a:prstGeom prst="rect">
            <a:avLst/>
          </a:prstGeom>
        </p:spPr>
      </p:pic>
      <p:sp>
        <p:nvSpPr>
          <p:cNvPr id="20" name="TextBox 19">
            <a:extLst>
              <a:ext uri="{FF2B5EF4-FFF2-40B4-BE49-F238E27FC236}">
                <a16:creationId xmlns:a16="http://schemas.microsoft.com/office/drawing/2014/main" id="{1C2D0995-A7D7-2168-6616-F25365C0A245}"/>
              </a:ext>
            </a:extLst>
          </p:cNvPr>
          <p:cNvSpPr txBox="1"/>
          <p:nvPr/>
        </p:nvSpPr>
        <p:spPr>
          <a:xfrm>
            <a:off x="2107556" y="3868839"/>
            <a:ext cx="823687" cy="369332"/>
          </a:xfrm>
          <a:prstGeom prst="rect">
            <a:avLst/>
          </a:prstGeom>
          <a:noFill/>
        </p:spPr>
        <p:txBody>
          <a:bodyPr wrap="none" rtlCol="0">
            <a:spAutoFit/>
          </a:bodyPr>
          <a:lstStyle/>
          <a:p>
            <a:r>
              <a:rPr lang="en-US" dirty="0"/>
              <a:t>Person</a:t>
            </a:r>
          </a:p>
        </p:txBody>
      </p:sp>
      <p:sp>
        <p:nvSpPr>
          <p:cNvPr id="21" name="TextBox 20">
            <a:extLst>
              <a:ext uri="{FF2B5EF4-FFF2-40B4-BE49-F238E27FC236}">
                <a16:creationId xmlns:a16="http://schemas.microsoft.com/office/drawing/2014/main" id="{7F04185F-8C6E-490F-1B34-2C56AD551E50}"/>
              </a:ext>
            </a:extLst>
          </p:cNvPr>
          <p:cNvSpPr txBox="1"/>
          <p:nvPr/>
        </p:nvSpPr>
        <p:spPr>
          <a:xfrm>
            <a:off x="4645307" y="3868839"/>
            <a:ext cx="976036" cy="369332"/>
          </a:xfrm>
          <a:prstGeom prst="rect">
            <a:avLst/>
          </a:prstGeom>
          <a:noFill/>
        </p:spPr>
        <p:txBody>
          <a:bodyPr wrap="none" rtlCol="0">
            <a:spAutoFit/>
          </a:bodyPr>
          <a:lstStyle/>
          <a:p>
            <a:r>
              <a:rPr lang="en-US" dirty="0"/>
              <a:t>Problem</a:t>
            </a:r>
          </a:p>
        </p:txBody>
      </p:sp>
      <p:sp>
        <p:nvSpPr>
          <p:cNvPr id="22" name="TextBox 21">
            <a:extLst>
              <a:ext uri="{FF2B5EF4-FFF2-40B4-BE49-F238E27FC236}">
                <a16:creationId xmlns:a16="http://schemas.microsoft.com/office/drawing/2014/main" id="{BA6D644E-787A-AA33-3D73-ED3E04F5221C}"/>
              </a:ext>
            </a:extLst>
          </p:cNvPr>
          <p:cNvSpPr txBox="1"/>
          <p:nvPr/>
        </p:nvSpPr>
        <p:spPr>
          <a:xfrm>
            <a:off x="6918205" y="3868839"/>
            <a:ext cx="1268296" cy="369332"/>
          </a:xfrm>
          <a:prstGeom prst="rect">
            <a:avLst/>
          </a:prstGeom>
          <a:noFill/>
        </p:spPr>
        <p:txBody>
          <a:bodyPr wrap="none" rtlCol="0">
            <a:spAutoFit/>
          </a:bodyPr>
          <a:lstStyle/>
          <a:p>
            <a:r>
              <a:rPr lang="en-US" dirty="0"/>
              <a:t>AI Model(s)</a:t>
            </a:r>
          </a:p>
        </p:txBody>
      </p:sp>
      <p:sp>
        <p:nvSpPr>
          <p:cNvPr id="23" name="TextBox 22">
            <a:extLst>
              <a:ext uri="{FF2B5EF4-FFF2-40B4-BE49-F238E27FC236}">
                <a16:creationId xmlns:a16="http://schemas.microsoft.com/office/drawing/2014/main" id="{A2B23555-49E8-3424-7C2A-5F3BCCE99094}"/>
              </a:ext>
            </a:extLst>
          </p:cNvPr>
          <p:cNvSpPr txBox="1"/>
          <p:nvPr/>
        </p:nvSpPr>
        <p:spPr>
          <a:xfrm>
            <a:off x="9532913" y="3868839"/>
            <a:ext cx="809837" cy="369332"/>
          </a:xfrm>
          <a:prstGeom prst="rect">
            <a:avLst/>
          </a:prstGeom>
          <a:noFill/>
        </p:spPr>
        <p:txBody>
          <a:bodyPr wrap="none" rtlCol="0">
            <a:spAutoFit/>
          </a:bodyPr>
          <a:lstStyle/>
          <a:p>
            <a:r>
              <a:rPr lang="en-US" dirty="0"/>
              <a:t>Advice</a:t>
            </a:r>
          </a:p>
        </p:txBody>
      </p:sp>
      <p:sp>
        <p:nvSpPr>
          <p:cNvPr id="25" name="TextBox 24">
            <a:extLst>
              <a:ext uri="{FF2B5EF4-FFF2-40B4-BE49-F238E27FC236}">
                <a16:creationId xmlns:a16="http://schemas.microsoft.com/office/drawing/2014/main" id="{D002A8F1-778E-E9C8-517E-1F9C54DF2191}"/>
              </a:ext>
            </a:extLst>
          </p:cNvPr>
          <p:cNvSpPr txBox="1"/>
          <p:nvPr/>
        </p:nvSpPr>
        <p:spPr>
          <a:xfrm>
            <a:off x="1824529" y="5213611"/>
            <a:ext cx="9273116" cy="923330"/>
          </a:xfrm>
          <a:prstGeom prst="rect">
            <a:avLst/>
          </a:prstGeom>
          <a:noFill/>
        </p:spPr>
        <p:txBody>
          <a:bodyPr wrap="none" rtlCol="0">
            <a:spAutoFit/>
          </a:bodyPr>
          <a:lstStyle/>
          <a:p>
            <a:pPr lvl="0"/>
            <a:r>
              <a:rPr lang="en-US" dirty="0">
                <a:solidFill>
                  <a:schemeClr val="accent3">
                    <a:lumMod val="50000"/>
                  </a:schemeClr>
                </a:solidFill>
              </a:rPr>
              <a:t>Scenario: "We’re a UK mid-market retailer with falling online conversion over the last 3 months. "</a:t>
            </a:r>
          </a:p>
          <a:p>
            <a:pPr lvl="0"/>
            <a:r>
              <a:rPr lang="en-US" dirty="0">
                <a:solidFill>
                  <a:schemeClr val="accent3">
                    <a:lumMod val="50000"/>
                  </a:schemeClr>
                </a:solidFill>
              </a:rPr>
              <a:t>"What should we do in the next 90 days to diagnose and fix this?"</a:t>
            </a:r>
          </a:p>
          <a:p>
            <a:pPr lvl="0"/>
            <a:r>
              <a:rPr lang="en-US" dirty="0">
                <a:solidFill>
                  <a:schemeClr val="accent3">
                    <a:lumMod val="50000"/>
                  </a:schemeClr>
                </a:solidFill>
              </a:rPr>
              <a:t> </a:t>
            </a:r>
          </a:p>
        </p:txBody>
      </p:sp>
    </p:spTree>
    <p:extLst>
      <p:ext uri="{BB962C8B-B14F-4D97-AF65-F5344CB8AC3E}">
        <p14:creationId xmlns:p14="http://schemas.microsoft.com/office/powerpoint/2010/main" val="261727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B2268-CE12-BD54-4FCC-6AB66E0DB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3472C-410A-8006-38FC-0542B14E0876}"/>
              </a:ext>
            </a:extLst>
          </p:cNvPr>
          <p:cNvSpPr>
            <a:spLocks noGrp="1"/>
          </p:cNvSpPr>
          <p:nvPr>
            <p:ph type="title"/>
          </p:nvPr>
        </p:nvSpPr>
        <p:spPr/>
        <p:txBody>
          <a:bodyPr>
            <a:normAutofit fontScale="90000"/>
          </a:bodyPr>
          <a:lstStyle/>
          <a:p>
            <a:r>
              <a:rPr lang="en-GB" dirty="0"/>
              <a:t>Demo: The Threat &amp; the Opportunity (2)</a:t>
            </a:r>
            <a:br>
              <a:rPr lang="en-GB" dirty="0"/>
            </a:br>
            <a:br>
              <a:rPr lang="en-GB" dirty="0"/>
            </a:br>
            <a:r>
              <a:rPr lang="en-GB" sz="2000" i="1" dirty="0"/>
              <a:t>Let’s throw the problem at three market leading AI models with no UI and just a simple ask ….</a:t>
            </a:r>
          </a:p>
        </p:txBody>
      </p:sp>
      <p:pic>
        <p:nvPicPr>
          <p:cNvPr id="6" name="Graphic 5" descr="User outline">
            <a:extLst>
              <a:ext uri="{FF2B5EF4-FFF2-40B4-BE49-F238E27FC236}">
                <a16:creationId xmlns:a16="http://schemas.microsoft.com/office/drawing/2014/main" id="{5AE63079-9DB1-3ED4-4A99-56B5D75530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5050" y="3165147"/>
            <a:ext cx="914400" cy="914400"/>
          </a:xfrm>
          <a:prstGeom prst="rect">
            <a:avLst/>
          </a:prstGeom>
        </p:spPr>
      </p:pic>
      <p:pic>
        <p:nvPicPr>
          <p:cNvPr id="9" name="Graphic 8" descr="Artificial Intelligence outline">
            <a:extLst>
              <a:ext uri="{FF2B5EF4-FFF2-40B4-BE49-F238E27FC236}">
                <a16:creationId xmlns:a16="http://schemas.microsoft.com/office/drawing/2014/main" id="{C3AF260A-2D7B-36A7-E03A-AA0B8BB622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87274" y="1990848"/>
            <a:ext cx="914400" cy="914400"/>
          </a:xfrm>
          <a:prstGeom prst="rect">
            <a:avLst/>
          </a:prstGeom>
        </p:spPr>
      </p:pic>
      <p:pic>
        <p:nvPicPr>
          <p:cNvPr id="12" name="Graphic 11" descr="Thought bubble outline">
            <a:extLst>
              <a:ext uri="{FF2B5EF4-FFF2-40B4-BE49-F238E27FC236}">
                <a16:creationId xmlns:a16="http://schemas.microsoft.com/office/drawing/2014/main" id="{0886DF0B-1FE0-FADA-8D9E-30AF01D73AF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72742" y="3269319"/>
            <a:ext cx="914400" cy="914400"/>
          </a:xfrm>
          <a:prstGeom prst="rect">
            <a:avLst/>
          </a:prstGeom>
        </p:spPr>
      </p:pic>
      <p:pic>
        <p:nvPicPr>
          <p:cNvPr id="15" name="Graphic 14" descr="Document outline">
            <a:extLst>
              <a:ext uri="{FF2B5EF4-FFF2-40B4-BE49-F238E27FC236}">
                <a16:creationId xmlns:a16="http://schemas.microsoft.com/office/drawing/2014/main" id="{105D2B39-DE64-9C61-4000-2D1BCDADD4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44966" y="1924292"/>
            <a:ext cx="914400" cy="914400"/>
          </a:xfrm>
          <a:prstGeom prst="rect">
            <a:avLst/>
          </a:prstGeom>
        </p:spPr>
      </p:pic>
      <p:pic>
        <p:nvPicPr>
          <p:cNvPr id="17" name="Graphic 16" descr="Arrow: Straight outline">
            <a:extLst>
              <a:ext uri="{FF2B5EF4-FFF2-40B4-BE49-F238E27FC236}">
                <a16:creationId xmlns:a16="http://schemas.microsoft.com/office/drawing/2014/main" id="{4561F3F1-4446-D7AF-7794-657A1DEBF95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1643896" y="3269319"/>
            <a:ext cx="914400" cy="914400"/>
          </a:xfrm>
          <a:prstGeom prst="rect">
            <a:avLst/>
          </a:prstGeom>
        </p:spPr>
      </p:pic>
      <p:pic>
        <p:nvPicPr>
          <p:cNvPr id="18" name="Graphic 17" descr="Arrow: Straight outline">
            <a:extLst>
              <a:ext uri="{FF2B5EF4-FFF2-40B4-BE49-F238E27FC236}">
                <a16:creationId xmlns:a16="http://schemas.microsoft.com/office/drawing/2014/main" id="{9A6AE22C-620C-794B-B92A-8AD92EA9022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4278689" y="1990848"/>
            <a:ext cx="914400" cy="914400"/>
          </a:xfrm>
          <a:prstGeom prst="rect">
            <a:avLst/>
          </a:prstGeom>
        </p:spPr>
      </p:pic>
      <p:pic>
        <p:nvPicPr>
          <p:cNvPr id="19" name="Graphic 18" descr="Arrow: Straight outline">
            <a:extLst>
              <a:ext uri="{FF2B5EF4-FFF2-40B4-BE49-F238E27FC236}">
                <a16:creationId xmlns:a16="http://schemas.microsoft.com/office/drawing/2014/main" id="{A6F3E76E-7DFA-52DC-91D8-8E8623B4E74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7916120" y="1924292"/>
            <a:ext cx="914400" cy="914400"/>
          </a:xfrm>
          <a:prstGeom prst="rect">
            <a:avLst/>
          </a:prstGeom>
        </p:spPr>
      </p:pic>
      <p:sp>
        <p:nvSpPr>
          <p:cNvPr id="20" name="TextBox 19">
            <a:extLst>
              <a:ext uri="{FF2B5EF4-FFF2-40B4-BE49-F238E27FC236}">
                <a16:creationId xmlns:a16="http://schemas.microsoft.com/office/drawing/2014/main" id="{9F27E797-3466-725F-20AE-4E5E2A8136BB}"/>
              </a:ext>
            </a:extLst>
          </p:cNvPr>
          <p:cNvSpPr txBox="1"/>
          <p:nvPr/>
        </p:nvSpPr>
        <p:spPr>
          <a:xfrm>
            <a:off x="415050" y="4287892"/>
            <a:ext cx="823687" cy="369332"/>
          </a:xfrm>
          <a:prstGeom prst="rect">
            <a:avLst/>
          </a:prstGeom>
          <a:noFill/>
        </p:spPr>
        <p:txBody>
          <a:bodyPr wrap="none" rtlCol="0">
            <a:spAutoFit/>
          </a:bodyPr>
          <a:lstStyle/>
          <a:p>
            <a:r>
              <a:rPr lang="en-US" dirty="0"/>
              <a:t>Person</a:t>
            </a:r>
          </a:p>
        </p:txBody>
      </p:sp>
      <p:sp>
        <p:nvSpPr>
          <p:cNvPr id="21" name="TextBox 20">
            <a:extLst>
              <a:ext uri="{FF2B5EF4-FFF2-40B4-BE49-F238E27FC236}">
                <a16:creationId xmlns:a16="http://schemas.microsoft.com/office/drawing/2014/main" id="{672C2CE3-6DA5-C25A-0554-AB270E559F2B}"/>
              </a:ext>
            </a:extLst>
          </p:cNvPr>
          <p:cNvSpPr txBox="1"/>
          <p:nvPr/>
        </p:nvSpPr>
        <p:spPr>
          <a:xfrm>
            <a:off x="2952801" y="4287892"/>
            <a:ext cx="976036" cy="369332"/>
          </a:xfrm>
          <a:prstGeom prst="rect">
            <a:avLst/>
          </a:prstGeom>
          <a:noFill/>
        </p:spPr>
        <p:txBody>
          <a:bodyPr wrap="none" rtlCol="0">
            <a:spAutoFit/>
          </a:bodyPr>
          <a:lstStyle/>
          <a:p>
            <a:r>
              <a:rPr lang="en-US" dirty="0"/>
              <a:t>Problem</a:t>
            </a:r>
          </a:p>
        </p:txBody>
      </p:sp>
      <p:sp>
        <p:nvSpPr>
          <p:cNvPr id="22" name="TextBox 21">
            <a:extLst>
              <a:ext uri="{FF2B5EF4-FFF2-40B4-BE49-F238E27FC236}">
                <a16:creationId xmlns:a16="http://schemas.microsoft.com/office/drawing/2014/main" id="{D26D0E0A-34B3-C3E7-0114-FDD293033856}"/>
              </a:ext>
            </a:extLst>
          </p:cNvPr>
          <p:cNvSpPr txBox="1"/>
          <p:nvPr/>
        </p:nvSpPr>
        <p:spPr>
          <a:xfrm>
            <a:off x="5601806" y="3020329"/>
            <a:ext cx="2275498" cy="369332"/>
          </a:xfrm>
          <a:prstGeom prst="rect">
            <a:avLst/>
          </a:prstGeom>
          <a:noFill/>
        </p:spPr>
        <p:txBody>
          <a:bodyPr wrap="square" rtlCol="0">
            <a:spAutoFit/>
          </a:bodyPr>
          <a:lstStyle/>
          <a:p>
            <a:r>
              <a:rPr lang="en-US" b="1" dirty="0"/>
              <a:t>ChatGPT</a:t>
            </a:r>
            <a:r>
              <a:rPr lang="en-US" dirty="0"/>
              <a:t> from OpenAI</a:t>
            </a:r>
          </a:p>
        </p:txBody>
      </p:sp>
      <p:sp>
        <p:nvSpPr>
          <p:cNvPr id="23" name="TextBox 22">
            <a:extLst>
              <a:ext uri="{FF2B5EF4-FFF2-40B4-BE49-F238E27FC236}">
                <a16:creationId xmlns:a16="http://schemas.microsoft.com/office/drawing/2014/main" id="{C7F7DBF8-5835-AF91-9A64-BF0DB4E7FF5C}"/>
              </a:ext>
            </a:extLst>
          </p:cNvPr>
          <p:cNvSpPr txBox="1"/>
          <p:nvPr/>
        </p:nvSpPr>
        <p:spPr>
          <a:xfrm>
            <a:off x="9197247" y="3047037"/>
            <a:ext cx="809837" cy="369332"/>
          </a:xfrm>
          <a:prstGeom prst="rect">
            <a:avLst/>
          </a:prstGeom>
          <a:noFill/>
        </p:spPr>
        <p:txBody>
          <a:bodyPr wrap="none" rtlCol="0">
            <a:spAutoFit/>
          </a:bodyPr>
          <a:lstStyle/>
          <a:p>
            <a:r>
              <a:rPr lang="en-US" dirty="0"/>
              <a:t>Advice</a:t>
            </a:r>
          </a:p>
        </p:txBody>
      </p:sp>
      <p:pic>
        <p:nvPicPr>
          <p:cNvPr id="3" name="Graphic 2" descr="Artificial Intelligence outline">
            <a:extLst>
              <a:ext uri="{FF2B5EF4-FFF2-40B4-BE49-F238E27FC236}">
                <a16:creationId xmlns:a16="http://schemas.microsoft.com/office/drawing/2014/main" id="{2061519F-F566-DA31-923C-3EAC2D9DC0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52559" y="3624714"/>
            <a:ext cx="914400" cy="914400"/>
          </a:xfrm>
          <a:prstGeom prst="rect">
            <a:avLst/>
          </a:prstGeom>
        </p:spPr>
      </p:pic>
      <p:pic>
        <p:nvPicPr>
          <p:cNvPr id="4" name="Graphic 3" descr="Document outline">
            <a:extLst>
              <a:ext uri="{FF2B5EF4-FFF2-40B4-BE49-F238E27FC236}">
                <a16:creationId xmlns:a16="http://schemas.microsoft.com/office/drawing/2014/main" id="{574D3191-CFCD-014A-9FB5-701C6A6B80F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10251" y="3558158"/>
            <a:ext cx="914400" cy="914400"/>
          </a:xfrm>
          <a:prstGeom prst="rect">
            <a:avLst/>
          </a:prstGeom>
        </p:spPr>
      </p:pic>
      <p:pic>
        <p:nvPicPr>
          <p:cNvPr id="5" name="Graphic 4" descr="Arrow: Straight outline">
            <a:extLst>
              <a:ext uri="{FF2B5EF4-FFF2-40B4-BE49-F238E27FC236}">
                <a16:creationId xmlns:a16="http://schemas.microsoft.com/office/drawing/2014/main" id="{83B8D857-B82D-A8D7-71C6-9D98FDDDD40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4343974" y="3624714"/>
            <a:ext cx="914400" cy="914400"/>
          </a:xfrm>
          <a:prstGeom prst="rect">
            <a:avLst/>
          </a:prstGeom>
        </p:spPr>
      </p:pic>
      <p:pic>
        <p:nvPicPr>
          <p:cNvPr id="7" name="Graphic 6" descr="Arrow: Straight outline">
            <a:extLst>
              <a:ext uri="{FF2B5EF4-FFF2-40B4-BE49-F238E27FC236}">
                <a16:creationId xmlns:a16="http://schemas.microsoft.com/office/drawing/2014/main" id="{A6124E20-E765-2C8E-AF73-3FFF5EEF148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7981405" y="3558158"/>
            <a:ext cx="914400" cy="914400"/>
          </a:xfrm>
          <a:prstGeom prst="rect">
            <a:avLst/>
          </a:prstGeom>
        </p:spPr>
      </p:pic>
      <p:sp>
        <p:nvSpPr>
          <p:cNvPr id="8" name="TextBox 7">
            <a:extLst>
              <a:ext uri="{FF2B5EF4-FFF2-40B4-BE49-F238E27FC236}">
                <a16:creationId xmlns:a16="http://schemas.microsoft.com/office/drawing/2014/main" id="{0D224603-386E-3D31-551F-9A205E4573A2}"/>
              </a:ext>
            </a:extLst>
          </p:cNvPr>
          <p:cNvSpPr txBox="1"/>
          <p:nvPr/>
        </p:nvSpPr>
        <p:spPr>
          <a:xfrm>
            <a:off x="5596601" y="4725503"/>
            <a:ext cx="2311915" cy="369332"/>
          </a:xfrm>
          <a:prstGeom prst="rect">
            <a:avLst/>
          </a:prstGeom>
          <a:noFill/>
        </p:spPr>
        <p:txBody>
          <a:bodyPr wrap="none" rtlCol="0">
            <a:spAutoFit/>
          </a:bodyPr>
          <a:lstStyle/>
          <a:p>
            <a:r>
              <a:rPr lang="en-US" b="1" dirty="0"/>
              <a:t>Claude</a:t>
            </a:r>
            <a:r>
              <a:rPr lang="en-US" dirty="0"/>
              <a:t> from Anthropic</a:t>
            </a:r>
          </a:p>
        </p:txBody>
      </p:sp>
      <p:sp>
        <p:nvSpPr>
          <p:cNvPr id="10" name="TextBox 9">
            <a:extLst>
              <a:ext uri="{FF2B5EF4-FFF2-40B4-BE49-F238E27FC236}">
                <a16:creationId xmlns:a16="http://schemas.microsoft.com/office/drawing/2014/main" id="{1A617003-7706-FDB7-6F13-29390D62A347}"/>
              </a:ext>
            </a:extLst>
          </p:cNvPr>
          <p:cNvSpPr txBox="1"/>
          <p:nvPr/>
        </p:nvSpPr>
        <p:spPr>
          <a:xfrm>
            <a:off x="9262532" y="4680903"/>
            <a:ext cx="809837" cy="369332"/>
          </a:xfrm>
          <a:prstGeom prst="rect">
            <a:avLst/>
          </a:prstGeom>
          <a:noFill/>
        </p:spPr>
        <p:txBody>
          <a:bodyPr wrap="none" rtlCol="0">
            <a:spAutoFit/>
          </a:bodyPr>
          <a:lstStyle/>
          <a:p>
            <a:r>
              <a:rPr lang="en-US" dirty="0"/>
              <a:t>Advice</a:t>
            </a:r>
          </a:p>
        </p:txBody>
      </p:sp>
      <p:pic>
        <p:nvPicPr>
          <p:cNvPr id="11" name="Graphic 10" descr="Artificial Intelligence outline">
            <a:extLst>
              <a:ext uri="{FF2B5EF4-FFF2-40B4-BE49-F238E27FC236}">
                <a16:creationId xmlns:a16="http://schemas.microsoft.com/office/drawing/2014/main" id="{D1A9344D-57EA-6F9B-07B4-8D9FD7F72A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3023" y="5350395"/>
            <a:ext cx="914400" cy="914400"/>
          </a:xfrm>
          <a:prstGeom prst="rect">
            <a:avLst/>
          </a:prstGeom>
        </p:spPr>
      </p:pic>
      <p:pic>
        <p:nvPicPr>
          <p:cNvPr id="13" name="Graphic 12" descr="Document outline">
            <a:extLst>
              <a:ext uri="{FF2B5EF4-FFF2-40B4-BE49-F238E27FC236}">
                <a16:creationId xmlns:a16="http://schemas.microsoft.com/office/drawing/2014/main" id="{E5368AF7-61AD-DBA3-EB24-32C20D4425D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30715" y="5283839"/>
            <a:ext cx="914400" cy="914400"/>
          </a:xfrm>
          <a:prstGeom prst="rect">
            <a:avLst/>
          </a:prstGeom>
        </p:spPr>
      </p:pic>
      <p:pic>
        <p:nvPicPr>
          <p:cNvPr id="14" name="Graphic 13" descr="Arrow: Straight outline">
            <a:extLst>
              <a:ext uri="{FF2B5EF4-FFF2-40B4-BE49-F238E27FC236}">
                <a16:creationId xmlns:a16="http://schemas.microsoft.com/office/drawing/2014/main" id="{C582310A-41F3-3187-6BBB-7E5786989FD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4364438" y="5350395"/>
            <a:ext cx="914400" cy="914400"/>
          </a:xfrm>
          <a:prstGeom prst="rect">
            <a:avLst/>
          </a:prstGeom>
        </p:spPr>
      </p:pic>
      <p:pic>
        <p:nvPicPr>
          <p:cNvPr id="16" name="Graphic 15" descr="Arrow: Straight outline">
            <a:extLst>
              <a:ext uri="{FF2B5EF4-FFF2-40B4-BE49-F238E27FC236}">
                <a16:creationId xmlns:a16="http://schemas.microsoft.com/office/drawing/2014/main" id="{E423D773-BEE0-3173-99A2-67CF7C11560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8001869" y="5283839"/>
            <a:ext cx="914400" cy="914400"/>
          </a:xfrm>
          <a:prstGeom prst="rect">
            <a:avLst/>
          </a:prstGeom>
        </p:spPr>
      </p:pic>
      <p:sp>
        <p:nvSpPr>
          <p:cNvPr id="24" name="TextBox 23">
            <a:extLst>
              <a:ext uri="{FF2B5EF4-FFF2-40B4-BE49-F238E27FC236}">
                <a16:creationId xmlns:a16="http://schemas.microsoft.com/office/drawing/2014/main" id="{291166EC-A97D-681C-5E90-BBD756187BC3}"/>
              </a:ext>
            </a:extLst>
          </p:cNvPr>
          <p:cNvSpPr txBox="1"/>
          <p:nvPr/>
        </p:nvSpPr>
        <p:spPr>
          <a:xfrm>
            <a:off x="5765463" y="6406584"/>
            <a:ext cx="2327368" cy="369332"/>
          </a:xfrm>
          <a:prstGeom prst="rect">
            <a:avLst/>
          </a:prstGeom>
          <a:noFill/>
        </p:spPr>
        <p:txBody>
          <a:bodyPr wrap="none" rtlCol="0">
            <a:spAutoFit/>
          </a:bodyPr>
          <a:lstStyle/>
          <a:p>
            <a:r>
              <a:rPr lang="en-US" b="1" dirty="0"/>
              <a:t>Gemini</a:t>
            </a:r>
            <a:r>
              <a:rPr lang="en-US" dirty="0"/>
              <a:t> from Google AI</a:t>
            </a:r>
          </a:p>
        </p:txBody>
      </p:sp>
      <p:sp>
        <p:nvSpPr>
          <p:cNvPr id="26" name="TextBox 25">
            <a:extLst>
              <a:ext uri="{FF2B5EF4-FFF2-40B4-BE49-F238E27FC236}">
                <a16:creationId xmlns:a16="http://schemas.microsoft.com/office/drawing/2014/main" id="{A365FFAB-DC6E-71C4-1B3B-E5B95FEB0A0D}"/>
              </a:ext>
            </a:extLst>
          </p:cNvPr>
          <p:cNvSpPr txBox="1"/>
          <p:nvPr/>
        </p:nvSpPr>
        <p:spPr>
          <a:xfrm>
            <a:off x="9282996" y="6406584"/>
            <a:ext cx="809837" cy="369332"/>
          </a:xfrm>
          <a:prstGeom prst="rect">
            <a:avLst/>
          </a:prstGeom>
          <a:noFill/>
        </p:spPr>
        <p:txBody>
          <a:bodyPr wrap="none" rtlCol="0">
            <a:spAutoFit/>
          </a:bodyPr>
          <a:lstStyle/>
          <a:p>
            <a:r>
              <a:rPr lang="en-US" dirty="0"/>
              <a:t>Advice</a:t>
            </a:r>
          </a:p>
        </p:txBody>
      </p:sp>
      <p:pic>
        <p:nvPicPr>
          <p:cNvPr id="16386" name="Picture 2" descr="OpenAI Logo: Dissecting the Design ...">
            <a:extLst>
              <a:ext uri="{FF2B5EF4-FFF2-40B4-BE49-F238E27FC236}">
                <a16:creationId xmlns:a16="http://schemas.microsoft.com/office/drawing/2014/main" id="{2A85ACCC-F8D1-4B2E-C8F2-4554DD70C7D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25328" t="8992" r="23162" b="7898"/>
          <a:stretch>
            <a:fillRect/>
          </a:stretch>
        </p:blipFill>
        <p:spPr bwMode="auto">
          <a:xfrm>
            <a:off x="5668138" y="2016015"/>
            <a:ext cx="914401" cy="927977"/>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Claude AI logo transparent PNG - StickPNG">
            <a:extLst>
              <a:ext uri="{FF2B5EF4-FFF2-40B4-BE49-F238E27FC236}">
                <a16:creationId xmlns:a16="http://schemas.microsoft.com/office/drawing/2014/main" id="{CF57F75B-7098-98A1-E7AF-DF81B0E7DDE8}"/>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0393" t="8035" r="7759" b="12270"/>
          <a:stretch>
            <a:fillRect/>
          </a:stretch>
        </p:blipFill>
        <p:spPr bwMode="auto">
          <a:xfrm>
            <a:off x="5626452" y="3653122"/>
            <a:ext cx="939095" cy="914400"/>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Gemini Logo Icon (chatbot) - PNG Logo ...">
            <a:extLst>
              <a:ext uri="{FF2B5EF4-FFF2-40B4-BE49-F238E27FC236}">
                <a16:creationId xmlns:a16="http://schemas.microsoft.com/office/drawing/2014/main" id="{22EE47C3-CF5E-B8E8-402E-157E72735DB5}"/>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0003" r="10823"/>
          <a:stretch>
            <a:fillRect/>
          </a:stretch>
        </p:blipFill>
        <p:spPr bwMode="auto">
          <a:xfrm>
            <a:off x="5540816" y="5188053"/>
            <a:ext cx="1169043" cy="1105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433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9E674-AEF4-FFB8-FB78-1D9FB1D5C585}"/>
              </a:ext>
            </a:extLst>
          </p:cNvPr>
          <p:cNvSpPr>
            <a:spLocks noGrp="1"/>
          </p:cNvSpPr>
          <p:nvPr>
            <p:ph type="title"/>
          </p:nvPr>
        </p:nvSpPr>
        <p:spPr/>
        <p:txBody>
          <a:bodyPr>
            <a:normAutofit/>
          </a:bodyPr>
          <a:lstStyle/>
          <a:p>
            <a:r>
              <a:rPr lang="en-US" sz="3200" dirty="0"/>
              <a:t>Advice from ChatGPT</a:t>
            </a:r>
          </a:p>
        </p:txBody>
      </p:sp>
      <p:pic>
        <p:nvPicPr>
          <p:cNvPr id="3" name="Picture 2" descr="OpenAI Logo: Dissecting the Design ...">
            <a:extLst>
              <a:ext uri="{FF2B5EF4-FFF2-40B4-BE49-F238E27FC236}">
                <a16:creationId xmlns:a16="http://schemas.microsoft.com/office/drawing/2014/main" id="{4CCBF2B7-A358-0089-9D9D-D4A9D82E8E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328" t="8992" r="23162" b="7898"/>
          <a:stretch>
            <a:fillRect/>
          </a:stretch>
        </p:blipFill>
        <p:spPr bwMode="auto">
          <a:xfrm>
            <a:off x="1235034" y="563917"/>
            <a:ext cx="914401" cy="92797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1378F39B-EE93-3268-F94B-293F5A76466A}"/>
              </a:ext>
            </a:extLst>
          </p:cNvPr>
          <p:cNvSpPr>
            <a:spLocks noChangeArrowheads="1"/>
          </p:cNvSpPr>
          <p:nvPr/>
        </p:nvSpPr>
        <p:spPr bwMode="auto">
          <a:xfrm>
            <a:off x="838200" y="1505563"/>
            <a:ext cx="10058400"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Absolutely, declining online conversion is a critical issue, and acting quickly and systematically is key.</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Here’s a **90-day action plan** tailored for a UK mid-market retailer:</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**Weeks 1-2: Diagnose the Problem**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1. **Data Deep-Dive**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**Segment Analysis:** Break down conversion by device, channel, traffic source, location, and product category.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**Funnel Analysis:** Identify where drop-offs are happening (homepage, category, product page, basket, checkout).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**Compare to Previous Periods:** Look for changes in user </a:t>
            </a:r>
            <a:r>
              <a:rPr kumimoji="0" lang="en-US" altLang="en-US" sz="1000" b="0" i="0" u="none" strike="noStrike" cap="none" normalizeH="0" baseline="0" dirty="0" err="1">
                <a:ln>
                  <a:noFill/>
                </a:ln>
                <a:solidFill>
                  <a:schemeClr val="accent4">
                    <a:lumMod val="50000"/>
                  </a:schemeClr>
                </a:solidFill>
                <a:effectLst/>
                <a:latin typeface="Courier New" panose="02070309020205020404" pitchFamily="49" charset="0"/>
              </a:rPr>
              <a:t>behaviour</a:t>
            </a: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traffic quality, or technical performance.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2. **Technical Health Check**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**Site Speed:** Use Google </a:t>
            </a:r>
            <a:r>
              <a:rPr kumimoji="0" lang="en-US" altLang="en-US" sz="1000" b="0" i="0" u="none" strike="noStrike" cap="none" normalizeH="0" baseline="0" dirty="0" err="1">
                <a:ln>
                  <a:noFill/>
                </a:ln>
                <a:solidFill>
                  <a:schemeClr val="accent4">
                    <a:lumMod val="50000"/>
                  </a:schemeClr>
                </a:solidFill>
                <a:effectLst/>
                <a:latin typeface="Courier New" panose="02070309020205020404" pitchFamily="49" charset="0"/>
              </a:rPr>
              <a:t>PageSpeed</a:t>
            </a: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Insights and </a:t>
            </a:r>
            <a:r>
              <a:rPr kumimoji="0" lang="en-US" altLang="en-US" sz="1000" b="0" i="0" u="none" strike="noStrike" cap="none" normalizeH="0" baseline="0" dirty="0" err="1">
                <a:ln>
                  <a:noFill/>
                </a:ln>
                <a:solidFill>
                  <a:schemeClr val="accent4">
                    <a:lumMod val="50000"/>
                  </a:schemeClr>
                </a:solidFill>
                <a:effectLst/>
                <a:latin typeface="Courier New" panose="02070309020205020404" pitchFamily="49" charset="0"/>
              </a:rPr>
              <a:t>WebPageTest</a:t>
            </a: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to check for slowdowns.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**Error Tracking:** Review error logs, broken links, and 404s.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**Mobile Experience:** Audit mobile usability (common pain point).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3. **Competitor Benchmarking**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Review competitors’ sites for new features, promotions, or UX improvements.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4. **Customer Feedback**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**On-site Surveys:** Ask recent visitors about their experience and friction points.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**Customer Service Logs:** Review for recurring complaints about the online experience.</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**Weeks 3-4: Hypothesis &amp; Quick Wins**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1. **Form Hypotheses**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E.g., “Conversion dropped on mobile after a recent site update”, “Competitor pricing is more aggressive”, “Checkout errors increased”.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2. **Implement Quick Fixes**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**Fix obvious bugs:** Broken links, error messages, missing images.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**Restore previous high-performing elements** if recent changes correlate with the drop……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t>
            </a:r>
            <a:r>
              <a:rPr kumimoji="0" lang="en-US" altLang="en-US" sz="1000" b="1" i="1" u="none" strike="noStrike" cap="none" normalizeH="0" baseline="0" dirty="0">
                <a:ln>
                  <a:noFill/>
                </a:ln>
                <a:solidFill>
                  <a:schemeClr val="accent4">
                    <a:lumMod val="50000"/>
                  </a:schemeClr>
                </a:solidFill>
                <a:effectLst/>
                <a:latin typeface="Courier New" panose="02070309020205020404" pitchFamily="49" charset="0"/>
              </a:rPr>
              <a:t>cut off here for display purposes</a:t>
            </a: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endParaRPr kumimoji="0" lang="en-US" altLang="en-US" sz="1800" b="0" i="0" u="none" strike="noStrike" cap="none" normalizeH="0" baseline="0" dirty="0">
              <a:ln>
                <a:noFill/>
              </a:ln>
              <a:solidFill>
                <a:schemeClr val="accent4">
                  <a:lumMod val="50000"/>
                </a:schemeClr>
              </a:solidFill>
              <a:effectLst/>
              <a:latin typeface="Arial" panose="020B0604020202020204" pitchFamily="34" charset="0"/>
            </a:endParaRPr>
          </a:p>
        </p:txBody>
      </p:sp>
    </p:spTree>
    <p:extLst>
      <p:ext uri="{BB962C8B-B14F-4D97-AF65-F5344CB8AC3E}">
        <p14:creationId xmlns:p14="http://schemas.microsoft.com/office/powerpoint/2010/main" val="1348050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D1830-7696-206F-0A79-6CF7FFD7904E}"/>
            </a:ext>
          </a:extLst>
        </p:cNvPr>
        <p:cNvGrpSpPr/>
        <p:nvPr/>
      </p:nvGrpSpPr>
      <p:grpSpPr>
        <a:xfrm>
          <a:off x="0" y="0"/>
          <a:ext cx="0" cy="0"/>
          <a:chOff x="0" y="0"/>
          <a:chExt cx="0" cy="0"/>
        </a:xfrm>
      </p:grpSpPr>
      <p:pic>
        <p:nvPicPr>
          <p:cNvPr id="4" name="Picture 4" descr="Claude AI logo transparent PNG - StickPNG">
            <a:extLst>
              <a:ext uri="{FF2B5EF4-FFF2-40B4-BE49-F238E27FC236}">
                <a16:creationId xmlns:a16="http://schemas.microsoft.com/office/drawing/2014/main" id="{844F02E9-E72B-956E-2FB6-7AB73721DD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393" t="8035" r="7759" b="12270"/>
          <a:stretch>
            <a:fillRect/>
          </a:stretch>
        </p:blipFill>
        <p:spPr bwMode="auto">
          <a:xfrm>
            <a:off x="1235034" y="584329"/>
            <a:ext cx="939095" cy="914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85CE31E-D46D-E1F5-8BB8-5BC47609189E}"/>
              </a:ext>
            </a:extLst>
          </p:cNvPr>
          <p:cNvSpPr>
            <a:spLocks noGrp="1"/>
          </p:cNvSpPr>
          <p:nvPr>
            <p:ph type="title"/>
          </p:nvPr>
        </p:nvSpPr>
        <p:spPr/>
        <p:txBody>
          <a:bodyPr>
            <a:normAutofit/>
          </a:bodyPr>
          <a:lstStyle/>
          <a:p>
            <a:r>
              <a:rPr lang="en-US" sz="3200" dirty="0"/>
              <a:t>Advice from Claude</a:t>
            </a:r>
          </a:p>
        </p:txBody>
      </p:sp>
      <p:sp>
        <p:nvSpPr>
          <p:cNvPr id="6" name="Rectangle 2">
            <a:extLst>
              <a:ext uri="{FF2B5EF4-FFF2-40B4-BE49-F238E27FC236}">
                <a16:creationId xmlns:a16="http://schemas.microsoft.com/office/drawing/2014/main" id="{61570C64-58EC-FAAC-D0D9-AB8ABCB7C515}"/>
              </a:ext>
            </a:extLst>
          </p:cNvPr>
          <p:cNvSpPr>
            <a:spLocks noChangeArrowheads="1"/>
          </p:cNvSpPr>
          <p:nvPr/>
        </p:nvSpPr>
        <p:spPr bwMode="auto">
          <a:xfrm>
            <a:off x="-400291" y="-338554"/>
            <a:ext cx="100584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t>
            </a:r>
            <a:r>
              <a:rPr kumimoji="0" lang="en-US" altLang="en-US" sz="1000" b="1" i="1" u="none" strike="noStrike" cap="none" normalizeH="0" baseline="0" dirty="0">
                <a:ln>
                  <a:noFill/>
                </a:ln>
                <a:solidFill>
                  <a:schemeClr val="accent4">
                    <a:lumMod val="50000"/>
                  </a:schemeClr>
                </a:solidFill>
                <a:effectLst/>
                <a:latin typeface="Courier New" panose="02070309020205020404" pitchFamily="49" charset="0"/>
              </a:rPr>
              <a:t>cut off here for display purposes</a:t>
            </a: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endParaRPr kumimoji="0" lang="en-US" altLang="en-US" sz="1800" b="0" i="0" u="none" strike="noStrike" cap="none" normalizeH="0" baseline="0" dirty="0">
              <a:ln>
                <a:noFill/>
              </a:ln>
              <a:solidFill>
                <a:schemeClr val="accent4">
                  <a:lumMod val="50000"/>
                </a:schemeClr>
              </a:solidFill>
              <a:effectLst/>
              <a:latin typeface="Arial" panose="020B0604020202020204" pitchFamily="34" charset="0"/>
            </a:endParaRPr>
          </a:p>
        </p:txBody>
      </p:sp>
      <p:sp>
        <p:nvSpPr>
          <p:cNvPr id="5" name="Rectangle 1">
            <a:extLst>
              <a:ext uri="{FF2B5EF4-FFF2-40B4-BE49-F238E27FC236}">
                <a16:creationId xmlns:a16="http://schemas.microsoft.com/office/drawing/2014/main" id="{9825721E-11C2-EF58-74D7-C41D71B3C409}"/>
              </a:ext>
            </a:extLst>
          </p:cNvPr>
          <p:cNvSpPr>
            <a:spLocks noChangeArrowheads="1"/>
          </p:cNvSpPr>
          <p:nvPr/>
        </p:nvSpPr>
        <p:spPr bwMode="auto">
          <a:xfrm>
            <a:off x="838200" y="1519162"/>
            <a:ext cx="8640000"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Here's a structured 90-day plan to diagnose and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address falling online conversion rates: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Month 1: Diagnostic Phase</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1. Data Analysis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Deep dive into web analytics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Segment conversion drop by: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Device type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Traffic source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Product categories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Customer demographics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2. Technical Audit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Site speed testing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Mobile responsiveness check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Checkout flow analysis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Performance across browsers/devices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3. User Experience Research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Heatmap and session recording tools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User testing sessions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Customer feedback surveys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Abandoned cart analysis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Month 2: Hypothesis &amp; Initial Testing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1. Conversion Optimization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A/B test checkout process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Simplify form fields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Improve product page layouts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Enhanced product imagery/videos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 Clearer pricing/shipping information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endParaRPr kumimoji="0" lang="en-US" altLang="en-US" sz="1800" b="0" i="0" u="none" strike="noStrike" cap="none" normalizeH="0" baseline="0" dirty="0">
              <a:ln>
                <a:noFill/>
              </a:ln>
              <a:solidFill>
                <a:schemeClr val="accent4">
                  <a:lumMod val="50000"/>
                </a:schemeClr>
              </a:solidFill>
              <a:effectLst/>
              <a:latin typeface="Arial" panose="020B0604020202020204" pitchFamily="34" charset="0"/>
            </a:endParaRPr>
          </a:p>
        </p:txBody>
      </p:sp>
      <p:sp>
        <p:nvSpPr>
          <p:cNvPr id="9" name="TextBox 8">
            <a:extLst>
              <a:ext uri="{FF2B5EF4-FFF2-40B4-BE49-F238E27FC236}">
                <a16:creationId xmlns:a16="http://schemas.microsoft.com/office/drawing/2014/main" id="{0E04FE7A-50F1-2210-B531-DA4B5C31BA33}"/>
              </a:ext>
            </a:extLst>
          </p:cNvPr>
          <p:cNvSpPr txBox="1"/>
          <p:nvPr/>
        </p:nvSpPr>
        <p:spPr>
          <a:xfrm>
            <a:off x="5808563" y="1426828"/>
            <a:ext cx="6302414" cy="5478423"/>
          </a:xfrm>
          <a:prstGeom prst="rect">
            <a:avLst/>
          </a:prstGeom>
          <a:noFill/>
        </p:spPr>
        <p:txBody>
          <a:bodyPr wrap="square">
            <a:spAutoFit/>
          </a:bodyPr>
          <a:lstStyle/>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2. Technical Improvements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Optimize site speed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Enhance mobile experience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Implement performance improvements identified in audit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3. Personalization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Targeted product recommendations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Personalized homepage experiences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Behavioral targeting </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Month 3: Implementation &amp; Measurement</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1. Rollout Validated Improvements</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Implement winning test variations</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Continuous small-scale experiments</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Monitor key conversion metrics</a:t>
            </a:r>
          </a:p>
          <a:p>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2. Customer Engagement</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Retargeting campaigns</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Personalized email marketing</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Loyalty program enhancements</a:t>
            </a:r>
          </a:p>
          <a:p>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Recommended Tools:</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Google Analytics</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Hotjar</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Optimizely</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err="1">
                <a:ln>
                  <a:noFill/>
                </a:ln>
                <a:solidFill>
                  <a:schemeClr val="accent4">
                    <a:lumMod val="50000"/>
                  </a:schemeClr>
                </a:solidFill>
                <a:effectLst/>
                <a:latin typeface="Courier New" panose="02070309020205020404" pitchFamily="49" charset="0"/>
                <a:cs typeface="Courier New" panose="02070309020205020404" pitchFamily="49" charset="0"/>
              </a:rPr>
              <a:t>UserTesting.com</a:t>
            </a: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Key Metrics to Track:</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Conversion rate</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Average order value</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Cart abandonment rate</a:t>
            </a:r>
          </a:p>
          <a:p>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Site speed</a:t>
            </a:r>
          </a:p>
          <a:p>
            <a:pPr marL="171450" indent="-171450">
              <a:buFontTx/>
              <a:buChar char="-"/>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Mobile vs desktop performance</a:t>
            </a:r>
            <a:r>
              <a:rPr lang="en-US" altLang="en-US" sz="1000" dirty="0">
                <a:solidFill>
                  <a:schemeClr val="accent4">
                    <a:lumMod val="50000"/>
                  </a:schemeClr>
                </a:solidFill>
                <a:latin typeface="Courier New" panose="02070309020205020404" pitchFamily="49" charset="0"/>
              </a:rPr>
              <a:t>……</a:t>
            </a:r>
          </a:p>
          <a:p>
            <a:pPr marL="171450" indent="-171450">
              <a:buFontTx/>
              <a:buChar char="-"/>
            </a:pPr>
            <a:r>
              <a:rPr lang="en-US" altLang="en-US" sz="1000" dirty="0">
                <a:solidFill>
                  <a:schemeClr val="accent4">
                    <a:lumMod val="50000"/>
                  </a:schemeClr>
                </a:solidFill>
                <a:latin typeface="Courier New" panose="02070309020205020404" pitchFamily="49" charset="0"/>
              </a:rPr>
              <a:t>..[</a:t>
            </a:r>
            <a:r>
              <a:rPr lang="en-US" altLang="en-US" sz="1000" b="1" i="1" dirty="0">
                <a:solidFill>
                  <a:schemeClr val="accent4">
                    <a:lumMod val="50000"/>
                  </a:schemeClr>
                </a:solidFill>
                <a:latin typeface="Courier New" panose="02070309020205020404" pitchFamily="49" charset="0"/>
              </a:rPr>
              <a:t>cut off here for display purposes</a:t>
            </a:r>
            <a:r>
              <a:rPr lang="en-US" altLang="en-US" sz="1000" dirty="0">
                <a:solidFill>
                  <a:schemeClr val="accent4">
                    <a:lumMod val="50000"/>
                  </a:schemeClr>
                </a:solidFill>
                <a:latin typeface="Courier New" panose="02070309020205020404" pitchFamily="49" charset="0"/>
              </a:rPr>
              <a:t>)</a:t>
            </a:r>
            <a:endParaRPr lang="en-US"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54885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CACA-A6AD-2742-471C-256037E04670}"/>
            </a:ext>
          </a:extLst>
        </p:cNvPr>
        <p:cNvGrpSpPr/>
        <p:nvPr/>
      </p:nvGrpSpPr>
      <p:grpSpPr>
        <a:xfrm>
          <a:off x="0" y="0"/>
          <a:ext cx="0" cy="0"/>
          <a:chOff x="0" y="0"/>
          <a:chExt cx="0" cy="0"/>
        </a:xfrm>
      </p:grpSpPr>
      <p:pic>
        <p:nvPicPr>
          <p:cNvPr id="3" name="Picture 6" descr="Gemini Logo Icon (chatbot) - PNG Logo ...">
            <a:extLst>
              <a:ext uri="{FF2B5EF4-FFF2-40B4-BE49-F238E27FC236}">
                <a16:creationId xmlns:a16="http://schemas.microsoft.com/office/drawing/2014/main" id="{2A83E38D-DD8D-1E1D-1578-806352CC0E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3" r="10823"/>
          <a:stretch>
            <a:fillRect/>
          </a:stretch>
        </p:blipFill>
        <p:spPr bwMode="auto">
          <a:xfrm>
            <a:off x="1005086" y="474920"/>
            <a:ext cx="1169043" cy="110597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F126B42-0597-EE5C-C645-C6FD28B721BB}"/>
              </a:ext>
            </a:extLst>
          </p:cNvPr>
          <p:cNvSpPr>
            <a:spLocks noGrp="1"/>
          </p:cNvSpPr>
          <p:nvPr>
            <p:ph type="title"/>
          </p:nvPr>
        </p:nvSpPr>
        <p:spPr/>
        <p:txBody>
          <a:bodyPr>
            <a:normAutofit/>
          </a:bodyPr>
          <a:lstStyle/>
          <a:p>
            <a:r>
              <a:rPr lang="en-US" sz="3200" dirty="0"/>
              <a:t>Advice from Gemini</a:t>
            </a:r>
          </a:p>
        </p:txBody>
      </p:sp>
      <p:sp>
        <p:nvSpPr>
          <p:cNvPr id="6" name="Rectangle 2">
            <a:extLst>
              <a:ext uri="{FF2B5EF4-FFF2-40B4-BE49-F238E27FC236}">
                <a16:creationId xmlns:a16="http://schemas.microsoft.com/office/drawing/2014/main" id="{1A0CCFAA-A928-8BA8-4BE1-B2A231494796}"/>
              </a:ext>
            </a:extLst>
          </p:cNvPr>
          <p:cNvSpPr>
            <a:spLocks noChangeArrowheads="1"/>
          </p:cNvSpPr>
          <p:nvPr/>
        </p:nvSpPr>
        <p:spPr bwMode="auto">
          <a:xfrm>
            <a:off x="-400291" y="-338554"/>
            <a:ext cx="100584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t>
            </a:r>
            <a:r>
              <a:rPr kumimoji="0" lang="en-US" altLang="en-US" sz="1000" b="1" i="1" u="none" strike="noStrike" cap="none" normalizeH="0" baseline="0" dirty="0">
                <a:ln>
                  <a:noFill/>
                </a:ln>
                <a:solidFill>
                  <a:schemeClr val="accent4">
                    <a:lumMod val="50000"/>
                  </a:schemeClr>
                </a:solidFill>
                <a:effectLst/>
                <a:latin typeface="Courier New" panose="02070309020205020404" pitchFamily="49" charset="0"/>
              </a:rPr>
              <a:t>cut off here for display purposes</a:t>
            </a: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t>)</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rPr>
            </a:br>
            <a:endParaRPr kumimoji="0" lang="en-US" altLang="en-US" sz="1800" b="0" i="0" u="none" strike="noStrike" cap="none" normalizeH="0" baseline="0" dirty="0">
              <a:ln>
                <a:noFill/>
              </a:ln>
              <a:solidFill>
                <a:schemeClr val="accent4">
                  <a:lumMod val="50000"/>
                </a:schemeClr>
              </a:solidFill>
              <a:effectLst/>
              <a:latin typeface="Arial" panose="020B0604020202020204" pitchFamily="34" charset="0"/>
            </a:endParaRPr>
          </a:p>
        </p:txBody>
      </p:sp>
      <p:sp>
        <p:nvSpPr>
          <p:cNvPr id="5" name="Rectangle 1">
            <a:extLst>
              <a:ext uri="{FF2B5EF4-FFF2-40B4-BE49-F238E27FC236}">
                <a16:creationId xmlns:a16="http://schemas.microsoft.com/office/drawing/2014/main" id="{F4626527-3CCC-ADB2-B209-D9A5847AF59D}"/>
              </a:ext>
            </a:extLst>
          </p:cNvPr>
          <p:cNvSpPr>
            <a:spLocks noChangeArrowheads="1"/>
          </p:cNvSpPr>
          <p:nvPr/>
        </p:nvSpPr>
        <p:spPr bwMode="auto">
          <a:xfrm>
            <a:off x="1005086" y="1767631"/>
            <a:ext cx="1034871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This is a critical situation for a mid-market retailer, as online conversion directly impacts revenue. A 90-day plan needs to be structured, data-driven, and action-oriented, focusing on both diagnosis and rapid implementation of fixes.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Here's a comprehensive 90-day plan: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90-Day Plan: Diagnosing &amp; Fixing Falling Online Conversion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**Goal:** Understand the root causes of the conversion drop and implement targeted fixes to reverse the trend within 90 days.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**Key Principle:** Data-driven decisions. Avoid assumptions.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Phase 1: Diagnose &amp; </a:t>
            </a:r>
            <a:r>
              <a:rPr kumimoji="0" lang="en-US" altLang="en-US" sz="1000" b="0" i="0" u="none" strike="noStrike" cap="none" normalizeH="0" baseline="0" dirty="0" err="1">
                <a:ln>
                  <a:noFill/>
                </a:ln>
                <a:solidFill>
                  <a:schemeClr val="accent4">
                    <a:lumMod val="50000"/>
                  </a:schemeClr>
                </a:solidFill>
                <a:effectLst/>
                <a:latin typeface="Courier New" panose="02070309020205020404" pitchFamily="49" charset="0"/>
                <a:cs typeface="Courier New" panose="02070309020205020404" pitchFamily="49" charset="0"/>
              </a:rPr>
              <a:t>Prioritise</a:t>
            </a: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(Weeks 1-4)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**Objective:** Identify *what* is happening, *where* it's happening, and *why*.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**Week 1: Data Deep Dive &amp; Technical Audit**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1.  **Analytics Review (Google Analytics 4 - GA4):**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   **Conversion Funnel Analysis:** Pinpoint the exact stage where users are dropping off (e.g., product page to cart, cart to checkout, checkout steps). Compare current vs. previous 3 months.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   **Traffic Source Performance:** Are specific channels (e.g., paid search, social, organic, email) seeing a disproportionate drop in conversion? Or is it across the board? This indicates traffic quality issues vs. site issues.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   **Device Performance:** Is the drop more pronounced on mobile, tablet, or desktop?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   **Page Performance:** Identify high-exit pages, high-bounce pages, and pages with significant drop-offs before conversion.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   **User Demographics/Geographics:** Any shifts in audience that might explain the change?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   **Site Search Analysis:** What are users searching for? Are they finding it? High "no results" searches?</a:t>
            </a:r>
          </a:p>
          <a:p>
            <a:pPr lvl="0" eaLnBrk="0" fontAlgn="base" hangingPunct="0">
              <a:spcBef>
                <a:spcPct val="0"/>
              </a:spcBef>
              <a:spcAft>
                <a:spcPct val="0"/>
              </a:spcAft>
            </a:pPr>
            <a: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t>    *   **Key Metrics:** Track conversion rate, average order value (AOV), bounce rate, exit rate, time on site, pages per session.</a:t>
            </a:r>
            <a:br>
              <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rPr>
            </a:br>
            <a:r>
              <a:rPr lang="en-US" altLang="en-US" sz="1000" dirty="0">
                <a:solidFill>
                  <a:schemeClr val="accent4">
                    <a:lumMod val="50000"/>
                  </a:schemeClr>
                </a:solidFill>
                <a:latin typeface="Courier New" panose="02070309020205020404" pitchFamily="49" charset="0"/>
              </a:rPr>
              <a:t>……..[</a:t>
            </a:r>
            <a:r>
              <a:rPr lang="en-US" altLang="en-US" sz="1000" b="1" i="1" dirty="0">
                <a:solidFill>
                  <a:schemeClr val="accent4">
                    <a:lumMod val="50000"/>
                  </a:schemeClr>
                </a:solidFill>
                <a:latin typeface="Courier New" panose="02070309020205020404" pitchFamily="49" charset="0"/>
              </a:rPr>
              <a:t>cut off here for display purposes</a:t>
            </a:r>
            <a:r>
              <a:rPr lang="en-US" altLang="en-US" sz="1000" dirty="0">
                <a:solidFill>
                  <a:schemeClr val="accent4">
                    <a:lumMod val="50000"/>
                  </a:schemeClr>
                </a:solidFill>
                <a:latin typeface="Courier New" panose="02070309020205020404" pitchFamily="49" charset="0"/>
              </a:rPr>
              <a:t>)</a:t>
            </a: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accent4">
                  <a:lumMod val="50000"/>
                </a:schemeClr>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56678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7D73B-9400-08E8-D822-F342C5B43995}"/>
              </a:ext>
            </a:extLst>
          </p:cNvPr>
          <p:cNvSpPr>
            <a:spLocks noGrp="1"/>
          </p:cNvSpPr>
          <p:nvPr>
            <p:ph type="title"/>
          </p:nvPr>
        </p:nvSpPr>
        <p:spPr/>
        <p:txBody>
          <a:bodyPr/>
          <a:lstStyle/>
          <a:p>
            <a:r>
              <a:rPr lang="en-GB" dirty="0"/>
              <a:t>Buzz Group Exercise</a:t>
            </a:r>
          </a:p>
        </p:txBody>
      </p:sp>
      <p:pic>
        <p:nvPicPr>
          <p:cNvPr id="7170" name="Picture 2" descr="Zoom One | Zoom MSP | System ...">
            <a:extLst>
              <a:ext uri="{FF2B5EF4-FFF2-40B4-BE49-F238E27FC236}">
                <a16:creationId xmlns:a16="http://schemas.microsoft.com/office/drawing/2014/main" id="{EC8C8400-D62F-C5BA-6EEC-6C5FF895E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287" y="2726836"/>
            <a:ext cx="940137" cy="93595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ow Do I Use Buzz Groups In Training ...">
            <a:extLst>
              <a:ext uri="{FF2B5EF4-FFF2-40B4-BE49-F238E27FC236}">
                <a16:creationId xmlns:a16="http://schemas.microsoft.com/office/drawing/2014/main" id="{9F6A55B9-EEBA-B99C-348C-3FB44EC80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1287" y="4143961"/>
            <a:ext cx="792354" cy="7923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D152745-693D-0E5C-6E77-6B0D309F856E}"/>
              </a:ext>
            </a:extLst>
          </p:cNvPr>
          <p:cNvSpPr txBox="1"/>
          <p:nvPr/>
        </p:nvSpPr>
        <p:spPr>
          <a:xfrm>
            <a:off x="899449" y="1654764"/>
            <a:ext cx="10601364" cy="369332"/>
          </a:xfrm>
          <a:prstGeom prst="rect">
            <a:avLst/>
          </a:prstGeom>
          <a:noFill/>
        </p:spPr>
        <p:txBody>
          <a:bodyPr wrap="none" rtlCol="0">
            <a:spAutoFit/>
          </a:bodyPr>
          <a:lstStyle/>
          <a:p>
            <a:r>
              <a:rPr lang="en-GB" b="1" dirty="0">
                <a:solidFill>
                  <a:schemeClr val="tx2"/>
                </a:solidFill>
              </a:rPr>
              <a:t>Share where you are on using AI within your own consulting work and when working with other consultants?</a:t>
            </a:r>
          </a:p>
        </p:txBody>
      </p:sp>
      <p:sp>
        <p:nvSpPr>
          <p:cNvPr id="6" name="TextBox 5">
            <a:extLst>
              <a:ext uri="{FF2B5EF4-FFF2-40B4-BE49-F238E27FC236}">
                <a16:creationId xmlns:a16="http://schemas.microsoft.com/office/drawing/2014/main" id="{F43BB073-C3AF-CD24-DC1F-9A53F182CA41}"/>
              </a:ext>
            </a:extLst>
          </p:cNvPr>
          <p:cNvSpPr txBox="1"/>
          <p:nvPr/>
        </p:nvSpPr>
        <p:spPr>
          <a:xfrm>
            <a:off x="3577048" y="3010149"/>
            <a:ext cx="7433445" cy="369332"/>
          </a:xfrm>
          <a:prstGeom prst="rect">
            <a:avLst/>
          </a:prstGeom>
          <a:noFill/>
        </p:spPr>
        <p:txBody>
          <a:bodyPr wrap="none" rtlCol="0">
            <a:spAutoFit/>
          </a:bodyPr>
          <a:lstStyle/>
          <a:p>
            <a:r>
              <a:rPr lang="en-GB" dirty="0"/>
              <a:t>If </a:t>
            </a:r>
            <a:r>
              <a:rPr lang="en-GB" b="1" dirty="0">
                <a:solidFill>
                  <a:schemeClr val="tx2"/>
                </a:solidFill>
              </a:rPr>
              <a:t>on Zoom</a:t>
            </a:r>
            <a:r>
              <a:rPr lang="en-GB" dirty="0"/>
              <a:t>: Contribute into the “Chat” area - reading and building on others. </a:t>
            </a:r>
          </a:p>
        </p:txBody>
      </p:sp>
      <p:sp>
        <p:nvSpPr>
          <p:cNvPr id="7" name="TextBox 6">
            <a:extLst>
              <a:ext uri="{FF2B5EF4-FFF2-40B4-BE49-F238E27FC236}">
                <a16:creationId xmlns:a16="http://schemas.microsoft.com/office/drawing/2014/main" id="{1BB5C4A6-5014-DEA3-FFAF-9D40367E8459}"/>
              </a:ext>
            </a:extLst>
          </p:cNvPr>
          <p:cNvSpPr txBox="1"/>
          <p:nvPr/>
        </p:nvSpPr>
        <p:spPr>
          <a:xfrm>
            <a:off x="3577048" y="4216972"/>
            <a:ext cx="7332136" cy="646331"/>
          </a:xfrm>
          <a:prstGeom prst="rect">
            <a:avLst/>
          </a:prstGeom>
          <a:noFill/>
        </p:spPr>
        <p:txBody>
          <a:bodyPr wrap="square" rtlCol="0">
            <a:spAutoFit/>
          </a:bodyPr>
          <a:lstStyle/>
          <a:p>
            <a:r>
              <a:rPr lang="en-GB" dirty="0"/>
              <a:t>If </a:t>
            </a:r>
            <a:r>
              <a:rPr lang="en-GB" b="1" dirty="0">
                <a:solidFill>
                  <a:schemeClr val="tx2"/>
                </a:solidFill>
              </a:rPr>
              <a:t>in room</a:t>
            </a:r>
            <a:r>
              <a:rPr lang="en-GB" dirty="0"/>
              <a:t>: Organise into convenient small groups. Check around you that no-one is left out.  Discuss.</a:t>
            </a:r>
          </a:p>
        </p:txBody>
      </p:sp>
      <p:pic>
        <p:nvPicPr>
          <p:cNvPr id="7174" name="Picture 6" descr="Caution Symbol Vinyl decal Hazard Danger Warning Safety Vinyl Sticker">
            <a:extLst>
              <a:ext uri="{FF2B5EF4-FFF2-40B4-BE49-F238E27FC236}">
                <a16:creationId xmlns:a16="http://schemas.microsoft.com/office/drawing/2014/main" id="{E9F6DF9C-3091-8CE6-D128-D849E9253C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994" y="5417481"/>
            <a:ext cx="1057681" cy="10576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E4CAE3A-8A0E-6421-2208-E1ABB5135469}"/>
              </a:ext>
            </a:extLst>
          </p:cNvPr>
          <p:cNvSpPr txBox="1"/>
          <p:nvPr/>
        </p:nvSpPr>
        <p:spPr>
          <a:xfrm>
            <a:off x="3577048" y="5700794"/>
            <a:ext cx="4308487" cy="369332"/>
          </a:xfrm>
          <a:prstGeom prst="rect">
            <a:avLst/>
          </a:prstGeom>
          <a:noFill/>
        </p:spPr>
        <p:txBody>
          <a:bodyPr wrap="none" rtlCol="0">
            <a:spAutoFit/>
          </a:bodyPr>
          <a:lstStyle/>
          <a:p>
            <a:r>
              <a:rPr lang="en-GB" dirty="0"/>
              <a:t>Please don’t share confidential information!</a:t>
            </a:r>
          </a:p>
        </p:txBody>
      </p:sp>
    </p:spTree>
    <p:extLst>
      <p:ext uri="{BB962C8B-B14F-4D97-AF65-F5344CB8AC3E}">
        <p14:creationId xmlns:p14="http://schemas.microsoft.com/office/powerpoint/2010/main" val="4045171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28742F-5014-C25C-B71E-1C984DCE5F7F}"/>
              </a:ext>
            </a:extLst>
          </p:cNvPr>
          <p:cNvSpPr txBox="1"/>
          <p:nvPr/>
        </p:nvSpPr>
        <p:spPr>
          <a:xfrm>
            <a:off x="1452740" y="919137"/>
            <a:ext cx="9286518" cy="1569660"/>
          </a:xfrm>
          <a:prstGeom prst="rect">
            <a:avLst/>
          </a:prstGeom>
          <a:noFill/>
        </p:spPr>
        <p:txBody>
          <a:bodyPr wrap="none" rtlCol="0">
            <a:spAutoFit/>
          </a:bodyPr>
          <a:lstStyle/>
          <a:p>
            <a:pPr algn="ctr"/>
            <a:r>
              <a:rPr lang="en-GB" sz="3200" b="1" dirty="0">
                <a:solidFill>
                  <a:schemeClr val="tx2"/>
                </a:solidFill>
              </a:rPr>
              <a:t>Section 2</a:t>
            </a:r>
          </a:p>
          <a:p>
            <a:pPr algn="ctr"/>
            <a:endParaRPr lang="en-GB" sz="3200" b="1" dirty="0">
              <a:solidFill>
                <a:schemeClr val="tx2"/>
              </a:solidFill>
            </a:endParaRPr>
          </a:p>
          <a:p>
            <a:pPr algn="ctr"/>
            <a:r>
              <a:rPr lang="en-GB" sz="3200" b="1" dirty="0">
                <a:solidFill>
                  <a:schemeClr val="tx2"/>
                </a:solidFill>
              </a:rPr>
              <a:t>Where is business &amp; consultancy with AI enablement</a:t>
            </a:r>
            <a:r>
              <a:rPr lang="en-GB" sz="3200" dirty="0">
                <a:solidFill>
                  <a:schemeClr val="tx2"/>
                </a:solidFill>
              </a:rPr>
              <a:t> </a:t>
            </a:r>
          </a:p>
        </p:txBody>
      </p:sp>
      <p:pic>
        <p:nvPicPr>
          <p:cNvPr id="9218" name="Picture 2" descr="Direction Signpost Stock Photos ...">
            <a:extLst>
              <a:ext uri="{FF2B5EF4-FFF2-40B4-BE49-F238E27FC236}">
                <a16:creationId xmlns:a16="http://schemas.microsoft.com/office/drawing/2014/main" id="{120DB392-5A1F-4873-B621-B85FA8778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1360" y="3407934"/>
            <a:ext cx="5669280" cy="2530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120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5519E-7A9D-1CAA-B5A4-ED906AC4795B}"/>
              </a:ext>
            </a:extLst>
          </p:cNvPr>
          <p:cNvSpPr>
            <a:spLocks noGrp="1"/>
          </p:cNvSpPr>
          <p:nvPr>
            <p:ph type="title"/>
          </p:nvPr>
        </p:nvSpPr>
        <p:spPr>
          <a:xfrm>
            <a:off x="838200" y="365126"/>
            <a:ext cx="10515600" cy="857388"/>
          </a:xfrm>
        </p:spPr>
        <p:txBody>
          <a:bodyPr/>
          <a:lstStyle/>
          <a:p>
            <a:pPr algn="ctr"/>
            <a:r>
              <a:rPr lang="en-GB" dirty="0">
                <a:solidFill>
                  <a:srgbClr val="424242"/>
                </a:solidFill>
              </a:rPr>
              <a:t>The Coming Wave</a:t>
            </a:r>
          </a:p>
        </p:txBody>
      </p:sp>
      <p:grpSp>
        <p:nvGrpSpPr>
          <p:cNvPr id="6" name="Group 5">
            <a:extLst>
              <a:ext uri="{FF2B5EF4-FFF2-40B4-BE49-F238E27FC236}">
                <a16:creationId xmlns:a16="http://schemas.microsoft.com/office/drawing/2014/main" id="{26FDFCDB-3E20-A03B-5F27-7B81C11D3F12}"/>
              </a:ext>
            </a:extLst>
          </p:cNvPr>
          <p:cNvGrpSpPr/>
          <p:nvPr/>
        </p:nvGrpSpPr>
        <p:grpSpPr>
          <a:xfrm>
            <a:off x="728869" y="2130838"/>
            <a:ext cx="4618383" cy="3490016"/>
            <a:chOff x="281608" y="2866334"/>
            <a:chExt cx="3392557" cy="2605333"/>
          </a:xfrm>
        </p:grpSpPr>
        <p:pic>
          <p:nvPicPr>
            <p:cNvPr id="18434" name="Picture 2" descr="The Coming Wave: AI, Power and Our ...">
              <a:extLst>
                <a:ext uri="{FF2B5EF4-FFF2-40B4-BE49-F238E27FC236}">
                  <a16:creationId xmlns:a16="http://schemas.microsoft.com/office/drawing/2014/main" id="{C59BD10C-C848-2BAC-166A-200F6C6F1B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08" y="2866334"/>
              <a:ext cx="1696278" cy="2605333"/>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Mustafa Suleyman - Wikipedia">
              <a:extLst>
                <a:ext uri="{FF2B5EF4-FFF2-40B4-BE49-F238E27FC236}">
                  <a16:creationId xmlns:a16="http://schemas.microsoft.com/office/drawing/2014/main" id="{40CD4241-4E22-1ABC-86AF-9EE9D44557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473" r="30201"/>
            <a:stretch>
              <a:fillRect/>
            </a:stretch>
          </p:blipFill>
          <p:spPr bwMode="auto">
            <a:xfrm>
              <a:off x="1977886" y="2866334"/>
              <a:ext cx="1696279" cy="2605333"/>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F4FC132F-ABA4-9021-D91F-D616146BDF78}"/>
              </a:ext>
            </a:extLst>
          </p:cNvPr>
          <p:cNvSpPr txBox="1"/>
          <p:nvPr/>
        </p:nvSpPr>
        <p:spPr>
          <a:xfrm>
            <a:off x="6251714" y="1890687"/>
            <a:ext cx="4922354" cy="3970318"/>
          </a:xfrm>
          <a:prstGeom prst="rect">
            <a:avLst/>
          </a:prstGeom>
          <a:noFill/>
        </p:spPr>
        <p:txBody>
          <a:bodyPr wrap="square">
            <a:spAutoFit/>
          </a:bodyPr>
          <a:lstStyle/>
          <a:p>
            <a:pPr marL="0" indent="0">
              <a:buNone/>
            </a:pPr>
            <a:r>
              <a:rPr lang="en-GB" sz="1800" i="1" dirty="0"/>
              <a:t>“</a:t>
            </a:r>
            <a:r>
              <a:rPr lang="en-GB" i="1" dirty="0"/>
              <a:t>It’s (AI) not just a tool or platform but a transformative meta technology, the technology behind technology and everything else, itself a maker of tools and platforms, not just a system but a generator of systems of any, and all kinds.  </a:t>
            </a:r>
            <a:br>
              <a:rPr lang="en-GB" i="1" dirty="0"/>
            </a:br>
            <a:br>
              <a:rPr lang="en-GB" i="1" dirty="0"/>
            </a:br>
            <a:r>
              <a:rPr lang="en-GB" i="1" dirty="0"/>
              <a:t>Step back and consider what’s happening on the scale of a decade or a century. </a:t>
            </a:r>
            <a:br>
              <a:rPr lang="en-GB" i="1" dirty="0"/>
            </a:br>
            <a:br>
              <a:rPr lang="en-GB" i="1" dirty="0"/>
            </a:br>
            <a:r>
              <a:rPr lang="en-GB" i="1" dirty="0"/>
              <a:t>We really are at a turning point in the history of humanity</a:t>
            </a:r>
            <a:r>
              <a:rPr lang="en-GB" sz="1800" i="1" dirty="0"/>
              <a:t>.”</a:t>
            </a:r>
          </a:p>
          <a:p>
            <a:pPr marL="0" indent="0">
              <a:buNone/>
            </a:pPr>
            <a:endParaRPr lang="en-GB" sz="1800" i="1" dirty="0"/>
          </a:p>
          <a:p>
            <a:pPr marL="0" indent="0">
              <a:buNone/>
            </a:pPr>
            <a:r>
              <a:rPr lang="en-GB" sz="1800" dirty="0"/>
              <a:t>- </a:t>
            </a:r>
            <a:r>
              <a:rPr lang="en-GB" b="1" dirty="0">
                <a:solidFill>
                  <a:srgbClr val="424242"/>
                </a:solidFill>
              </a:rPr>
              <a:t>Mustafa Suleyman</a:t>
            </a:r>
            <a:r>
              <a:rPr lang="en-GB" dirty="0"/>
              <a:t>, Co-founder of DeepMind and current CEO of Microsoft AI		</a:t>
            </a:r>
          </a:p>
        </p:txBody>
      </p:sp>
      <p:sp>
        <p:nvSpPr>
          <p:cNvPr id="4" name="TextBox 3">
            <a:extLst>
              <a:ext uri="{FF2B5EF4-FFF2-40B4-BE49-F238E27FC236}">
                <a16:creationId xmlns:a16="http://schemas.microsoft.com/office/drawing/2014/main" id="{C5164926-D339-F661-700E-69B59E418D78}"/>
              </a:ext>
            </a:extLst>
          </p:cNvPr>
          <p:cNvSpPr txBox="1"/>
          <p:nvPr/>
        </p:nvSpPr>
        <p:spPr>
          <a:xfrm>
            <a:off x="7119893" y="6313734"/>
            <a:ext cx="4600468" cy="430887"/>
          </a:xfrm>
          <a:prstGeom prst="rect">
            <a:avLst/>
          </a:prstGeom>
          <a:noFill/>
        </p:spPr>
        <p:txBody>
          <a:bodyPr wrap="square" rtlCol="0">
            <a:spAutoFit/>
          </a:bodyPr>
          <a:lstStyle/>
          <a:p>
            <a:r>
              <a:rPr lang="en-GB" sz="1100" dirty="0"/>
              <a:t>Suleyman, Mustafa, with Michael Bhaskar. </a:t>
            </a:r>
            <a:r>
              <a:rPr lang="en-GB" sz="1100" i="1" dirty="0"/>
              <a:t>The Coming Wave: Technology, Power, and the Twenty-First Century's Greatest Dilemma</a:t>
            </a:r>
            <a:r>
              <a:rPr lang="en-GB" sz="1100" dirty="0"/>
              <a:t>. Crown, 2023. </a:t>
            </a:r>
          </a:p>
        </p:txBody>
      </p:sp>
    </p:spTree>
    <p:extLst>
      <p:ext uri="{BB962C8B-B14F-4D97-AF65-F5344CB8AC3E}">
        <p14:creationId xmlns:p14="http://schemas.microsoft.com/office/powerpoint/2010/main" val="1251600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4FC4E-3BB3-8A05-9861-502B4CCA9569}"/>
              </a:ext>
            </a:extLst>
          </p:cNvPr>
          <p:cNvSpPr>
            <a:spLocks noGrp="1"/>
          </p:cNvSpPr>
          <p:nvPr>
            <p:ph type="title"/>
          </p:nvPr>
        </p:nvSpPr>
        <p:spPr>
          <a:xfrm>
            <a:off x="838200" y="365126"/>
            <a:ext cx="10515600" cy="841376"/>
          </a:xfrm>
        </p:spPr>
        <p:txBody>
          <a:bodyPr/>
          <a:lstStyle/>
          <a:p>
            <a:pPr algn="ctr"/>
            <a:r>
              <a:rPr lang="en-GB" dirty="0">
                <a:solidFill>
                  <a:srgbClr val="424242"/>
                </a:solidFill>
              </a:rPr>
              <a:t>The Top 10 Gen AI Use Cases</a:t>
            </a:r>
          </a:p>
        </p:txBody>
      </p:sp>
      <p:sp>
        <p:nvSpPr>
          <p:cNvPr id="3" name="Slide Number Placeholder 2">
            <a:extLst>
              <a:ext uri="{FF2B5EF4-FFF2-40B4-BE49-F238E27FC236}">
                <a16:creationId xmlns:a16="http://schemas.microsoft.com/office/drawing/2014/main" id="{3E11BC2B-B167-CBAE-857A-940A5EDAF53D}"/>
              </a:ext>
            </a:extLst>
          </p:cNvPr>
          <p:cNvSpPr>
            <a:spLocks noGrp="1"/>
          </p:cNvSpPr>
          <p:nvPr>
            <p:ph type="sldNum" sz="quarter" idx="4294967295"/>
          </p:nvPr>
        </p:nvSpPr>
        <p:spPr>
          <a:xfrm>
            <a:off x="8610600" y="6356350"/>
            <a:ext cx="2743200" cy="365125"/>
          </a:xfrm>
          <a:prstGeom prst="rect">
            <a:avLst/>
          </a:prstGeom>
        </p:spPr>
        <p:txBody>
          <a:bodyPr/>
          <a:lstStyle/>
          <a:p>
            <a:fld id="{F3451B78-826D-4FE9-99FE-428C8E62A634}" type="slidenum">
              <a:rPr lang="en-US" smtClean="0"/>
              <a:t>17</a:t>
            </a:fld>
            <a:endParaRPr lang="en-US"/>
          </a:p>
        </p:txBody>
      </p:sp>
      <p:pic>
        <p:nvPicPr>
          <p:cNvPr id="6" name="Picture 5">
            <a:extLst>
              <a:ext uri="{FF2B5EF4-FFF2-40B4-BE49-F238E27FC236}">
                <a16:creationId xmlns:a16="http://schemas.microsoft.com/office/drawing/2014/main" id="{85CC4F02-62B1-5A3A-DD2E-C4E99551BDDE}"/>
              </a:ext>
            </a:extLst>
          </p:cNvPr>
          <p:cNvPicPr>
            <a:picLocks noChangeAspect="1"/>
          </p:cNvPicPr>
          <p:nvPr/>
        </p:nvPicPr>
        <p:blipFill>
          <a:blip r:embed="rId2"/>
          <a:srcRect t="7963"/>
          <a:stretch>
            <a:fillRect/>
          </a:stretch>
        </p:blipFill>
        <p:spPr>
          <a:xfrm>
            <a:off x="2388705" y="1526604"/>
            <a:ext cx="7414590" cy="5331396"/>
          </a:xfrm>
          <a:prstGeom prst="rect">
            <a:avLst/>
          </a:prstGeom>
        </p:spPr>
      </p:pic>
      <p:sp>
        <p:nvSpPr>
          <p:cNvPr id="7" name="TextBox 6">
            <a:extLst>
              <a:ext uri="{FF2B5EF4-FFF2-40B4-BE49-F238E27FC236}">
                <a16:creationId xmlns:a16="http://schemas.microsoft.com/office/drawing/2014/main" id="{A7126C61-60CA-2DB5-CF1C-1A8A2CCF110F}"/>
              </a:ext>
            </a:extLst>
          </p:cNvPr>
          <p:cNvSpPr txBox="1"/>
          <p:nvPr/>
        </p:nvSpPr>
        <p:spPr>
          <a:xfrm>
            <a:off x="8942071" y="6345555"/>
            <a:ext cx="2922270" cy="600164"/>
          </a:xfrm>
          <a:prstGeom prst="rect">
            <a:avLst/>
          </a:prstGeom>
          <a:noFill/>
        </p:spPr>
        <p:txBody>
          <a:bodyPr wrap="square" rtlCol="0">
            <a:spAutoFit/>
          </a:bodyPr>
          <a:lstStyle/>
          <a:p>
            <a:r>
              <a:rPr lang="en-GB" sz="1100" dirty="0">
                <a:solidFill>
                  <a:srgbClr val="424242"/>
                </a:solidFill>
              </a:rPr>
              <a:t>Source: HBR, “How People Are Really Using Gen AI in 2025” by Marc Zao-Sanders April 9, 2025.</a:t>
            </a:r>
          </a:p>
          <a:p>
            <a:endParaRPr lang="en-GB" sz="1100" dirty="0">
              <a:solidFill>
                <a:srgbClr val="424242"/>
              </a:solidFill>
            </a:endParaRPr>
          </a:p>
        </p:txBody>
      </p:sp>
    </p:spTree>
    <p:extLst>
      <p:ext uri="{BB962C8B-B14F-4D97-AF65-F5344CB8AC3E}">
        <p14:creationId xmlns:p14="http://schemas.microsoft.com/office/powerpoint/2010/main" val="1210518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4874A-744B-F614-13E3-621476C6F1D1}"/>
              </a:ext>
            </a:extLst>
          </p:cNvPr>
          <p:cNvSpPr>
            <a:spLocks noGrp="1"/>
          </p:cNvSpPr>
          <p:nvPr>
            <p:ph type="title"/>
          </p:nvPr>
        </p:nvSpPr>
        <p:spPr>
          <a:xfrm>
            <a:off x="838200" y="365125"/>
            <a:ext cx="10515600" cy="1325563"/>
          </a:xfrm>
        </p:spPr>
        <p:txBody>
          <a:bodyPr anchor="ctr">
            <a:normAutofit/>
          </a:bodyPr>
          <a:lstStyle/>
          <a:p>
            <a:pPr algn="ctr"/>
            <a:r>
              <a:rPr lang="en-GB" dirty="0"/>
              <a:t>Anthropic measurement of usage by job type </a:t>
            </a:r>
          </a:p>
        </p:txBody>
      </p:sp>
      <p:pic>
        <p:nvPicPr>
          <p:cNvPr id="7" name="Picture 6" descr="A graph with numbers and a line&#10;&#10;AI-generated content may be incorrect.">
            <a:extLst>
              <a:ext uri="{FF2B5EF4-FFF2-40B4-BE49-F238E27FC236}">
                <a16:creationId xmlns:a16="http://schemas.microsoft.com/office/drawing/2014/main" id="{78AC6F3C-8B18-A3CE-3A6D-594EE555E784}"/>
              </a:ext>
            </a:extLst>
          </p:cNvPr>
          <p:cNvPicPr>
            <a:picLocks noChangeAspect="1"/>
          </p:cNvPicPr>
          <p:nvPr/>
        </p:nvPicPr>
        <p:blipFill>
          <a:blip r:embed="rId2">
            <a:extLst>
              <a:ext uri="{28A0092B-C50C-407E-A947-70E740481C1C}">
                <a14:useLocalDpi xmlns:a14="http://schemas.microsoft.com/office/drawing/2010/main" val="0"/>
              </a:ext>
            </a:extLst>
          </a:blip>
          <a:srcRect l="14543" t="9786" r="18301" b="12784"/>
          <a:stretch>
            <a:fillRect/>
          </a:stretch>
        </p:blipFill>
        <p:spPr>
          <a:xfrm>
            <a:off x="1805940" y="1498540"/>
            <a:ext cx="5865486" cy="5359460"/>
          </a:xfrm>
          <a:prstGeom prst="rect">
            <a:avLst/>
          </a:prstGeom>
          <a:noFill/>
        </p:spPr>
      </p:pic>
      <p:sp>
        <p:nvSpPr>
          <p:cNvPr id="8" name="TextBox 7">
            <a:extLst>
              <a:ext uri="{FF2B5EF4-FFF2-40B4-BE49-F238E27FC236}">
                <a16:creationId xmlns:a16="http://schemas.microsoft.com/office/drawing/2014/main" id="{B51E416C-3EA3-E57F-B51D-27F7B961512D}"/>
              </a:ext>
            </a:extLst>
          </p:cNvPr>
          <p:cNvSpPr txBox="1"/>
          <p:nvPr/>
        </p:nvSpPr>
        <p:spPr>
          <a:xfrm>
            <a:off x="8789671" y="2240280"/>
            <a:ext cx="2766059" cy="2862322"/>
          </a:xfrm>
          <a:prstGeom prst="rect">
            <a:avLst/>
          </a:prstGeom>
          <a:noFill/>
        </p:spPr>
        <p:txBody>
          <a:bodyPr wrap="square" rtlCol="0">
            <a:spAutoFit/>
          </a:bodyPr>
          <a:lstStyle/>
          <a:p>
            <a:r>
              <a:rPr lang="en-GB" i="1" dirty="0"/>
              <a:t>For each job type, the percentage of relevant conversations with Claude is shown in orange compared to the percentage of workers in the U.S. economy with that job type (from the U.S. Department of Labor’s O*NET categories) in grey.</a:t>
            </a:r>
            <a:endParaRPr lang="en-GB" dirty="0"/>
          </a:p>
        </p:txBody>
      </p:sp>
      <p:sp>
        <p:nvSpPr>
          <p:cNvPr id="10" name="TextBox 9">
            <a:extLst>
              <a:ext uri="{FF2B5EF4-FFF2-40B4-BE49-F238E27FC236}">
                <a16:creationId xmlns:a16="http://schemas.microsoft.com/office/drawing/2014/main" id="{BAD767E3-DA9A-7CB2-76D5-7DC39BA1E110}"/>
              </a:ext>
            </a:extLst>
          </p:cNvPr>
          <p:cNvSpPr txBox="1"/>
          <p:nvPr/>
        </p:nvSpPr>
        <p:spPr>
          <a:xfrm>
            <a:off x="8708995" y="6192793"/>
            <a:ext cx="3659894" cy="600164"/>
          </a:xfrm>
          <a:prstGeom prst="rect">
            <a:avLst/>
          </a:prstGeom>
          <a:noFill/>
        </p:spPr>
        <p:txBody>
          <a:bodyPr wrap="square" rtlCol="0">
            <a:spAutoFit/>
          </a:bodyPr>
          <a:lstStyle/>
          <a:p>
            <a:r>
              <a:rPr lang="en-GB" sz="1100" dirty="0">
                <a:solidFill>
                  <a:srgbClr val="424242"/>
                </a:solidFill>
              </a:rPr>
              <a:t>Source: Which Economic Tasks are Performed with AI? Evidence from Millions of Claude Conversations.</a:t>
            </a:r>
          </a:p>
          <a:p>
            <a:r>
              <a:rPr lang="en-GB" sz="1100" dirty="0">
                <a:solidFill>
                  <a:srgbClr val="424242"/>
                </a:solidFill>
              </a:rPr>
              <a:t>Handa, K., et al. arXiv:2503.04761.</a:t>
            </a:r>
          </a:p>
        </p:txBody>
      </p:sp>
    </p:spTree>
    <p:extLst>
      <p:ext uri="{BB962C8B-B14F-4D97-AF65-F5344CB8AC3E}">
        <p14:creationId xmlns:p14="http://schemas.microsoft.com/office/powerpoint/2010/main" val="989563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FE6B60-FF77-7651-FB7E-20193D2B5F8B}"/>
              </a:ext>
            </a:extLst>
          </p:cNvPr>
          <p:cNvSpPr>
            <a:spLocks noGrp="1"/>
          </p:cNvSpPr>
          <p:nvPr>
            <p:ph type="title"/>
          </p:nvPr>
        </p:nvSpPr>
        <p:spPr/>
        <p:txBody>
          <a:bodyPr/>
          <a:lstStyle/>
          <a:p>
            <a:r>
              <a:rPr lang="en-GB" dirty="0"/>
              <a:t>OpenAI ChatGPT Consumer Usage for Work</a:t>
            </a:r>
          </a:p>
        </p:txBody>
      </p:sp>
      <p:pic>
        <p:nvPicPr>
          <p:cNvPr id="6" name="Picture 5" descr="A graph showing the growth of the company&#10;&#10;AI-generated content may be incorrect.">
            <a:extLst>
              <a:ext uri="{FF2B5EF4-FFF2-40B4-BE49-F238E27FC236}">
                <a16:creationId xmlns:a16="http://schemas.microsoft.com/office/drawing/2014/main" id="{9AB76995-5139-39AB-DB23-996673986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 y="1466850"/>
            <a:ext cx="7734300" cy="3924300"/>
          </a:xfrm>
          <a:prstGeom prst="rect">
            <a:avLst/>
          </a:prstGeom>
        </p:spPr>
      </p:pic>
      <p:pic>
        <p:nvPicPr>
          <p:cNvPr id="8" name="Picture 7" descr="A graph of different colored lines&#10;&#10;AI-generated content may be incorrect.">
            <a:extLst>
              <a:ext uri="{FF2B5EF4-FFF2-40B4-BE49-F238E27FC236}">
                <a16:creationId xmlns:a16="http://schemas.microsoft.com/office/drawing/2014/main" id="{6F0B2447-7E0B-DB67-C7B1-794E18C88E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3158160"/>
            <a:ext cx="7772400" cy="3629507"/>
          </a:xfrm>
          <a:prstGeom prst="rect">
            <a:avLst/>
          </a:prstGeom>
        </p:spPr>
      </p:pic>
      <p:sp>
        <p:nvSpPr>
          <p:cNvPr id="9" name="TextBox 8">
            <a:extLst>
              <a:ext uri="{FF2B5EF4-FFF2-40B4-BE49-F238E27FC236}">
                <a16:creationId xmlns:a16="http://schemas.microsoft.com/office/drawing/2014/main" id="{B08A9C14-4CDB-9E9F-175F-D85F8CE40C05}"/>
              </a:ext>
            </a:extLst>
          </p:cNvPr>
          <p:cNvSpPr txBox="1"/>
          <p:nvPr/>
        </p:nvSpPr>
        <p:spPr>
          <a:xfrm>
            <a:off x="992059" y="6187503"/>
            <a:ext cx="3144935" cy="600164"/>
          </a:xfrm>
          <a:prstGeom prst="rect">
            <a:avLst/>
          </a:prstGeom>
          <a:noFill/>
        </p:spPr>
        <p:txBody>
          <a:bodyPr wrap="square" rtlCol="0">
            <a:spAutoFit/>
          </a:bodyPr>
          <a:lstStyle/>
          <a:p>
            <a:r>
              <a:rPr lang="en-GB" sz="1100" dirty="0"/>
              <a:t>How People Use ChatGPT by Chatterji, A. et al., NBER Working Paper, September 2025.</a:t>
            </a:r>
          </a:p>
          <a:p>
            <a:endParaRPr lang="en-GB" sz="1100" dirty="0"/>
          </a:p>
        </p:txBody>
      </p:sp>
    </p:spTree>
    <p:extLst>
      <p:ext uri="{BB962C8B-B14F-4D97-AF65-F5344CB8AC3E}">
        <p14:creationId xmlns:p14="http://schemas.microsoft.com/office/powerpoint/2010/main" val="242583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59067-ACC6-EB9C-B27C-49DD516A2F28}"/>
              </a:ext>
            </a:extLst>
          </p:cNvPr>
          <p:cNvSpPr>
            <a:spLocks noGrp="1"/>
          </p:cNvSpPr>
          <p:nvPr>
            <p:ph type="title"/>
          </p:nvPr>
        </p:nvSpPr>
        <p:spPr/>
        <p:txBody>
          <a:bodyPr>
            <a:normAutofit fontScale="90000"/>
          </a:bodyPr>
          <a:lstStyle/>
          <a:p>
            <a:r>
              <a:rPr lang="en-US" dirty="0"/>
              <a:t>McKinsey’s Global AI Survey Found 1% of AI Initiatives in Global Corporations Generating Value!</a:t>
            </a:r>
            <a:br>
              <a:rPr lang="en-US" dirty="0"/>
            </a:br>
            <a:r>
              <a:rPr lang="en-US" sz="2700" dirty="0"/>
              <a:t>1500 corporates &gt; $500m in revenues surveyed in mid 2024</a:t>
            </a:r>
            <a:endParaRPr lang="en-US" dirty="0"/>
          </a:p>
        </p:txBody>
      </p:sp>
      <p:sp>
        <p:nvSpPr>
          <p:cNvPr id="3" name="TextBox 2">
            <a:extLst>
              <a:ext uri="{FF2B5EF4-FFF2-40B4-BE49-F238E27FC236}">
                <a16:creationId xmlns:a16="http://schemas.microsoft.com/office/drawing/2014/main" id="{ACA3B0D6-41B9-EC2A-9AD8-9EE440C2210A}"/>
              </a:ext>
            </a:extLst>
          </p:cNvPr>
          <p:cNvSpPr txBox="1"/>
          <p:nvPr/>
        </p:nvSpPr>
        <p:spPr>
          <a:xfrm>
            <a:off x="6012131" y="2514600"/>
            <a:ext cx="5254583" cy="3416320"/>
          </a:xfrm>
          <a:prstGeom prst="rect">
            <a:avLst/>
          </a:prstGeom>
          <a:noFill/>
        </p:spPr>
        <p:txBody>
          <a:bodyPr wrap="square" rtlCol="0">
            <a:spAutoFit/>
          </a:bodyPr>
          <a:lstStyle/>
          <a:p>
            <a:r>
              <a:rPr lang="en-GB" i="1" dirty="0"/>
              <a:t>“Organizations have been experimenting with gen AI tools. Use continues to surge, but from a value capture standpoint, these are still early days—few are experiencing meaningful bottom-line impacts. </a:t>
            </a:r>
          </a:p>
          <a:p>
            <a:endParaRPr lang="en-GB" i="1" dirty="0"/>
          </a:p>
          <a:p>
            <a:r>
              <a:rPr lang="en-GB" i="1" dirty="0"/>
              <a:t>Larger companies are doing more organizationally to help realize that value. They invest more heavily in AI talent. They mitigate more gen-AI-related risks. We have seen organizations move since early last year, and the technology also continues to evolve, with a view toward agentic AI as the next frontier for AI innovation.”</a:t>
            </a:r>
          </a:p>
        </p:txBody>
      </p:sp>
      <p:sp>
        <p:nvSpPr>
          <p:cNvPr id="8" name="TextBox 7">
            <a:extLst>
              <a:ext uri="{FF2B5EF4-FFF2-40B4-BE49-F238E27FC236}">
                <a16:creationId xmlns:a16="http://schemas.microsoft.com/office/drawing/2014/main" id="{47DC6E12-127C-FCEA-B26B-1977CBA797AC}"/>
              </a:ext>
            </a:extLst>
          </p:cNvPr>
          <p:cNvSpPr txBox="1"/>
          <p:nvPr/>
        </p:nvSpPr>
        <p:spPr>
          <a:xfrm>
            <a:off x="6237515" y="6231265"/>
            <a:ext cx="6096000" cy="261610"/>
          </a:xfrm>
          <a:prstGeom prst="rect">
            <a:avLst/>
          </a:prstGeom>
          <a:noFill/>
        </p:spPr>
        <p:txBody>
          <a:bodyPr wrap="square">
            <a:spAutoFit/>
          </a:bodyPr>
          <a:lstStyle/>
          <a:p>
            <a:r>
              <a:rPr lang="en-US" sz="1100" dirty="0"/>
              <a:t>https://</a:t>
            </a:r>
            <a:r>
              <a:rPr lang="en-US" sz="1100" dirty="0" err="1"/>
              <a:t>www.mckinsey.com</a:t>
            </a:r>
            <a:r>
              <a:rPr lang="en-US" sz="1100" dirty="0"/>
              <a:t>/capabilities/</a:t>
            </a:r>
            <a:r>
              <a:rPr lang="en-US" sz="1100" dirty="0" err="1"/>
              <a:t>quantumblack</a:t>
            </a:r>
            <a:r>
              <a:rPr lang="en-US" sz="1100" dirty="0"/>
              <a:t>/our-insights/the-state-of-ai#/</a:t>
            </a:r>
          </a:p>
        </p:txBody>
      </p:sp>
      <p:pic>
        <p:nvPicPr>
          <p:cNvPr id="2050" name="Picture 2" descr="For our new London office we have drawn ...">
            <a:extLst>
              <a:ext uri="{FF2B5EF4-FFF2-40B4-BE49-F238E27FC236}">
                <a16:creationId xmlns:a16="http://schemas.microsoft.com/office/drawing/2014/main" id="{929CF11A-DC01-4985-2B8E-89C74A25B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779" y="2514600"/>
            <a:ext cx="2781300" cy="292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458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519F-E9C1-9FD2-C995-E0DF9B5F8AA5}"/>
              </a:ext>
            </a:extLst>
          </p:cNvPr>
          <p:cNvSpPr>
            <a:spLocks noGrp="1"/>
          </p:cNvSpPr>
          <p:nvPr>
            <p:ph type="title"/>
          </p:nvPr>
        </p:nvSpPr>
        <p:spPr/>
        <p:txBody>
          <a:bodyPr>
            <a:normAutofit fontScale="90000"/>
          </a:bodyPr>
          <a:lstStyle/>
          <a:p>
            <a:r>
              <a:rPr lang="en-GB" dirty="0"/>
              <a:t>MIT survey on failing Applied AI projects in corporates</a:t>
            </a:r>
            <a:br>
              <a:rPr lang="en-GB" dirty="0"/>
            </a:br>
            <a:r>
              <a:rPr lang="en-GB" sz="2700" b="0" dirty="0"/>
              <a:t>300+ initiative reviews, 52 interviews, and 153 survey responses</a:t>
            </a:r>
            <a:br>
              <a:rPr lang="en-GB" sz="2700" dirty="0"/>
            </a:br>
            <a:r>
              <a:rPr lang="en-GB" dirty="0"/>
              <a:t> </a:t>
            </a:r>
          </a:p>
        </p:txBody>
      </p:sp>
      <p:sp>
        <p:nvSpPr>
          <p:cNvPr id="4" name="TextBox 3">
            <a:extLst>
              <a:ext uri="{FF2B5EF4-FFF2-40B4-BE49-F238E27FC236}">
                <a16:creationId xmlns:a16="http://schemas.microsoft.com/office/drawing/2014/main" id="{55065634-6CD7-0B0B-B6EB-05E150BBAD1D}"/>
              </a:ext>
            </a:extLst>
          </p:cNvPr>
          <p:cNvSpPr txBox="1"/>
          <p:nvPr/>
        </p:nvSpPr>
        <p:spPr>
          <a:xfrm>
            <a:off x="838200" y="2023110"/>
            <a:ext cx="4446270" cy="3693319"/>
          </a:xfrm>
          <a:prstGeom prst="rect">
            <a:avLst/>
          </a:prstGeom>
          <a:noFill/>
        </p:spPr>
        <p:txBody>
          <a:bodyPr wrap="square" rtlCol="0">
            <a:spAutoFit/>
          </a:bodyPr>
          <a:lstStyle/>
          <a:p>
            <a:r>
              <a:rPr lang="en-GB" i="1" dirty="0"/>
              <a:t>“Just 5% of integrated AI pilots are extracting millions in value, while the vast majority remain stuck with no measurable P&amp;L impact. This divide does not seem to be driven by model quality or regulation but seems to be determined by approach……..</a:t>
            </a:r>
            <a:br>
              <a:rPr lang="en-GB" i="1" dirty="0"/>
            </a:br>
            <a:endParaRPr lang="en-GB" i="1" dirty="0"/>
          </a:p>
          <a:p>
            <a:r>
              <a:rPr lang="en-GB" i="1" dirty="0"/>
              <a:t>Organizations on the right side of the GenAI Divide share a common approach: they build adaptive, embedded systems that learn from feedback……..Domain fluency and workflow integration matter more than flashy UX.”</a:t>
            </a:r>
          </a:p>
          <a:p>
            <a:endParaRPr lang="en-GB" i="1" dirty="0"/>
          </a:p>
        </p:txBody>
      </p:sp>
      <p:pic>
        <p:nvPicPr>
          <p:cNvPr id="8" name="Picture 7" descr="A graph with blue bars&#10;&#10;AI-generated content may be incorrect.">
            <a:extLst>
              <a:ext uri="{FF2B5EF4-FFF2-40B4-BE49-F238E27FC236}">
                <a16:creationId xmlns:a16="http://schemas.microsoft.com/office/drawing/2014/main" id="{46798F0E-A8F4-513D-12BF-F86D999D89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60403"/>
            <a:ext cx="5768340" cy="2965808"/>
          </a:xfrm>
          <a:prstGeom prst="rect">
            <a:avLst/>
          </a:prstGeom>
        </p:spPr>
      </p:pic>
      <p:sp>
        <p:nvSpPr>
          <p:cNvPr id="9" name="TextBox 8">
            <a:extLst>
              <a:ext uri="{FF2B5EF4-FFF2-40B4-BE49-F238E27FC236}">
                <a16:creationId xmlns:a16="http://schemas.microsoft.com/office/drawing/2014/main" id="{CD0A1F16-2720-F0BF-751A-7DCBE53FC1BE}"/>
              </a:ext>
            </a:extLst>
          </p:cNvPr>
          <p:cNvSpPr txBox="1"/>
          <p:nvPr/>
        </p:nvSpPr>
        <p:spPr>
          <a:xfrm>
            <a:off x="6522720" y="6277431"/>
            <a:ext cx="5669280" cy="430887"/>
          </a:xfrm>
          <a:prstGeom prst="rect">
            <a:avLst/>
          </a:prstGeom>
          <a:noFill/>
        </p:spPr>
        <p:txBody>
          <a:bodyPr wrap="square" rtlCol="0">
            <a:spAutoFit/>
          </a:bodyPr>
          <a:lstStyle/>
          <a:p>
            <a:r>
              <a:rPr lang="en-GB" sz="1100" dirty="0"/>
              <a:t>Source: The GenAI Divide: State of AI in Business 2025, by MIT NANDA, </a:t>
            </a:r>
            <a:r>
              <a:rPr lang="en-GB" sz="1100" dirty="0" err="1"/>
              <a:t>Challapally</a:t>
            </a:r>
            <a:r>
              <a:rPr lang="en-GB" sz="1100" dirty="0"/>
              <a:t>, et al. September 2025.</a:t>
            </a:r>
          </a:p>
        </p:txBody>
      </p:sp>
    </p:spTree>
    <p:extLst>
      <p:ext uri="{BB962C8B-B14F-4D97-AF65-F5344CB8AC3E}">
        <p14:creationId xmlns:p14="http://schemas.microsoft.com/office/powerpoint/2010/main" val="3619014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D49F3-9CD1-B941-87B1-AD1764487383}"/>
              </a:ext>
            </a:extLst>
          </p:cNvPr>
          <p:cNvSpPr>
            <a:spLocks noGrp="1"/>
          </p:cNvSpPr>
          <p:nvPr>
            <p:ph type="title"/>
          </p:nvPr>
        </p:nvSpPr>
        <p:spPr>
          <a:xfrm>
            <a:off x="803476" y="2529591"/>
            <a:ext cx="2796251" cy="1325563"/>
          </a:xfrm>
        </p:spPr>
        <p:txBody>
          <a:bodyPr>
            <a:normAutofit fontScale="90000"/>
          </a:bodyPr>
          <a:lstStyle/>
          <a:p>
            <a:r>
              <a:rPr lang="en-US" dirty="0"/>
              <a:t>People are Aware, but Cautious and Divided</a:t>
            </a:r>
          </a:p>
        </p:txBody>
      </p:sp>
      <p:pic>
        <p:nvPicPr>
          <p:cNvPr id="30722" name="Picture 2" descr="table">
            <a:extLst>
              <a:ext uri="{FF2B5EF4-FFF2-40B4-BE49-F238E27FC236}">
                <a16:creationId xmlns:a16="http://schemas.microsoft.com/office/drawing/2014/main" id="{FD81D42C-D536-23A9-11CF-E50830F259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8046" y="0"/>
            <a:ext cx="39147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982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84A5-5D0A-9192-C05B-79217C809370}"/>
              </a:ext>
            </a:extLst>
          </p:cNvPr>
          <p:cNvSpPr>
            <a:spLocks noGrp="1"/>
          </p:cNvSpPr>
          <p:nvPr>
            <p:ph type="title"/>
          </p:nvPr>
        </p:nvSpPr>
        <p:spPr/>
        <p:txBody>
          <a:bodyPr/>
          <a:lstStyle/>
          <a:p>
            <a:r>
              <a:rPr lang="en-US" dirty="0"/>
              <a:t>Case: JP Morgan</a:t>
            </a:r>
          </a:p>
        </p:txBody>
      </p:sp>
      <p:sp>
        <p:nvSpPr>
          <p:cNvPr id="4" name="TextBox 3">
            <a:extLst>
              <a:ext uri="{FF2B5EF4-FFF2-40B4-BE49-F238E27FC236}">
                <a16:creationId xmlns:a16="http://schemas.microsoft.com/office/drawing/2014/main" id="{F60C2E0C-4FB3-9243-BA55-931CEB5901BF}"/>
              </a:ext>
            </a:extLst>
          </p:cNvPr>
          <p:cNvSpPr txBox="1"/>
          <p:nvPr/>
        </p:nvSpPr>
        <p:spPr>
          <a:xfrm>
            <a:off x="6400800" y="6492875"/>
            <a:ext cx="6096000" cy="261610"/>
          </a:xfrm>
          <a:prstGeom prst="rect">
            <a:avLst/>
          </a:prstGeom>
          <a:noFill/>
        </p:spPr>
        <p:txBody>
          <a:bodyPr wrap="square">
            <a:spAutoFit/>
          </a:bodyPr>
          <a:lstStyle/>
          <a:p>
            <a:r>
              <a:rPr lang="en-US" sz="1100" dirty="0"/>
              <a:t>Source: Databricks Conference, June 2025 https://</a:t>
            </a:r>
            <a:r>
              <a:rPr lang="en-US" sz="1100" dirty="0" err="1"/>
              <a:t>youtu.be</a:t>
            </a:r>
            <a:r>
              <a:rPr lang="en-US" sz="1100" dirty="0"/>
              <a:t>/0hT-FJ7Ay4Y?si=St1JPfEaiPjkMfrh</a:t>
            </a:r>
          </a:p>
        </p:txBody>
      </p:sp>
      <p:pic>
        <p:nvPicPr>
          <p:cNvPr id="6146" name="Picture 2" descr="JPMorgan Chase at Data + AI Summit ...">
            <a:extLst>
              <a:ext uri="{FF2B5EF4-FFF2-40B4-BE49-F238E27FC236}">
                <a16:creationId xmlns:a16="http://schemas.microsoft.com/office/drawing/2014/main" id="{14213944-27D5-D8DC-60E0-93DF5395E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064" y="2227829"/>
            <a:ext cx="3797300" cy="2133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5DA5D2-DFD4-346A-8A7A-F18DDE8C6B71}"/>
              </a:ext>
            </a:extLst>
          </p:cNvPr>
          <p:cNvSpPr txBox="1"/>
          <p:nvPr/>
        </p:nvSpPr>
        <p:spPr>
          <a:xfrm>
            <a:off x="5214257" y="1614488"/>
            <a:ext cx="6947095" cy="4801314"/>
          </a:xfrm>
          <a:prstGeom prst="rect">
            <a:avLst/>
          </a:prstGeom>
          <a:noFill/>
        </p:spPr>
        <p:txBody>
          <a:bodyPr wrap="none" rtlCol="0">
            <a:spAutoFit/>
          </a:bodyPr>
          <a:lstStyle/>
          <a:p>
            <a:pPr marL="285750" indent="-285750">
              <a:buFont typeface="Arial" panose="020B0604020202020204" pitchFamily="34" charset="0"/>
              <a:buChar char="•"/>
            </a:pPr>
            <a:r>
              <a:rPr lang="en-US" dirty="0"/>
              <a:t>Investing in AI since 2012 (originally with Palantir)</a:t>
            </a:r>
          </a:p>
          <a:p>
            <a:endParaRPr lang="en-US" dirty="0"/>
          </a:p>
          <a:p>
            <a:pPr marL="285750" indent="-285750">
              <a:buFont typeface="Arial" panose="020B0604020202020204" pitchFamily="34" charset="0"/>
              <a:buChar char="•"/>
            </a:pPr>
            <a:r>
              <a:rPr lang="en-US" dirty="0"/>
              <a:t>Spending $2 bn and now breaking even (out of £18bn on tech)</a:t>
            </a:r>
            <a:br>
              <a:rPr lang="en-US" dirty="0"/>
            </a:br>
            <a:endParaRPr lang="en-US" dirty="0"/>
          </a:p>
          <a:p>
            <a:pPr marL="285750" indent="-285750">
              <a:buFont typeface="Arial" panose="020B0604020202020204" pitchFamily="34" charset="0"/>
              <a:buChar char="•"/>
            </a:pPr>
            <a:r>
              <a:rPr lang="en-US" dirty="0"/>
              <a:t>Reports to CEO</a:t>
            </a:r>
            <a:br>
              <a:rPr lang="en-US" dirty="0"/>
            </a:br>
            <a:endParaRPr lang="en-US" dirty="0"/>
          </a:p>
          <a:p>
            <a:pPr marL="285750" indent="-285750">
              <a:buFont typeface="Arial" panose="020B0604020202020204" pitchFamily="34" charset="0"/>
              <a:buChar char="•"/>
            </a:pPr>
            <a:r>
              <a:rPr lang="en-US" dirty="0"/>
              <a:t>Hardest part was getting business to understand what AI can do</a:t>
            </a:r>
            <a:br>
              <a:rPr lang="en-US" dirty="0"/>
            </a:br>
            <a:endParaRPr lang="en-US" dirty="0"/>
          </a:p>
          <a:p>
            <a:pPr marL="285750" indent="-285750">
              <a:buFont typeface="Arial" panose="020B0604020202020204" pitchFamily="34" charset="0"/>
              <a:buChar char="•"/>
            </a:pPr>
            <a:r>
              <a:rPr lang="en-US" dirty="0"/>
              <a:t>Own platform (</a:t>
            </a:r>
            <a:r>
              <a:rPr lang="en-US" dirty="0" err="1"/>
              <a:t>OmniAI</a:t>
            </a:r>
            <a:r>
              <a:rPr lang="en-US" dirty="0"/>
              <a:t>) across 300,000 employees in 100 companies </a:t>
            </a:r>
            <a:br>
              <a:rPr lang="en-US" dirty="0"/>
            </a:br>
            <a:endParaRPr lang="en-US" dirty="0"/>
          </a:p>
          <a:p>
            <a:pPr marL="285750" indent="-285750">
              <a:buFont typeface="Arial" panose="020B0604020202020204" pitchFamily="34" charset="0"/>
              <a:buChar char="•"/>
            </a:pPr>
            <a:r>
              <a:rPr lang="en-US" dirty="0"/>
              <a:t>&gt; 450 active AI use cases</a:t>
            </a:r>
            <a:br>
              <a:rPr lang="en-US" dirty="0"/>
            </a:br>
            <a:endParaRPr lang="en-US" dirty="0"/>
          </a:p>
          <a:p>
            <a:pPr marL="285750" indent="-285750">
              <a:buFont typeface="Arial" panose="020B0604020202020204" pitchFamily="34" charset="0"/>
              <a:buChar char="•"/>
            </a:pPr>
            <a:r>
              <a:rPr lang="en-US" dirty="0"/>
              <a:t>6000 money movements per second by AI</a:t>
            </a:r>
            <a:br>
              <a:rPr lang="en-US" dirty="0"/>
            </a:br>
            <a:endParaRPr lang="en-US" dirty="0"/>
          </a:p>
          <a:p>
            <a:pPr marL="285750" indent="-285750">
              <a:buFont typeface="Arial" panose="020B0604020202020204" pitchFamily="34" charset="0"/>
              <a:buChar char="•"/>
            </a:pPr>
            <a:r>
              <a:rPr lang="en-US" dirty="0"/>
              <a:t>AI prevents $1.5bn of fraud</a:t>
            </a:r>
            <a:br>
              <a:rPr lang="en-US" dirty="0"/>
            </a:br>
            <a:endParaRPr lang="en-US" dirty="0"/>
          </a:p>
          <a:p>
            <a:pPr marL="285750" indent="-285750">
              <a:buFont typeface="Arial" panose="020B0604020202020204" pitchFamily="34" charset="0"/>
              <a:buChar char="•"/>
            </a:pPr>
            <a:r>
              <a:rPr lang="en-US" dirty="0"/>
              <a:t>200,000 </a:t>
            </a:r>
            <a:r>
              <a:rPr lang="en-US" dirty="0" err="1"/>
              <a:t>analysing</a:t>
            </a:r>
            <a:r>
              <a:rPr lang="en-US" dirty="0"/>
              <a:t> proprietary data …….</a:t>
            </a:r>
          </a:p>
        </p:txBody>
      </p:sp>
      <p:sp>
        <p:nvSpPr>
          <p:cNvPr id="6" name="TextBox 5">
            <a:extLst>
              <a:ext uri="{FF2B5EF4-FFF2-40B4-BE49-F238E27FC236}">
                <a16:creationId xmlns:a16="http://schemas.microsoft.com/office/drawing/2014/main" id="{24C356DC-1A02-1A79-4C96-4B5A323DD13A}"/>
              </a:ext>
            </a:extLst>
          </p:cNvPr>
          <p:cNvSpPr txBox="1"/>
          <p:nvPr/>
        </p:nvSpPr>
        <p:spPr>
          <a:xfrm>
            <a:off x="1055914" y="4636960"/>
            <a:ext cx="3092513" cy="261610"/>
          </a:xfrm>
          <a:prstGeom prst="rect">
            <a:avLst/>
          </a:prstGeom>
          <a:noFill/>
        </p:spPr>
        <p:txBody>
          <a:bodyPr wrap="none" rtlCol="0">
            <a:spAutoFit/>
          </a:bodyPr>
          <a:lstStyle/>
          <a:p>
            <a:r>
              <a:rPr lang="en-US" sz="1100" dirty="0"/>
              <a:t>Jamie Dimon, Chairman &amp; CEO of JP Morgan Chase</a:t>
            </a:r>
          </a:p>
        </p:txBody>
      </p:sp>
    </p:spTree>
    <p:extLst>
      <p:ext uri="{BB962C8B-B14F-4D97-AF65-F5344CB8AC3E}">
        <p14:creationId xmlns:p14="http://schemas.microsoft.com/office/powerpoint/2010/main" val="4007595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66BD-8D38-C1E1-162D-83E963200717}"/>
              </a:ext>
            </a:extLst>
          </p:cNvPr>
          <p:cNvSpPr>
            <a:spLocks noGrp="1"/>
          </p:cNvSpPr>
          <p:nvPr>
            <p:ph type="title"/>
          </p:nvPr>
        </p:nvSpPr>
        <p:spPr/>
        <p:txBody>
          <a:bodyPr/>
          <a:lstStyle/>
          <a:p>
            <a:r>
              <a:rPr lang="en-GB" dirty="0"/>
              <a:t>IBM survey on AI and consultancy </a:t>
            </a:r>
          </a:p>
        </p:txBody>
      </p:sp>
      <p:sp>
        <p:nvSpPr>
          <p:cNvPr id="5" name="TextBox 4">
            <a:extLst>
              <a:ext uri="{FF2B5EF4-FFF2-40B4-BE49-F238E27FC236}">
                <a16:creationId xmlns:a16="http://schemas.microsoft.com/office/drawing/2014/main" id="{AFDC3DDF-1B9D-8416-56E8-696D0DE9A2A7}"/>
              </a:ext>
            </a:extLst>
          </p:cNvPr>
          <p:cNvSpPr txBox="1"/>
          <p:nvPr/>
        </p:nvSpPr>
        <p:spPr>
          <a:xfrm>
            <a:off x="1908810" y="1506022"/>
            <a:ext cx="9132570" cy="369332"/>
          </a:xfrm>
          <a:prstGeom prst="rect">
            <a:avLst/>
          </a:prstGeom>
          <a:noFill/>
        </p:spPr>
        <p:txBody>
          <a:bodyPr wrap="square">
            <a:spAutoFit/>
          </a:bodyPr>
          <a:lstStyle/>
          <a:p>
            <a:pPr>
              <a:buNone/>
            </a:pPr>
            <a:r>
              <a:rPr lang="en-GB" dirty="0">
                <a:solidFill>
                  <a:srgbClr val="000000"/>
                </a:solidFill>
                <a:effectLst/>
                <a:latin typeface="Helvetica" pitchFamily="2" charset="0"/>
              </a:rPr>
              <a:t>400 C-level executives across 14 industries and 6 countries from June to August 2024</a:t>
            </a:r>
          </a:p>
        </p:txBody>
      </p:sp>
      <p:pic>
        <p:nvPicPr>
          <p:cNvPr id="7" name="Picture 6" descr="A screenshot of a diagram&#10;&#10;AI-generated content may be incorrect.">
            <a:extLst>
              <a:ext uri="{FF2B5EF4-FFF2-40B4-BE49-F238E27FC236}">
                <a16:creationId xmlns:a16="http://schemas.microsoft.com/office/drawing/2014/main" id="{423D0FF2-A7A0-24DD-CE00-52BC131D0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217091"/>
            <a:ext cx="7772400" cy="4400879"/>
          </a:xfrm>
          <a:prstGeom prst="rect">
            <a:avLst/>
          </a:prstGeom>
        </p:spPr>
      </p:pic>
      <p:sp>
        <p:nvSpPr>
          <p:cNvPr id="8" name="TextBox 7">
            <a:extLst>
              <a:ext uri="{FF2B5EF4-FFF2-40B4-BE49-F238E27FC236}">
                <a16:creationId xmlns:a16="http://schemas.microsoft.com/office/drawing/2014/main" id="{E27A0056-29B2-C4DE-BD19-40F837B2C80D}"/>
              </a:ext>
            </a:extLst>
          </p:cNvPr>
          <p:cNvSpPr txBox="1"/>
          <p:nvPr/>
        </p:nvSpPr>
        <p:spPr>
          <a:xfrm>
            <a:off x="7795260" y="6317888"/>
            <a:ext cx="4011930" cy="600164"/>
          </a:xfrm>
          <a:prstGeom prst="rect">
            <a:avLst/>
          </a:prstGeom>
          <a:noFill/>
        </p:spPr>
        <p:txBody>
          <a:bodyPr wrap="square" rtlCol="0">
            <a:spAutoFit/>
          </a:bodyPr>
          <a:lstStyle/>
          <a:p>
            <a:r>
              <a:rPr lang="en-GB" sz="1100" dirty="0"/>
              <a:t>Source: Consulting reimagined, powered by AI, by IBM Institute for Business Value, October 2024.</a:t>
            </a:r>
          </a:p>
          <a:p>
            <a:endParaRPr lang="en-GB" sz="1100" dirty="0"/>
          </a:p>
        </p:txBody>
      </p:sp>
    </p:spTree>
    <p:extLst>
      <p:ext uri="{BB962C8B-B14F-4D97-AF65-F5344CB8AC3E}">
        <p14:creationId xmlns:p14="http://schemas.microsoft.com/office/powerpoint/2010/main" val="3806279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30C83-35BD-1F87-3645-B064F0295A26}"/>
              </a:ext>
            </a:extLst>
          </p:cNvPr>
          <p:cNvSpPr>
            <a:spLocks noGrp="1"/>
          </p:cNvSpPr>
          <p:nvPr>
            <p:ph type="title"/>
          </p:nvPr>
        </p:nvSpPr>
        <p:spPr/>
        <p:txBody>
          <a:bodyPr/>
          <a:lstStyle/>
          <a:p>
            <a:r>
              <a:rPr lang="en-GB" dirty="0"/>
              <a:t>Global AI consultancy revenues </a:t>
            </a:r>
          </a:p>
        </p:txBody>
      </p:sp>
      <p:sp>
        <p:nvSpPr>
          <p:cNvPr id="6" name="TextBox 5">
            <a:extLst>
              <a:ext uri="{FF2B5EF4-FFF2-40B4-BE49-F238E27FC236}">
                <a16:creationId xmlns:a16="http://schemas.microsoft.com/office/drawing/2014/main" id="{C421A57C-9E46-302B-AB78-71969DAC2243}"/>
              </a:ext>
            </a:extLst>
          </p:cNvPr>
          <p:cNvSpPr txBox="1"/>
          <p:nvPr/>
        </p:nvSpPr>
        <p:spPr>
          <a:xfrm>
            <a:off x="2217420" y="5341768"/>
            <a:ext cx="1253869" cy="261610"/>
          </a:xfrm>
          <a:prstGeom prst="rect">
            <a:avLst/>
          </a:prstGeom>
          <a:noFill/>
        </p:spPr>
        <p:txBody>
          <a:bodyPr wrap="none" rtlCol="0">
            <a:spAutoFit/>
          </a:bodyPr>
          <a:lstStyle/>
          <a:p>
            <a:r>
              <a:rPr lang="en-GB" sz="1100" dirty="0">
                <a:solidFill>
                  <a:schemeClr val="tx2"/>
                </a:solidFill>
              </a:rPr>
              <a:t>Source: </a:t>
            </a:r>
            <a:r>
              <a:rPr lang="en-GB" sz="1100" dirty="0" err="1">
                <a:solidFill>
                  <a:schemeClr val="tx2"/>
                </a:solidFill>
              </a:rPr>
              <a:t>Market.US</a:t>
            </a:r>
            <a:endParaRPr lang="en-GB" sz="1100" dirty="0">
              <a:solidFill>
                <a:schemeClr val="tx2"/>
              </a:solidFill>
            </a:endParaRPr>
          </a:p>
        </p:txBody>
      </p:sp>
      <p:pic>
        <p:nvPicPr>
          <p:cNvPr id="8" name="Picture 7" descr="A purple and black graph&#10;&#10;AI-generated content may be incorrect.">
            <a:extLst>
              <a:ext uri="{FF2B5EF4-FFF2-40B4-BE49-F238E27FC236}">
                <a16:creationId xmlns:a16="http://schemas.microsoft.com/office/drawing/2014/main" id="{ECA4907C-5089-A186-898B-DAF5839E1E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018559"/>
            <a:ext cx="5026660" cy="2995338"/>
          </a:xfrm>
          <a:prstGeom prst="rect">
            <a:avLst/>
          </a:prstGeom>
        </p:spPr>
      </p:pic>
      <p:pic>
        <p:nvPicPr>
          <p:cNvPr id="10" name="Picture 9" descr="A graph showing the market&#10;&#10;AI-generated content may be incorrect.">
            <a:extLst>
              <a:ext uri="{FF2B5EF4-FFF2-40B4-BE49-F238E27FC236}">
                <a16:creationId xmlns:a16="http://schemas.microsoft.com/office/drawing/2014/main" id="{706F2845-D9D5-33E1-9C92-54EE6D5B1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88719"/>
            <a:ext cx="5193048" cy="2855018"/>
          </a:xfrm>
          <a:prstGeom prst="rect">
            <a:avLst/>
          </a:prstGeom>
          <a:ln>
            <a:solidFill>
              <a:schemeClr val="tx2"/>
            </a:solidFill>
          </a:ln>
        </p:spPr>
      </p:pic>
      <p:sp>
        <p:nvSpPr>
          <p:cNvPr id="11" name="TextBox 10">
            <a:extLst>
              <a:ext uri="{FF2B5EF4-FFF2-40B4-BE49-F238E27FC236}">
                <a16:creationId xmlns:a16="http://schemas.microsoft.com/office/drawing/2014/main" id="{0722B41F-0CC1-E931-1BF4-F4500F4BD009}"/>
              </a:ext>
            </a:extLst>
          </p:cNvPr>
          <p:cNvSpPr txBox="1"/>
          <p:nvPr/>
        </p:nvSpPr>
        <p:spPr>
          <a:xfrm>
            <a:off x="8093778" y="5341768"/>
            <a:ext cx="1882247" cy="261610"/>
          </a:xfrm>
          <a:prstGeom prst="rect">
            <a:avLst/>
          </a:prstGeom>
          <a:noFill/>
        </p:spPr>
        <p:txBody>
          <a:bodyPr wrap="none" rtlCol="0">
            <a:spAutoFit/>
          </a:bodyPr>
          <a:lstStyle/>
          <a:p>
            <a:r>
              <a:rPr lang="en-GB" sz="1100" dirty="0">
                <a:solidFill>
                  <a:schemeClr val="tx2"/>
                </a:solidFill>
              </a:rPr>
              <a:t>Source: Market Data Forecast</a:t>
            </a:r>
          </a:p>
        </p:txBody>
      </p:sp>
    </p:spTree>
    <p:extLst>
      <p:ext uri="{BB962C8B-B14F-4D97-AF65-F5344CB8AC3E}">
        <p14:creationId xmlns:p14="http://schemas.microsoft.com/office/powerpoint/2010/main" val="2560207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1D275-EF40-3F0B-A552-D3A37C266E86}"/>
              </a:ext>
            </a:extLst>
          </p:cNvPr>
          <p:cNvSpPr>
            <a:spLocks noGrp="1"/>
          </p:cNvSpPr>
          <p:nvPr>
            <p:ph type="title"/>
          </p:nvPr>
        </p:nvSpPr>
        <p:spPr/>
        <p:txBody>
          <a:bodyPr/>
          <a:lstStyle/>
          <a:p>
            <a:r>
              <a:rPr lang="en-US" dirty="0"/>
              <a:t>AI Revenues Look to be Increasing within Big-4</a:t>
            </a:r>
          </a:p>
        </p:txBody>
      </p:sp>
      <p:pic>
        <p:nvPicPr>
          <p:cNvPr id="9218" name="Picture 2" descr="Ernst &amp; Young | Brands of the World™ | Download vector logos ...">
            <a:extLst>
              <a:ext uri="{FF2B5EF4-FFF2-40B4-BE49-F238E27FC236}">
                <a16:creationId xmlns:a16="http://schemas.microsoft.com/office/drawing/2014/main" id="{A5C6A500-369A-7E35-1EF1-E6946D068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0677" y="3907090"/>
            <a:ext cx="990402" cy="9218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6E9F0A7-D321-346F-D7BC-A7671BE243B7}"/>
              </a:ext>
            </a:extLst>
          </p:cNvPr>
          <p:cNvSpPr txBox="1"/>
          <p:nvPr/>
        </p:nvSpPr>
        <p:spPr>
          <a:xfrm>
            <a:off x="3032390" y="5067228"/>
            <a:ext cx="6420347" cy="246221"/>
          </a:xfrm>
          <a:prstGeom prst="rect">
            <a:avLst/>
          </a:prstGeom>
          <a:noFill/>
        </p:spPr>
        <p:txBody>
          <a:bodyPr wrap="none" rtlCol="0">
            <a:spAutoFit/>
          </a:bodyPr>
          <a:lstStyle/>
          <a:p>
            <a:r>
              <a:rPr lang="en-US" sz="1000" dirty="0"/>
              <a:t>Source:  https://</a:t>
            </a:r>
            <a:r>
              <a:rPr lang="en-US" sz="1000" dirty="0" err="1"/>
              <a:t>www.ey.com</a:t>
            </a:r>
            <a:r>
              <a:rPr lang="en-US" sz="1000" dirty="0"/>
              <a:t>/</a:t>
            </a:r>
            <a:r>
              <a:rPr lang="en-US" sz="1000" dirty="0" err="1"/>
              <a:t>en_gl</a:t>
            </a:r>
            <a:r>
              <a:rPr lang="en-US" sz="1000" dirty="0"/>
              <a:t>/newsroom/2025/10/ey-announces-global-revenue-of-us-53-2b-for-fiscal-year-2025</a:t>
            </a:r>
          </a:p>
        </p:txBody>
      </p:sp>
      <p:sp>
        <p:nvSpPr>
          <p:cNvPr id="5" name="TextBox 4">
            <a:extLst>
              <a:ext uri="{FF2B5EF4-FFF2-40B4-BE49-F238E27FC236}">
                <a16:creationId xmlns:a16="http://schemas.microsoft.com/office/drawing/2014/main" id="{EC419433-1C9C-B4BE-8C0C-FE20F6E0C217}"/>
              </a:ext>
            </a:extLst>
          </p:cNvPr>
          <p:cNvSpPr txBox="1"/>
          <p:nvPr/>
        </p:nvSpPr>
        <p:spPr>
          <a:xfrm>
            <a:off x="3032390" y="3751755"/>
            <a:ext cx="7045534" cy="1077218"/>
          </a:xfrm>
          <a:prstGeom prst="rect">
            <a:avLst/>
          </a:prstGeom>
          <a:noFill/>
        </p:spPr>
        <p:txBody>
          <a:bodyPr wrap="square">
            <a:spAutoFit/>
          </a:bodyPr>
          <a:lstStyle/>
          <a:p>
            <a:r>
              <a:rPr lang="en-GB" sz="1600" b="0" i="1" u="none" strike="noStrike" dirty="0">
                <a:solidFill>
                  <a:srgbClr val="2E2E38"/>
                </a:solidFill>
                <a:effectLst/>
                <a:latin typeface="EYInterstate"/>
              </a:rPr>
              <a:t>“In FY25, AI-related revenue grew by 30% – ranging from delivering enterprise-wide transformations to AI governance frameworks that help drive the responsible implementation of AI. More than 15,000 EY people worked on AI-led projects for clients in the Consulting and EY-Parthenon Service Lines.” </a:t>
            </a:r>
            <a:endParaRPr lang="en-US" sz="1600" i="1" dirty="0"/>
          </a:p>
        </p:txBody>
      </p:sp>
      <p:sp>
        <p:nvSpPr>
          <p:cNvPr id="12" name="TextBox 11">
            <a:extLst>
              <a:ext uri="{FF2B5EF4-FFF2-40B4-BE49-F238E27FC236}">
                <a16:creationId xmlns:a16="http://schemas.microsoft.com/office/drawing/2014/main" id="{1629B570-56FA-DCFC-ADB2-50B03DAF3825}"/>
              </a:ext>
            </a:extLst>
          </p:cNvPr>
          <p:cNvSpPr txBox="1"/>
          <p:nvPr/>
        </p:nvSpPr>
        <p:spPr>
          <a:xfrm>
            <a:off x="3032390" y="2029027"/>
            <a:ext cx="8347494" cy="1077218"/>
          </a:xfrm>
          <a:prstGeom prst="rect">
            <a:avLst/>
          </a:prstGeom>
          <a:noFill/>
        </p:spPr>
        <p:txBody>
          <a:bodyPr wrap="square" rtlCol="0">
            <a:spAutoFit/>
          </a:bodyPr>
          <a:lstStyle/>
          <a:p>
            <a:r>
              <a:rPr lang="en-GB" sz="1600" b="1" dirty="0"/>
              <a:t>No firm breaks out AI revenue separately</a:t>
            </a:r>
            <a:r>
              <a:rPr lang="en-GB" sz="1600" dirty="0"/>
              <a:t> in statutory or global press releases; AI work is embedded inside consulting/tech/transformation lines (and sometimes managed services/products). </a:t>
            </a:r>
          </a:p>
          <a:p>
            <a:endParaRPr lang="en-US" sz="1600" dirty="0"/>
          </a:p>
        </p:txBody>
      </p:sp>
    </p:spTree>
    <p:extLst>
      <p:ext uri="{BB962C8B-B14F-4D97-AF65-F5344CB8AC3E}">
        <p14:creationId xmlns:p14="http://schemas.microsoft.com/office/powerpoint/2010/main" val="3728935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D754D-3D94-A328-6DCA-F62543D7BAB0}"/>
              </a:ext>
            </a:extLst>
          </p:cNvPr>
          <p:cNvSpPr>
            <a:spLocks noGrp="1"/>
          </p:cNvSpPr>
          <p:nvPr>
            <p:ph type="title"/>
          </p:nvPr>
        </p:nvSpPr>
        <p:spPr/>
        <p:txBody>
          <a:bodyPr/>
          <a:lstStyle/>
          <a:p>
            <a:r>
              <a:rPr lang="en-US" dirty="0"/>
              <a:t>AI-Enabled Consulting can Deliver Errors to Clients</a:t>
            </a:r>
          </a:p>
        </p:txBody>
      </p:sp>
      <p:sp>
        <p:nvSpPr>
          <p:cNvPr id="3" name="TextBox 2">
            <a:extLst>
              <a:ext uri="{FF2B5EF4-FFF2-40B4-BE49-F238E27FC236}">
                <a16:creationId xmlns:a16="http://schemas.microsoft.com/office/drawing/2014/main" id="{73E5661E-3214-A768-E937-EF59028E7C52}"/>
              </a:ext>
            </a:extLst>
          </p:cNvPr>
          <p:cNvSpPr txBox="1"/>
          <p:nvPr/>
        </p:nvSpPr>
        <p:spPr>
          <a:xfrm>
            <a:off x="6400800" y="2093666"/>
            <a:ext cx="49530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Big 4 created report for Australian government</a:t>
            </a:r>
            <a:br>
              <a:rPr lang="en-US" dirty="0"/>
            </a:br>
            <a:endParaRPr lang="en-US" dirty="0"/>
          </a:p>
          <a:p>
            <a:pPr marL="285750" indent="-285750">
              <a:buFont typeface="Arial" panose="020B0604020202020204" pitchFamily="34" charset="0"/>
              <a:buChar char="•"/>
            </a:pPr>
            <a:r>
              <a:rPr lang="en-US" dirty="0"/>
              <a:t>&gt; 200k fees</a:t>
            </a:r>
            <a:br>
              <a:rPr lang="en-US" dirty="0"/>
            </a:br>
            <a:endParaRPr lang="en-US" dirty="0"/>
          </a:p>
          <a:p>
            <a:pPr marL="285750" indent="-285750">
              <a:buFont typeface="Arial" panose="020B0604020202020204" pitchFamily="34" charset="0"/>
              <a:buChar char="•"/>
            </a:pPr>
            <a:r>
              <a:rPr lang="en-US" dirty="0"/>
              <a:t>20 errors found by client from using AI that made up quotes and references (hallucination)</a:t>
            </a:r>
            <a:br>
              <a:rPr lang="en-US" dirty="0"/>
            </a:br>
            <a:endParaRPr lang="en-US" dirty="0"/>
          </a:p>
          <a:p>
            <a:pPr marL="285750" indent="-285750">
              <a:buFont typeface="Arial" panose="020B0604020202020204" pitchFamily="34" charset="0"/>
              <a:buChar char="•"/>
            </a:pPr>
            <a:r>
              <a:rPr lang="en-US" dirty="0"/>
              <a:t>Led to republication and refund</a:t>
            </a:r>
          </a:p>
          <a:p>
            <a:endParaRPr lang="en-US" dirty="0"/>
          </a:p>
          <a:p>
            <a:pPr marL="285750" indent="-285750">
              <a:buFont typeface="Arial" panose="020B0604020202020204" pitchFamily="34" charset="0"/>
              <a:buChar char="•"/>
            </a:pPr>
            <a:r>
              <a:rPr lang="en-GB" dirty="0"/>
              <a:t>Senator Deborah O’Neill from the Australian Labor Party “Perhaps instead of a big consulting firm, procurers would be better off signing up for a ChatGPT subscription,”</a:t>
            </a:r>
            <a:endParaRPr lang="en-US" dirty="0"/>
          </a:p>
        </p:txBody>
      </p:sp>
      <p:pic>
        <p:nvPicPr>
          <p:cNvPr id="7172" name="Picture 4" descr="Multi-Agent AI Consultant: Exploring ...">
            <a:extLst>
              <a:ext uri="{FF2B5EF4-FFF2-40B4-BE49-F238E27FC236}">
                <a16:creationId xmlns:a16="http://schemas.microsoft.com/office/drawing/2014/main" id="{459B5E42-7C8C-6E88-A7BA-7A9C0345D0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714" y="2199831"/>
            <a:ext cx="5783036" cy="33101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46DD66E-5D94-BBDF-6C21-9F5B936865C3}"/>
              </a:ext>
            </a:extLst>
          </p:cNvPr>
          <p:cNvSpPr txBox="1"/>
          <p:nvPr/>
        </p:nvSpPr>
        <p:spPr>
          <a:xfrm>
            <a:off x="10778001" y="6492875"/>
            <a:ext cx="575799" cy="261610"/>
          </a:xfrm>
          <a:prstGeom prst="rect">
            <a:avLst/>
          </a:prstGeom>
          <a:noFill/>
        </p:spPr>
        <p:txBody>
          <a:bodyPr wrap="none" rtlCol="0">
            <a:spAutoFit/>
          </a:bodyPr>
          <a:lstStyle/>
          <a:p>
            <a:r>
              <a:rPr lang="en-US" sz="1100" dirty="0">
                <a:hlinkClick r:id="rId3"/>
              </a:rPr>
              <a:t>Source</a:t>
            </a:r>
            <a:endParaRPr lang="en-US" sz="1100" dirty="0"/>
          </a:p>
        </p:txBody>
      </p:sp>
    </p:spTree>
    <p:extLst>
      <p:ext uri="{BB962C8B-B14F-4D97-AF65-F5344CB8AC3E}">
        <p14:creationId xmlns:p14="http://schemas.microsoft.com/office/powerpoint/2010/main" val="2457845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39BA-350A-0EEF-C3AA-83A289008C1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8BA807-E846-6A06-646D-BE0F5641835D}"/>
              </a:ext>
            </a:extLst>
          </p:cNvPr>
          <p:cNvSpPr txBox="1"/>
          <p:nvPr/>
        </p:nvSpPr>
        <p:spPr>
          <a:xfrm>
            <a:off x="972129" y="919137"/>
            <a:ext cx="10247741" cy="1569660"/>
          </a:xfrm>
          <a:prstGeom prst="rect">
            <a:avLst/>
          </a:prstGeom>
          <a:noFill/>
        </p:spPr>
        <p:txBody>
          <a:bodyPr wrap="none" rtlCol="0">
            <a:spAutoFit/>
          </a:bodyPr>
          <a:lstStyle/>
          <a:p>
            <a:pPr algn="ctr"/>
            <a:r>
              <a:rPr lang="en-GB" sz="3200" b="1" dirty="0">
                <a:solidFill>
                  <a:schemeClr val="tx2"/>
                </a:solidFill>
              </a:rPr>
              <a:t>Section 3</a:t>
            </a:r>
          </a:p>
          <a:p>
            <a:pPr algn="ctr"/>
            <a:endParaRPr lang="en-GB" sz="3200" b="1" dirty="0">
              <a:solidFill>
                <a:schemeClr val="tx2"/>
              </a:solidFill>
            </a:endParaRPr>
          </a:p>
          <a:p>
            <a:pPr algn="ctr"/>
            <a:r>
              <a:rPr lang="en-GB" sz="3200" b="1" dirty="0">
                <a:solidFill>
                  <a:schemeClr val="tx2"/>
                </a:solidFill>
              </a:rPr>
              <a:t>Case-based review of what consultancies are doing with AI </a:t>
            </a:r>
            <a:endParaRPr lang="en-GB" sz="3200" dirty="0">
              <a:solidFill>
                <a:schemeClr val="tx2"/>
              </a:solidFill>
            </a:endParaRPr>
          </a:p>
        </p:txBody>
      </p:sp>
      <p:pic>
        <p:nvPicPr>
          <p:cNvPr id="9218" name="Picture 2" descr="Direction Signpost Stock Photos ...">
            <a:extLst>
              <a:ext uri="{FF2B5EF4-FFF2-40B4-BE49-F238E27FC236}">
                <a16:creationId xmlns:a16="http://schemas.microsoft.com/office/drawing/2014/main" id="{11A9C86A-3396-2830-42D7-78707B0ED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1360" y="3407934"/>
            <a:ext cx="5669280" cy="2530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428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8D008-B2C9-5996-6983-34E8C8CA896B}"/>
              </a:ext>
            </a:extLst>
          </p:cNvPr>
          <p:cNvSpPr>
            <a:spLocks noGrp="1"/>
          </p:cNvSpPr>
          <p:nvPr>
            <p:ph type="title"/>
          </p:nvPr>
        </p:nvSpPr>
        <p:spPr/>
        <p:txBody>
          <a:bodyPr/>
          <a:lstStyle/>
          <a:p>
            <a:r>
              <a:rPr lang="en-GB" dirty="0"/>
              <a:t>Types of Consultancies in Focus</a:t>
            </a:r>
          </a:p>
        </p:txBody>
      </p:sp>
      <p:grpSp>
        <p:nvGrpSpPr>
          <p:cNvPr id="4" name="Group 3">
            <a:extLst>
              <a:ext uri="{FF2B5EF4-FFF2-40B4-BE49-F238E27FC236}">
                <a16:creationId xmlns:a16="http://schemas.microsoft.com/office/drawing/2014/main" id="{2EACC2D5-D708-0D8C-64AC-60C8D6985FCF}"/>
              </a:ext>
            </a:extLst>
          </p:cNvPr>
          <p:cNvGrpSpPr/>
          <p:nvPr/>
        </p:nvGrpSpPr>
        <p:grpSpPr>
          <a:xfrm>
            <a:off x="1180439" y="1659803"/>
            <a:ext cx="3849687" cy="3608388"/>
            <a:chOff x="7044908" y="2433638"/>
            <a:chExt cx="3849687" cy="3608388"/>
          </a:xfrm>
        </p:grpSpPr>
        <p:sp>
          <p:nvSpPr>
            <p:cNvPr id="5" name="Freeform 5">
              <a:extLst>
                <a:ext uri="{FF2B5EF4-FFF2-40B4-BE49-F238E27FC236}">
                  <a16:creationId xmlns:a16="http://schemas.microsoft.com/office/drawing/2014/main" id="{B7606E52-9165-F250-B233-FF88C41AC689}"/>
                </a:ext>
              </a:extLst>
            </p:cNvPr>
            <p:cNvSpPr>
              <a:spLocks/>
            </p:cNvSpPr>
            <p:nvPr/>
          </p:nvSpPr>
          <p:spPr bwMode="auto">
            <a:xfrm>
              <a:off x="8989595" y="3194050"/>
              <a:ext cx="1208087" cy="2071688"/>
            </a:xfrm>
            <a:custGeom>
              <a:avLst/>
              <a:gdLst>
                <a:gd name="T0" fmla="*/ 0 w 719"/>
                <a:gd name="T1" fmla="*/ 112 h 1232"/>
                <a:gd name="T2" fmla="*/ 0 w 719"/>
                <a:gd name="T3" fmla="*/ 1030 h 1232"/>
                <a:gd name="T4" fmla="*/ 154 w 719"/>
                <a:gd name="T5" fmla="*/ 1194 h 1232"/>
                <a:gd name="T6" fmla="*/ 381 w 719"/>
                <a:gd name="T7" fmla="*/ 1118 h 1232"/>
                <a:gd name="T8" fmla="*/ 570 w 719"/>
                <a:gd name="T9" fmla="*/ 950 h 1232"/>
                <a:gd name="T10" fmla="*/ 639 w 719"/>
                <a:gd name="T11" fmla="*/ 756 h 1232"/>
                <a:gd name="T12" fmla="*/ 639 w 719"/>
                <a:gd name="T13" fmla="*/ 559 h 1232"/>
                <a:gd name="T14" fmla="*/ 588 w 719"/>
                <a:gd name="T15" fmla="*/ 377 h 1232"/>
                <a:gd name="T16" fmla="*/ 460 w 719"/>
                <a:gd name="T17" fmla="*/ 197 h 1232"/>
                <a:gd name="T18" fmla="*/ 269 w 719"/>
                <a:gd name="T19" fmla="*/ 91 h 1232"/>
                <a:gd name="T20" fmla="*/ 133 w 719"/>
                <a:gd name="T21" fmla="*/ 4 h 1232"/>
                <a:gd name="T22" fmla="*/ 0 w 719"/>
                <a:gd name="T23" fmla="*/ 112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9" h="1232">
                  <a:moveTo>
                    <a:pt x="0" y="112"/>
                  </a:moveTo>
                  <a:cubicBezTo>
                    <a:pt x="0" y="1030"/>
                    <a:pt x="0" y="1030"/>
                    <a:pt x="0" y="1030"/>
                  </a:cubicBezTo>
                  <a:cubicBezTo>
                    <a:pt x="0" y="1030"/>
                    <a:pt x="19" y="1190"/>
                    <a:pt x="154" y="1194"/>
                  </a:cubicBezTo>
                  <a:cubicBezTo>
                    <a:pt x="154" y="1194"/>
                    <a:pt x="307" y="1232"/>
                    <a:pt x="381" y="1118"/>
                  </a:cubicBezTo>
                  <a:cubicBezTo>
                    <a:pt x="381" y="1118"/>
                    <a:pt x="528" y="1112"/>
                    <a:pt x="570" y="950"/>
                  </a:cubicBezTo>
                  <a:cubicBezTo>
                    <a:pt x="570" y="950"/>
                    <a:pt x="654" y="905"/>
                    <a:pt x="639" y="756"/>
                  </a:cubicBezTo>
                  <a:cubicBezTo>
                    <a:pt x="639" y="756"/>
                    <a:pt x="719" y="652"/>
                    <a:pt x="639" y="559"/>
                  </a:cubicBezTo>
                  <a:cubicBezTo>
                    <a:pt x="639" y="559"/>
                    <a:pt x="686" y="455"/>
                    <a:pt x="588" y="377"/>
                  </a:cubicBezTo>
                  <a:cubicBezTo>
                    <a:pt x="588" y="377"/>
                    <a:pt x="593" y="240"/>
                    <a:pt x="460" y="197"/>
                  </a:cubicBezTo>
                  <a:cubicBezTo>
                    <a:pt x="460" y="197"/>
                    <a:pt x="441" y="101"/>
                    <a:pt x="269" y="91"/>
                  </a:cubicBezTo>
                  <a:cubicBezTo>
                    <a:pt x="269" y="91"/>
                    <a:pt x="241" y="0"/>
                    <a:pt x="133" y="4"/>
                  </a:cubicBezTo>
                  <a:cubicBezTo>
                    <a:pt x="25" y="8"/>
                    <a:pt x="11" y="89"/>
                    <a:pt x="0" y="112"/>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a:extLst>
                <a:ext uri="{FF2B5EF4-FFF2-40B4-BE49-F238E27FC236}">
                  <a16:creationId xmlns:a16="http://schemas.microsoft.com/office/drawing/2014/main" id="{31276579-E1D2-BADD-375E-1522FCC6A1D0}"/>
                </a:ext>
              </a:extLst>
            </p:cNvPr>
            <p:cNvSpPr>
              <a:spLocks/>
            </p:cNvSpPr>
            <p:nvPr/>
          </p:nvSpPr>
          <p:spPr bwMode="auto">
            <a:xfrm>
              <a:off x="9045158" y="3162300"/>
              <a:ext cx="876300" cy="1030288"/>
            </a:xfrm>
            <a:custGeom>
              <a:avLst/>
              <a:gdLst>
                <a:gd name="T0" fmla="*/ 0 w 521"/>
                <a:gd name="T1" fmla="*/ 130 h 613"/>
                <a:gd name="T2" fmla="*/ 187 w 521"/>
                <a:gd name="T3" fmla="*/ 82 h 613"/>
                <a:gd name="T4" fmla="*/ 187 w 521"/>
                <a:gd name="T5" fmla="*/ 249 h 613"/>
                <a:gd name="T6" fmla="*/ 111 w 521"/>
                <a:gd name="T7" fmla="*/ 279 h 613"/>
                <a:gd name="T8" fmla="*/ 87 w 521"/>
                <a:gd name="T9" fmla="*/ 240 h 613"/>
                <a:gd name="T10" fmla="*/ 84 w 521"/>
                <a:gd name="T11" fmla="*/ 257 h 613"/>
                <a:gd name="T12" fmla="*/ 80 w 521"/>
                <a:gd name="T13" fmla="*/ 329 h 613"/>
                <a:gd name="T14" fmla="*/ 97 w 521"/>
                <a:gd name="T15" fmla="*/ 342 h 613"/>
                <a:gd name="T16" fmla="*/ 111 w 521"/>
                <a:gd name="T17" fmla="*/ 311 h 613"/>
                <a:gd name="T18" fmla="*/ 209 w 521"/>
                <a:gd name="T19" fmla="*/ 271 h 613"/>
                <a:gd name="T20" fmla="*/ 254 w 521"/>
                <a:gd name="T21" fmla="*/ 145 h 613"/>
                <a:gd name="T22" fmla="*/ 407 w 521"/>
                <a:gd name="T23" fmla="*/ 242 h 613"/>
                <a:gd name="T24" fmla="*/ 517 w 521"/>
                <a:gd name="T25" fmla="*/ 392 h 613"/>
                <a:gd name="T26" fmla="*/ 387 w 521"/>
                <a:gd name="T27" fmla="*/ 563 h 613"/>
                <a:gd name="T28" fmla="*/ 312 w 521"/>
                <a:gd name="T29" fmla="*/ 563 h 613"/>
                <a:gd name="T30" fmla="*/ 322 w 521"/>
                <a:gd name="T31" fmla="*/ 481 h 613"/>
                <a:gd name="T32" fmla="*/ 352 w 521"/>
                <a:gd name="T33" fmla="*/ 447 h 613"/>
                <a:gd name="T34" fmla="*/ 329 w 521"/>
                <a:gd name="T35" fmla="*/ 441 h 613"/>
                <a:gd name="T36" fmla="*/ 258 w 521"/>
                <a:gd name="T37" fmla="*/ 454 h 613"/>
                <a:gd name="T38" fmla="*/ 258 w 521"/>
                <a:gd name="T39" fmla="*/ 474 h 613"/>
                <a:gd name="T40" fmla="*/ 285 w 521"/>
                <a:gd name="T41" fmla="*/ 480 h 613"/>
                <a:gd name="T42" fmla="*/ 186 w 521"/>
                <a:gd name="T43" fmla="*/ 613 h 613"/>
                <a:gd name="T44" fmla="*/ 0 w 521"/>
                <a:gd name="T45" fmla="*/ 375 h 613"/>
                <a:gd name="T46" fmla="*/ 0 w 521"/>
                <a:gd name="T47" fmla="*/ 130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1" h="613">
                  <a:moveTo>
                    <a:pt x="0" y="130"/>
                  </a:moveTo>
                  <a:cubicBezTo>
                    <a:pt x="0" y="130"/>
                    <a:pt x="64" y="0"/>
                    <a:pt x="187" y="82"/>
                  </a:cubicBezTo>
                  <a:cubicBezTo>
                    <a:pt x="187" y="82"/>
                    <a:pt x="268" y="170"/>
                    <a:pt x="187" y="249"/>
                  </a:cubicBezTo>
                  <a:cubicBezTo>
                    <a:pt x="187" y="249"/>
                    <a:pt x="172" y="269"/>
                    <a:pt x="111" y="279"/>
                  </a:cubicBezTo>
                  <a:cubicBezTo>
                    <a:pt x="111" y="279"/>
                    <a:pt x="115" y="228"/>
                    <a:pt x="87" y="240"/>
                  </a:cubicBezTo>
                  <a:cubicBezTo>
                    <a:pt x="87" y="240"/>
                    <a:pt x="78" y="244"/>
                    <a:pt x="84" y="257"/>
                  </a:cubicBezTo>
                  <a:cubicBezTo>
                    <a:pt x="84" y="257"/>
                    <a:pt x="103" y="286"/>
                    <a:pt x="80" y="329"/>
                  </a:cubicBezTo>
                  <a:cubicBezTo>
                    <a:pt x="80" y="329"/>
                    <a:pt x="74" y="358"/>
                    <a:pt x="97" y="342"/>
                  </a:cubicBezTo>
                  <a:cubicBezTo>
                    <a:pt x="97" y="342"/>
                    <a:pt x="114" y="317"/>
                    <a:pt x="111" y="311"/>
                  </a:cubicBezTo>
                  <a:cubicBezTo>
                    <a:pt x="111" y="311"/>
                    <a:pt x="167" y="307"/>
                    <a:pt x="209" y="271"/>
                  </a:cubicBezTo>
                  <a:cubicBezTo>
                    <a:pt x="209" y="271"/>
                    <a:pt x="260" y="238"/>
                    <a:pt x="254" y="145"/>
                  </a:cubicBezTo>
                  <a:cubicBezTo>
                    <a:pt x="254" y="145"/>
                    <a:pt x="356" y="131"/>
                    <a:pt x="407" y="242"/>
                  </a:cubicBezTo>
                  <a:cubicBezTo>
                    <a:pt x="407" y="242"/>
                    <a:pt x="521" y="263"/>
                    <a:pt x="517" y="392"/>
                  </a:cubicBezTo>
                  <a:cubicBezTo>
                    <a:pt x="517" y="392"/>
                    <a:pt x="511" y="536"/>
                    <a:pt x="387" y="563"/>
                  </a:cubicBezTo>
                  <a:cubicBezTo>
                    <a:pt x="387" y="563"/>
                    <a:pt x="341" y="568"/>
                    <a:pt x="312" y="563"/>
                  </a:cubicBezTo>
                  <a:cubicBezTo>
                    <a:pt x="312" y="563"/>
                    <a:pt x="323" y="503"/>
                    <a:pt x="322" y="481"/>
                  </a:cubicBezTo>
                  <a:cubicBezTo>
                    <a:pt x="322" y="481"/>
                    <a:pt x="352" y="454"/>
                    <a:pt x="352" y="447"/>
                  </a:cubicBezTo>
                  <a:cubicBezTo>
                    <a:pt x="352" y="447"/>
                    <a:pt x="351" y="429"/>
                    <a:pt x="329" y="441"/>
                  </a:cubicBezTo>
                  <a:cubicBezTo>
                    <a:pt x="329" y="441"/>
                    <a:pt x="325" y="472"/>
                    <a:pt x="258" y="454"/>
                  </a:cubicBezTo>
                  <a:cubicBezTo>
                    <a:pt x="258" y="454"/>
                    <a:pt x="228" y="454"/>
                    <a:pt x="258" y="474"/>
                  </a:cubicBezTo>
                  <a:cubicBezTo>
                    <a:pt x="258" y="474"/>
                    <a:pt x="275" y="480"/>
                    <a:pt x="285" y="480"/>
                  </a:cubicBezTo>
                  <a:cubicBezTo>
                    <a:pt x="285" y="480"/>
                    <a:pt x="314" y="609"/>
                    <a:pt x="186" y="613"/>
                  </a:cubicBezTo>
                  <a:cubicBezTo>
                    <a:pt x="186" y="613"/>
                    <a:pt x="45" y="563"/>
                    <a:pt x="0" y="375"/>
                  </a:cubicBezTo>
                  <a:lnTo>
                    <a:pt x="0" y="1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7">
              <a:extLst>
                <a:ext uri="{FF2B5EF4-FFF2-40B4-BE49-F238E27FC236}">
                  <a16:creationId xmlns:a16="http://schemas.microsoft.com/office/drawing/2014/main" id="{551F0954-7934-1D6E-E3F8-ACD3E114F597}"/>
                </a:ext>
              </a:extLst>
            </p:cNvPr>
            <p:cNvSpPr>
              <a:spLocks/>
            </p:cNvSpPr>
            <p:nvPr/>
          </p:nvSpPr>
          <p:spPr bwMode="auto">
            <a:xfrm>
              <a:off x="9045158" y="3897313"/>
              <a:ext cx="1125537" cy="1270000"/>
            </a:xfrm>
            <a:custGeom>
              <a:avLst/>
              <a:gdLst>
                <a:gd name="T0" fmla="*/ 369 w 670"/>
                <a:gd name="T1" fmla="*/ 344 h 756"/>
                <a:gd name="T2" fmla="*/ 542 w 670"/>
                <a:gd name="T3" fmla="*/ 352 h 756"/>
                <a:gd name="T4" fmla="*/ 571 w 670"/>
                <a:gd name="T5" fmla="*/ 151 h 756"/>
                <a:gd name="T6" fmla="*/ 548 w 670"/>
                <a:gd name="T7" fmla="*/ 0 h 756"/>
                <a:gd name="T8" fmla="*/ 294 w 670"/>
                <a:gd name="T9" fmla="*/ 159 h 756"/>
                <a:gd name="T10" fmla="*/ 242 w 670"/>
                <a:gd name="T11" fmla="*/ 199 h 756"/>
                <a:gd name="T12" fmla="*/ 304 w 670"/>
                <a:gd name="T13" fmla="*/ 205 h 756"/>
                <a:gd name="T14" fmla="*/ 294 w 670"/>
                <a:gd name="T15" fmla="*/ 244 h 756"/>
                <a:gd name="T16" fmla="*/ 0 w 670"/>
                <a:gd name="T17" fmla="*/ 52 h 756"/>
                <a:gd name="T18" fmla="*/ 0 w 670"/>
                <a:gd name="T19" fmla="*/ 612 h 756"/>
                <a:gd name="T20" fmla="*/ 167 w 670"/>
                <a:gd name="T21" fmla="*/ 754 h 756"/>
                <a:gd name="T22" fmla="*/ 354 w 670"/>
                <a:gd name="T23" fmla="*/ 612 h 756"/>
                <a:gd name="T24" fmla="*/ 300 w 670"/>
                <a:gd name="T25" fmla="*/ 449 h 756"/>
                <a:gd name="T26" fmla="*/ 333 w 670"/>
                <a:gd name="T27" fmla="*/ 427 h 756"/>
                <a:gd name="T28" fmla="*/ 374 w 670"/>
                <a:gd name="T29" fmla="*/ 661 h 756"/>
                <a:gd name="T30" fmla="*/ 517 w 670"/>
                <a:gd name="T31" fmla="*/ 514 h 756"/>
                <a:gd name="T32" fmla="*/ 583 w 670"/>
                <a:gd name="T33" fmla="*/ 369 h 756"/>
                <a:gd name="T34" fmla="*/ 438 w 670"/>
                <a:gd name="T35" fmla="*/ 403 h 756"/>
                <a:gd name="T36" fmla="*/ 362 w 670"/>
                <a:gd name="T37" fmla="*/ 369 h 756"/>
                <a:gd name="T38" fmla="*/ 169 w 670"/>
                <a:gd name="T39" fmla="*/ 391 h 756"/>
                <a:gd name="T40" fmla="*/ 126 w 670"/>
                <a:gd name="T41" fmla="*/ 403 h 756"/>
                <a:gd name="T42" fmla="*/ 167 w 670"/>
                <a:gd name="T43" fmla="*/ 367 h 756"/>
                <a:gd name="T44" fmla="*/ 165 w 670"/>
                <a:gd name="T45" fmla="*/ 321 h 756"/>
                <a:gd name="T46" fmla="*/ 186 w 670"/>
                <a:gd name="T47" fmla="*/ 330 h 756"/>
                <a:gd name="T48" fmla="*/ 188 w 670"/>
                <a:gd name="T49" fmla="*/ 366 h 756"/>
                <a:gd name="T50" fmla="*/ 352 w 670"/>
                <a:gd name="T51" fmla="*/ 330 h 756"/>
                <a:gd name="T52" fmla="*/ 369 w 670"/>
                <a:gd name="T53" fmla="*/ 344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70" h="756">
                  <a:moveTo>
                    <a:pt x="369" y="344"/>
                  </a:moveTo>
                  <a:cubicBezTo>
                    <a:pt x="369" y="344"/>
                    <a:pt x="451" y="404"/>
                    <a:pt x="542" y="352"/>
                  </a:cubicBezTo>
                  <a:cubicBezTo>
                    <a:pt x="542" y="352"/>
                    <a:pt x="670" y="300"/>
                    <a:pt x="571" y="151"/>
                  </a:cubicBezTo>
                  <a:cubicBezTo>
                    <a:pt x="571" y="151"/>
                    <a:pt x="616" y="54"/>
                    <a:pt x="548" y="0"/>
                  </a:cubicBezTo>
                  <a:cubicBezTo>
                    <a:pt x="548" y="0"/>
                    <a:pt x="500" y="193"/>
                    <a:pt x="294" y="159"/>
                  </a:cubicBezTo>
                  <a:cubicBezTo>
                    <a:pt x="294" y="159"/>
                    <a:pt x="267" y="190"/>
                    <a:pt x="242" y="199"/>
                  </a:cubicBezTo>
                  <a:cubicBezTo>
                    <a:pt x="304" y="205"/>
                    <a:pt x="304" y="205"/>
                    <a:pt x="304" y="205"/>
                  </a:cubicBezTo>
                  <a:cubicBezTo>
                    <a:pt x="304" y="205"/>
                    <a:pt x="337" y="232"/>
                    <a:pt x="294" y="244"/>
                  </a:cubicBezTo>
                  <a:cubicBezTo>
                    <a:pt x="294" y="244"/>
                    <a:pt x="107" y="240"/>
                    <a:pt x="0" y="52"/>
                  </a:cubicBezTo>
                  <a:cubicBezTo>
                    <a:pt x="0" y="612"/>
                    <a:pt x="0" y="612"/>
                    <a:pt x="0" y="612"/>
                  </a:cubicBezTo>
                  <a:cubicBezTo>
                    <a:pt x="0" y="612"/>
                    <a:pt x="31" y="756"/>
                    <a:pt x="167" y="754"/>
                  </a:cubicBezTo>
                  <a:cubicBezTo>
                    <a:pt x="167" y="754"/>
                    <a:pt x="329" y="753"/>
                    <a:pt x="354" y="612"/>
                  </a:cubicBezTo>
                  <a:cubicBezTo>
                    <a:pt x="354" y="612"/>
                    <a:pt x="380" y="507"/>
                    <a:pt x="300" y="449"/>
                  </a:cubicBezTo>
                  <a:cubicBezTo>
                    <a:pt x="300" y="449"/>
                    <a:pt x="302" y="408"/>
                    <a:pt x="333" y="427"/>
                  </a:cubicBezTo>
                  <a:cubicBezTo>
                    <a:pt x="333" y="427"/>
                    <a:pt x="432" y="518"/>
                    <a:pt x="374" y="661"/>
                  </a:cubicBezTo>
                  <a:cubicBezTo>
                    <a:pt x="374" y="661"/>
                    <a:pt x="465" y="660"/>
                    <a:pt x="517" y="514"/>
                  </a:cubicBezTo>
                  <a:cubicBezTo>
                    <a:pt x="517" y="514"/>
                    <a:pt x="590" y="456"/>
                    <a:pt x="583" y="369"/>
                  </a:cubicBezTo>
                  <a:cubicBezTo>
                    <a:pt x="583" y="369"/>
                    <a:pt x="503" y="416"/>
                    <a:pt x="438" y="403"/>
                  </a:cubicBezTo>
                  <a:cubicBezTo>
                    <a:pt x="438" y="403"/>
                    <a:pt x="376" y="389"/>
                    <a:pt x="362" y="369"/>
                  </a:cubicBezTo>
                  <a:cubicBezTo>
                    <a:pt x="362" y="369"/>
                    <a:pt x="281" y="453"/>
                    <a:pt x="169" y="391"/>
                  </a:cubicBezTo>
                  <a:cubicBezTo>
                    <a:pt x="169" y="391"/>
                    <a:pt x="146" y="420"/>
                    <a:pt x="126" y="403"/>
                  </a:cubicBezTo>
                  <a:cubicBezTo>
                    <a:pt x="126" y="403"/>
                    <a:pt x="140" y="393"/>
                    <a:pt x="167" y="367"/>
                  </a:cubicBezTo>
                  <a:cubicBezTo>
                    <a:pt x="165" y="321"/>
                    <a:pt x="165" y="321"/>
                    <a:pt x="165" y="321"/>
                  </a:cubicBezTo>
                  <a:cubicBezTo>
                    <a:pt x="165" y="321"/>
                    <a:pt x="188" y="304"/>
                    <a:pt x="186" y="330"/>
                  </a:cubicBezTo>
                  <a:cubicBezTo>
                    <a:pt x="188" y="366"/>
                    <a:pt x="188" y="366"/>
                    <a:pt x="188" y="366"/>
                  </a:cubicBezTo>
                  <a:cubicBezTo>
                    <a:pt x="188" y="366"/>
                    <a:pt x="281" y="418"/>
                    <a:pt x="352" y="330"/>
                  </a:cubicBezTo>
                  <a:cubicBezTo>
                    <a:pt x="369" y="344"/>
                    <a:pt x="369" y="344"/>
                    <a:pt x="369" y="344"/>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FA7826B0-84C2-E238-E09B-B065DB45B83D}"/>
                </a:ext>
              </a:extLst>
            </p:cNvPr>
            <p:cNvSpPr>
              <a:spLocks/>
            </p:cNvSpPr>
            <p:nvPr/>
          </p:nvSpPr>
          <p:spPr bwMode="auto">
            <a:xfrm>
              <a:off x="7748170" y="3194050"/>
              <a:ext cx="1209675" cy="2071688"/>
            </a:xfrm>
            <a:custGeom>
              <a:avLst/>
              <a:gdLst>
                <a:gd name="T0" fmla="*/ 719 w 719"/>
                <a:gd name="T1" fmla="*/ 112 h 1232"/>
                <a:gd name="T2" fmla="*/ 719 w 719"/>
                <a:gd name="T3" fmla="*/ 1030 h 1232"/>
                <a:gd name="T4" fmla="*/ 564 w 719"/>
                <a:gd name="T5" fmla="*/ 1194 h 1232"/>
                <a:gd name="T6" fmla="*/ 338 w 719"/>
                <a:gd name="T7" fmla="*/ 1118 h 1232"/>
                <a:gd name="T8" fmla="*/ 148 w 719"/>
                <a:gd name="T9" fmla="*/ 950 h 1232"/>
                <a:gd name="T10" fmla="*/ 80 w 719"/>
                <a:gd name="T11" fmla="*/ 756 h 1232"/>
                <a:gd name="T12" fmla="*/ 80 w 719"/>
                <a:gd name="T13" fmla="*/ 559 h 1232"/>
                <a:gd name="T14" fmla="*/ 131 w 719"/>
                <a:gd name="T15" fmla="*/ 377 h 1232"/>
                <a:gd name="T16" fmla="*/ 259 w 719"/>
                <a:gd name="T17" fmla="*/ 197 h 1232"/>
                <a:gd name="T18" fmla="*/ 450 w 719"/>
                <a:gd name="T19" fmla="*/ 91 h 1232"/>
                <a:gd name="T20" fmla="*/ 586 w 719"/>
                <a:gd name="T21" fmla="*/ 4 h 1232"/>
                <a:gd name="T22" fmla="*/ 719 w 719"/>
                <a:gd name="T23" fmla="*/ 112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9" h="1232">
                  <a:moveTo>
                    <a:pt x="719" y="112"/>
                  </a:moveTo>
                  <a:cubicBezTo>
                    <a:pt x="719" y="1030"/>
                    <a:pt x="719" y="1030"/>
                    <a:pt x="719" y="1030"/>
                  </a:cubicBezTo>
                  <a:cubicBezTo>
                    <a:pt x="719" y="1030"/>
                    <a:pt x="700" y="1190"/>
                    <a:pt x="564" y="1194"/>
                  </a:cubicBezTo>
                  <a:cubicBezTo>
                    <a:pt x="564" y="1194"/>
                    <a:pt x="411" y="1232"/>
                    <a:pt x="338" y="1118"/>
                  </a:cubicBezTo>
                  <a:cubicBezTo>
                    <a:pt x="338" y="1118"/>
                    <a:pt x="191" y="1112"/>
                    <a:pt x="148" y="950"/>
                  </a:cubicBezTo>
                  <a:cubicBezTo>
                    <a:pt x="148" y="950"/>
                    <a:pt x="65" y="905"/>
                    <a:pt x="80" y="756"/>
                  </a:cubicBezTo>
                  <a:cubicBezTo>
                    <a:pt x="80" y="756"/>
                    <a:pt x="0" y="652"/>
                    <a:pt x="80" y="559"/>
                  </a:cubicBezTo>
                  <a:cubicBezTo>
                    <a:pt x="80" y="559"/>
                    <a:pt x="32" y="455"/>
                    <a:pt x="131" y="377"/>
                  </a:cubicBezTo>
                  <a:cubicBezTo>
                    <a:pt x="131" y="377"/>
                    <a:pt x="125" y="240"/>
                    <a:pt x="259" y="197"/>
                  </a:cubicBezTo>
                  <a:cubicBezTo>
                    <a:pt x="259" y="197"/>
                    <a:pt x="278" y="101"/>
                    <a:pt x="450" y="91"/>
                  </a:cubicBezTo>
                  <a:cubicBezTo>
                    <a:pt x="450" y="91"/>
                    <a:pt x="477" y="0"/>
                    <a:pt x="586" y="4"/>
                  </a:cubicBezTo>
                  <a:cubicBezTo>
                    <a:pt x="694" y="8"/>
                    <a:pt x="707" y="89"/>
                    <a:pt x="719" y="112"/>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6ADF211A-B98A-9E47-6983-94054980377C}"/>
                </a:ext>
              </a:extLst>
            </p:cNvPr>
            <p:cNvSpPr>
              <a:spLocks/>
            </p:cNvSpPr>
            <p:nvPr/>
          </p:nvSpPr>
          <p:spPr bwMode="auto">
            <a:xfrm>
              <a:off x="8025983" y="3162300"/>
              <a:ext cx="876300" cy="1030288"/>
            </a:xfrm>
            <a:custGeom>
              <a:avLst/>
              <a:gdLst>
                <a:gd name="T0" fmla="*/ 521 w 521"/>
                <a:gd name="T1" fmla="*/ 130 h 613"/>
                <a:gd name="T2" fmla="*/ 334 w 521"/>
                <a:gd name="T3" fmla="*/ 82 h 613"/>
                <a:gd name="T4" fmla="*/ 334 w 521"/>
                <a:gd name="T5" fmla="*/ 249 h 613"/>
                <a:gd name="T6" fmla="*/ 409 w 521"/>
                <a:gd name="T7" fmla="*/ 279 h 613"/>
                <a:gd name="T8" fmla="*/ 433 w 521"/>
                <a:gd name="T9" fmla="*/ 240 h 613"/>
                <a:gd name="T10" fmla="*/ 437 w 521"/>
                <a:gd name="T11" fmla="*/ 257 h 613"/>
                <a:gd name="T12" fmla="*/ 441 w 521"/>
                <a:gd name="T13" fmla="*/ 329 h 613"/>
                <a:gd name="T14" fmla="*/ 424 w 521"/>
                <a:gd name="T15" fmla="*/ 342 h 613"/>
                <a:gd name="T16" fmla="*/ 409 w 521"/>
                <a:gd name="T17" fmla="*/ 311 h 613"/>
                <a:gd name="T18" fmla="*/ 311 w 521"/>
                <a:gd name="T19" fmla="*/ 271 h 613"/>
                <a:gd name="T20" fmla="*/ 267 w 521"/>
                <a:gd name="T21" fmla="*/ 145 h 613"/>
                <a:gd name="T22" fmla="*/ 114 w 521"/>
                <a:gd name="T23" fmla="*/ 242 h 613"/>
                <a:gd name="T24" fmla="*/ 4 w 521"/>
                <a:gd name="T25" fmla="*/ 392 h 613"/>
                <a:gd name="T26" fmla="*/ 133 w 521"/>
                <a:gd name="T27" fmla="*/ 563 h 613"/>
                <a:gd name="T28" fmla="*/ 209 w 521"/>
                <a:gd name="T29" fmla="*/ 563 h 613"/>
                <a:gd name="T30" fmla="*/ 199 w 521"/>
                <a:gd name="T31" fmla="*/ 481 h 613"/>
                <a:gd name="T32" fmla="*/ 168 w 521"/>
                <a:gd name="T33" fmla="*/ 447 h 613"/>
                <a:gd name="T34" fmla="*/ 191 w 521"/>
                <a:gd name="T35" fmla="*/ 441 h 613"/>
                <a:gd name="T36" fmla="*/ 262 w 521"/>
                <a:gd name="T37" fmla="*/ 454 h 613"/>
                <a:gd name="T38" fmla="*/ 262 w 521"/>
                <a:gd name="T39" fmla="*/ 474 h 613"/>
                <a:gd name="T40" fmla="*/ 236 w 521"/>
                <a:gd name="T41" fmla="*/ 480 h 613"/>
                <a:gd name="T42" fmla="*/ 335 w 521"/>
                <a:gd name="T43" fmla="*/ 613 h 613"/>
                <a:gd name="T44" fmla="*/ 521 w 521"/>
                <a:gd name="T45" fmla="*/ 375 h 613"/>
                <a:gd name="T46" fmla="*/ 521 w 521"/>
                <a:gd name="T47" fmla="*/ 130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1" h="613">
                  <a:moveTo>
                    <a:pt x="521" y="130"/>
                  </a:moveTo>
                  <a:cubicBezTo>
                    <a:pt x="521" y="130"/>
                    <a:pt x="457" y="0"/>
                    <a:pt x="334" y="82"/>
                  </a:cubicBezTo>
                  <a:cubicBezTo>
                    <a:pt x="334" y="82"/>
                    <a:pt x="252" y="170"/>
                    <a:pt x="334" y="249"/>
                  </a:cubicBezTo>
                  <a:cubicBezTo>
                    <a:pt x="334" y="249"/>
                    <a:pt x="349" y="269"/>
                    <a:pt x="409" y="279"/>
                  </a:cubicBezTo>
                  <a:cubicBezTo>
                    <a:pt x="409" y="279"/>
                    <a:pt x="406" y="228"/>
                    <a:pt x="433" y="240"/>
                  </a:cubicBezTo>
                  <a:cubicBezTo>
                    <a:pt x="433" y="240"/>
                    <a:pt x="443" y="244"/>
                    <a:pt x="437" y="257"/>
                  </a:cubicBezTo>
                  <a:cubicBezTo>
                    <a:pt x="437" y="257"/>
                    <a:pt x="418" y="286"/>
                    <a:pt x="441" y="329"/>
                  </a:cubicBezTo>
                  <a:cubicBezTo>
                    <a:pt x="441" y="329"/>
                    <a:pt x="447" y="358"/>
                    <a:pt x="424" y="342"/>
                  </a:cubicBezTo>
                  <a:cubicBezTo>
                    <a:pt x="424" y="342"/>
                    <a:pt x="407" y="317"/>
                    <a:pt x="409" y="311"/>
                  </a:cubicBezTo>
                  <a:cubicBezTo>
                    <a:pt x="409" y="311"/>
                    <a:pt x="354" y="307"/>
                    <a:pt x="311" y="271"/>
                  </a:cubicBezTo>
                  <a:cubicBezTo>
                    <a:pt x="311" y="271"/>
                    <a:pt x="261" y="238"/>
                    <a:pt x="267" y="145"/>
                  </a:cubicBezTo>
                  <a:cubicBezTo>
                    <a:pt x="267" y="145"/>
                    <a:pt x="164" y="131"/>
                    <a:pt x="114" y="242"/>
                  </a:cubicBezTo>
                  <a:cubicBezTo>
                    <a:pt x="114" y="242"/>
                    <a:pt x="0" y="263"/>
                    <a:pt x="4" y="392"/>
                  </a:cubicBezTo>
                  <a:cubicBezTo>
                    <a:pt x="4" y="392"/>
                    <a:pt x="10" y="536"/>
                    <a:pt x="133" y="563"/>
                  </a:cubicBezTo>
                  <a:cubicBezTo>
                    <a:pt x="133" y="563"/>
                    <a:pt x="180" y="568"/>
                    <a:pt x="209" y="563"/>
                  </a:cubicBezTo>
                  <a:cubicBezTo>
                    <a:pt x="209" y="563"/>
                    <a:pt x="197" y="503"/>
                    <a:pt x="199" y="481"/>
                  </a:cubicBezTo>
                  <a:cubicBezTo>
                    <a:pt x="199" y="481"/>
                    <a:pt x="168" y="454"/>
                    <a:pt x="168" y="447"/>
                  </a:cubicBezTo>
                  <a:cubicBezTo>
                    <a:pt x="168" y="447"/>
                    <a:pt x="170" y="429"/>
                    <a:pt x="191" y="441"/>
                  </a:cubicBezTo>
                  <a:cubicBezTo>
                    <a:pt x="191" y="441"/>
                    <a:pt x="196" y="472"/>
                    <a:pt x="262" y="454"/>
                  </a:cubicBezTo>
                  <a:cubicBezTo>
                    <a:pt x="262" y="454"/>
                    <a:pt x="293" y="454"/>
                    <a:pt x="262" y="474"/>
                  </a:cubicBezTo>
                  <a:cubicBezTo>
                    <a:pt x="262" y="474"/>
                    <a:pt x="246" y="480"/>
                    <a:pt x="236" y="480"/>
                  </a:cubicBezTo>
                  <a:cubicBezTo>
                    <a:pt x="236" y="480"/>
                    <a:pt x="207" y="609"/>
                    <a:pt x="335" y="613"/>
                  </a:cubicBezTo>
                  <a:cubicBezTo>
                    <a:pt x="335" y="613"/>
                    <a:pt x="476" y="563"/>
                    <a:pt x="521" y="375"/>
                  </a:cubicBezTo>
                  <a:lnTo>
                    <a:pt x="521" y="1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0">
              <a:extLst>
                <a:ext uri="{FF2B5EF4-FFF2-40B4-BE49-F238E27FC236}">
                  <a16:creationId xmlns:a16="http://schemas.microsoft.com/office/drawing/2014/main" id="{0775BA4D-42C1-6772-54E0-1C936D1F313D}"/>
                </a:ext>
              </a:extLst>
            </p:cNvPr>
            <p:cNvSpPr>
              <a:spLocks/>
            </p:cNvSpPr>
            <p:nvPr/>
          </p:nvSpPr>
          <p:spPr bwMode="auto">
            <a:xfrm>
              <a:off x="7775158" y="3897313"/>
              <a:ext cx="1127125" cy="1270000"/>
            </a:xfrm>
            <a:custGeom>
              <a:avLst/>
              <a:gdLst>
                <a:gd name="T0" fmla="*/ 300 w 670"/>
                <a:gd name="T1" fmla="*/ 344 h 756"/>
                <a:gd name="T2" fmla="*/ 128 w 670"/>
                <a:gd name="T3" fmla="*/ 352 h 756"/>
                <a:gd name="T4" fmla="*/ 99 w 670"/>
                <a:gd name="T5" fmla="*/ 151 h 756"/>
                <a:gd name="T6" fmla="*/ 122 w 670"/>
                <a:gd name="T7" fmla="*/ 0 h 756"/>
                <a:gd name="T8" fmla="*/ 375 w 670"/>
                <a:gd name="T9" fmla="*/ 159 h 756"/>
                <a:gd name="T10" fmla="*/ 427 w 670"/>
                <a:gd name="T11" fmla="*/ 199 h 756"/>
                <a:gd name="T12" fmla="*/ 366 w 670"/>
                <a:gd name="T13" fmla="*/ 205 h 756"/>
                <a:gd name="T14" fmla="*/ 375 w 670"/>
                <a:gd name="T15" fmla="*/ 244 h 756"/>
                <a:gd name="T16" fmla="*/ 670 w 670"/>
                <a:gd name="T17" fmla="*/ 52 h 756"/>
                <a:gd name="T18" fmla="*/ 670 w 670"/>
                <a:gd name="T19" fmla="*/ 612 h 756"/>
                <a:gd name="T20" fmla="*/ 503 w 670"/>
                <a:gd name="T21" fmla="*/ 754 h 756"/>
                <a:gd name="T22" fmla="*/ 315 w 670"/>
                <a:gd name="T23" fmla="*/ 612 h 756"/>
                <a:gd name="T24" fmla="*/ 369 w 670"/>
                <a:gd name="T25" fmla="*/ 449 h 756"/>
                <a:gd name="T26" fmla="*/ 337 w 670"/>
                <a:gd name="T27" fmla="*/ 427 h 756"/>
                <a:gd name="T28" fmla="*/ 296 w 670"/>
                <a:gd name="T29" fmla="*/ 661 h 756"/>
                <a:gd name="T30" fmla="*/ 153 w 670"/>
                <a:gd name="T31" fmla="*/ 514 h 756"/>
                <a:gd name="T32" fmla="*/ 87 w 670"/>
                <a:gd name="T33" fmla="*/ 369 h 756"/>
                <a:gd name="T34" fmla="*/ 232 w 670"/>
                <a:gd name="T35" fmla="*/ 403 h 756"/>
                <a:gd name="T36" fmla="*/ 307 w 670"/>
                <a:gd name="T37" fmla="*/ 369 h 756"/>
                <a:gd name="T38" fmla="*/ 501 w 670"/>
                <a:gd name="T39" fmla="*/ 391 h 756"/>
                <a:gd name="T40" fmla="*/ 543 w 670"/>
                <a:gd name="T41" fmla="*/ 403 h 756"/>
                <a:gd name="T42" fmla="*/ 503 w 670"/>
                <a:gd name="T43" fmla="*/ 367 h 756"/>
                <a:gd name="T44" fmla="*/ 505 w 670"/>
                <a:gd name="T45" fmla="*/ 321 h 756"/>
                <a:gd name="T46" fmla="*/ 484 w 670"/>
                <a:gd name="T47" fmla="*/ 330 h 756"/>
                <a:gd name="T48" fmla="*/ 482 w 670"/>
                <a:gd name="T49" fmla="*/ 366 h 756"/>
                <a:gd name="T50" fmla="*/ 317 w 670"/>
                <a:gd name="T51" fmla="*/ 33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70" h="756">
                  <a:moveTo>
                    <a:pt x="300" y="344"/>
                  </a:moveTo>
                  <a:cubicBezTo>
                    <a:pt x="300" y="344"/>
                    <a:pt x="219" y="404"/>
                    <a:pt x="128" y="352"/>
                  </a:cubicBezTo>
                  <a:cubicBezTo>
                    <a:pt x="128" y="352"/>
                    <a:pt x="0" y="300"/>
                    <a:pt x="99" y="151"/>
                  </a:cubicBezTo>
                  <a:cubicBezTo>
                    <a:pt x="99" y="151"/>
                    <a:pt x="54" y="54"/>
                    <a:pt x="122" y="0"/>
                  </a:cubicBezTo>
                  <a:cubicBezTo>
                    <a:pt x="122" y="0"/>
                    <a:pt x="170" y="193"/>
                    <a:pt x="375" y="159"/>
                  </a:cubicBezTo>
                  <a:cubicBezTo>
                    <a:pt x="375" y="159"/>
                    <a:pt x="402" y="190"/>
                    <a:pt x="427" y="199"/>
                  </a:cubicBezTo>
                  <a:cubicBezTo>
                    <a:pt x="366" y="205"/>
                    <a:pt x="366" y="205"/>
                    <a:pt x="366" y="205"/>
                  </a:cubicBezTo>
                  <a:cubicBezTo>
                    <a:pt x="366" y="205"/>
                    <a:pt x="333" y="232"/>
                    <a:pt x="375" y="244"/>
                  </a:cubicBezTo>
                  <a:cubicBezTo>
                    <a:pt x="375" y="244"/>
                    <a:pt x="563" y="240"/>
                    <a:pt x="670" y="52"/>
                  </a:cubicBezTo>
                  <a:cubicBezTo>
                    <a:pt x="670" y="612"/>
                    <a:pt x="670" y="612"/>
                    <a:pt x="670" y="612"/>
                  </a:cubicBezTo>
                  <a:cubicBezTo>
                    <a:pt x="670" y="612"/>
                    <a:pt x="638" y="756"/>
                    <a:pt x="503" y="754"/>
                  </a:cubicBezTo>
                  <a:cubicBezTo>
                    <a:pt x="503" y="754"/>
                    <a:pt x="340" y="753"/>
                    <a:pt x="315" y="612"/>
                  </a:cubicBezTo>
                  <a:cubicBezTo>
                    <a:pt x="315" y="612"/>
                    <a:pt x="290" y="507"/>
                    <a:pt x="369" y="449"/>
                  </a:cubicBezTo>
                  <a:cubicBezTo>
                    <a:pt x="369" y="449"/>
                    <a:pt x="367" y="408"/>
                    <a:pt x="337" y="427"/>
                  </a:cubicBezTo>
                  <a:cubicBezTo>
                    <a:pt x="337" y="427"/>
                    <a:pt x="238" y="518"/>
                    <a:pt x="296" y="661"/>
                  </a:cubicBezTo>
                  <a:cubicBezTo>
                    <a:pt x="296" y="661"/>
                    <a:pt x="205" y="660"/>
                    <a:pt x="153" y="514"/>
                  </a:cubicBezTo>
                  <a:cubicBezTo>
                    <a:pt x="153" y="514"/>
                    <a:pt x="79" y="456"/>
                    <a:pt x="87" y="369"/>
                  </a:cubicBezTo>
                  <a:cubicBezTo>
                    <a:pt x="87" y="369"/>
                    <a:pt x="166" y="416"/>
                    <a:pt x="232" y="403"/>
                  </a:cubicBezTo>
                  <a:cubicBezTo>
                    <a:pt x="232" y="403"/>
                    <a:pt x="294" y="389"/>
                    <a:pt x="307" y="369"/>
                  </a:cubicBezTo>
                  <a:cubicBezTo>
                    <a:pt x="307" y="369"/>
                    <a:pt x="389" y="453"/>
                    <a:pt x="501" y="391"/>
                  </a:cubicBezTo>
                  <a:cubicBezTo>
                    <a:pt x="501" y="391"/>
                    <a:pt x="524" y="420"/>
                    <a:pt x="543" y="403"/>
                  </a:cubicBezTo>
                  <a:cubicBezTo>
                    <a:pt x="543" y="403"/>
                    <a:pt x="530" y="393"/>
                    <a:pt x="503" y="367"/>
                  </a:cubicBezTo>
                  <a:cubicBezTo>
                    <a:pt x="505" y="321"/>
                    <a:pt x="505" y="321"/>
                    <a:pt x="505" y="321"/>
                  </a:cubicBezTo>
                  <a:cubicBezTo>
                    <a:pt x="505" y="321"/>
                    <a:pt x="482" y="304"/>
                    <a:pt x="484" y="330"/>
                  </a:cubicBezTo>
                  <a:cubicBezTo>
                    <a:pt x="482" y="366"/>
                    <a:pt x="482" y="366"/>
                    <a:pt x="482" y="366"/>
                  </a:cubicBezTo>
                  <a:cubicBezTo>
                    <a:pt x="482" y="366"/>
                    <a:pt x="389" y="418"/>
                    <a:pt x="317" y="33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1">
              <a:extLst>
                <a:ext uri="{FF2B5EF4-FFF2-40B4-BE49-F238E27FC236}">
                  <a16:creationId xmlns:a16="http://schemas.microsoft.com/office/drawing/2014/main" id="{1F7772F4-C170-4156-CA54-C079938058C8}"/>
                </a:ext>
              </a:extLst>
            </p:cNvPr>
            <p:cNvSpPr>
              <a:spLocks/>
            </p:cNvSpPr>
            <p:nvPr/>
          </p:nvSpPr>
          <p:spPr bwMode="auto">
            <a:xfrm>
              <a:off x="8514933" y="5284788"/>
              <a:ext cx="914400" cy="131763"/>
            </a:xfrm>
            <a:custGeom>
              <a:avLst/>
              <a:gdLst>
                <a:gd name="T0" fmla="*/ 509 w 544"/>
                <a:gd name="T1" fmla="*/ 0 h 78"/>
                <a:gd name="T2" fmla="*/ 36 w 544"/>
                <a:gd name="T3" fmla="*/ 0 h 78"/>
                <a:gd name="T4" fmla="*/ 0 w 544"/>
                <a:gd name="T5" fmla="*/ 29 h 78"/>
                <a:gd name="T6" fmla="*/ 0 w 544"/>
                <a:gd name="T7" fmla="*/ 49 h 78"/>
                <a:gd name="T8" fmla="*/ 36 w 544"/>
                <a:gd name="T9" fmla="*/ 78 h 78"/>
                <a:gd name="T10" fmla="*/ 509 w 544"/>
                <a:gd name="T11" fmla="*/ 78 h 78"/>
                <a:gd name="T12" fmla="*/ 544 w 544"/>
                <a:gd name="T13" fmla="*/ 49 h 78"/>
                <a:gd name="T14" fmla="*/ 544 w 544"/>
                <a:gd name="T15" fmla="*/ 29 h 78"/>
                <a:gd name="T16" fmla="*/ 509 w 544"/>
                <a:gd name="T1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78">
                  <a:moveTo>
                    <a:pt x="509" y="0"/>
                  </a:moveTo>
                  <a:cubicBezTo>
                    <a:pt x="36" y="0"/>
                    <a:pt x="36" y="0"/>
                    <a:pt x="36" y="0"/>
                  </a:cubicBezTo>
                  <a:cubicBezTo>
                    <a:pt x="16" y="0"/>
                    <a:pt x="0" y="13"/>
                    <a:pt x="0" y="29"/>
                  </a:cubicBezTo>
                  <a:cubicBezTo>
                    <a:pt x="0" y="49"/>
                    <a:pt x="0" y="49"/>
                    <a:pt x="0" y="49"/>
                  </a:cubicBezTo>
                  <a:cubicBezTo>
                    <a:pt x="0" y="65"/>
                    <a:pt x="16" y="78"/>
                    <a:pt x="36" y="78"/>
                  </a:cubicBezTo>
                  <a:cubicBezTo>
                    <a:pt x="509" y="78"/>
                    <a:pt x="509" y="78"/>
                    <a:pt x="509" y="78"/>
                  </a:cubicBezTo>
                  <a:cubicBezTo>
                    <a:pt x="528" y="78"/>
                    <a:pt x="544" y="65"/>
                    <a:pt x="544" y="49"/>
                  </a:cubicBezTo>
                  <a:cubicBezTo>
                    <a:pt x="544" y="29"/>
                    <a:pt x="544" y="29"/>
                    <a:pt x="544" y="29"/>
                  </a:cubicBezTo>
                  <a:cubicBezTo>
                    <a:pt x="544" y="13"/>
                    <a:pt x="528" y="0"/>
                    <a:pt x="509"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a:extLst>
                <a:ext uri="{FF2B5EF4-FFF2-40B4-BE49-F238E27FC236}">
                  <a16:creationId xmlns:a16="http://schemas.microsoft.com/office/drawing/2014/main" id="{955078AC-3F6C-D3BB-8A60-88951128F2C2}"/>
                </a:ext>
              </a:extLst>
            </p:cNvPr>
            <p:cNvSpPr>
              <a:spLocks/>
            </p:cNvSpPr>
            <p:nvPr/>
          </p:nvSpPr>
          <p:spPr bwMode="auto">
            <a:xfrm>
              <a:off x="8514933" y="5481638"/>
              <a:ext cx="914400" cy="131763"/>
            </a:xfrm>
            <a:custGeom>
              <a:avLst/>
              <a:gdLst>
                <a:gd name="T0" fmla="*/ 509 w 544"/>
                <a:gd name="T1" fmla="*/ 0 h 78"/>
                <a:gd name="T2" fmla="*/ 36 w 544"/>
                <a:gd name="T3" fmla="*/ 0 h 78"/>
                <a:gd name="T4" fmla="*/ 0 w 544"/>
                <a:gd name="T5" fmla="*/ 29 h 78"/>
                <a:gd name="T6" fmla="*/ 0 w 544"/>
                <a:gd name="T7" fmla="*/ 49 h 78"/>
                <a:gd name="T8" fmla="*/ 36 w 544"/>
                <a:gd name="T9" fmla="*/ 78 h 78"/>
                <a:gd name="T10" fmla="*/ 509 w 544"/>
                <a:gd name="T11" fmla="*/ 78 h 78"/>
                <a:gd name="T12" fmla="*/ 544 w 544"/>
                <a:gd name="T13" fmla="*/ 49 h 78"/>
                <a:gd name="T14" fmla="*/ 544 w 544"/>
                <a:gd name="T15" fmla="*/ 29 h 78"/>
                <a:gd name="T16" fmla="*/ 509 w 544"/>
                <a:gd name="T1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78">
                  <a:moveTo>
                    <a:pt x="509" y="0"/>
                  </a:moveTo>
                  <a:cubicBezTo>
                    <a:pt x="36" y="0"/>
                    <a:pt x="36" y="0"/>
                    <a:pt x="36" y="0"/>
                  </a:cubicBezTo>
                  <a:cubicBezTo>
                    <a:pt x="16" y="0"/>
                    <a:pt x="0" y="13"/>
                    <a:pt x="0" y="29"/>
                  </a:cubicBezTo>
                  <a:cubicBezTo>
                    <a:pt x="0" y="49"/>
                    <a:pt x="0" y="49"/>
                    <a:pt x="0" y="49"/>
                  </a:cubicBezTo>
                  <a:cubicBezTo>
                    <a:pt x="0" y="65"/>
                    <a:pt x="16" y="78"/>
                    <a:pt x="36" y="78"/>
                  </a:cubicBezTo>
                  <a:cubicBezTo>
                    <a:pt x="509" y="78"/>
                    <a:pt x="509" y="78"/>
                    <a:pt x="509" y="78"/>
                  </a:cubicBezTo>
                  <a:cubicBezTo>
                    <a:pt x="528" y="78"/>
                    <a:pt x="544" y="65"/>
                    <a:pt x="544" y="49"/>
                  </a:cubicBezTo>
                  <a:cubicBezTo>
                    <a:pt x="544" y="29"/>
                    <a:pt x="544" y="29"/>
                    <a:pt x="544" y="29"/>
                  </a:cubicBezTo>
                  <a:cubicBezTo>
                    <a:pt x="544" y="13"/>
                    <a:pt x="528" y="0"/>
                    <a:pt x="509"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a:extLst>
                <a:ext uri="{FF2B5EF4-FFF2-40B4-BE49-F238E27FC236}">
                  <a16:creationId xmlns:a16="http://schemas.microsoft.com/office/drawing/2014/main" id="{0F7FFF51-A1B2-D0CA-BEAC-00FE6C7A7772}"/>
                </a:ext>
              </a:extLst>
            </p:cNvPr>
            <p:cNvSpPr>
              <a:spLocks/>
            </p:cNvSpPr>
            <p:nvPr/>
          </p:nvSpPr>
          <p:spPr bwMode="auto">
            <a:xfrm>
              <a:off x="8514933" y="5678488"/>
              <a:ext cx="914400" cy="133350"/>
            </a:xfrm>
            <a:custGeom>
              <a:avLst/>
              <a:gdLst>
                <a:gd name="T0" fmla="*/ 509 w 544"/>
                <a:gd name="T1" fmla="*/ 0 h 79"/>
                <a:gd name="T2" fmla="*/ 36 w 544"/>
                <a:gd name="T3" fmla="*/ 0 h 79"/>
                <a:gd name="T4" fmla="*/ 0 w 544"/>
                <a:gd name="T5" fmla="*/ 30 h 79"/>
                <a:gd name="T6" fmla="*/ 0 w 544"/>
                <a:gd name="T7" fmla="*/ 49 h 79"/>
                <a:gd name="T8" fmla="*/ 36 w 544"/>
                <a:gd name="T9" fmla="*/ 79 h 79"/>
                <a:gd name="T10" fmla="*/ 509 w 544"/>
                <a:gd name="T11" fmla="*/ 79 h 79"/>
                <a:gd name="T12" fmla="*/ 544 w 544"/>
                <a:gd name="T13" fmla="*/ 49 h 79"/>
                <a:gd name="T14" fmla="*/ 544 w 544"/>
                <a:gd name="T15" fmla="*/ 30 h 79"/>
                <a:gd name="T16" fmla="*/ 509 w 544"/>
                <a:gd name="T17"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79">
                  <a:moveTo>
                    <a:pt x="509" y="0"/>
                  </a:moveTo>
                  <a:cubicBezTo>
                    <a:pt x="36" y="0"/>
                    <a:pt x="36" y="0"/>
                    <a:pt x="36" y="0"/>
                  </a:cubicBezTo>
                  <a:cubicBezTo>
                    <a:pt x="16" y="0"/>
                    <a:pt x="0" y="14"/>
                    <a:pt x="0" y="30"/>
                  </a:cubicBezTo>
                  <a:cubicBezTo>
                    <a:pt x="0" y="49"/>
                    <a:pt x="0" y="49"/>
                    <a:pt x="0" y="49"/>
                  </a:cubicBezTo>
                  <a:cubicBezTo>
                    <a:pt x="0" y="66"/>
                    <a:pt x="16" y="79"/>
                    <a:pt x="36" y="79"/>
                  </a:cubicBezTo>
                  <a:cubicBezTo>
                    <a:pt x="509" y="79"/>
                    <a:pt x="509" y="79"/>
                    <a:pt x="509" y="79"/>
                  </a:cubicBezTo>
                  <a:cubicBezTo>
                    <a:pt x="528" y="79"/>
                    <a:pt x="544" y="66"/>
                    <a:pt x="544" y="49"/>
                  </a:cubicBezTo>
                  <a:cubicBezTo>
                    <a:pt x="544" y="30"/>
                    <a:pt x="544" y="30"/>
                    <a:pt x="544" y="30"/>
                  </a:cubicBezTo>
                  <a:cubicBezTo>
                    <a:pt x="544" y="14"/>
                    <a:pt x="528" y="0"/>
                    <a:pt x="509"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a:extLst>
                <a:ext uri="{FF2B5EF4-FFF2-40B4-BE49-F238E27FC236}">
                  <a16:creationId xmlns:a16="http://schemas.microsoft.com/office/drawing/2014/main" id="{654162D0-26F6-6109-F23F-33B43093CE02}"/>
                </a:ext>
              </a:extLst>
            </p:cNvPr>
            <p:cNvSpPr>
              <a:spLocks/>
            </p:cNvSpPr>
            <p:nvPr/>
          </p:nvSpPr>
          <p:spPr bwMode="auto">
            <a:xfrm>
              <a:off x="8675270" y="5876926"/>
              <a:ext cx="596900" cy="165100"/>
            </a:xfrm>
            <a:custGeom>
              <a:avLst/>
              <a:gdLst>
                <a:gd name="T0" fmla="*/ 0 w 355"/>
                <a:gd name="T1" fmla="*/ 0 h 98"/>
                <a:gd name="T2" fmla="*/ 355 w 355"/>
                <a:gd name="T3" fmla="*/ 0 h 98"/>
                <a:gd name="T4" fmla="*/ 177 w 355"/>
                <a:gd name="T5" fmla="*/ 98 h 98"/>
                <a:gd name="T6" fmla="*/ 0 w 355"/>
                <a:gd name="T7" fmla="*/ 0 h 98"/>
              </a:gdLst>
              <a:ahLst/>
              <a:cxnLst>
                <a:cxn ang="0">
                  <a:pos x="T0" y="T1"/>
                </a:cxn>
                <a:cxn ang="0">
                  <a:pos x="T2" y="T3"/>
                </a:cxn>
                <a:cxn ang="0">
                  <a:pos x="T4" y="T5"/>
                </a:cxn>
                <a:cxn ang="0">
                  <a:pos x="T6" y="T7"/>
                </a:cxn>
              </a:cxnLst>
              <a:rect l="0" t="0" r="r" b="b"/>
              <a:pathLst>
                <a:path w="355" h="98">
                  <a:moveTo>
                    <a:pt x="0" y="0"/>
                  </a:moveTo>
                  <a:cubicBezTo>
                    <a:pt x="355" y="0"/>
                    <a:pt x="355" y="0"/>
                    <a:pt x="355" y="0"/>
                  </a:cubicBezTo>
                  <a:cubicBezTo>
                    <a:pt x="355" y="58"/>
                    <a:pt x="260" y="98"/>
                    <a:pt x="177" y="98"/>
                  </a:cubicBezTo>
                  <a:cubicBezTo>
                    <a:pt x="95" y="98"/>
                    <a:pt x="0" y="58"/>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a:extLst>
                <a:ext uri="{FF2B5EF4-FFF2-40B4-BE49-F238E27FC236}">
                  <a16:creationId xmlns:a16="http://schemas.microsoft.com/office/drawing/2014/main" id="{1ED932BA-B601-250A-F319-56030800A000}"/>
                </a:ext>
              </a:extLst>
            </p:cNvPr>
            <p:cNvSpPr>
              <a:spLocks/>
            </p:cNvSpPr>
            <p:nvPr/>
          </p:nvSpPr>
          <p:spPr bwMode="auto">
            <a:xfrm>
              <a:off x="8895933" y="2433638"/>
              <a:ext cx="152400" cy="673100"/>
            </a:xfrm>
            <a:custGeom>
              <a:avLst/>
              <a:gdLst>
                <a:gd name="T0" fmla="*/ 90 w 90"/>
                <a:gd name="T1" fmla="*/ 355 h 400"/>
                <a:gd name="T2" fmla="*/ 45 w 90"/>
                <a:gd name="T3" fmla="*/ 400 h 400"/>
                <a:gd name="T4" fmla="*/ 0 w 90"/>
                <a:gd name="T5" fmla="*/ 355 h 400"/>
                <a:gd name="T6" fmla="*/ 0 w 90"/>
                <a:gd name="T7" fmla="*/ 45 h 400"/>
                <a:gd name="T8" fmla="*/ 45 w 90"/>
                <a:gd name="T9" fmla="*/ 0 h 400"/>
                <a:gd name="T10" fmla="*/ 90 w 90"/>
                <a:gd name="T11" fmla="*/ 45 h 400"/>
                <a:gd name="T12" fmla="*/ 90 w 90"/>
                <a:gd name="T13" fmla="*/ 355 h 400"/>
              </a:gdLst>
              <a:ahLst/>
              <a:cxnLst>
                <a:cxn ang="0">
                  <a:pos x="T0" y="T1"/>
                </a:cxn>
                <a:cxn ang="0">
                  <a:pos x="T2" y="T3"/>
                </a:cxn>
                <a:cxn ang="0">
                  <a:pos x="T4" y="T5"/>
                </a:cxn>
                <a:cxn ang="0">
                  <a:pos x="T6" y="T7"/>
                </a:cxn>
                <a:cxn ang="0">
                  <a:pos x="T8" y="T9"/>
                </a:cxn>
                <a:cxn ang="0">
                  <a:pos x="T10" y="T11"/>
                </a:cxn>
                <a:cxn ang="0">
                  <a:pos x="T12" y="T13"/>
                </a:cxn>
              </a:cxnLst>
              <a:rect l="0" t="0" r="r" b="b"/>
              <a:pathLst>
                <a:path w="90" h="400">
                  <a:moveTo>
                    <a:pt x="90" y="355"/>
                  </a:moveTo>
                  <a:cubicBezTo>
                    <a:pt x="90" y="380"/>
                    <a:pt x="70" y="400"/>
                    <a:pt x="45" y="400"/>
                  </a:cubicBezTo>
                  <a:cubicBezTo>
                    <a:pt x="21" y="400"/>
                    <a:pt x="0" y="380"/>
                    <a:pt x="0" y="355"/>
                  </a:cubicBezTo>
                  <a:cubicBezTo>
                    <a:pt x="0" y="45"/>
                    <a:pt x="0" y="45"/>
                    <a:pt x="0" y="45"/>
                  </a:cubicBezTo>
                  <a:cubicBezTo>
                    <a:pt x="0" y="20"/>
                    <a:pt x="21" y="0"/>
                    <a:pt x="45" y="0"/>
                  </a:cubicBezTo>
                  <a:cubicBezTo>
                    <a:pt x="70" y="0"/>
                    <a:pt x="90" y="20"/>
                    <a:pt x="90" y="45"/>
                  </a:cubicBezTo>
                  <a:lnTo>
                    <a:pt x="90" y="355"/>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E4215FD6-D889-86F0-C4CA-4BE105D2332E}"/>
                </a:ext>
              </a:extLst>
            </p:cNvPr>
            <p:cNvSpPr>
              <a:spLocks/>
            </p:cNvSpPr>
            <p:nvPr/>
          </p:nvSpPr>
          <p:spPr bwMode="auto">
            <a:xfrm>
              <a:off x="10221495" y="4241801"/>
              <a:ext cx="673100" cy="149225"/>
            </a:xfrm>
            <a:custGeom>
              <a:avLst/>
              <a:gdLst>
                <a:gd name="T0" fmla="*/ 45 w 400"/>
                <a:gd name="T1" fmla="*/ 89 h 89"/>
                <a:gd name="T2" fmla="*/ 0 w 400"/>
                <a:gd name="T3" fmla="*/ 44 h 89"/>
                <a:gd name="T4" fmla="*/ 45 w 400"/>
                <a:gd name="T5" fmla="*/ 0 h 89"/>
                <a:gd name="T6" fmla="*/ 355 w 400"/>
                <a:gd name="T7" fmla="*/ 0 h 89"/>
                <a:gd name="T8" fmla="*/ 400 w 400"/>
                <a:gd name="T9" fmla="*/ 44 h 89"/>
                <a:gd name="T10" fmla="*/ 355 w 400"/>
                <a:gd name="T11" fmla="*/ 89 h 89"/>
                <a:gd name="T12" fmla="*/ 45 w 400"/>
                <a:gd name="T13" fmla="*/ 89 h 89"/>
              </a:gdLst>
              <a:ahLst/>
              <a:cxnLst>
                <a:cxn ang="0">
                  <a:pos x="T0" y="T1"/>
                </a:cxn>
                <a:cxn ang="0">
                  <a:pos x="T2" y="T3"/>
                </a:cxn>
                <a:cxn ang="0">
                  <a:pos x="T4" y="T5"/>
                </a:cxn>
                <a:cxn ang="0">
                  <a:pos x="T6" y="T7"/>
                </a:cxn>
                <a:cxn ang="0">
                  <a:pos x="T8" y="T9"/>
                </a:cxn>
                <a:cxn ang="0">
                  <a:pos x="T10" y="T11"/>
                </a:cxn>
                <a:cxn ang="0">
                  <a:pos x="T12" y="T13"/>
                </a:cxn>
              </a:cxnLst>
              <a:rect l="0" t="0" r="r" b="b"/>
              <a:pathLst>
                <a:path w="400" h="89">
                  <a:moveTo>
                    <a:pt x="45" y="89"/>
                  </a:moveTo>
                  <a:cubicBezTo>
                    <a:pt x="20" y="89"/>
                    <a:pt x="0" y="69"/>
                    <a:pt x="0" y="44"/>
                  </a:cubicBezTo>
                  <a:cubicBezTo>
                    <a:pt x="0" y="20"/>
                    <a:pt x="20" y="0"/>
                    <a:pt x="45" y="0"/>
                  </a:cubicBezTo>
                  <a:cubicBezTo>
                    <a:pt x="355" y="0"/>
                    <a:pt x="355" y="0"/>
                    <a:pt x="355" y="0"/>
                  </a:cubicBezTo>
                  <a:cubicBezTo>
                    <a:pt x="380" y="0"/>
                    <a:pt x="400" y="20"/>
                    <a:pt x="400" y="44"/>
                  </a:cubicBezTo>
                  <a:cubicBezTo>
                    <a:pt x="400" y="69"/>
                    <a:pt x="380" y="89"/>
                    <a:pt x="355" y="89"/>
                  </a:cubicBezTo>
                  <a:lnTo>
                    <a:pt x="45" y="89"/>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a:extLst>
                <a:ext uri="{FF2B5EF4-FFF2-40B4-BE49-F238E27FC236}">
                  <a16:creationId xmlns:a16="http://schemas.microsoft.com/office/drawing/2014/main" id="{862144EB-4C49-E1A7-1CB2-EADC57C6917D}"/>
                </a:ext>
              </a:extLst>
            </p:cNvPr>
            <p:cNvSpPr>
              <a:spLocks/>
            </p:cNvSpPr>
            <p:nvPr/>
          </p:nvSpPr>
          <p:spPr bwMode="auto">
            <a:xfrm>
              <a:off x="7044908" y="4241801"/>
              <a:ext cx="671512" cy="149225"/>
            </a:xfrm>
            <a:custGeom>
              <a:avLst/>
              <a:gdLst>
                <a:gd name="T0" fmla="*/ 45 w 399"/>
                <a:gd name="T1" fmla="*/ 89 h 89"/>
                <a:gd name="T2" fmla="*/ 0 w 399"/>
                <a:gd name="T3" fmla="*/ 44 h 89"/>
                <a:gd name="T4" fmla="*/ 45 w 399"/>
                <a:gd name="T5" fmla="*/ 0 h 89"/>
                <a:gd name="T6" fmla="*/ 354 w 399"/>
                <a:gd name="T7" fmla="*/ 0 h 89"/>
                <a:gd name="T8" fmla="*/ 399 w 399"/>
                <a:gd name="T9" fmla="*/ 44 h 89"/>
                <a:gd name="T10" fmla="*/ 354 w 399"/>
                <a:gd name="T11" fmla="*/ 89 h 89"/>
                <a:gd name="T12" fmla="*/ 45 w 399"/>
                <a:gd name="T13" fmla="*/ 89 h 89"/>
              </a:gdLst>
              <a:ahLst/>
              <a:cxnLst>
                <a:cxn ang="0">
                  <a:pos x="T0" y="T1"/>
                </a:cxn>
                <a:cxn ang="0">
                  <a:pos x="T2" y="T3"/>
                </a:cxn>
                <a:cxn ang="0">
                  <a:pos x="T4" y="T5"/>
                </a:cxn>
                <a:cxn ang="0">
                  <a:pos x="T6" y="T7"/>
                </a:cxn>
                <a:cxn ang="0">
                  <a:pos x="T8" y="T9"/>
                </a:cxn>
                <a:cxn ang="0">
                  <a:pos x="T10" y="T11"/>
                </a:cxn>
                <a:cxn ang="0">
                  <a:pos x="T12" y="T13"/>
                </a:cxn>
              </a:cxnLst>
              <a:rect l="0" t="0" r="r" b="b"/>
              <a:pathLst>
                <a:path w="399" h="89">
                  <a:moveTo>
                    <a:pt x="45" y="89"/>
                  </a:moveTo>
                  <a:cubicBezTo>
                    <a:pt x="20" y="89"/>
                    <a:pt x="0" y="69"/>
                    <a:pt x="0" y="44"/>
                  </a:cubicBezTo>
                  <a:cubicBezTo>
                    <a:pt x="0" y="20"/>
                    <a:pt x="20" y="0"/>
                    <a:pt x="45" y="0"/>
                  </a:cubicBezTo>
                  <a:cubicBezTo>
                    <a:pt x="354" y="0"/>
                    <a:pt x="354" y="0"/>
                    <a:pt x="354" y="0"/>
                  </a:cubicBezTo>
                  <a:cubicBezTo>
                    <a:pt x="379" y="0"/>
                    <a:pt x="399" y="20"/>
                    <a:pt x="399" y="44"/>
                  </a:cubicBezTo>
                  <a:cubicBezTo>
                    <a:pt x="399" y="69"/>
                    <a:pt x="379" y="89"/>
                    <a:pt x="354" y="89"/>
                  </a:cubicBezTo>
                  <a:lnTo>
                    <a:pt x="45" y="8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a:extLst>
                <a:ext uri="{FF2B5EF4-FFF2-40B4-BE49-F238E27FC236}">
                  <a16:creationId xmlns:a16="http://schemas.microsoft.com/office/drawing/2014/main" id="{F566C50E-5BDD-5006-6911-639FE21CF6E4}"/>
                </a:ext>
              </a:extLst>
            </p:cNvPr>
            <p:cNvSpPr>
              <a:spLocks/>
            </p:cNvSpPr>
            <p:nvPr/>
          </p:nvSpPr>
          <p:spPr bwMode="auto">
            <a:xfrm>
              <a:off x="9762708" y="2838450"/>
              <a:ext cx="533400" cy="534988"/>
            </a:xfrm>
            <a:custGeom>
              <a:avLst/>
              <a:gdLst>
                <a:gd name="T0" fmla="*/ 81 w 317"/>
                <a:gd name="T1" fmla="*/ 300 h 318"/>
                <a:gd name="T2" fmla="*/ 17 w 317"/>
                <a:gd name="T3" fmla="*/ 300 h 318"/>
                <a:gd name="T4" fmla="*/ 17 w 317"/>
                <a:gd name="T5" fmla="*/ 237 h 318"/>
                <a:gd name="T6" fmla="*/ 236 w 317"/>
                <a:gd name="T7" fmla="*/ 18 h 318"/>
                <a:gd name="T8" fmla="*/ 300 w 317"/>
                <a:gd name="T9" fmla="*/ 18 h 318"/>
                <a:gd name="T10" fmla="*/ 300 w 317"/>
                <a:gd name="T11" fmla="*/ 81 h 318"/>
                <a:gd name="T12" fmla="*/ 81 w 317"/>
                <a:gd name="T13" fmla="*/ 300 h 318"/>
              </a:gdLst>
              <a:ahLst/>
              <a:cxnLst>
                <a:cxn ang="0">
                  <a:pos x="T0" y="T1"/>
                </a:cxn>
                <a:cxn ang="0">
                  <a:pos x="T2" y="T3"/>
                </a:cxn>
                <a:cxn ang="0">
                  <a:pos x="T4" y="T5"/>
                </a:cxn>
                <a:cxn ang="0">
                  <a:pos x="T6" y="T7"/>
                </a:cxn>
                <a:cxn ang="0">
                  <a:pos x="T8" y="T9"/>
                </a:cxn>
                <a:cxn ang="0">
                  <a:pos x="T10" y="T11"/>
                </a:cxn>
                <a:cxn ang="0">
                  <a:pos x="T12" y="T13"/>
                </a:cxn>
              </a:cxnLst>
              <a:rect l="0" t="0" r="r" b="b"/>
              <a:pathLst>
                <a:path w="317" h="318">
                  <a:moveTo>
                    <a:pt x="81" y="300"/>
                  </a:moveTo>
                  <a:cubicBezTo>
                    <a:pt x="63" y="318"/>
                    <a:pt x="35" y="318"/>
                    <a:pt x="17" y="300"/>
                  </a:cubicBezTo>
                  <a:cubicBezTo>
                    <a:pt x="0" y="283"/>
                    <a:pt x="0" y="254"/>
                    <a:pt x="17" y="237"/>
                  </a:cubicBezTo>
                  <a:cubicBezTo>
                    <a:pt x="236" y="18"/>
                    <a:pt x="236" y="18"/>
                    <a:pt x="236" y="18"/>
                  </a:cubicBezTo>
                  <a:cubicBezTo>
                    <a:pt x="254" y="0"/>
                    <a:pt x="282" y="0"/>
                    <a:pt x="300" y="18"/>
                  </a:cubicBezTo>
                  <a:cubicBezTo>
                    <a:pt x="317" y="35"/>
                    <a:pt x="317" y="64"/>
                    <a:pt x="300" y="81"/>
                  </a:cubicBezTo>
                  <a:lnTo>
                    <a:pt x="81" y="30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9">
              <a:extLst>
                <a:ext uri="{FF2B5EF4-FFF2-40B4-BE49-F238E27FC236}">
                  <a16:creationId xmlns:a16="http://schemas.microsoft.com/office/drawing/2014/main" id="{D08C2EDE-6E97-0485-5CBD-EFEA9F5CC32D}"/>
                </a:ext>
              </a:extLst>
            </p:cNvPr>
            <p:cNvSpPr>
              <a:spLocks/>
            </p:cNvSpPr>
            <p:nvPr/>
          </p:nvSpPr>
          <p:spPr bwMode="auto">
            <a:xfrm>
              <a:off x="7648158" y="2838450"/>
              <a:ext cx="534987" cy="534988"/>
            </a:xfrm>
            <a:custGeom>
              <a:avLst/>
              <a:gdLst>
                <a:gd name="T0" fmla="*/ 237 w 318"/>
                <a:gd name="T1" fmla="*/ 300 h 318"/>
                <a:gd name="T2" fmla="*/ 301 w 318"/>
                <a:gd name="T3" fmla="*/ 300 h 318"/>
                <a:gd name="T4" fmla="*/ 301 w 318"/>
                <a:gd name="T5" fmla="*/ 237 h 318"/>
                <a:gd name="T6" fmla="*/ 81 w 318"/>
                <a:gd name="T7" fmla="*/ 18 h 318"/>
                <a:gd name="T8" fmla="*/ 18 w 318"/>
                <a:gd name="T9" fmla="*/ 18 h 318"/>
                <a:gd name="T10" fmla="*/ 18 w 318"/>
                <a:gd name="T11" fmla="*/ 81 h 318"/>
                <a:gd name="T12" fmla="*/ 237 w 318"/>
                <a:gd name="T13" fmla="*/ 300 h 318"/>
              </a:gdLst>
              <a:ahLst/>
              <a:cxnLst>
                <a:cxn ang="0">
                  <a:pos x="T0" y="T1"/>
                </a:cxn>
                <a:cxn ang="0">
                  <a:pos x="T2" y="T3"/>
                </a:cxn>
                <a:cxn ang="0">
                  <a:pos x="T4" y="T5"/>
                </a:cxn>
                <a:cxn ang="0">
                  <a:pos x="T6" y="T7"/>
                </a:cxn>
                <a:cxn ang="0">
                  <a:pos x="T8" y="T9"/>
                </a:cxn>
                <a:cxn ang="0">
                  <a:pos x="T10" y="T11"/>
                </a:cxn>
                <a:cxn ang="0">
                  <a:pos x="T12" y="T13"/>
                </a:cxn>
              </a:cxnLst>
              <a:rect l="0" t="0" r="r" b="b"/>
              <a:pathLst>
                <a:path w="318" h="318">
                  <a:moveTo>
                    <a:pt x="237" y="300"/>
                  </a:moveTo>
                  <a:cubicBezTo>
                    <a:pt x="255" y="318"/>
                    <a:pt x="283" y="318"/>
                    <a:pt x="301" y="300"/>
                  </a:cubicBezTo>
                  <a:cubicBezTo>
                    <a:pt x="318" y="283"/>
                    <a:pt x="318" y="254"/>
                    <a:pt x="301" y="237"/>
                  </a:cubicBezTo>
                  <a:cubicBezTo>
                    <a:pt x="81" y="18"/>
                    <a:pt x="81" y="18"/>
                    <a:pt x="81" y="18"/>
                  </a:cubicBezTo>
                  <a:cubicBezTo>
                    <a:pt x="64" y="0"/>
                    <a:pt x="36" y="0"/>
                    <a:pt x="18" y="18"/>
                  </a:cubicBezTo>
                  <a:cubicBezTo>
                    <a:pt x="0" y="35"/>
                    <a:pt x="0" y="64"/>
                    <a:pt x="18" y="81"/>
                  </a:cubicBezTo>
                  <a:lnTo>
                    <a:pt x="237" y="30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5">
              <a:extLst>
                <a:ext uri="{FF2B5EF4-FFF2-40B4-BE49-F238E27FC236}">
                  <a16:creationId xmlns:a16="http://schemas.microsoft.com/office/drawing/2014/main" id="{371B4144-49D4-6171-F80D-D8174F81C38A}"/>
                </a:ext>
              </a:extLst>
            </p:cNvPr>
            <p:cNvSpPr>
              <a:spLocks/>
            </p:cNvSpPr>
            <p:nvPr/>
          </p:nvSpPr>
          <p:spPr bwMode="auto">
            <a:xfrm>
              <a:off x="9318208" y="4619626"/>
              <a:ext cx="247650" cy="209550"/>
            </a:xfrm>
            <a:custGeom>
              <a:avLst/>
              <a:gdLst>
                <a:gd name="T0" fmla="*/ 139 w 147"/>
                <a:gd name="T1" fmla="*/ 76 h 125"/>
                <a:gd name="T2" fmla="*/ 54 w 147"/>
                <a:gd name="T3" fmla="*/ 125 h 125"/>
                <a:gd name="T4" fmla="*/ 11 w 147"/>
                <a:gd name="T5" fmla="*/ 36 h 125"/>
                <a:gd name="T6" fmla="*/ 78 w 147"/>
                <a:gd name="T7" fmla="*/ 40 h 125"/>
                <a:gd name="T8" fmla="*/ 139 w 147"/>
                <a:gd name="T9" fmla="*/ 76 h 125"/>
              </a:gdLst>
              <a:ahLst/>
              <a:cxnLst>
                <a:cxn ang="0">
                  <a:pos x="T0" y="T1"/>
                </a:cxn>
                <a:cxn ang="0">
                  <a:pos x="T2" y="T3"/>
                </a:cxn>
                <a:cxn ang="0">
                  <a:pos x="T4" y="T5"/>
                </a:cxn>
                <a:cxn ang="0">
                  <a:pos x="T6" y="T7"/>
                </a:cxn>
                <a:cxn ang="0">
                  <a:pos x="T8" y="T9"/>
                </a:cxn>
              </a:cxnLst>
              <a:rect l="0" t="0" r="r" b="b"/>
              <a:pathLst>
                <a:path w="147" h="125">
                  <a:moveTo>
                    <a:pt x="139" y="76"/>
                  </a:moveTo>
                  <a:cubicBezTo>
                    <a:pt x="128" y="114"/>
                    <a:pt x="98" y="113"/>
                    <a:pt x="54" y="125"/>
                  </a:cubicBezTo>
                  <a:cubicBezTo>
                    <a:pt x="20" y="85"/>
                    <a:pt x="0" y="75"/>
                    <a:pt x="11" y="36"/>
                  </a:cubicBezTo>
                  <a:cubicBezTo>
                    <a:pt x="19" y="9"/>
                    <a:pt x="68" y="0"/>
                    <a:pt x="78" y="40"/>
                  </a:cubicBezTo>
                  <a:cubicBezTo>
                    <a:pt x="117" y="9"/>
                    <a:pt x="147" y="48"/>
                    <a:pt x="139" y="7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26">
              <a:extLst>
                <a:ext uri="{FF2B5EF4-FFF2-40B4-BE49-F238E27FC236}">
                  <a16:creationId xmlns:a16="http://schemas.microsoft.com/office/drawing/2014/main" id="{F026D214-8424-B403-F31A-5DC1F4998EA6}"/>
                </a:ext>
              </a:extLst>
            </p:cNvPr>
            <p:cNvSpPr>
              <a:spLocks/>
            </p:cNvSpPr>
            <p:nvPr/>
          </p:nvSpPr>
          <p:spPr bwMode="auto">
            <a:xfrm>
              <a:off x="9100720" y="3275013"/>
              <a:ext cx="242887" cy="220663"/>
            </a:xfrm>
            <a:custGeom>
              <a:avLst/>
              <a:gdLst>
                <a:gd name="T0" fmla="*/ 138 w 145"/>
                <a:gd name="T1" fmla="*/ 51 h 132"/>
                <a:gd name="T2" fmla="*/ 83 w 145"/>
                <a:gd name="T3" fmla="*/ 132 h 132"/>
                <a:gd name="T4" fmla="*/ 5 w 145"/>
                <a:gd name="T5" fmla="*/ 71 h 132"/>
                <a:gd name="T6" fmla="*/ 67 w 145"/>
                <a:gd name="T7" fmla="*/ 45 h 132"/>
                <a:gd name="T8" fmla="*/ 138 w 145"/>
                <a:gd name="T9" fmla="*/ 51 h 132"/>
              </a:gdLst>
              <a:ahLst/>
              <a:cxnLst>
                <a:cxn ang="0">
                  <a:pos x="T0" y="T1"/>
                </a:cxn>
                <a:cxn ang="0">
                  <a:pos x="T2" y="T3"/>
                </a:cxn>
                <a:cxn ang="0">
                  <a:pos x="T4" y="T5"/>
                </a:cxn>
                <a:cxn ang="0">
                  <a:pos x="T6" y="T7"/>
                </a:cxn>
                <a:cxn ang="0">
                  <a:pos x="T8" y="T9"/>
                </a:cxn>
              </a:cxnLst>
              <a:rect l="0" t="0" r="r" b="b"/>
              <a:pathLst>
                <a:path w="145" h="132">
                  <a:moveTo>
                    <a:pt x="138" y="51"/>
                  </a:moveTo>
                  <a:cubicBezTo>
                    <a:pt x="145" y="91"/>
                    <a:pt x="117" y="103"/>
                    <a:pt x="83" y="132"/>
                  </a:cubicBezTo>
                  <a:cubicBezTo>
                    <a:pt x="35" y="111"/>
                    <a:pt x="13" y="111"/>
                    <a:pt x="5" y="71"/>
                  </a:cubicBezTo>
                  <a:cubicBezTo>
                    <a:pt x="0" y="44"/>
                    <a:pt x="41" y="14"/>
                    <a:pt x="67" y="45"/>
                  </a:cubicBezTo>
                  <a:cubicBezTo>
                    <a:pt x="89" y="0"/>
                    <a:pt x="132" y="23"/>
                    <a:pt x="138"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7">
              <a:extLst>
                <a:ext uri="{FF2B5EF4-FFF2-40B4-BE49-F238E27FC236}">
                  <a16:creationId xmlns:a16="http://schemas.microsoft.com/office/drawing/2014/main" id="{D6866A99-FC52-27F7-CB6E-07DC23E6DEBB}"/>
                </a:ext>
              </a:extLst>
            </p:cNvPr>
            <p:cNvSpPr>
              <a:spLocks noEditPoints="1"/>
            </p:cNvSpPr>
            <p:nvPr/>
          </p:nvSpPr>
          <p:spPr bwMode="auto">
            <a:xfrm>
              <a:off x="9765883" y="4273551"/>
              <a:ext cx="236537" cy="196850"/>
            </a:xfrm>
            <a:custGeom>
              <a:avLst/>
              <a:gdLst>
                <a:gd name="T0" fmla="*/ 53 w 141"/>
                <a:gd name="T1" fmla="*/ 0 h 117"/>
                <a:gd name="T2" fmla="*/ 29 w 141"/>
                <a:gd name="T3" fmla="*/ 64 h 117"/>
                <a:gd name="T4" fmla="*/ 27 w 141"/>
                <a:gd name="T5" fmla="*/ 63 h 117"/>
                <a:gd name="T6" fmla="*/ 4 w 141"/>
                <a:gd name="T7" fmla="*/ 74 h 117"/>
                <a:gd name="T8" fmla="*/ 15 w 141"/>
                <a:gd name="T9" fmla="*/ 98 h 117"/>
                <a:gd name="T10" fmla="*/ 38 w 141"/>
                <a:gd name="T11" fmla="*/ 87 h 117"/>
                <a:gd name="T12" fmla="*/ 54 w 141"/>
                <a:gd name="T13" fmla="*/ 42 h 117"/>
                <a:gd name="T14" fmla="*/ 111 w 141"/>
                <a:gd name="T15" fmla="*/ 55 h 117"/>
                <a:gd name="T16" fmla="*/ 102 w 141"/>
                <a:gd name="T17" fmla="*/ 80 h 117"/>
                <a:gd name="T18" fmla="*/ 100 w 141"/>
                <a:gd name="T19" fmla="*/ 79 h 117"/>
                <a:gd name="T20" fmla="*/ 76 w 141"/>
                <a:gd name="T21" fmla="*/ 90 h 117"/>
                <a:gd name="T22" fmla="*/ 87 w 141"/>
                <a:gd name="T23" fmla="*/ 113 h 117"/>
                <a:gd name="T24" fmla="*/ 111 w 141"/>
                <a:gd name="T25" fmla="*/ 103 h 117"/>
                <a:gd name="T26" fmla="*/ 111 w 141"/>
                <a:gd name="T27" fmla="*/ 103 h 117"/>
                <a:gd name="T28" fmla="*/ 141 w 141"/>
                <a:gd name="T29" fmla="*/ 19 h 117"/>
                <a:gd name="T30" fmla="*/ 53 w 141"/>
                <a:gd name="T31" fmla="*/ 0 h 117"/>
                <a:gd name="T32" fmla="*/ 60 w 141"/>
                <a:gd name="T33" fmla="*/ 27 h 117"/>
                <a:gd name="T34" fmla="*/ 63 w 141"/>
                <a:gd name="T35" fmla="*/ 18 h 117"/>
                <a:gd name="T36" fmla="*/ 120 w 141"/>
                <a:gd name="T37" fmla="*/ 31 h 117"/>
                <a:gd name="T38" fmla="*/ 117 w 141"/>
                <a:gd name="T39" fmla="*/ 39 h 117"/>
                <a:gd name="T40" fmla="*/ 60 w 141"/>
                <a:gd name="T41" fmla="*/ 2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 h="117">
                  <a:moveTo>
                    <a:pt x="53" y="0"/>
                  </a:moveTo>
                  <a:cubicBezTo>
                    <a:pt x="29" y="64"/>
                    <a:pt x="29" y="64"/>
                    <a:pt x="29" y="64"/>
                  </a:cubicBezTo>
                  <a:cubicBezTo>
                    <a:pt x="29" y="64"/>
                    <a:pt x="28" y="64"/>
                    <a:pt x="27" y="63"/>
                  </a:cubicBezTo>
                  <a:cubicBezTo>
                    <a:pt x="18" y="60"/>
                    <a:pt x="7" y="65"/>
                    <a:pt x="4" y="74"/>
                  </a:cubicBezTo>
                  <a:cubicBezTo>
                    <a:pt x="0" y="84"/>
                    <a:pt x="5" y="94"/>
                    <a:pt x="15" y="98"/>
                  </a:cubicBezTo>
                  <a:cubicBezTo>
                    <a:pt x="24" y="101"/>
                    <a:pt x="35" y="96"/>
                    <a:pt x="38" y="87"/>
                  </a:cubicBezTo>
                  <a:cubicBezTo>
                    <a:pt x="54" y="42"/>
                    <a:pt x="54" y="42"/>
                    <a:pt x="54" y="42"/>
                  </a:cubicBezTo>
                  <a:cubicBezTo>
                    <a:pt x="111" y="55"/>
                    <a:pt x="111" y="55"/>
                    <a:pt x="111" y="55"/>
                  </a:cubicBezTo>
                  <a:cubicBezTo>
                    <a:pt x="102" y="80"/>
                    <a:pt x="102" y="80"/>
                    <a:pt x="102" y="80"/>
                  </a:cubicBezTo>
                  <a:cubicBezTo>
                    <a:pt x="101" y="80"/>
                    <a:pt x="101" y="79"/>
                    <a:pt x="100" y="79"/>
                  </a:cubicBezTo>
                  <a:cubicBezTo>
                    <a:pt x="90" y="75"/>
                    <a:pt x="80" y="80"/>
                    <a:pt x="76" y="90"/>
                  </a:cubicBezTo>
                  <a:cubicBezTo>
                    <a:pt x="73" y="99"/>
                    <a:pt x="78" y="110"/>
                    <a:pt x="87" y="113"/>
                  </a:cubicBezTo>
                  <a:cubicBezTo>
                    <a:pt x="97" y="117"/>
                    <a:pt x="107" y="112"/>
                    <a:pt x="111" y="103"/>
                  </a:cubicBezTo>
                  <a:cubicBezTo>
                    <a:pt x="111" y="103"/>
                    <a:pt x="111" y="103"/>
                    <a:pt x="111" y="103"/>
                  </a:cubicBezTo>
                  <a:cubicBezTo>
                    <a:pt x="141" y="19"/>
                    <a:pt x="141" y="19"/>
                    <a:pt x="141" y="19"/>
                  </a:cubicBezTo>
                  <a:lnTo>
                    <a:pt x="53" y="0"/>
                  </a:lnTo>
                  <a:close/>
                  <a:moveTo>
                    <a:pt x="60" y="27"/>
                  </a:moveTo>
                  <a:cubicBezTo>
                    <a:pt x="63" y="18"/>
                    <a:pt x="63" y="18"/>
                    <a:pt x="63" y="18"/>
                  </a:cubicBezTo>
                  <a:cubicBezTo>
                    <a:pt x="120" y="31"/>
                    <a:pt x="120" y="31"/>
                    <a:pt x="120" y="31"/>
                  </a:cubicBezTo>
                  <a:cubicBezTo>
                    <a:pt x="117" y="39"/>
                    <a:pt x="117" y="39"/>
                    <a:pt x="117" y="39"/>
                  </a:cubicBezTo>
                  <a:lnTo>
                    <a:pt x="60" y="27"/>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28">
              <a:extLst>
                <a:ext uri="{FF2B5EF4-FFF2-40B4-BE49-F238E27FC236}">
                  <a16:creationId xmlns:a16="http://schemas.microsoft.com/office/drawing/2014/main" id="{13BFC0DB-F429-D69A-E278-B1FE870CF6FB}"/>
                </a:ext>
              </a:extLst>
            </p:cNvPr>
            <p:cNvSpPr>
              <a:spLocks/>
            </p:cNvSpPr>
            <p:nvPr/>
          </p:nvSpPr>
          <p:spPr bwMode="auto">
            <a:xfrm>
              <a:off x="9911933" y="4041776"/>
              <a:ext cx="66675" cy="169863"/>
            </a:xfrm>
            <a:custGeom>
              <a:avLst/>
              <a:gdLst>
                <a:gd name="T0" fmla="*/ 23 w 39"/>
                <a:gd name="T1" fmla="*/ 100 h 101"/>
                <a:gd name="T2" fmla="*/ 37 w 39"/>
                <a:gd name="T3" fmla="*/ 78 h 101"/>
                <a:gd name="T4" fmla="*/ 24 w 39"/>
                <a:gd name="T5" fmla="*/ 0 h 101"/>
                <a:gd name="T6" fmla="*/ 8 w 39"/>
                <a:gd name="T7" fmla="*/ 3 h 101"/>
                <a:gd name="T8" fmla="*/ 18 w 39"/>
                <a:gd name="T9" fmla="*/ 63 h 101"/>
                <a:gd name="T10" fmla="*/ 16 w 39"/>
                <a:gd name="T11" fmla="*/ 63 h 101"/>
                <a:gd name="T12" fmla="*/ 1 w 39"/>
                <a:gd name="T13" fmla="*/ 85 h 101"/>
                <a:gd name="T14" fmla="*/ 23 w 39"/>
                <a:gd name="T15" fmla="*/ 100 h 1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01">
                  <a:moveTo>
                    <a:pt x="23" y="100"/>
                  </a:moveTo>
                  <a:cubicBezTo>
                    <a:pt x="32" y="98"/>
                    <a:pt x="39" y="88"/>
                    <a:pt x="37" y="78"/>
                  </a:cubicBezTo>
                  <a:cubicBezTo>
                    <a:pt x="24" y="0"/>
                    <a:pt x="24" y="0"/>
                    <a:pt x="24" y="0"/>
                  </a:cubicBezTo>
                  <a:cubicBezTo>
                    <a:pt x="8" y="3"/>
                    <a:pt x="8" y="3"/>
                    <a:pt x="8" y="3"/>
                  </a:cubicBezTo>
                  <a:cubicBezTo>
                    <a:pt x="18" y="63"/>
                    <a:pt x="18" y="63"/>
                    <a:pt x="18" y="63"/>
                  </a:cubicBezTo>
                  <a:cubicBezTo>
                    <a:pt x="18" y="63"/>
                    <a:pt x="17" y="63"/>
                    <a:pt x="16" y="63"/>
                  </a:cubicBezTo>
                  <a:cubicBezTo>
                    <a:pt x="6" y="65"/>
                    <a:pt x="0" y="75"/>
                    <a:pt x="1" y="85"/>
                  </a:cubicBezTo>
                  <a:cubicBezTo>
                    <a:pt x="3" y="95"/>
                    <a:pt x="13" y="101"/>
                    <a:pt x="23" y="10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C1843C1B-DCBE-C79D-403F-FC2579614829}"/>
                </a:ext>
              </a:extLst>
            </p:cNvPr>
            <p:cNvGrpSpPr/>
            <p:nvPr/>
          </p:nvGrpSpPr>
          <p:grpSpPr>
            <a:xfrm>
              <a:off x="9116595" y="4832351"/>
              <a:ext cx="250825" cy="255587"/>
              <a:chOff x="9613900" y="4832351"/>
              <a:chExt cx="250825" cy="255587"/>
            </a:xfrm>
            <a:solidFill>
              <a:schemeClr val="accent4"/>
            </a:solidFill>
          </p:grpSpPr>
          <p:sp>
            <p:nvSpPr>
              <p:cNvPr id="44" name="Freeform 29">
                <a:extLst>
                  <a:ext uri="{FF2B5EF4-FFF2-40B4-BE49-F238E27FC236}">
                    <a16:creationId xmlns:a16="http://schemas.microsoft.com/office/drawing/2014/main" id="{5D05CC46-EF92-1904-340E-3EA412CFF107}"/>
                  </a:ext>
                </a:extLst>
              </p:cNvPr>
              <p:cNvSpPr>
                <a:spLocks/>
              </p:cNvSpPr>
              <p:nvPr/>
            </p:nvSpPr>
            <p:spPr bwMode="auto">
              <a:xfrm>
                <a:off x="9783763" y="5024438"/>
                <a:ext cx="39687" cy="39688"/>
              </a:xfrm>
              <a:custGeom>
                <a:avLst/>
                <a:gdLst>
                  <a:gd name="T0" fmla="*/ 23 w 23"/>
                  <a:gd name="T1" fmla="*/ 12 h 23"/>
                  <a:gd name="T2" fmla="*/ 11 w 23"/>
                  <a:gd name="T3" fmla="*/ 22 h 23"/>
                  <a:gd name="T4" fmla="*/ 1 w 23"/>
                  <a:gd name="T5" fmla="*/ 11 h 23"/>
                  <a:gd name="T6" fmla="*/ 13 w 23"/>
                  <a:gd name="T7" fmla="*/ 0 h 23"/>
                  <a:gd name="T8" fmla="*/ 23 w 23"/>
                  <a:gd name="T9" fmla="*/ 12 h 23"/>
                </a:gdLst>
                <a:ahLst/>
                <a:cxnLst>
                  <a:cxn ang="0">
                    <a:pos x="T0" y="T1"/>
                  </a:cxn>
                  <a:cxn ang="0">
                    <a:pos x="T2" y="T3"/>
                  </a:cxn>
                  <a:cxn ang="0">
                    <a:pos x="T4" y="T5"/>
                  </a:cxn>
                  <a:cxn ang="0">
                    <a:pos x="T6" y="T7"/>
                  </a:cxn>
                  <a:cxn ang="0">
                    <a:pos x="T8" y="T9"/>
                  </a:cxn>
                </a:cxnLst>
                <a:rect l="0" t="0" r="r" b="b"/>
                <a:pathLst>
                  <a:path w="23" h="23">
                    <a:moveTo>
                      <a:pt x="23" y="12"/>
                    </a:moveTo>
                    <a:cubicBezTo>
                      <a:pt x="23" y="18"/>
                      <a:pt x="18" y="23"/>
                      <a:pt x="11" y="22"/>
                    </a:cubicBezTo>
                    <a:cubicBezTo>
                      <a:pt x="5" y="22"/>
                      <a:pt x="0" y="17"/>
                      <a:pt x="1" y="11"/>
                    </a:cubicBezTo>
                    <a:cubicBezTo>
                      <a:pt x="1" y="4"/>
                      <a:pt x="6" y="0"/>
                      <a:pt x="13" y="0"/>
                    </a:cubicBezTo>
                    <a:cubicBezTo>
                      <a:pt x="19" y="0"/>
                      <a:pt x="23" y="6"/>
                      <a:pt x="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30">
                <a:extLst>
                  <a:ext uri="{FF2B5EF4-FFF2-40B4-BE49-F238E27FC236}">
                    <a16:creationId xmlns:a16="http://schemas.microsoft.com/office/drawing/2014/main" id="{03600C84-4636-24E7-692F-D7138DD3684A}"/>
                  </a:ext>
                </a:extLst>
              </p:cNvPr>
              <p:cNvSpPr>
                <a:spLocks/>
              </p:cNvSpPr>
              <p:nvPr/>
            </p:nvSpPr>
            <p:spPr bwMode="auto">
              <a:xfrm>
                <a:off x="9810750" y="5062538"/>
                <a:ext cx="26987" cy="25400"/>
              </a:xfrm>
              <a:custGeom>
                <a:avLst/>
                <a:gdLst>
                  <a:gd name="T0" fmla="*/ 16 w 16"/>
                  <a:gd name="T1" fmla="*/ 9 h 16"/>
                  <a:gd name="T2" fmla="*/ 8 w 16"/>
                  <a:gd name="T3" fmla="*/ 16 h 16"/>
                  <a:gd name="T4" fmla="*/ 0 w 16"/>
                  <a:gd name="T5" fmla="*/ 8 h 16"/>
                  <a:gd name="T6" fmla="*/ 9 w 16"/>
                  <a:gd name="T7" fmla="*/ 1 h 16"/>
                  <a:gd name="T8" fmla="*/ 16 w 16"/>
                  <a:gd name="T9" fmla="*/ 9 h 16"/>
                </a:gdLst>
                <a:ahLst/>
                <a:cxnLst>
                  <a:cxn ang="0">
                    <a:pos x="T0" y="T1"/>
                  </a:cxn>
                  <a:cxn ang="0">
                    <a:pos x="T2" y="T3"/>
                  </a:cxn>
                  <a:cxn ang="0">
                    <a:pos x="T4" y="T5"/>
                  </a:cxn>
                  <a:cxn ang="0">
                    <a:pos x="T6" y="T7"/>
                  </a:cxn>
                  <a:cxn ang="0">
                    <a:pos x="T8" y="T9"/>
                  </a:cxn>
                </a:cxnLst>
                <a:rect l="0" t="0" r="r" b="b"/>
                <a:pathLst>
                  <a:path w="16" h="16">
                    <a:moveTo>
                      <a:pt x="16" y="9"/>
                    </a:moveTo>
                    <a:cubicBezTo>
                      <a:pt x="16" y="13"/>
                      <a:pt x="12" y="16"/>
                      <a:pt x="8" y="16"/>
                    </a:cubicBezTo>
                    <a:cubicBezTo>
                      <a:pt x="3" y="16"/>
                      <a:pt x="0" y="12"/>
                      <a:pt x="0" y="8"/>
                    </a:cubicBezTo>
                    <a:cubicBezTo>
                      <a:pt x="1" y="4"/>
                      <a:pt x="4" y="0"/>
                      <a:pt x="9" y="1"/>
                    </a:cubicBezTo>
                    <a:cubicBezTo>
                      <a:pt x="13" y="1"/>
                      <a:pt x="16" y="5"/>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31">
                <a:extLst>
                  <a:ext uri="{FF2B5EF4-FFF2-40B4-BE49-F238E27FC236}">
                    <a16:creationId xmlns:a16="http://schemas.microsoft.com/office/drawing/2014/main" id="{22D54624-AA5C-C2E3-24F5-D9D9571CBAB9}"/>
                  </a:ext>
                </a:extLst>
              </p:cNvPr>
              <p:cNvSpPr>
                <a:spLocks/>
              </p:cNvSpPr>
              <p:nvPr/>
            </p:nvSpPr>
            <p:spPr bwMode="auto">
              <a:xfrm>
                <a:off x="9613900" y="4832351"/>
                <a:ext cx="250825" cy="214313"/>
              </a:xfrm>
              <a:custGeom>
                <a:avLst/>
                <a:gdLst>
                  <a:gd name="T0" fmla="*/ 63 w 158"/>
                  <a:gd name="T1" fmla="*/ 2 h 135"/>
                  <a:gd name="T2" fmla="*/ 83 w 158"/>
                  <a:gd name="T3" fmla="*/ 16 h 135"/>
                  <a:gd name="T4" fmla="*/ 104 w 158"/>
                  <a:gd name="T5" fmla="*/ 0 h 135"/>
                  <a:gd name="T6" fmla="*/ 112 w 158"/>
                  <a:gd name="T7" fmla="*/ 23 h 135"/>
                  <a:gd name="T8" fmla="*/ 139 w 158"/>
                  <a:gd name="T9" fmla="*/ 17 h 135"/>
                  <a:gd name="T10" fmla="*/ 133 w 158"/>
                  <a:gd name="T11" fmla="*/ 41 h 135"/>
                  <a:gd name="T12" fmla="*/ 158 w 158"/>
                  <a:gd name="T13" fmla="*/ 48 h 135"/>
                  <a:gd name="T14" fmla="*/ 139 w 158"/>
                  <a:gd name="T15" fmla="*/ 67 h 135"/>
                  <a:gd name="T16" fmla="*/ 156 w 158"/>
                  <a:gd name="T17" fmla="*/ 84 h 135"/>
                  <a:gd name="T18" fmla="*/ 129 w 158"/>
                  <a:gd name="T19" fmla="*/ 93 h 135"/>
                  <a:gd name="T20" fmla="*/ 133 w 158"/>
                  <a:gd name="T21" fmla="*/ 116 h 135"/>
                  <a:gd name="T22" fmla="*/ 106 w 158"/>
                  <a:gd name="T23" fmla="*/ 112 h 135"/>
                  <a:gd name="T24" fmla="*/ 96 w 158"/>
                  <a:gd name="T25" fmla="*/ 134 h 135"/>
                  <a:gd name="T26" fmla="*/ 75 w 158"/>
                  <a:gd name="T27" fmla="*/ 120 h 135"/>
                  <a:gd name="T28" fmla="*/ 54 w 158"/>
                  <a:gd name="T29" fmla="*/ 135 h 135"/>
                  <a:gd name="T30" fmla="*/ 46 w 158"/>
                  <a:gd name="T31" fmla="*/ 114 h 135"/>
                  <a:gd name="T32" fmla="*/ 19 w 158"/>
                  <a:gd name="T33" fmla="*/ 118 h 135"/>
                  <a:gd name="T34" fmla="*/ 26 w 158"/>
                  <a:gd name="T35" fmla="*/ 95 h 135"/>
                  <a:gd name="T36" fmla="*/ 0 w 158"/>
                  <a:gd name="T37" fmla="*/ 87 h 135"/>
                  <a:gd name="T38" fmla="*/ 19 w 158"/>
                  <a:gd name="T39" fmla="*/ 69 h 135"/>
                  <a:gd name="T40" fmla="*/ 2 w 158"/>
                  <a:gd name="T41" fmla="*/ 51 h 135"/>
                  <a:gd name="T42" fmla="*/ 29 w 158"/>
                  <a:gd name="T43" fmla="*/ 43 h 135"/>
                  <a:gd name="T44" fmla="*/ 26 w 158"/>
                  <a:gd name="T45" fmla="*/ 21 h 135"/>
                  <a:gd name="T46" fmla="*/ 52 w 158"/>
                  <a:gd name="T47" fmla="*/ 24 h 135"/>
                  <a:gd name="T48" fmla="*/ 63 w 158"/>
                  <a:gd name="T49" fmla="*/ 2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8" h="135">
                    <a:moveTo>
                      <a:pt x="63" y="2"/>
                    </a:moveTo>
                    <a:lnTo>
                      <a:pt x="83" y="16"/>
                    </a:lnTo>
                    <a:lnTo>
                      <a:pt x="104" y="0"/>
                    </a:lnTo>
                    <a:lnTo>
                      <a:pt x="112" y="23"/>
                    </a:lnTo>
                    <a:lnTo>
                      <a:pt x="139" y="17"/>
                    </a:lnTo>
                    <a:lnTo>
                      <a:pt x="133" y="41"/>
                    </a:lnTo>
                    <a:lnTo>
                      <a:pt x="158" y="48"/>
                    </a:lnTo>
                    <a:lnTo>
                      <a:pt x="139" y="67"/>
                    </a:lnTo>
                    <a:lnTo>
                      <a:pt x="156" y="84"/>
                    </a:lnTo>
                    <a:lnTo>
                      <a:pt x="129" y="93"/>
                    </a:lnTo>
                    <a:lnTo>
                      <a:pt x="133" y="116"/>
                    </a:lnTo>
                    <a:lnTo>
                      <a:pt x="106" y="112"/>
                    </a:lnTo>
                    <a:lnTo>
                      <a:pt x="96" y="134"/>
                    </a:lnTo>
                    <a:lnTo>
                      <a:pt x="75" y="120"/>
                    </a:lnTo>
                    <a:lnTo>
                      <a:pt x="54" y="135"/>
                    </a:lnTo>
                    <a:lnTo>
                      <a:pt x="46" y="114"/>
                    </a:lnTo>
                    <a:lnTo>
                      <a:pt x="19" y="118"/>
                    </a:lnTo>
                    <a:lnTo>
                      <a:pt x="26" y="95"/>
                    </a:lnTo>
                    <a:lnTo>
                      <a:pt x="0" y="87"/>
                    </a:lnTo>
                    <a:lnTo>
                      <a:pt x="19" y="69"/>
                    </a:lnTo>
                    <a:lnTo>
                      <a:pt x="2" y="51"/>
                    </a:lnTo>
                    <a:lnTo>
                      <a:pt x="29" y="43"/>
                    </a:lnTo>
                    <a:lnTo>
                      <a:pt x="26" y="21"/>
                    </a:lnTo>
                    <a:lnTo>
                      <a:pt x="52" y="24"/>
                    </a:lnTo>
                    <a:lnTo>
                      <a:pt x="63"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5" name="Freeform 32">
              <a:extLst>
                <a:ext uri="{FF2B5EF4-FFF2-40B4-BE49-F238E27FC236}">
                  <a16:creationId xmlns:a16="http://schemas.microsoft.com/office/drawing/2014/main" id="{7EAC59B0-206D-515A-B287-417F07E7B515}"/>
                </a:ext>
              </a:extLst>
            </p:cNvPr>
            <p:cNvSpPr>
              <a:spLocks/>
            </p:cNvSpPr>
            <p:nvPr/>
          </p:nvSpPr>
          <p:spPr bwMode="auto">
            <a:xfrm>
              <a:off x="9505533" y="3586163"/>
              <a:ext cx="298450" cy="287338"/>
            </a:xfrm>
            <a:custGeom>
              <a:avLst/>
              <a:gdLst>
                <a:gd name="T0" fmla="*/ 20 w 178"/>
                <a:gd name="T1" fmla="*/ 52 h 171"/>
                <a:gd name="T2" fmla="*/ 9 w 178"/>
                <a:gd name="T3" fmla="*/ 46 h 171"/>
                <a:gd name="T4" fmla="*/ 18 w 178"/>
                <a:gd name="T5" fmla="*/ 28 h 171"/>
                <a:gd name="T6" fmla="*/ 39 w 178"/>
                <a:gd name="T7" fmla="*/ 21 h 171"/>
                <a:gd name="T8" fmla="*/ 43 w 178"/>
                <a:gd name="T9" fmla="*/ 32 h 171"/>
                <a:gd name="T10" fmla="*/ 46 w 178"/>
                <a:gd name="T11" fmla="*/ 39 h 171"/>
                <a:gd name="T12" fmla="*/ 88 w 178"/>
                <a:gd name="T13" fmla="*/ 0 h 171"/>
                <a:gd name="T14" fmla="*/ 120 w 178"/>
                <a:gd name="T15" fmla="*/ 23 h 171"/>
                <a:gd name="T16" fmla="*/ 111 w 178"/>
                <a:gd name="T17" fmla="*/ 28 h 171"/>
                <a:gd name="T18" fmla="*/ 96 w 178"/>
                <a:gd name="T19" fmla="*/ 39 h 171"/>
                <a:gd name="T20" fmla="*/ 104 w 178"/>
                <a:gd name="T21" fmla="*/ 59 h 171"/>
                <a:gd name="T22" fmla="*/ 127 w 178"/>
                <a:gd name="T23" fmla="*/ 67 h 171"/>
                <a:gd name="T24" fmla="*/ 133 w 178"/>
                <a:gd name="T25" fmla="*/ 53 h 171"/>
                <a:gd name="T26" fmla="*/ 139 w 178"/>
                <a:gd name="T27" fmla="*/ 42 h 171"/>
                <a:gd name="T28" fmla="*/ 178 w 178"/>
                <a:gd name="T29" fmla="*/ 82 h 171"/>
                <a:gd name="T30" fmla="*/ 140 w 178"/>
                <a:gd name="T31" fmla="*/ 119 h 171"/>
                <a:gd name="T32" fmla="*/ 148 w 178"/>
                <a:gd name="T33" fmla="*/ 125 h 171"/>
                <a:gd name="T34" fmla="*/ 159 w 178"/>
                <a:gd name="T35" fmla="*/ 130 h 171"/>
                <a:gd name="T36" fmla="*/ 148 w 178"/>
                <a:gd name="T37" fmla="*/ 153 h 171"/>
                <a:gd name="T38" fmla="*/ 130 w 178"/>
                <a:gd name="T39" fmla="*/ 160 h 171"/>
                <a:gd name="T40" fmla="*/ 123 w 178"/>
                <a:gd name="T41" fmla="*/ 150 h 171"/>
                <a:gd name="T42" fmla="*/ 115 w 178"/>
                <a:gd name="T43" fmla="*/ 142 h 171"/>
                <a:gd name="T44" fmla="*/ 86 w 178"/>
                <a:gd name="T45" fmla="*/ 171 h 171"/>
                <a:gd name="T46" fmla="*/ 0 w 178"/>
                <a:gd name="T47" fmla="*/ 86 h 171"/>
                <a:gd name="T48" fmla="*/ 27 w 178"/>
                <a:gd name="T49" fmla="*/ 59 h 171"/>
                <a:gd name="T50" fmla="*/ 20 w 178"/>
                <a:gd name="T51" fmla="*/ 52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8" h="171">
                  <a:moveTo>
                    <a:pt x="20" y="52"/>
                  </a:moveTo>
                  <a:cubicBezTo>
                    <a:pt x="13" y="50"/>
                    <a:pt x="9" y="49"/>
                    <a:pt x="9" y="46"/>
                  </a:cubicBezTo>
                  <a:cubicBezTo>
                    <a:pt x="8" y="41"/>
                    <a:pt x="10" y="34"/>
                    <a:pt x="18" y="28"/>
                  </a:cubicBezTo>
                  <a:cubicBezTo>
                    <a:pt x="27" y="20"/>
                    <a:pt x="34" y="18"/>
                    <a:pt x="39" y="21"/>
                  </a:cubicBezTo>
                  <a:cubicBezTo>
                    <a:pt x="42" y="23"/>
                    <a:pt x="42" y="27"/>
                    <a:pt x="43" y="32"/>
                  </a:cubicBezTo>
                  <a:cubicBezTo>
                    <a:pt x="43" y="36"/>
                    <a:pt x="43" y="37"/>
                    <a:pt x="46" y="39"/>
                  </a:cubicBezTo>
                  <a:cubicBezTo>
                    <a:pt x="52" y="43"/>
                    <a:pt x="71" y="24"/>
                    <a:pt x="88" y="0"/>
                  </a:cubicBezTo>
                  <a:cubicBezTo>
                    <a:pt x="102" y="1"/>
                    <a:pt x="121" y="18"/>
                    <a:pt x="120" y="23"/>
                  </a:cubicBezTo>
                  <a:cubicBezTo>
                    <a:pt x="120" y="26"/>
                    <a:pt x="115" y="27"/>
                    <a:pt x="111" y="28"/>
                  </a:cubicBezTo>
                  <a:cubicBezTo>
                    <a:pt x="103" y="30"/>
                    <a:pt x="97" y="34"/>
                    <a:pt x="96" y="39"/>
                  </a:cubicBezTo>
                  <a:cubicBezTo>
                    <a:pt x="95" y="43"/>
                    <a:pt x="95" y="50"/>
                    <a:pt x="104" y="59"/>
                  </a:cubicBezTo>
                  <a:cubicBezTo>
                    <a:pt x="113" y="67"/>
                    <a:pt x="122" y="70"/>
                    <a:pt x="127" y="67"/>
                  </a:cubicBezTo>
                  <a:cubicBezTo>
                    <a:pt x="132" y="64"/>
                    <a:pt x="135" y="61"/>
                    <a:pt x="133" y="53"/>
                  </a:cubicBezTo>
                  <a:cubicBezTo>
                    <a:pt x="132" y="50"/>
                    <a:pt x="131" y="43"/>
                    <a:pt x="139" y="42"/>
                  </a:cubicBezTo>
                  <a:cubicBezTo>
                    <a:pt x="146" y="40"/>
                    <a:pt x="170" y="62"/>
                    <a:pt x="178" y="82"/>
                  </a:cubicBezTo>
                  <a:cubicBezTo>
                    <a:pt x="157" y="92"/>
                    <a:pt x="139" y="113"/>
                    <a:pt x="140" y="119"/>
                  </a:cubicBezTo>
                  <a:cubicBezTo>
                    <a:pt x="140" y="121"/>
                    <a:pt x="142" y="125"/>
                    <a:pt x="148" y="125"/>
                  </a:cubicBezTo>
                  <a:cubicBezTo>
                    <a:pt x="153" y="125"/>
                    <a:pt x="157" y="127"/>
                    <a:pt x="159" y="130"/>
                  </a:cubicBezTo>
                  <a:cubicBezTo>
                    <a:pt x="161" y="134"/>
                    <a:pt x="160" y="141"/>
                    <a:pt x="148" y="153"/>
                  </a:cubicBezTo>
                  <a:cubicBezTo>
                    <a:pt x="141" y="160"/>
                    <a:pt x="134" y="161"/>
                    <a:pt x="130" y="160"/>
                  </a:cubicBezTo>
                  <a:cubicBezTo>
                    <a:pt x="126" y="159"/>
                    <a:pt x="125" y="155"/>
                    <a:pt x="123" y="150"/>
                  </a:cubicBezTo>
                  <a:cubicBezTo>
                    <a:pt x="122" y="144"/>
                    <a:pt x="120" y="142"/>
                    <a:pt x="115" y="142"/>
                  </a:cubicBezTo>
                  <a:cubicBezTo>
                    <a:pt x="105" y="143"/>
                    <a:pt x="94" y="155"/>
                    <a:pt x="86" y="171"/>
                  </a:cubicBezTo>
                  <a:cubicBezTo>
                    <a:pt x="0" y="86"/>
                    <a:pt x="0" y="86"/>
                    <a:pt x="0" y="86"/>
                  </a:cubicBezTo>
                  <a:cubicBezTo>
                    <a:pt x="18" y="72"/>
                    <a:pt x="28" y="65"/>
                    <a:pt x="27" y="59"/>
                  </a:cubicBezTo>
                  <a:cubicBezTo>
                    <a:pt x="27" y="56"/>
                    <a:pt x="27" y="53"/>
                    <a:pt x="20" y="52"/>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33">
              <a:extLst>
                <a:ext uri="{FF2B5EF4-FFF2-40B4-BE49-F238E27FC236}">
                  <a16:creationId xmlns:a16="http://schemas.microsoft.com/office/drawing/2014/main" id="{4A413749-979C-21C2-64FE-BA419140D2D7}"/>
                </a:ext>
              </a:extLst>
            </p:cNvPr>
            <p:cNvSpPr>
              <a:spLocks/>
            </p:cNvSpPr>
            <p:nvPr/>
          </p:nvSpPr>
          <p:spPr bwMode="auto">
            <a:xfrm>
              <a:off x="7957720" y="4157663"/>
              <a:ext cx="247650" cy="247650"/>
            </a:xfrm>
            <a:custGeom>
              <a:avLst/>
              <a:gdLst>
                <a:gd name="T0" fmla="*/ 77 w 147"/>
                <a:gd name="T1" fmla="*/ 5 h 148"/>
                <a:gd name="T2" fmla="*/ 85 w 147"/>
                <a:gd name="T3" fmla="*/ 6 h 148"/>
                <a:gd name="T4" fmla="*/ 91 w 147"/>
                <a:gd name="T5" fmla="*/ 7 h 148"/>
                <a:gd name="T6" fmla="*/ 99 w 147"/>
                <a:gd name="T7" fmla="*/ 10 h 148"/>
                <a:gd name="T8" fmla="*/ 105 w 147"/>
                <a:gd name="T9" fmla="*/ 12 h 148"/>
                <a:gd name="T10" fmla="*/ 112 w 147"/>
                <a:gd name="T11" fmla="*/ 16 h 148"/>
                <a:gd name="T12" fmla="*/ 117 w 147"/>
                <a:gd name="T13" fmla="*/ 20 h 148"/>
                <a:gd name="T14" fmla="*/ 123 w 147"/>
                <a:gd name="T15" fmla="*/ 25 h 148"/>
                <a:gd name="T16" fmla="*/ 127 w 147"/>
                <a:gd name="T17" fmla="*/ 30 h 148"/>
                <a:gd name="T18" fmla="*/ 132 w 147"/>
                <a:gd name="T19" fmla="*/ 37 h 148"/>
                <a:gd name="T20" fmla="*/ 135 w 147"/>
                <a:gd name="T21" fmla="*/ 42 h 148"/>
                <a:gd name="T22" fmla="*/ 139 w 147"/>
                <a:gd name="T23" fmla="*/ 50 h 148"/>
                <a:gd name="T24" fmla="*/ 141 w 147"/>
                <a:gd name="T25" fmla="*/ 56 h 148"/>
                <a:gd name="T26" fmla="*/ 142 w 147"/>
                <a:gd name="T27" fmla="*/ 64 h 148"/>
                <a:gd name="T28" fmla="*/ 143 w 147"/>
                <a:gd name="T29" fmla="*/ 70 h 148"/>
                <a:gd name="T30" fmla="*/ 143 w 147"/>
                <a:gd name="T31" fmla="*/ 78 h 148"/>
                <a:gd name="T32" fmla="*/ 142 w 147"/>
                <a:gd name="T33" fmla="*/ 85 h 148"/>
                <a:gd name="T34" fmla="*/ 141 w 147"/>
                <a:gd name="T35" fmla="*/ 93 h 148"/>
                <a:gd name="T36" fmla="*/ 139 w 147"/>
                <a:gd name="T37" fmla="*/ 99 h 148"/>
                <a:gd name="T38" fmla="*/ 135 w 147"/>
                <a:gd name="T39" fmla="*/ 106 h 148"/>
                <a:gd name="T40" fmla="*/ 132 w 147"/>
                <a:gd name="T41" fmla="*/ 112 h 148"/>
                <a:gd name="T42" fmla="*/ 127 w 147"/>
                <a:gd name="T43" fmla="*/ 118 h 148"/>
                <a:gd name="T44" fmla="*/ 123 w 147"/>
                <a:gd name="T45" fmla="*/ 123 h 148"/>
                <a:gd name="T46" fmla="*/ 117 w 147"/>
                <a:gd name="T47" fmla="*/ 129 h 148"/>
                <a:gd name="T48" fmla="*/ 112 w 147"/>
                <a:gd name="T49" fmla="*/ 133 h 148"/>
                <a:gd name="T50" fmla="*/ 105 w 147"/>
                <a:gd name="T51" fmla="*/ 137 h 148"/>
                <a:gd name="T52" fmla="*/ 99 w 147"/>
                <a:gd name="T53" fmla="*/ 139 h 148"/>
                <a:gd name="T54" fmla="*/ 91 w 147"/>
                <a:gd name="T55" fmla="*/ 142 h 148"/>
                <a:gd name="T56" fmla="*/ 85 w 147"/>
                <a:gd name="T57" fmla="*/ 143 h 148"/>
                <a:gd name="T58" fmla="*/ 77 w 147"/>
                <a:gd name="T59" fmla="*/ 144 h 148"/>
                <a:gd name="T60" fmla="*/ 70 w 147"/>
                <a:gd name="T61" fmla="*/ 144 h 148"/>
                <a:gd name="T62" fmla="*/ 62 w 147"/>
                <a:gd name="T63" fmla="*/ 143 h 148"/>
                <a:gd name="T64" fmla="*/ 56 w 147"/>
                <a:gd name="T65" fmla="*/ 142 h 148"/>
                <a:gd name="T66" fmla="*/ 48 w 147"/>
                <a:gd name="T67" fmla="*/ 139 h 148"/>
                <a:gd name="T68" fmla="*/ 42 w 147"/>
                <a:gd name="T69" fmla="*/ 137 h 148"/>
                <a:gd name="T70" fmla="*/ 35 w 147"/>
                <a:gd name="T71" fmla="*/ 133 h 148"/>
                <a:gd name="T72" fmla="*/ 30 w 147"/>
                <a:gd name="T73" fmla="*/ 129 h 148"/>
                <a:gd name="T74" fmla="*/ 24 w 147"/>
                <a:gd name="T75" fmla="*/ 123 h 148"/>
                <a:gd name="T76" fmla="*/ 20 w 147"/>
                <a:gd name="T77" fmla="*/ 118 h 148"/>
                <a:gd name="T78" fmla="*/ 15 w 147"/>
                <a:gd name="T79" fmla="*/ 112 h 148"/>
                <a:gd name="T80" fmla="*/ 12 w 147"/>
                <a:gd name="T81" fmla="*/ 106 h 148"/>
                <a:gd name="T82" fmla="*/ 8 w 147"/>
                <a:gd name="T83" fmla="*/ 99 h 148"/>
                <a:gd name="T84" fmla="*/ 6 w 147"/>
                <a:gd name="T85" fmla="*/ 93 h 148"/>
                <a:gd name="T86" fmla="*/ 5 w 147"/>
                <a:gd name="T87" fmla="*/ 85 h 148"/>
                <a:gd name="T88" fmla="*/ 4 w 147"/>
                <a:gd name="T89" fmla="*/ 78 h 148"/>
                <a:gd name="T90" fmla="*/ 4 w 147"/>
                <a:gd name="T91" fmla="*/ 70 h 148"/>
                <a:gd name="T92" fmla="*/ 5 w 147"/>
                <a:gd name="T93" fmla="*/ 64 h 148"/>
                <a:gd name="T94" fmla="*/ 6 w 147"/>
                <a:gd name="T95" fmla="*/ 56 h 148"/>
                <a:gd name="T96" fmla="*/ 8 w 147"/>
                <a:gd name="T97" fmla="*/ 50 h 148"/>
                <a:gd name="T98" fmla="*/ 12 w 147"/>
                <a:gd name="T99" fmla="*/ 42 h 148"/>
                <a:gd name="T100" fmla="*/ 15 w 147"/>
                <a:gd name="T101" fmla="*/ 37 h 148"/>
                <a:gd name="T102" fmla="*/ 20 w 147"/>
                <a:gd name="T103" fmla="*/ 30 h 148"/>
                <a:gd name="T104" fmla="*/ 24 w 147"/>
                <a:gd name="T105" fmla="*/ 25 h 148"/>
                <a:gd name="T106" fmla="*/ 30 w 147"/>
                <a:gd name="T107" fmla="*/ 20 h 148"/>
                <a:gd name="T108" fmla="*/ 35 w 147"/>
                <a:gd name="T109" fmla="*/ 16 h 148"/>
                <a:gd name="T110" fmla="*/ 42 w 147"/>
                <a:gd name="T111" fmla="*/ 12 h 148"/>
                <a:gd name="T112" fmla="*/ 48 w 147"/>
                <a:gd name="T113" fmla="*/ 10 h 148"/>
                <a:gd name="T114" fmla="*/ 56 w 147"/>
                <a:gd name="T115" fmla="*/ 7 h 148"/>
                <a:gd name="T116" fmla="*/ 62 w 147"/>
                <a:gd name="T117" fmla="*/ 6 h 148"/>
                <a:gd name="T118" fmla="*/ 70 w 147"/>
                <a:gd name="T119" fmla="*/ 5 h 148"/>
                <a:gd name="T120" fmla="*/ 77 w 147"/>
                <a:gd name="T121" fmla="*/ 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7" h="148">
                  <a:moveTo>
                    <a:pt x="77" y="5"/>
                  </a:moveTo>
                  <a:cubicBezTo>
                    <a:pt x="78" y="9"/>
                    <a:pt x="82" y="10"/>
                    <a:pt x="85" y="6"/>
                  </a:cubicBezTo>
                  <a:cubicBezTo>
                    <a:pt x="87" y="2"/>
                    <a:pt x="90" y="2"/>
                    <a:pt x="91" y="7"/>
                  </a:cubicBezTo>
                  <a:cubicBezTo>
                    <a:pt x="92" y="12"/>
                    <a:pt x="95" y="13"/>
                    <a:pt x="99" y="10"/>
                  </a:cubicBezTo>
                  <a:cubicBezTo>
                    <a:pt x="102" y="6"/>
                    <a:pt x="105" y="7"/>
                    <a:pt x="105" y="12"/>
                  </a:cubicBezTo>
                  <a:cubicBezTo>
                    <a:pt x="105" y="17"/>
                    <a:pt x="108" y="19"/>
                    <a:pt x="112" y="16"/>
                  </a:cubicBezTo>
                  <a:cubicBezTo>
                    <a:pt x="116" y="14"/>
                    <a:pt x="118" y="15"/>
                    <a:pt x="117" y="20"/>
                  </a:cubicBezTo>
                  <a:cubicBezTo>
                    <a:pt x="116" y="25"/>
                    <a:pt x="118" y="27"/>
                    <a:pt x="123" y="25"/>
                  </a:cubicBezTo>
                  <a:cubicBezTo>
                    <a:pt x="128" y="24"/>
                    <a:pt x="129" y="26"/>
                    <a:pt x="127" y="30"/>
                  </a:cubicBezTo>
                  <a:cubicBezTo>
                    <a:pt x="125" y="35"/>
                    <a:pt x="127" y="37"/>
                    <a:pt x="132" y="37"/>
                  </a:cubicBezTo>
                  <a:cubicBezTo>
                    <a:pt x="137" y="36"/>
                    <a:pt x="138" y="39"/>
                    <a:pt x="135" y="42"/>
                  </a:cubicBezTo>
                  <a:cubicBezTo>
                    <a:pt x="132" y="46"/>
                    <a:pt x="134" y="49"/>
                    <a:pt x="139" y="50"/>
                  </a:cubicBezTo>
                  <a:cubicBezTo>
                    <a:pt x="143" y="50"/>
                    <a:pt x="144" y="53"/>
                    <a:pt x="141" y="56"/>
                  </a:cubicBezTo>
                  <a:cubicBezTo>
                    <a:pt x="137" y="59"/>
                    <a:pt x="138" y="63"/>
                    <a:pt x="142" y="64"/>
                  </a:cubicBezTo>
                  <a:cubicBezTo>
                    <a:pt x="147" y="65"/>
                    <a:pt x="147" y="68"/>
                    <a:pt x="143" y="70"/>
                  </a:cubicBezTo>
                  <a:cubicBezTo>
                    <a:pt x="139" y="73"/>
                    <a:pt x="139" y="76"/>
                    <a:pt x="143" y="78"/>
                  </a:cubicBezTo>
                  <a:cubicBezTo>
                    <a:pt x="147" y="81"/>
                    <a:pt x="147" y="84"/>
                    <a:pt x="142" y="85"/>
                  </a:cubicBezTo>
                  <a:cubicBezTo>
                    <a:pt x="138" y="86"/>
                    <a:pt x="137" y="90"/>
                    <a:pt x="141" y="93"/>
                  </a:cubicBezTo>
                  <a:cubicBezTo>
                    <a:pt x="144" y="96"/>
                    <a:pt x="143" y="99"/>
                    <a:pt x="139" y="99"/>
                  </a:cubicBezTo>
                  <a:cubicBezTo>
                    <a:pt x="134" y="99"/>
                    <a:pt x="132" y="103"/>
                    <a:pt x="135" y="106"/>
                  </a:cubicBezTo>
                  <a:cubicBezTo>
                    <a:pt x="138" y="110"/>
                    <a:pt x="137" y="113"/>
                    <a:pt x="132" y="112"/>
                  </a:cubicBezTo>
                  <a:cubicBezTo>
                    <a:pt x="127" y="111"/>
                    <a:pt x="125" y="114"/>
                    <a:pt x="127" y="118"/>
                  </a:cubicBezTo>
                  <a:cubicBezTo>
                    <a:pt x="129" y="123"/>
                    <a:pt x="128" y="125"/>
                    <a:pt x="123" y="123"/>
                  </a:cubicBezTo>
                  <a:cubicBezTo>
                    <a:pt x="118" y="122"/>
                    <a:pt x="116" y="124"/>
                    <a:pt x="117" y="129"/>
                  </a:cubicBezTo>
                  <a:cubicBezTo>
                    <a:pt x="118" y="133"/>
                    <a:pt x="116" y="135"/>
                    <a:pt x="112" y="133"/>
                  </a:cubicBezTo>
                  <a:cubicBezTo>
                    <a:pt x="108" y="130"/>
                    <a:pt x="105" y="132"/>
                    <a:pt x="105" y="137"/>
                  </a:cubicBezTo>
                  <a:cubicBezTo>
                    <a:pt x="105" y="141"/>
                    <a:pt x="102" y="143"/>
                    <a:pt x="99" y="139"/>
                  </a:cubicBezTo>
                  <a:cubicBezTo>
                    <a:pt x="95" y="136"/>
                    <a:pt x="92" y="137"/>
                    <a:pt x="91" y="142"/>
                  </a:cubicBezTo>
                  <a:cubicBezTo>
                    <a:pt x="90" y="146"/>
                    <a:pt x="87" y="147"/>
                    <a:pt x="85" y="143"/>
                  </a:cubicBezTo>
                  <a:cubicBezTo>
                    <a:pt x="82" y="139"/>
                    <a:pt x="78" y="139"/>
                    <a:pt x="77" y="144"/>
                  </a:cubicBezTo>
                  <a:cubicBezTo>
                    <a:pt x="75" y="148"/>
                    <a:pt x="72" y="148"/>
                    <a:pt x="70" y="144"/>
                  </a:cubicBezTo>
                  <a:cubicBezTo>
                    <a:pt x="68" y="139"/>
                    <a:pt x="65" y="139"/>
                    <a:pt x="62" y="143"/>
                  </a:cubicBezTo>
                  <a:cubicBezTo>
                    <a:pt x="60" y="147"/>
                    <a:pt x="57" y="146"/>
                    <a:pt x="56" y="142"/>
                  </a:cubicBezTo>
                  <a:cubicBezTo>
                    <a:pt x="55" y="137"/>
                    <a:pt x="52" y="136"/>
                    <a:pt x="48" y="139"/>
                  </a:cubicBezTo>
                  <a:cubicBezTo>
                    <a:pt x="45" y="143"/>
                    <a:pt x="42" y="141"/>
                    <a:pt x="42" y="137"/>
                  </a:cubicBezTo>
                  <a:cubicBezTo>
                    <a:pt x="42" y="132"/>
                    <a:pt x="39" y="130"/>
                    <a:pt x="35" y="133"/>
                  </a:cubicBezTo>
                  <a:cubicBezTo>
                    <a:pt x="31" y="135"/>
                    <a:pt x="29" y="133"/>
                    <a:pt x="30" y="129"/>
                  </a:cubicBezTo>
                  <a:cubicBezTo>
                    <a:pt x="31" y="124"/>
                    <a:pt x="28" y="122"/>
                    <a:pt x="24" y="123"/>
                  </a:cubicBezTo>
                  <a:cubicBezTo>
                    <a:pt x="19" y="125"/>
                    <a:pt x="18" y="123"/>
                    <a:pt x="20" y="118"/>
                  </a:cubicBezTo>
                  <a:cubicBezTo>
                    <a:pt x="22" y="114"/>
                    <a:pt x="20" y="111"/>
                    <a:pt x="15" y="112"/>
                  </a:cubicBezTo>
                  <a:cubicBezTo>
                    <a:pt x="10" y="113"/>
                    <a:pt x="9" y="110"/>
                    <a:pt x="12" y="106"/>
                  </a:cubicBezTo>
                  <a:cubicBezTo>
                    <a:pt x="15" y="103"/>
                    <a:pt x="13" y="99"/>
                    <a:pt x="8" y="99"/>
                  </a:cubicBezTo>
                  <a:cubicBezTo>
                    <a:pt x="4" y="99"/>
                    <a:pt x="3" y="96"/>
                    <a:pt x="6" y="93"/>
                  </a:cubicBezTo>
                  <a:cubicBezTo>
                    <a:pt x="10" y="90"/>
                    <a:pt x="9" y="86"/>
                    <a:pt x="5" y="85"/>
                  </a:cubicBezTo>
                  <a:cubicBezTo>
                    <a:pt x="0" y="84"/>
                    <a:pt x="0" y="81"/>
                    <a:pt x="4" y="78"/>
                  </a:cubicBezTo>
                  <a:cubicBezTo>
                    <a:pt x="8" y="76"/>
                    <a:pt x="8" y="73"/>
                    <a:pt x="4" y="70"/>
                  </a:cubicBezTo>
                  <a:cubicBezTo>
                    <a:pt x="0" y="68"/>
                    <a:pt x="0" y="65"/>
                    <a:pt x="5" y="64"/>
                  </a:cubicBezTo>
                  <a:cubicBezTo>
                    <a:pt x="9" y="63"/>
                    <a:pt x="10" y="59"/>
                    <a:pt x="6" y="56"/>
                  </a:cubicBezTo>
                  <a:cubicBezTo>
                    <a:pt x="3" y="53"/>
                    <a:pt x="4" y="50"/>
                    <a:pt x="8" y="50"/>
                  </a:cubicBezTo>
                  <a:cubicBezTo>
                    <a:pt x="13" y="49"/>
                    <a:pt x="15" y="46"/>
                    <a:pt x="12" y="42"/>
                  </a:cubicBezTo>
                  <a:cubicBezTo>
                    <a:pt x="9" y="39"/>
                    <a:pt x="10" y="36"/>
                    <a:pt x="15" y="37"/>
                  </a:cubicBezTo>
                  <a:cubicBezTo>
                    <a:pt x="20" y="37"/>
                    <a:pt x="22" y="35"/>
                    <a:pt x="20" y="30"/>
                  </a:cubicBezTo>
                  <a:cubicBezTo>
                    <a:pt x="18" y="26"/>
                    <a:pt x="19" y="24"/>
                    <a:pt x="24" y="25"/>
                  </a:cubicBezTo>
                  <a:cubicBezTo>
                    <a:pt x="28" y="27"/>
                    <a:pt x="31" y="25"/>
                    <a:pt x="30" y="20"/>
                  </a:cubicBezTo>
                  <a:cubicBezTo>
                    <a:pt x="29" y="15"/>
                    <a:pt x="31" y="14"/>
                    <a:pt x="35" y="16"/>
                  </a:cubicBezTo>
                  <a:cubicBezTo>
                    <a:pt x="39" y="19"/>
                    <a:pt x="42" y="17"/>
                    <a:pt x="42" y="12"/>
                  </a:cubicBezTo>
                  <a:cubicBezTo>
                    <a:pt x="42" y="7"/>
                    <a:pt x="45" y="6"/>
                    <a:pt x="48" y="10"/>
                  </a:cubicBezTo>
                  <a:cubicBezTo>
                    <a:pt x="52" y="13"/>
                    <a:pt x="55" y="12"/>
                    <a:pt x="56" y="7"/>
                  </a:cubicBezTo>
                  <a:cubicBezTo>
                    <a:pt x="57" y="2"/>
                    <a:pt x="60" y="2"/>
                    <a:pt x="62" y="6"/>
                  </a:cubicBezTo>
                  <a:cubicBezTo>
                    <a:pt x="65" y="10"/>
                    <a:pt x="68" y="9"/>
                    <a:pt x="70" y="5"/>
                  </a:cubicBezTo>
                  <a:cubicBezTo>
                    <a:pt x="72" y="0"/>
                    <a:pt x="75" y="0"/>
                    <a:pt x="77" y="5"/>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Oval 34">
              <a:extLst>
                <a:ext uri="{FF2B5EF4-FFF2-40B4-BE49-F238E27FC236}">
                  <a16:creationId xmlns:a16="http://schemas.microsoft.com/office/drawing/2014/main" id="{2403C755-EA8C-59AC-4507-3BFFEFB96393}"/>
                </a:ext>
              </a:extLst>
            </p:cNvPr>
            <p:cNvSpPr>
              <a:spLocks noChangeArrowheads="1"/>
            </p:cNvSpPr>
            <p:nvPr/>
          </p:nvSpPr>
          <p:spPr bwMode="auto">
            <a:xfrm>
              <a:off x="7995820" y="4195763"/>
              <a:ext cx="173037" cy="173038"/>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27">
              <a:extLst>
                <a:ext uri="{FF2B5EF4-FFF2-40B4-BE49-F238E27FC236}">
                  <a16:creationId xmlns:a16="http://schemas.microsoft.com/office/drawing/2014/main" id="{DB430178-30F3-6FAB-C162-58F92938D763}"/>
                </a:ext>
              </a:extLst>
            </p:cNvPr>
            <p:cNvSpPr>
              <a:spLocks/>
            </p:cNvSpPr>
            <p:nvPr/>
          </p:nvSpPr>
          <p:spPr bwMode="auto">
            <a:xfrm>
              <a:off x="9090609" y="4242756"/>
              <a:ext cx="227760" cy="286866"/>
            </a:xfrm>
            <a:custGeom>
              <a:avLst/>
              <a:gdLst>
                <a:gd name="connsiteX0" fmla="*/ 5700 w 227760"/>
                <a:gd name="connsiteY0" fmla="*/ 256220 h 286866"/>
                <a:gd name="connsiteX1" fmla="*/ 46622 w 227760"/>
                <a:gd name="connsiteY1" fmla="*/ 281224 h 286866"/>
                <a:gd name="connsiteX2" fmla="*/ 17636 w 227760"/>
                <a:gd name="connsiteY2" fmla="*/ 281224 h 286866"/>
                <a:gd name="connsiteX3" fmla="*/ 5700 w 227760"/>
                <a:gd name="connsiteY3" fmla="*/ 256220 h 286866"/>
                <a:gd name="connsiteX4" fmla="*/ 9256 w 227760"/>
                <a:gd name="connsiteY4" fmla="*/ 235696 h 286866"/>
                <a:gd name="connsiteX5" fmla="*/ 63963 w 227760"/>
                <a:gd name="connsiteY5" fmla="*/ 269714 h 286866"/>
                <a:gd name="connsiteX6" fmla="*/ 65673 w 227760"/>
                <a:gd name="connsiteY6" fmla="*/ 276518 h 286866"/>
                <a:gd name="connsiteX7" fmla="*/ 63963 w 227760"/>
                <a:gd name="connsiteY7" fmla="*/ 278218 h 286866"/>
                <a:gd name="connsiteX8" fmla="*/ 57125 w 227760"/>
                <a:gd name="connsiteY8" fmla="*/ 279919 h 286866"/>
                <a:gd name="connsiteX9" fmla="*/ 2417 w 227760"/>
                <a:gd name="connsiteY9" fmla="*/ 245901 h 286866"/>
                <a:gd name="connsiteX10" fmla="*/ 708 w 227760"/>
                <a:gd name="connsiteY10" fmla="*/ 239097 h 286866"/>
                <a:gd name="connsiteX11" fmla="*/ 2417 w 227760"/>
                <a:gd name="connsiteY11" fmla="*/ 237397 h 286866"/>
                <a:gd name="connsiteX12" fmla="*/ 9256 w 227760"/>
                <a:gd name="connsiteY12" fmla="*/ 235696 h 286866"/>
                <a:gd name="connsiteX13" fmla="*/ 20123 w 227760"/>
                <a:gd name="connsiteY13" fmla="*/ 218233 h 286866"/>
                <a:gd name="connsiteX14" fmla="*/ 73528 w 227760"/>
                <a:gd name="connsiteY14" fmla="*/ 252251 h 286866"/>
                <a:gd name="connsiteX15" fmla="*/ 75197 w 227760"/>
                <a:gd name="connsiteY15" fmla="*/ 259055 h 286866"/>
                <a:gd name="connsiteX16" fmla="*/ 73528 w 227760"/>
                <a:gd name="connsiteY16" fmla="*/ 262456 h 286866"/>
                <a:gd name="connsiteX17" fmla="*/ 66853 w 227760"/>
                <a:gd name="connsiteY17" fmla="*/ 264157 h 286866"/>
                <a:gd name="connsiteX18" fmla="*/ 13448 w 227760"/>
                <a:gd name="connsiteY18" fmla="*/ 230139 h 286866"/>
                <a:gd name="connsiteX19" fmla="*/ 11779 w 227760"/>
                <a:gd name="connsiteY19" fmla="*/ 223335 h 286866"/>
                <a:gd name="connsiteX20" fmla="*/ 13448 w 227760"/>
                <a:gd name="connsiteY20" fmla="*/ 219934 h 286866"/>
                <a:gd name="connsiteX21" fmla="*/ 20123 w 227760"/>
                <a:gd name="connsiteY21" fmla="*/ 218233 h 286866"/>
                <a:gd name="connsiteX22" fmla="*/ 29648 w 227760"/>
                <a:gd name="connsiteY22" fmla="*/ 203889 h 286866"/>
                <a:gd name="connsiteX23" fmla="*/ 83053 w 227760"/>
                <a:gd name="connsiteY23" fmla="*/ 236773 h 286866"/>
                <a:gd name="connsiteX24" fmla="*/ 84722 w 227760"/>
                <a:gd name="connsiteY24" fmla="*/ 243350 h 286866"/>
                <a:gd name="connsiteX25" fmla="*/ 83053 w 227760"/>
                <a:gd name="connsiteY25" fmla="*/ 244994 h 286866"/>
                <a:gd name="connsiteX26" fmla="*/ 76378 w 227760"/>
                <a:gd name="connsiteY26" fmla="*/ 246639 h 286866"/>
                <a:gd name="connsiteX27" fmla="*/ 22973 w 227760"/>
                <a:gd name="connsiteY27" fmla="*/ 213754 h 286866"/>
                <a:gd name="connsiteX28" fmla="*/ 21304 w 227760"/>
                <a:gd name="connsiteY28" fmla="*/ 207177 h 286866"/>
                <a:gd name="connsiteX29" fmla="*/ 22973 w 227760"/>
                <a:gd name="connsiteY29" fmla="*/ 205533 h 286866"/>
                <a:gd name="connsiteX30" fmla="*/ 29648 w 227760"/>
                <a:gd name="connsiteY30" fmla="*/ 203889 h 286866"/>
                <a:gd name="connsiteX31" fmla="*/ 153786 w 227760"/>
                <a:gd name="connsiteY31" fmla="*/ 1093 h 286866"/>
                <a:gd name="connsiteX32" fmla="*/ 186297 w 227760"/>
                <a:gd name="connsiteY32" fmla="*/ 13202 h 286866"/>
                <a:gd name="connsiteX33" fmla="*/ 213297 w 227760"/>
                <a:gd name="connsiteY33" fmla="*/ 136185 h 286866"/>
                <a:gd name="connsiteX34" fmla="*/ 181235 w 227760"/>
                <a:gd name="connsiteY34" fmla="*/ 166509 h 286866"/>
                <a:gd name="connsiteX35" fmla="*/ 110360 w 227760"/>
                <a:gd name="connsiteY35" fmla="*/ 220420 h 286866"/>
                <a:gd name="connsiteX36" fmla="*/ 81672 w 227760"/>
                <a:gd name="connsiteY36" fmla="*/ 227158 h 286866"/>
                <a:gd name="connsiteX37" fmla="*/ 59735 w 227760"/>
                <a:gd name="connsiteY37" fmla="*/ 213681 h 286866"/>
                <a:gd name="connsiteX38" fmla="*/ 37797 w 227760"/>
                <a:gd name="connsiteY38" fmla="*/ 201888 h 286866"/>
                <a:gd name="connsiteX39" fmla="*/ 32735 w 227760"/>
                <a:gd name="connsiteY39" fmla="*/ 171563 h 286866"/>
                <a:gd name="connsiteX40" fmla="*/ 49610 w 227760"/>
                <a:gd name="connsiteY40" fmla="*/ 85644 h 286866"/>
                <a:gd name="connsiteX41" fmla="*/ 64797 w 227760"/>
                <a:gd name="connsiteY41" fmla="*/ 41842 h 286866"/>
                <a:gd name="connsiteX42" fmla="*/ 153786 w 227760"/>
                <a:gd name="connsiteY42" fmla="*/ 1093 h 28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27760" h="286866">
                  <a:moveTo>
                    <a:pt x="5700" y="256220"/>
                  </a:moveTo>
                  <a:cubicBezTo>
                    <a:pt x="46622" y="281224"/>
                    <a:pt x="46622" y="281224"/>
                    <a:pt x="46622" y="281224"/>
                  </a:cubicBezTo>
                  <a:cubicBezTo>
                    <a:pt x="41507" y="289558"/>
                    <a:pt x="26161" y="287891"/>
                    <a:pt x="17636" y="281224"/>
                  </a:cubicBezTo>
                  <a:cubicBezTo>
                    <a:pt x="7405" y="276223"/>
                    <a:pt x="585" y="264555"/>
                    <a:pt x="5700" y="256220"/>
                  </a:cubicBezTo>
                  <a:close/>
                  <a:moveTo>
                    <a:pt x="9256" y="235696"/>
                  </a:moveTo>
                  <a:cubicBezTo>
                    <a:pt x="9256" y="235696"/>
                    <a:pt x="9256" y="235696"/>
                    <a:pt x="63963" y="269714"/>
                  </a:cubicBezTo>
                  <a:cubicBezTo>
                    <a:pt x="65673" y="271415"/>
                    <a:pt x="65673" y="273116"/>
                    <a:pt x="65673" y="276518"/>
                  </a:cubicBezTo>
                  <a:cubicBezTo>
                    <a:pt x="65673" y="276518"/>
                    <a:pt x="65673" y="276518"/>
                    <a:pt x="63963" y="278218"/>
                  </a:cubicBezTo>
                  <a:cubicBezTo>
                    <a:pt x="62254" y="281620"/>
                    <a:pt x="58835" y="281620"/>
                    <a:pt x="57125" y="279919"/>
                  </a:cubicBezTo>
                  <a:cubicBezTo>
                    <a:pt x="57125" y="279919"/>
                    <a:pt x="57125" y="279919"/>
                    <a:pt x="2417" y="245901"/>
                  </a:cubicBezTo>
                  <a:cubicBezTo>
                    <a:pt x="708" y="244200"/>
                    <a:pt x="-1002" y="240798"/>
                    <a:pt x="708" y="239097"/>
                  </a:cubicBezTo>
                  <a:cubicBezTo>
                    <a:pt x="708" y="239097"/>
                    <a:pt x="708" y="239097"/>
                    <a:pt x="2417" y="237397"/>
                  </a:cubicBezTo>
                  <a:cubicBezTo>
                    <a:pt x="4127" y="233995"/>
                    <a:pt x="7546" y="233995"/>
                    <a:pt x="9256" y="235696"/>
                  </a:cubicBezTo>
                  <a:close/>
                  <a:moveTo>
                    <a:pt x="20123" y="218233"/>
                  </a:moveTo>
                  <a:cubicBezTo>
                    <a:pt x="20123" y="218233"/>
                    <a:pt x="20123" y="218233"/>
                    <a:pt x="73528" y="252251"/>
                  </a:cubicBezTo>
                  <a:cubicBezTo>
                    <a:pt x="75197" y="253951"/>
                    <a:pt x="75197" y="257354"/>
                    <a:pt x="75197" y="259055"/>
                  </a:cubicBezTo>
                  <a:cubicBezTo>
                    <a:pt x="75197" y="259055"/>
                    <a:pt x="75197" y="259055"/>
                    <a:pt x="73528" y="262456"/>
                  </a:cubicBezTo>
                  <a:cubicBezTo>
                    <a:pt x="71859" y="264157"/>
                    <a:pt x="68521" y="264157"/>
                    <a:pt x="66853" y="264157"/>
                  </a:cubicBezTo>
                  <a:cubicBezTo>
                    <a:pt x="66853" y="264157"/>
                    <a:pt x="66853" y="264157"/>
                    <a:pt x="13448" y="230139"/>
                  </a:cubicBezTo>
                  <a:cubicBezTo>
                    <a:pt x="11779" y="228438"/>
                    <a:pt x="10110" y="225036"/>
                    <a:pt x="11779" y="223335"/>
                  </a:cubicBezTo>
                  <a:cubicBezTo>
                    <a:pt x="11779" y="223335"/>
                    <a:pt x="11779" y="223335"/>
                    <a:pt x="13448" y="219934"/>
                  </a:cubicBezTo>
                  <a:cubicBezTo>
                    <a:pt x="15117" y="218233"/>
                    <a:pt x="18454" y="216532"/>
                    <a:pt x="20123" y="218233"/>
                  </a:cubicBezTo>
                  <a:close/>
                  <a:moveTo>
                    <a:pt x="29648" y="203889"/>
                  </a:moveTo>
                  <a:cubicBezTo>
                    <a:pt x="29648" y="203889"/>
                    <a:pt x="29648" y="203889"/>
                    <a:pt x="83053" y="236773"/>
                  </a:cubicBezTo>
                  <a:cubicBezTo>
                    <a:pt x="84722" y="238417"/>
                    <a:pt x="84722" y="240062"/>
                    <a:pt x="84722" y="243350"/>
                  </a:cubicBezTo>
                  <a:cubicBezTo>
                    <a:pt x="84722" y="243350"/>
                    <a:pt x="84722" y="243350"/>
                    <a:pt x="83053" y="244994"/>
                  </a:cubicBezTo>
                  <a:cubicBezTo>
                    <a:pt x="81384" y="246639"/>
                    <a:pt x="78046" y="248283"/>
                    <a:pt x="76378" y="246639"/>
                  </a:cubicBezTo>
                  <a:cubicBezTo>
                    <a:pt x="76378" y="246639"/>
                    <a:pt x="76378" y="246639"/>
                    <a:pt x="22973" y="213754"/>
                  </a:cubicBezTo>
                  <a:cubicBezTo>
                    <a:pt x="21304" y="212110"/>
                    <a:pt x="19635" y="208822"/>
                    <a:pt x="21304" y="207177"/>
                  </a:cubicBezTo>
                  <a:cubicBezTo>
                    <a:pt x="21304" y="207177"/>
                    <a:pt x="21304" y="207177"/>
                    <a:pt x="22973" y="205533"/>
                  </a:cubicBezTo>
                  <a:cubicBezTo>
                    <a:pt x="24642" y="202245"/>
                    <a:pt x="27979" y="202245"/>
                    <a:pt x="29648" y="203889"/>
                  </a:cubicBezTo>
                  <a:close/>
                  <a:moveTo>
                    <a:pt x="153786" y="1093"/>
                  </a:moveTo>
                  <a:cubicBezTo>
                    <a:pt x="165098" y="2883"/>
                    <a:pt x="176172" y="6885"/>
                    <a:pt x="186297" y="13202"/>
                  </a:cubicBezTo>
                  <a:cubicBezTo>
                    <a:pt x="228485" y="40157"/>
                    <a:pt x="240297" y="94067"/>
                    <a:pt x="213297" y="136185"/>
                  </a:cubicBezTo>
                  <a:cubicBezTo>
                    <a:pt x="204860" y="149662"/>
                    <a:pt x="193047" y="159771"/>
                    <a:pt x="181235" y="166509"/>
                  </a:cubicBezTo>
                  <a:cubicBezTo>
                    <a:pt x="140735" y="188410"/>
                    <a:pt x="123860" y="203573"/>
                    <a:pt x="110360" y="220420"/>
                  </a:cubicBezTo>
                  <a:cubicBezTo>
                    <a:pt x="98547" y="233897"/>
                    <a:pt x="91797" y="235582"/>
                    <a:pt x="81672" y="227158"/>
                  </a:cubicBezTo>
                  <a:cubicBezTo>
                    <a:pt x="76610" y="225474"/>
                    <a:pt x="68172" y="220420"/>
                    <a:pt x="59735" y="213681"/>
                  </a:cubicBezTo>
                  <a:cubicBezTo>
                    <a:pt x="51297" y="208627"/>
                    <a:pt x="42860" y="203573"/>
                    <a:pt x="37797" y="201888"/>
                  </a:cubicBezTo>
                  <a:cubicBezTo>
                    <a:pt x="27672" y="193464"/>
                    <a:pt x="25985" y="188410"/>
                    <a:pt x="32735" y="171563"/>
                  </a:cubicBezTo>
                  <a:cubicBezTo>
                    <a:pt x="41172" y="151347"/>
                    <a:pt x="47922" y="129446"/>
                    <a:pt x="49610" y="85644"/>
                  </a:cubicBezTo>
                  <a:cubicBezTo>
                    <a:pt x="51297" y="70482"/>
                    <a:pt x="54672" y="55320"/>
                    <a:pt x="64797" y="41842"/>
                  </a:cubicBezTo>
                  <a:cubicBezTo>
                    <a:pt x="83782" y="10254"/>
                    <a:pt x="119852" y="-4276"/>
                    <a:pt x="153786" y="1093"/>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9" name="Freeform 28">
              <a:extLst>
                <a:ext uri="{FF2B5EF4-FFF2-40B4-BE49-F238E27FC236}">
                  <a16:creationId xmlns:a16="http://schemas.microsoft.com/office/drawing/2014/main" id="{158AC491-38E2-0742-FFB5-41754F941FD0}"/>
                </a:ext>
              </a:extLst>
            </p:cNvPr>
            <p:cNvSpPr>
              <a:spLocks/>
            </p:cNvSpPr>
            <p:nvPr/>
          </p:nvSpPr>
          <p:spPr bwMode="auto">
            <a:xfrm>
              <a:off x="9591320" y="4184651"/>
              <a:ext cx="180912" cy="208545"/>
            </a:xfrm>
            <a:custGeom>
              <a:avLst/>
              <a:gdLst>
                <a:gd name="connsiteX0" fmla="*/ 120673 w 180912"/>
                <a:gd name="connsiteY0" fmla="*/ 44450 h 208545"/>
                <a:gd name="connsiteX1" fmla="*/ 180912 w 180912"/>
                <a:gd name="connsiteY1" fmla="*/ 96615 h 208545"/>
                <a:gd name="connsiteX2" fmla="*/ 119000 w 180912"/>
                <a:gd name="connsiteY2" fmla="*/ 89884 h 208545"/>
                <a:gd name="connsiteX3" fmla="*/ 83860 w 180912"/>
                <a:gd name="connsiteY3" fmla="*/ 184118 h 208545"/>
                <a:gd name="connsiteX4" fmla="*/ 83860 w 180912"/>
                <a:gd name="connsiteY4" fmla="*/ 185801 h 208545"/>
                <a:gd name="connsiteX5" fmla="*/ 82187 w 180912"/>
                <a:gd name="connsiteY5" fmla="*/ 187484 h 208545"/>
                <a:gd name="connsiteX6" fmla="*/ 30314 w 180912"/>
                <a:gd name="connsiteY6" fmla="*/ 205994 h 208545"/>
                <a:gd name="connsiteX7" fmla="*/ 1868 w 180912"/>
                <a:gd name="connsiteY7" fmla="*/ 158877 h 208545"/>
                <a:gd name="connsiteX8" fmla="*/ 53741 w 180912"/>
                <a:gd name="connsiteY8" fmla="*/ 140367 h 208545"/>
                <a:gd name="connsiteX9" fmla="*/ 78840 w 180912"/>
                <a:gd name="connsiteY9" fmla="*/ 158877 h 208545"/>
                <a:gd name="connsiteX10" fmla="*/ 120673 w 180912"/>
                <a:gd name="connsiteY10" fmla="*/ 44450 h 208545"/>
                <a:gd name="connsiteX11" fmla="*/ 96315 w 180912"/>
                <a:gd name="connsiteY11" fmla="*/ 0 h 208545"/>
                <a:gd name="connsiteX12" fmla="*/ 130113 w 180912"/>
                <a:gd name="connsiteY12" fmla="*/ 30162 h 208545"/>
                <a:gd name="connsiteX13" fmla="*/ 114904 w 180912"/>
                <a:gd name="connsiteY13" fmla="*/ 31838 h 208545"/>
                <a:gd name="connsiteX14" fmla="*/ 96315 w 180912"/>
                <a:gd name="connsiteY14" fmla="*/ 25135 h 208545"/>
                <a:gd name="connsiteX15" fmla="*/ 76036 w 180912"/>
                <a:gd name="connsiteY15" fmla="*/ 78758 h 208545"/>
                <a:gd name="connsiteX16" fmla="*/ 55757 w 180912"/>
                <a:gd name="connsiteY16" fmla="*/ 90488 h 208545"/>
                <a:gd name="connsiteX17" fmla="*/ 45617 w 180912"/>
                <a:gd name="connsiteY17" fmla="*/ 88813 h 208545"/>
                <a:gd name="connsiteX18" fmla="*/ 28718 w 180912"/>
                <a:gd name="connsiteY18" fmla="*/ 63677 h 208545"/>
                <a:gd name="connsiteX19" fmla="*/ 48997 w 180912"/>
                <a:gd name="connsiteY19" fmla="*/ 51947 h 208545"/>
                <a:gd name="connsiteX20" fmla="*/ 59136 w 180912"/>
                <a:gd name="connsiteY20" fmla="*/ 53623 h 208545"/>
                <a:gd name="connsiteX21" fmla="*/ 72656 w 180912"/>
                <a:gd name="connsiteY21" fmla="*/ 63677 h 208545"/>
                <a:gd name="connsiteX22" fmla="*/ 96315 w 180912"/>
                <a:gd name="connsiteY22" fmla="*/ 0 h 2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0912" h="208545">
                  <a:moveTo>
                    <a:pt x="120673" y="44450"/>
                  </a:moveTo>
                  <a:cubicBezTo>
                    <a:pt x="122346" y="52864"/>
                    <a:pt x="140753" y="93250"/>
                    <a:pt x="180912" y="96615"/>
                  </a:cubicBezTo>
                  <a:cubicBezTo>
                    <a:pt x="180912" y="96615"/>
                    <a:pt x="145773" y="113443"/>
                    <a:pt x="119000" y="89884"/>
                  </a:cubicBezTo>
                  <a:cubicBezTo>
                    <a:pt x="119000" y="89884"/>
                    <a:pt x="119000" y="89884"/>
                    <a:pt x="83860" y="184118"/>
                  </a:cubicBezTo>
                  <a:cubicBezTo>
                    <a:pt x="83860" y="184118"/>
                    <a:pt x="83860" y="184118"/>
                    <a:pt x="83860" y="185801"/>
                  </a:cubicBezTo>
                  <a:cubicBezTo>
                    <a:pt x="83860" y="185801"/>
                    <a:pt x="83860" y="185801"/>
                    <a:pt x="82187" y="187484"/>
                  </a:cubicBezTo>
                  <a:cubicBezTo>
                    <a:pt x="75494" y="205994"/>
                    <a:pt x="52067" y="212725"/>
                    <a:pt x="30314" y="205994"/>
                  </a:cubicBezTo>
                  <a:cubicBezTo>
                    <a:pt x="6888" y="197580"/>
                    <a:pt x="-4825" y="175705"/>
                    <a:pt x="1868" y="158877"/>
                  </a:cubicBezTo>
                  <a:cubicBezTo>
                    <a:pt x="8561" y="140367"/>
                    <a:pt x="31988" y="131953"/>
                    <a:pt x="53741" y="140367"/>
                  </a:cubicBezTo>
                  <a:cubicBezTo>
                    <a:pt x="65454" y="143732"/>
                    <a:pt x="73820" y="150463"/>
                    <a:pt x="78840" y="158877"/>
                  </a:cubicBezTo>
                  <a:cubicBezTo>
                    <a:pt x="78840" y="158877"/>
                    <a:pt x="78840" y="158877"/>
                    <a:pt x="120673" y="44450"/>
                  </a:cubicBezTo>
                  <a:close/>
                  <a:moveTo>
                    <a:pt x="96315" y="0"/>
                  </a:moveTo>
                  <a:cubicBezTo>
                    <a:pt x="98005" y="5027"/>
                    <a:pt x="108144" y="26811"/>
                    <a:pt x="130113" y="30162"/>
                  </a:cubicBezTo>
                  <a:cubicBezTo>
                    <a:pt x="130113" y="30162"/>
                    <a:pt x="123353" y="31838"/>
                    <a:pt x="114904" y="31838"/>
                  </a:cubicBezTo>
                  <a:cubicBezTo>
                    <a:pt x="109834" y="31838"/>
                    <a:pt x="103074" y="30162"/>
                    <a:pt x="96315" y="25135"/>
                  </a:cubicBezTo>
                  <a:cubicBezTo>
                    <a:pt x="96315" y="25135"/>
                    <a:pt x="96315" y="25135"/>
                    <a:pt x="76036" y="78758"/>
                  </a:cubicBezTo>
                  <a:cubicBezTo>
                    <a:pt x="72656" y="87137"/>
                    <a:pt x="64206" y="90488"/>
                    <a:pt x="55757" y="90488"/>
                  </a:cubicBezTo>
                  <a:cubicBezTo>
                    <a:pt x="52377" y="90488"/>
                    <a:pt x="48997" y="90488"/>
                    <a:pt x="45617" y="88813"/>
                  </a:cubicBezTo>
                  <a:cubicBezTo>
                    <a:pt x="33788" y="85461"/>
                    <a:pt x="25338" y="73731"/>
                    <a:pt x="28718" y="63677"/>
                  </a:cubicBezTo>
                  <a:cubicBezTo>
                    <a:pt x="32098" y="56974"/>
                    <a:pt x="40547" y="51947"/>
                    <a:pt x="48997" y="51947"/>
                  </a:cubicBezTo>
                  <a:cubicBezTo>
                    <a:pt x="52377" y="51947"/>
                    <a:pt x="55757" y="51947"/>
                    <a:pt x="59136" y="53623"/>
                  </a:cubicBezTo>
                  <a:cubicBezTo>
                    <a:pt x="65896" y="55298"/>
                    <a:pt x="69276" y="58650"/>
                    <a:pt x="72656" y="63677"/>
                  </a:cubicBezTo>
                  <a:cubicBezTo>
                    <a:pt x="72656" y="63677"/>
                    <a:pt x="72656" y="63677"/>
                    <a:pt x="96315" y="0"/>
                  </a:cubicBez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0" name="Freeform 29">
              <a:extLst>
                <a:ext uri="{FF2B5EF4-FFF2-40B4-BE49-F238E27FC236}">
                  <a16:creationId xmlns:a16="http://schemas.microsoft.com/office/drawing/2014/main" id="{99E98148-AAF1-D029-A8A9-5E928CC66A73}"/>
                </a:ext>
              </a:extLst>
            </p:cNvPr>
            <p:cNvSpPr>
              <a:spLocks/>
            </p:cNvSpPr>
            <p:nvPr/>
          </p:nvSpPr>
          <p:spPr bwMode="auto">
            <a:xfrm>
              <a:off x="9748341" y="4619626"/>
              <a:ext cx="152478" cy="213099"/>
            </a:xfrm>
            <a:custGeom>
              <a:avLst/>
              <a:gdLst>
                <a:gd name="connsiteX0" fmla="*/ 74889 w 152478"/>
                <a:gd name="connsiteY0" fmla="*/ 28575 h 213099"/>
                <a:gd name="connsiteX1" fmla="*/ 152478 w 152478"/>
                <a:gd name="connsiteY1" fmla="*/ 47139 h 213099"/>
                <a:gd name="connsiteX2" fmla="*/ 93443 w 152478"/>
                <a:gd name="connsiteY2" fmla="*/ 69078 h 213099"/>
                <a:gd name="connsiteX3" fmla="*/ 105250 w 152478"/>
                <a:gd name="connsiteY3" fmla="*/ 170335 h 213099"/>
                <a:gd name="connsiteX4" fmla="*/ 105250 w 152478"/>
                <a:gd name="connsiteY4" fmla="*/ 172022 h 213099"/>
                <a:gd name="connsiteX5" fmla="*/ 106937 w 152478"/>
                <a:gd name="connsiteY5" fmla="*/ 172022 h 213099"/>
                <a:gd name="connsiteX6" fmla="*/ 66456 w 152478"/>
                <a:gd name="connsiteY6" fmla="*/ 212525 h 213099"/>
                <a:gd name="connsiteX7" fmla="*/ 19228 w 152478"/>
                <a:gd name="connsiteY7" fmla="*/ 185523 h 213099"/>
                <a:gd name="connsiteX8" fmla="*/ 59709 w 152478"/>
                <a:gd name="connsiteY8" fmla="*/ 145021 h 213099"/>
                <a:gd name="connsiteX9" fmla="*/ 90070 w 152478"/>
                <a:gd name="connsiteY9" fmla="*/ 150083 h 213099"/>
                <a:gd name="connsiteX10" fmla="*/ 74889 w 152478"/>
                <a:gd name="connsiteY10" fmla="*/ 28575 h 213099"/>
                <a:gd name="connsiteX11" fmla="*/ 30664 w 152478"/>
                <a:gd name="connsiteY11" fmla="*/ 0 h 213099"/>
                <a:gd name="connsiteX12" fmla="*/ 61144 w 152478"/>
                <a:gd name="connsiteY12" fmla="*/ 11841 h 213099"/>
                <a:gd name="connsiteX13" fmla="*/ 74691 w 152478"/>
                <a:gd name="connsiteY13" fmla="*/ 10149 h 213099"/>
                <a:gd name="connsiteX14" fmla="*/ 49291 w 152478"/>
                <a:gd name="connsiteY14" fmla="*/ 23682 h 213099"/>
                <a:gd name="connsiteX15" fmla="*/ 40824 w 152478"/>
                <a:gd name="connsiteY15" fmla="*/ 21991 h 213099"/>
                <a:gd name="connsiteX16" fmla="*/ 47598 w 152478"/>
                <a:gd name="connsiteY16" fmla="*/ 79506 h 213099"/>
                <a:gd name="connsiteX17" fmla="*/ 49291 w 152478"/>
                <a:gd name="connsiteY17" fmla="*/ 79506 h 213099"/>
                <a:gd name="connsiteX18" fmla="*/ 27278 w 152478"/>
                <a:gd name="connsiteY18" fmla="*/ 103188 h 213099"/>
                <a:gd name="connsiteX19" fmla="*/ 22198 w 152478"/>
                <a:gd name="connsiteY19" fmla="*/ 103188 h 213099"/>
                <a:gd name="connsiteX20" fmla="*/ 184 w 152478"/>
                <a:gd name="connsiteY20" fmla="*/ 86272 h 213099"/>
                <a:gd name="connsiteX21" fmla="*/ 22198 w 152478"/>
                <a:gd name="connsiteY21" fmla="*/ 64281 h 213099"/>
                <a:gd name="connsiteX22" fmla="*/ 25584 w 152478"/>
                <a:gd name="connsiteY22" fmla="*/ 64281 h 213099"/>
                <a:gd name="connsiteX23" fmla="*/ 39131 w 152478"/>
                <a:gd name="connsiteY23" fmla="*/ 67665 h 213099"/>
                <a:gd name="connsiteX24" fmla="*/ 30664 w 152478"/>
                <a:gd name="connsiteY24" fmla="*/ 0 h 213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78" h="213099">
                  <a:moveTo>
                    <a:pt x="74889" y="28575"/>
                  </a:moveTo>
                  <a:cubicBezTo>
                    <a:pt x="78263" y="35326"/>
                    <a:pt x="115370" y="62328"/>
                    <a:pt x="152478" y="47139"/>
                  </a:cubicBezTo>
                  <a:cubicBezTo>
                    <a:pt x="152478" y="47139"/>
                    <a:pt x="128864" y="77516"/>
                    <a:pt x="93443" y="69078"/>
                  </a:cubicBezTo>
                  <a:cubicBezTo>
                    <a:pt x="93443" y="69078"/>
                    <a:pt x="93443" y="69078"/>
                    <a:pt x="105250" y="170335"/>
                  </a:cubicBezTo>
                  <a:cubicBezTo>
                    <a:pt x="105250" y="170335"/>
                    <a:pt x="105250" y="170335"/>
                    <a:pt x="105250" y="172022"/>
                  </a:cubicBezTo>
                  <a:cubicBezTo>
                    <a:pt x="105250" y="172022"/>
                    <a:pt x="105250" y="172022"/>
                    <a:pt x="106937" y="172022"/>
                  </a:cubicBezTo>
                  <a:cubicBezTo>
                    <a:pt x="108623" y="192274"/>
                    <a:pt x="91756" y="209150"/>
                    <a:pt x="66456" y="212525"/>
                  </a:cubicBezTo>
                  <a:cubicBezTo>
                    <a:pt x="42842" y="215900"/>
                    <a:pt x="22601" y="204087"/>
                    <a:pt x="19228" y="185523"/>
                  </a:cubicBezTo>
                  <a:cubicBezTo>
                    <a:pt x="17541" y="165272"/>
                    <a:pt x="34408" y="148396"/>
                    <a:pt x="59709" y="145021"/>
                  </a:cubicBezTo>
                  <a:cubicBezTo>
                    <a:pt x="69829" y="143333"/>
                    <a:pt x="81636" y="145021"/>
                    <a:pt x="90070" y="150083"/>
                  </a:cubicBezTo>
                  <a:cubicBezTo>
                    <a:pt x="90070" y="150083"/>
                    <a:pt x="90070" y="150083"/>
                    <a:pt x="74889" y="28575"/>
                  </a:cubicBezTo>
                  <a:close/>
                  <a:moveTo>
                    <a:pt x="30664" y="0"/>
                  </a:moveTo>
                  <a:cubicBezTo>
                    <a:pt x="32358" y="1691"/>
                    <a:pt x="45904" y="11841"/>
                    <a:pt x="61144" y="11841"/>
                  </a:cubicBezTo>
                  <a:cubicBezTo>
                    <a:pt x="66224" y="11841"/>
                    <a:pt x="69611" y="11841"/>
                    <a:pt x="74691" y="10149"/>
                  </a:cubicBezTo>
                  <a:cubicBezTo>
                    <a:pt x="74691" y="10149"/>
                    <a:pt x="64531" y="23682"/>
                    <a:pt x="49291" y="23682"/>
                  </a:cubicBezTo>
                  <a:cubicBezTo>
                    <a:pt x="45904" y="23682"/>
                    <a:pt x="44211" y="21991"/>
                    <a:pt x="40824" y="21991"/>
                  </a:cubicBezTo>
                  <a:cubicBezTo>
                    <a:pt x="40824" y="21991"/>
                    <a:pt x="40824" y="21991"/>
                    <a:pt x="47598" y="79506"/>
                  </a:cubicBezTo>
                  <a:cubicBezTo>
                    <a:pt x="47598" y="79506"/>
                    <a:pt x="47598" y="79506"/>
                    <a:pt x="49291" y="79506"/>
                  </a:cubicBezTo>
                  <a:cubicBezTo>
                    <a:pt x="49291" y="91347"/>
                    <a:pt x="40824" y="101497"/>
                    <a:pt x="27278" y="103188"/>
                  </a:cubicBezTo>
                  <a:cubicBezTo>
                    <a:pt x="25584" y="103188"/>
                    <a:pt x="23891" y="103188"/>
                    <a:pt x="22198" y="103188"/>
                  </a:cubicBezTo>
                  <a:cubicBezTo>
                    <a:pt x="10344" y="103188"/>
                    <a:pt x="1878" y="96422"/>
                    <a:pt x="184" y="86272"/>
                  </a:cubicBezTo>
                  <a:cubicBezTo>
                    <a:pt x="-1509" y="76123"/>
                    <a:pt x="8651" y="65973"/>
                    <a:pt x="22198" y="64281"/>
                  </a:cubicBezTo>
                  <a:cubicBezTo>
                    <a:pt x="23891" y="64281"/>
                    <a:pt x="25584" y="64281"/>
                    <a:pt x="25584" y="64281"/>
                  </a:cubicBezTo>
                  <a:cubicBezTo>
                    <a:pt x="30664" y="64281"/>
                    <a:pt x="35744" y="65973"/>
                    <a:pt x="39131" y="67665"/>
                  </a:cubicBezTo>
                  <a:cubicBezTo>
                    <a:pt x="39131" y="67665"/>
                    <a:pt x="39131" y="67665"/>
                    <a:pt x="30664"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1" name="Freeform 46">
              <a:extLst>
                <a:ext uri="{FF2B5EF4-FFF2-40B4-BE49-F238E27FC236}">
                  <a16:creationId xmlns:a16="http://schemas.microsoft.com/office/drawing/2014/main" id="{AE21D264-472B-EFDD-87AB-6E1836A5EF73}"/>
                </a:ext>
              </a:extLst>
            </p:cNvPr>
            <p:cNvSpPr>
              <a:spLocks/>
            </p:cNvSpPr>
            <p:nvPr/>
          </p:nvSpPr>
          <p:spPr bwMode="auto">
            <a:xfrm>
              <a:off x="8383170" y="4705351"/>
              <a:ext cx="95250" cy="136525"/>
            </a:xfrm>
            <a:custGeom>
              <a:avLst/>
              <a:gdLst>
                <a:gd name="T0" fmla="*/ 24 w 60"/>
                <a:gd name="T1" fmla="*/ 22 h 86"/>
                <a:gd name="T2" fmla="*/ 27 w 60"/>
                <a:gd name="T3" fmla="*/ 35 h 86"/>
                <a:gd name="T4" fmla="*/ 49 w 60"/>
                <a:gd name="T5" fmla="*/ 30 h 86"/>
                <a:gd name="T6" fmla="*/ 52 w 60"/>
                <a:gd name="T7" fmla="*/ 47 h 86"/>
                <a:gd name="T8" fmla="*/ 30 w 60"/>
                <a:gd name="T9" fmla="*/ 51 h 86"/>
                <a:gd name="T10" fmla="*/ 33 w 60"/>
                <a:gd name="T11" fmla="*/ 65 h 86"/>
                <a:gd name="T12" fmla="*/ 56 w 60"/>
                <a:gd name="T13" fmla="*/ 59 h 86"/>
                <a:gd name="T14" fmla="*/ 60 w 60"/>
                <a:gd name="T15" fmla="*/ 76 h 86"/>
                <a:gd name="T16" fmla="*/ 17 w 60"/>
                <a:gd name="T17" fmla="*/ 86 h 86"/>
                <a:gd name="T18" fmla="*/ 0 w 60"/>
                <a:gd name="T19" fmla="*/ 10 h 86"/>
                <a:gd name="T20" fmla="*/ 44 w 60"/>
                <a:gd name="T21" fmla="*/ 0 h 86"/>
                <a:gd name="T22" fmla="*/ 47 w 60"/>
                <a:gd name="T23" fmla="*/ 17 h 86"/>
                <a:gd name="T24" fmla="*/ 24 w 60"/>
                <a:gd name="T25" fmla="*/ 2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 h="86">
                  <a:moveTo>
                    <a:pt x="24" y="22"/>
                  </a:moveTo>
                  <a:lnTo>
                    <a:pt x="27" y="35"/>
                  </a:lnTo>
                  <a:lnTo>
                    <a:pt x="49" y="30"/>
                  </a:lnTo>
                  <a:lnTo>
                    <a:pt x="52" y="47"/>
                  </a:lnTo>
                  <a:lnTo>
                    <a:pt x="30" y="51"/>
                  </a:lnTo>
                  <a:lnTo>
                    <a:pt x="33" y="65"/>
                  </a:lnTo>
                  <a:lnTo>
                    <a:pt x="56" y="59"/>
                  </a:lnTo>
                  <a:lnTo>
                    <a:pt x="60" y="76"/>
                  </a:lnTo>
                  <a:lnTo>
                    <a:pt x="17" y="86"/>
                  </a:lnTo>
                  <a:lnTo>
                    <a:pt x="0" y="10"/>
                  </a:lnTo>
                  <a:lnTo>
                    <a:pt x="44" y="0"/>
                  </a:lnTo>
                  <a:lnTo>
                    <a:pt x="47" y="17"/>
                  </a:lnTo>
                  <a:lnTo>
                    <a:pt x="24" y="2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7">
              <a:extLst>
                <a:ext uri="{FF2B5EF4-FFF2-40B4-BE49-F238E27FC236}">
                  <a16:creationId xmlns:a16="http://schemas.microsoft.com/office/drawing/2014/main" id="{09984B7C-3832-9946-25A6-F090D1D36B9A}"/>
                </a:ext>
              </a:extLst>
            </p:cNvPr>
            <p:cNvSpPr>
              <a:spLocks noEditPoints="1"/>
            </p:cNvSpPr>
            <p:nvPr/>
          </p:nvSpPr>
          <p:spPr bwMode="auto">
            <a:xfrm>
              <a:off x="8486358" y="4730751"/>
              <a:ext cx="93662" cy="80963"/>
            </a:xfrm>
            <a:custGeom>
              <a:avLst/>
              <a:gdLst>
                <a:gd name="T0" fmla="*/ 51 w 59"/>
                <a:gd name="T1" fmla="*/ 0 h 51"/>
                <a:gd name="T2" fmla="*/ 54 w 59"/>
                <a:gd name="T3" fmla="*/ 15 h 51"/>
                <a:gd name="T4" fmla="*/ 3 w 59"/>
                <a:gd name="T5" fmla="*/ 26 h 51"/>
                <a:gd name="T6" fmla="*/ 0 w 59"/>
                <a:gd name="T7" fmla="*/ 12 h 51"/>
                <a:gd name="T8" fmla="*/ 51 w 59"/>
                <a:gd name="T9" fmla="*/ 0 h 51"/>
                <a:gd name="T10" fmla="*/ 56 w 59"/>
                <a:gd name="T11" fmla="*/ 24 h 51"/>
                <a:gd name="T12" fmla="*/ 59 w 59"/>
                <a:gd name="T13" fmla="*/ 39 h 51"/>
                <a:gd name="T14" fmla="*/ 8 w 59"/>
                <a:gd name="T15" fmla="*/ 51 h 51"/>
                <a:gd name="T16" fmla="*/ 5 w 59"/>
                <a:gd name="T17" fmla="*/ 36 h 51"/>
                <a:gd name="T18" fmla="*/ 56 w 59"/>
                <a:gd name="T19" fmla="*/ 2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51">
                  <a:moveTo>
                    <a:pt x="51" y="0"/>
                  </a:moveTo>
                  <a:lnTo>
                    <a:pt x="54" y="15"/>
                  </a:lnTo>
                  <a:lnTo>
                    <a:pt x="3" y="26"/>
                  </a:lnTo>
                  <a:lnTo>
                    <a:pt x="0" y="12"/>
                  </a:lnTo>
                  <a:lnTo>
                    <a:pt x="51" y="0"/>
                  </a:lnTo>
                  <a:close/>
                  <a:moveTo>
                    <a:pt x="56" y="24"/>
                  </a:moveTo>
                  <a:lnTo>
                    <a:pt x="59" y="39"/>
                  </a:lnTo>
                  <a:lnTo>
                    <a:pt x="8" y="51"/>
                  </a:lnTo>
                  <a:lnTo>
                    <a:pt x="5" y="36"/>
                  </a:lnTo>
                  <a:lnTo>
                    <a:pt x="56" y="2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8">
              <a:extLst>
                <a:ext uri="{FF2B5EF4-FFF2-40B4-BE49-F238E27FC236}">
                  <a16:creationId xmlns:a16="http://schemas.microsoft.com/office/drawing/2014/main" id="{16F546F4-96A7-89DA-D9C9-539BCDA3ED01}"/>
                </a:ext>
              </a:extLst>
            </p:cNvPr>
            <p:cNvSpPr>
              <a:spLocks/>
            </p:cNvSpPr>
            <p:nvPr/>
          </p:nvSpPr>
          <p:spPr bwMode="auto">
            <a:xfrm>
              <a:off x="8589545" y="4684713"/>
              <a:ext cx="155575" cy="112713"/>
            </a:xfrm>
            <a:custGeom>
              <a:avLst/>
              <a:gdLst>
                <a:gd name="T0" fmla="*/ 19 w 93"/>
                <a:gd name="T1" fmla="*/ 21 h 67"/>
                <a:gd name="T2" fmla="*/ 19 w 93"/>
                <a:gd name="T3" fmla="*/ 21 h 67"/>
                <a:gd name="T4" fmla="*/ 32 w 93"/>
                <a:gd name="T5" fmla="*/ 10 h 67"/>
                <a:gd name="T6" fmla="*/ 51 w 93"/>
                <a:gd name="T7" fmla="*/ 15 h 67"/>
                <a:gd name="T8" fmla="*/ 66 w 93"/>
                <a:gd name="T9" fmla="*/ 2 h 67"/>
                <a:gd name="T10" fmla="*/ 86 w 93"/>
                <a:gd name="T11" fmla="*/ 18 h 67"/>
                <a:gd name="T12" fmla="*/ 93 w 93"/>
                <a:gd name="T13" fmla="*/ 49 h 67"/>
                <a:gd name="T14" fmla="*/ 76 w 93"/>
                <a:gd name="T15" fmla="*/ 53 h 67"/>
                <a:gd name="T16" fmla="*/ 71 w 93"/>
                <a:gd name="T17" fmla="*/ 29 h 67"/>
                <a:gd name="T18" fmla="*/ 61 w 93"/>
                <a:gd name="T19" fmla="*/ 18 h 67"/>
                <a:gd name="T20" fmla="*/ 55 w 93"/>
                <a:gd name="T21" fmla="*/ 33 h 67"/>
                <a:gd name="T22" fmla="*/ 60 w 93"/>
                <a:gd name="T23" fmla="*/ 56 h 67"/>
                <a:gd name="T24" fmla="*/ 43 w 93"/>
                <a:gd name="T25" fmla="*/ 60 h 67"/>
                <a:gd name="T26" fmla="*/ 38 w 93"/>
                <a:gd name="T27" fmla="*/ 37 h 67"/>
                <a:gd name="T28" fmla="*/ 27 w 93"/>
                <a:gd name="T29" fmla="*/ 25 h 67"/>
                <a:gd name="T30" fmla="*/ 23 w 93"/>
                <a:gd name="T31" fmla="*/ 40 h 67"/>
                <a:gd name="T32" fmla="*/ 28 w 93"/>
                <a:gd name="T33" fmla="*/ 63 h 67"/>
                <a:gd name="T34" fmla="*/ 11 w 93"/>
                <a:gd name="T35" fmla="*/ 67 h 67"/>
                <a:gd name="T36" fmla="*/ 0 w 93"/>
                <a:gd name="T37" fmla="*/ 18 h 67"/>
                <a:gd name="T38" fmla="*/ 17 w 93"/>
                <a:gd name="T39" fmla="*/ 15 h 67"/>
                <a:gd name="T40" fmla="*/ 19 w 93"/>
                <a:gd name="T41" fmla="*/ 2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 h="67">
                  <a:moveTo>
                    <a:pt x="19" y="21"/>
                  </a:moveTo>
                  <a:cubicBezTo>
                    <a:pt x="19" y="21"/>
                    <a:pt x="19" y="21"/>
                    <a:pt x="19" y="21"/>
                  </a:cubicBezTo>
                  <a:cubicBezTo>
                    <a:pt x="22" y="14"/>
                    <a:pt x="26" y="11"/>
                    <a:pt x="32" y="10"/>
                  </a:cubicBezTo>
                  <a:cubicBezTo>
                    <a:pt x="39" y="8"/>
                    <a:pt x="46" y="9"/>
                    <a:pt x="51" y="15"/>
                  </a:cubicBezTo>
                  <a:cubicBezTo>
                    <a:pt x="53" y="8"/>
                    <a:pt x="59" y="4"/>
                    <a:pt x="66" y="2"/>
                  </a:cubicBezTo>
                  <a:cubicBezTo>
                    <a:pt x="78" y="0"/>
                    <a:pt x="84" y="7"/>
                    <a:pt x="86" y="18"/>
                  </a:cubicBezTo>
                  <a:cubicBezTo>
                    <a:pt x="93" y="49"/>
                    <a:pt x="93" y="49"/>
                    <a:pt x="93" y="49"/>
                  </a:cubicBezTo>
                  <a:cubicBezTo>
                    <a:pt x="76" y="53"/>
                    <a:pt x="76" y="53"/>
                    <a:pt x="76" y="53"/>
                  </a:cubicBezTo>
                  <a:cubicBezTo>
                    <a:pt x="71" y="29"/>
                    <a:pt x="71" y="29"/>
                    <a:pt x="71" y="29"/>
                  </a:cubicBezTo>
                  <a:cubicBezTo>
                    <a:pt x="70" y="24"/>
                    <a:pt x="68" y="16"/>
                    <a:pt x="61" y="18"/>
                  </a:cubicBezTo>
                  <a:cubicBezTo>
                    <a:pt x="53" y="19"/>
                    <a:pt x="54" y="27"/>
                    <a:pt x="55" y="33"/>
                  </a:cubicBezTo>
                  <a:cubicBezTo>
                    <a:pt x="60" y="56"/>
                    <a:pt x="60" y="56"/>
                    <a:pt x="60" y="56"/>
                  </a:cubicBezTo>
                  <a:cubicBezTo>
                    <a:pt x="43" y="60"/>
                    <a:pt x="43" y="60"/>
                    <a:pt x="43" y="60"/>
                  </a:cubicBezTo>
                  <a:cubicBezTo>
                    <a:pt x="38" y="37"/>
                    <a:pt x="38" y="37"/>
                    <a:pt x="38" y="37"/>
                  </a:cubicBezTo>
                  <a:cubicBezTo>
                    <a:pt x="37" y="31"/>
                    <a:pt x="35" y="23"/>
                    <a:pt x="27" y="25"/>
                  </a:cubicBezTo>
                  <a:cubicBezTo>
                    <a:pt x="20" y="26"/>
                    <a:pt x="22" y="35"/>
                    <a:pt x="23" y="40"/>
                  </a:cubicBezTo>
                  <a:cubicBezTo>
                    <a:pt x="28" y="63"/>
                    <a:pt x="28" y="63"/>
                    <a:pt x="28" y="63"/>
                  </a:cubicBezTo>
                  <a:cubicBezTo>
                    <a:pt x="11" y="67"/>
                    <a:pt x="11" y="67"/>
                    <a:pt x="11" y="67"/>
                  </a:cubicBezTo>
                  <a:cubicBezTo>
                    <a:pt x="0" y="18"/>
                    <a:pt x="0" y="18"/>
                    <a:pt x="0" y="18"/>
                  </a:cubicBezTo>
                  <a:cubicBezTo>
                    <a:pt x="17" y="15"/>
                    <a:pt x="17" y="15"/>
                    <a:pt x="17" y="15"/>
                  </a:cubicBezTo>
                  <a:lnTo>
                    <a:pt x="19" y="2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9">
              <a:extLst>
                <a:ext uri="{FF2B5EF4-FFF2-40B4-BE49-F238E27FC236}">
                  <a16:creationId xmlns:a16="http://schemas.microsoft.com/office/drawing/2014/main" id="{53EE68EB-D678-2F1F-F8AD-613F6653717D}"/>
                </a:ext>
              </a:extLst>
            </p:cNvPr>
            <p:cNvSpPr>
              <a:spLocks/>
            </p:cNvSpPr>
            <p:nvPr/>
          </p:nvSpPr>
          <p:spPr bwMode="auto">
            <a:xfrm>
              <a:off x="8743533" y="4668838"/>
              <a:ext cx="79375" cy="93663"/>
            </a:xfrm>
            <a:custGeom>
              <a:avLst/>
              <a:gdLst>
                <a:gd name="T0" fmla="*/ 40 w 47"/>
                <a:gd name="T1" fmla="*/ 16 h 56"/>
                <a:gd name="T2" fmla="*/ 31 w 47"/>
                <a:gd name="T3" fmla="*/ 14 h 56"/>
                <a:gd name="T4" fmla="*/ 21 w 47"/>
                <a:gd name="T5" fmla="*/ 29 h 56"/>
                <a:gd name="T6" fmla="*/ 36 w 47"/>
                <a:gd name="T7" fmla="*/ 38 h 56"/>
                <a:gd name="T8" fmla="*/ 44 w 47"/>
                <a:gd name="T9" fmla="*/ 33 h 56"/>
                <a:gd name="T10" fmla="*/ 47 w 47"/>
                <a:gd name="T11" fmla="*/ 48 h 56"/>
                <a:gd name="T12" fmla="*/ 36 w 47"/>
                <a:gd name="T13" fmla="*/ 53 h 56"/>
                <a:gd name="T14" fmla="*/ 4 w 47"/>
                <a:gd name="T15" fmla="*/ 33 h 56"/>
                <a:gd name="T16" fmla="*/ 25 w 47"/>
                <a:gd name="T17" fmla="*/ 1 h 56"/>
                <a:gd name="T18" fmla="*/ 37 w 47"/>
                <a:gd name="T19" fmla="*/ 1 h 56"/>
                <a:gd name="T20" fmla="*/ 40 w 47"/>
                <a:gd name="T21" fmla="*/ 1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56">
                  <a:moveTo>
                    <a:pt x="40" y="16"/>
                  </a:moveTo>
                  <a:cubicBezTo>
                    <a:pt x="37" y="15"/>
                    <a:pt x="34" y="14"/>
                    <a:pt x="31" y="14"/>
                  </a:cubicBezTo>
                  <a:cubicBezTo>
                    <a:pt x="24" y="16"/>
                    <a:pt x="20" y="22"/>
                    <a:pt x="21" y="29"/>
                  </a:cubicBezTo>
                  <a:cubicBezTo>
                    <a:pt x="23" y="36"/>
                    <a:pt x="29" y="40"/>
                    <a:pt x="36" y="38"/>
                  </a:cubicBezTo>
                  <a:cubicBezTo>
                    <a:pt x="39" y="38"/>
                    <a:pt x="42" y="36"/>
                    <a:pt x="44" y="33"/>
                  </a:cubicBezTo>
                  <a:cubicBezTo>
                    <a:pt x="47" y="48"/>
                    <a:pt x="47" y="48"/>
                    <a:pt x="47" y="48"/>
                  </a:cubicBezTo>
                  <a:cubicBezTo>
                    <a:pt x="44" y="50"/>
                    <a:pt x="40" y="52"/>
                    <a:pt x="36" y="53"/>
                  </a:cubicBezTo>
                  <a:cubicBezTo>
                    <a:pt x="21" y="56"/>
                    <a:pt x="7" y="48"/>
                    <a:pt x="4" y="33"/>
                  </a:cubicBezTo>
                  <a:cubicBezTo>
                    <a:pt x="0" y="18"/>
                    <a:pt x="10" y="4"/>
                    <a:pt x="25" y="1"/>
                  </a:cubicBezTo>
                  <a:cubicBezTo>
                    <a:pt x="29" y="0"/>
                    <a:pt x="33" y="0"/>
                    <a:pt x="37" y="1"/>
                  </a:cubicBezTo>
                  <a:lnTo>
                    <a:pt x="40" y="1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50">
              <a:extLst>
                <a:ext uri="{FF2B5EF4-FFF2-40B4-BE49-F238E27FC236}">
                  <a16:creationId xmlns:a16="http://schemas.microsoft.com/office/drawing/2014/main" id="{ECAA7C82-B938-5681-60BB-B3DC213EF476}"/>
                </a:ext>
              </a:extLst>
            </p:cNvPr>
            <p:cNvSpPr>
              <a:spLocks noEditPoints="1"/>
            </p:cNvSpPr>
            <p:nvPr/>
          </p:nvSpPr>
          <p:spPr bwMode="auto">
            <a:xfrm>
              <a:off x="8568908" y="4873626"/>
              <a:ext cx="165100" cy="185738"/>
            </a:xfrm>
            <a:custGeom>
              <a:avLst/>
              <a:gdLst>
                <a:gd name="T0" fmla="*/ 49 w 98"/>
                <a:gd name="T1" fmla="*/ 31 h 111"/>
                <a:gd name="T2" fmla="*/ 20 w 98"/>
                <a:gd name="T3" fmla="*/ 44 h 111"/>
                <a:gd name="T4" fmla="*/ 4 w 98"/>
                <a:gd name="T5" fmla="*/ 17 h 111"/>
                <a:gd name="T6" fmla="*/ 33 w 98"/>
                <a:gd name="T7" fmla="*/ 4 h 111"/>
                <a:gd name="T8" fmla="*/ 49 w 98"/>
                <a:gd name="T9" fmla="*/ 31 h 111"/>
                <a:gd name="T10" fmla="*/ 91 w 98"/>
                <a:gd name="T11" fmla="*/ 23 h 111"/>
                <a:gd name="T12" fmla="*/ 17 w 98"/>
                <a:gd name="T13" fmla="*/ 91 h 111"/>
                <a:gd name="T14" fmla="*/ 6 w 98"/>
                <a:gd name="T15" fmla="*/ 88 h 111"/>
                <a:gd name="T16" fmla="*/ 80 w 98"/>
                <a:gd name="T17" fmla="*/ 19 h 111"/>
                <a:gd name="T18" fmla="*/ 91 w 98"/>
                <a:gd name="T19" fmla="*/ 23 h 111"/>
                <a:gd name="T20" fmla="*/ 17 w 98"/>
                <a:gd name="T21" fmla="*/ 21 h 111"/>
                <a:gd name="T22" fmla="*/ 24 w 98"/>
                <a:gd name="T23" fmla="*/ 33 h 111"/>
                <a:gd name="T24" fmla="*/ 36 w 98"/>
                <a:gd name="T25" fmla="*/ 27 h 111"/>
                <a:gd name="T26" fmla="*/ 29 w 98"/>
                <a:gd name="T27" fmla="*/ 15 h 111"/>
                <a:gd name="T28" fmla="*/ 17 w 98"/>
                <a:gd name="T29" fmla="*/ 21 h 111"/>
                <a:gd name="T30" fmla="*/ 93 w 98"/>
                <a:gd name="T31" fmla="*/ 94 h 111"/>
                <a:gd name="T32" fmla="*/ 64 w 98"/>
                <a:gd name="T33" fmla="*/ 107 h 111"/>
                <a:gd name="T34" fmla="*/ 48 w 98"/>
                <a:gd name="T35" fmla="*/ 79 h 111"/>
                <a:gd name="T36" fmla="*/ 77 w 98"/>
                <a:gd name="T37" fmla="*/ 66 h 111"/>
                <a:gd name="T38" fmla="*/ 93 w 98"/>
                <a:gd name="T39" fmla="*/ 94 h 111"/>
                <a:gd name="T40" fmla="*/ 61 w 98"/>
                <a:gd name="T41" fmla="*/ 84 h 111"/>
                <a:gd name="T42" fmla="*/ 68 w 98"/>
                <a:gd name="T43" fmla="*/ 96 h 111"/>
                <a:gd name="T44" fmla="*/ 80 w 98"/>
                <a:gd name="T45" fmla="*/ 90 h 111"/>
                <a:gd name="T46" fmla="*/ 73 w 98"/>
                <a:gd name="T47" fmla="*/ 77 h 111"/>
                <a:gd name="T48" fmla="*/ 61 w 98"/>
                <a:gd name="T49" fmla="*/ 8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8" h="111">
                  <a:moveTo>
                    <a:pt x="49" y="31"/>
                  </a:moveTo>
                  <a:cubicBezTo>
                    <a:pt x="45" y="44"/>
                    <a:pt x="33" y="48"/>
                    <a:pt x="20" y="44"/>
                  </a:cubicBezTo>
                  <a:cubicBezTo>
                    <a:pt x="7" y="40"/>
                    <a:pt x="0" y="30"/>
                    <a:pt x="4" y="17"/>
                  </a:cubicBezTo>
                  <a:cubicBezTo>
                    <a:pt x="8" y="3"/>
                    <a:pt x="20" y="0"/>
                    <a:pt x="33" y="4"/>
                  </a:cubicBezTo>
                  <a:cubicBezTo>
                    <a:pt x="45" y="7"/>
                    <a:pt x="53" y="18"/>
                    <a:pt x="49" y="31"/>
                  </a:cubicBezTo>
                  <a:close/>
                  <a:moveTo>
                    <a:pt x="91" y="23"/>
                  </a:moveTo>
                  <a:cubicBezTo>
                    <a:pt x="17" y="91"/>
                    <a:pt x="17" y="91"/>
                    <a:pt x="17" y="91"/>
                  </a:cubicBezTo>
                  <a:cubicBezTo>
                    <a:pt x="6" y="88"/>
                    <a:pt x="6" y="88"/>
                    <a:pt x="6" y="88"/>
                  </a:cubicBezTo>
                  <a:cubicBezTo>
                    <a:pt x="80" y="19"/>
                    <a:pt x="80" y="19"/>
                    <a:pt x="80" y="19"/>
                  </a:cubicBezTo>
                  <a:lnTo>
                    <a:pt x="91" y="23"/>
                  </a:lnTo>
                  <a:close/>
                  <a:moveTo>
                    <a:pt x="17" y="21"/>
                  </a:moveTo>
                  <a:cubicBezTo>
                    <a:pt x="15" y="26"/>
                    <a:pt x="18" y="32"/>
                    <a:pt x="24" y="33"/>
                  </a:cubicBezTo>
                  <a:cubicBezTo>
                    <a:pt x="29" y="35"/>
                    <a:pt x="34" y="32"/>
                    <a:pt x="36" y="27"/>
                  </a:cubicBezTo>
                  <a:cubicBezTo>
                    <a:pt x="37" y="22"/>
                    <a:pt x="35" y="16"/>
                    <a:pt x="29" y="15"/>
                  </a:cubicBezTo>
                  <a:cubicBezTo>
                    <a:pt x="24" y="13"/>
                    <a:pt x="19" y="16"/>
                    <a:pt x="17" y="21"/>
                  </a:cubicBezTo>
                  <a:close/>
                  <a:moveTo>
                    <a:pt x="93" y="94"/>
                  </a:moveTo>
                  <a:cubicBezTo>
                    <a:pt x="89" y="107"/>
                    <a:pt x="77" y="111"/>
                    <a:pt x="64" y="107"/>
                  </a:cubicBezTo>
                  <a:cubicBezTo>
                    <a:pt x="52" y="103"/>
                    <a:pt x="44" y="93"/>
                    <a:pt x="48" y="79"/>
                  </a:cubicBezTo>
                  <a:cubicBezTo>
                    <a:pt x="52" y="66"/>
                    <a:pt x="65" y="62"/>
                    <a:pt x="77" y="66"/>
                  </a:cubicBezTo>
                  <a:cubicBezTo>
                    <a:pt x="89" y="70"/>
                    <a:pt x="98" y="80"/>
                    <a:pt x="93" y="94"/>
                  </a:cubicBezTo>
                  <a:close/>
                  <a:moveTo>
                    <a:pt x="61" y="84"/>
                  </a:moveTo>
                  <a:cubicBezTo>
                    <a:pt x="60" y="89"/>
                    <a:pt x="62" y="94"/>
                    <a:pt x="68" y="96"/>
                  </a:cubicBezTo>
                  <a:cubicBezTo>
                    <a:pt x="73" y="98"/>
                    <a:pt x="78" y="95"/>
                    <a:pt x="80" y="90"/>
                  </a:cubicBezTo>
                  <a:cubicBezTo>
                    <a:pt x="82" y="84"/>
                    <a:pt x="79" y="79"/>
                    <a:pt x="73" y="77"/>
                  </a:cubicBezTo>
                  <a:cubicBezTo>
                    <a:pt x="68" y="76"/>
                    <a:pt x="63" y="79"/>
                    <a:pt x="61" y="8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51">
              <a:extLst>
                <a:ext uri="{FF2B5EF4-FFF2-40B4-BE49-F238E27FC236}">
                  <a16:creationId xmlns:a16="http://schemas.microsoft.com/office/drawing/2014/main" id="{C5421405-C215-FB6F-6B71-D4680870C9F9}"/>
                </a:ext>
              </a:extLst>
            </p:cNvPr>
            <p:cNvSpPr>
              <a:spLocks/>
            </p:cNvSpPr>
            <p:nvPr/>
          </p:nvSpPr>
          <p:spPr bwMode="auto">
            <a:xfrm>
              <a:off x="8641933" y="3343275"/>
              <a:ext cx="190500" cy="139700"/>
            </a:xfrm>
            <a:custGeom>
              <a:avLst/>
              <a:gdLst>
                <a:gd name="T0" fmla="*/ 29 w 120"/>
                <a:gd name="T1" fmla="*/ 45 h 88"/>
                <a:gd name="T2" fmla="*/ 53 w 120"/>
                <a:gd name="T3" fmla="*/ 17 h 88"/>
                <a:gd name="T4" fmla="*/ 66 w 120"/>
                <a:gd name="T5" fmla="*/ 21 h 88"/>
                <a:gd name="T6" fmla="*/ 71 w 120"/>
                <a:gd name="T7" fmla="*/ 58 h 88"/>
                <a:gd name="T8" fmla="*/ 97 w 120"/>
                <a:gd name="T9" fmla="*/ 31 h 88"/>
                <a:gd name="T10" fmla="*/ 120 w 120"/>
                <a:gd name="T11" fmla="*/ 38 h 88"/>
                <a:gd name="T12" fmla="*/ 70 w 120"/>
                <a:gd name="T13" fmla="*/ 88 h 88"/>
                <a:gd name="T14" fmla="*/ 57 w 120"/>
                <a:gd name="T15" fmla="*/ 84 h 88"/>
                <a:gd name="T16" fmla="*/ 51 w 120"/>
                <a:gd name="T17" fmla="*/ 47 h 88"/>
                <a:gd name="T18" fmla="*/ 27 w 120"/>
                <a:gd name="T19" fmla="*/ 74 h 88"/>
                <a:gd name="T20" fmla="*/ 13 w 120"/>
                <a:gd name="T21" fmla="*/ 70 h 88"/>
                <a:gd name="T22" fmla="*/ 0 w 120"/>
                <a:gd name="T23" fmla="*/ 0 h 88"/>
                <a:gd name="T24" fmla="*/ 24 w 120"/>
                <a:gd name="T25" fmla="*/ 7 h 88"/>
                <a:gd name="T26" fmla="*/ 29 w 120"/>
                <a:gd name="T27" fmla="*/ 4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88">
                  <a:moveTo>
                    <a:pt x="29" y="45"/>
                  </a:moveTo>
                  <a:lnTo>
                    <a:pt x="53" y="17"/>
                  </a:lnTo>
                  <a:lnTo>
                    <a:pt x="66" y="21"/>
                  </a:lnTo>
                  <a:lnTo>
                    <a:pt x="71" y="58"/>
                  </a:lnTo>
                  <a:lnTo>
                    <a:pt x="97" y="31"/>
                  </a:lnTo>
                  <a:lnTo>
                    <a:pt x="120" y="38"/>
                  </a:lnTo>
                  <a:lnTo>
                    <a:pt x="70" y="88"/>
                  </a:lnTo>
                  <a:lnTo>
                    <a:pt x="57" y="84"/>
                  </a:lnTo>
                  <a:lnTo>
                    <a:pt x="51" y="47"/>
                  </a:lnTo>
                  <a:lnTo>
                    <a:pt x="27" y="74"/>
                  </a:lnTo>
                  <a:lnTo>
                    <a:pt x="13" y="70"/>
                  </a:lnTo>
                  <a:lnTo>
                    <a:pt x="0" y="0"/>
                  </a:lnTo>
                  <a:lnTo>
                    <a:pt x="24" y="7"/>
                  </a:lnTo>
                  <a:lnTo>
                    <a:pt x="29" y="45"/>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2">
              <a:extLst>
                <a:ext uri="{FF2B5EF4-FFF2-40B4-BE49-F238E27FC236}">
                  <a16:creationId xmlns:a16="http://schemas.microsoft.com/office/drawing/2014/main" id="{59DCDD1D-5BE5-3271-5A0F-C4F93F44ECD0}"/>
                </a:ext>
              </a:extLst>
            </p:cNvPr>
            <p:cNvSpPr>
              <a:spLocks noEditPoints="1"/>
            </p:cNvSpPr>
            <p:nvPr/>
          </p:nvSpPr>
          <p:spPr bwMode="auto">
            <a:xfrm>
              <a:off x="8448258" y="3735388"/>
              <a:ext cx="58737" cy="158750"/>
            </a:xfrm>
            <a:custGeom>
              <a:avLst/>
              <a:gdLst>
                <a:gd name="T0" fmla="*/ 21 w 35"/>
                <a:gd name="T1" fmla="*/ 95 h 95"/>
                <a:gd name="T2" fmla="*/ 0 w 35"/>
                <a:gd name="T3" fmla="*/ 92 h 95"/>
                <a:gd name="T4" fmla="*/ 9 w 35"/>
                <a:gd name="T5" fmla="*/ 33 h 95"/>
                <a:gd name="T6" fmla="*/ 30 w 35"/>
                <a:gd name="T7" fmla="*/ 36 h 95"/>
                <a:gd name="T8" fmla="*/ 21 w 35"/>
                <a:gd name="T9" fmla="*/ 95 h 95"/>
                <a:gd name="T10" fmla="*/ 34 w 35"/>
                <a:gd name="T11" fmla="*/ 14 h 95"/>
                <a:gd name="T12" fmla="*/ 21 w 35"/>
                <a:gd name="T13" fmla="*/ 24 h 95"/>
                <a:gd name="T14" fmla="*/ 11 w 35"/>
                <a:gd name="T15" fmla="*/ 11 h 95"/>
                <a:gd name="T16" fmla="*/ 24 w 35"/>
                <a:gd name="T17" fmla="*/ 1 h 95"/>
                <a:gd name="T18" fmla="*/ 34 w 35"/>
                <a:gd name="T19" fmla="*/ 14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95">
                  <a:moveTo>
                    <a:pt x="21" y="95"/>
                  </a:moveTo>
                  <a:cubicBezTo>
                    <a:pt x="0" y="92"/>
                    <a:pt x="0" y="92"/>
                    <a:pt x="0" y="92"/>
                  </a:cubicBezTo>
                  <a:cubicBezTo>
                    <a:pt x="9" y="33"/>
                    <a:pt x="9" y="33"/>
                    <a:pt x="9" y="33"/>
                  </a:cubicBezTo>
                  <a:cubicBezTo>
                    <a:pt x="30" y="36"/>
                    <a:pt x="30" y="36"/>
                    <a:pt x="30" y="36"/>
                  </a:cubicBezTo>
                  <a:lnTo>
                    <a:pt x="21" y="95"/>
                  </a:lnTo>
                  <a:close/>
                  <a:moveTo>
                    <a:pt x="34" y="14"/>
                  </a:moveTo>
                  <a:cubicBezTo>
                    <a:pt x="33" y="20"/>
                    <a:pt x="27" y="25"/>
                    <a:pt x="21" y="24"/>
                  </a:cubicBezTo>
                  <a:cubicBezTo>
                    <a:pt x="14" y="23"/>
                    <a:pt x="10" y="17"/>
                    <a:pt x="11" y="11"/>
                  </a:cubicBezTo>
                  <a:cubicBezTo>
                    <a:pt x="11" y="4"/>
                    <a:pt x="18" y="0"/>
                    <a:pt x="24" y="1"/>
                  </a:cubicBezTo>
                  <a:cubicBezTo>
                    <a:pt x="30" y="2"/>
                    <a:pt x="35" y="8"/>
                    <a:pt x="34" y="14"/>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3">
              <a:extLst>
                <a:ext uri="{FF2B5EF4-FFF2-40B4-BE49-F238E27FC236}">
                  <a16:creationId xmlns:a16="http://schemas.microsoft.com/office/drawing/2014/main" id="{07F63716-30E7-8C82-129C-159EF6FD369D}"/>
                </a:ext>
              </a:extLst>
            </p:cNvPr>
            <p:cNvSpPr>
              <a:spLocks/>
            </p:cNvSpPr>
            <p:nvPr/>
          </p:nvSpPr>
          <p:spPr bwMode="auto">
            <a:xfrm>
              <a:off x="8516520" y="3805238"/>
              <a:ext cx="103187" cy="103188"/>
            </a:xfrm>
            <a:custGeom>
              <a:avLst/>
              <a:gdLst>
                <a:gd name="T0" fmla="*/ 28 w 65"/>
                <a:gd name="T1" fmla="*/ 0 h 65"/>
                <a:gd name="T2" fmla="*/ 46 w 65"/>
                <a:gd name="T3" fmla="*/ 2 h 65"/>
                <a:gd name="T4" fmla="*/ 42 w 65"/>
                <a:gd name="T5" fmla="*/ 25 h 65"/>
                <a:gd name="T6" fmla="*/ 65 w 65"/>
                <a:gd name="T7" fmla="*/ 28 h 65"/>
                <a:gd name="T8" fmla="*/ 62 w 65"/>
                <a:gd name="T9" fmla="*/ 46 h 65"/>
                <a:gd name="T10" fmla="*/ 40 w 65"/>
                <a:gd name="T11" fmla="*/ 43 h 65"/>
                <a:gd name="T12" fmla="*/ 37 w 65"/>
                <a:gd name="T13" fmla="*/ 65 h 65"/>
                <a:gd name="T14" fmla="*/ 19 w 65"/>
                <a:gd name="T15" fmla="*/ 62 h 65"/>
                <a:gd name="T16" fmla="*/ 22 w 65"/>
                <a:gd name="T17" fmla="*/ 41 h 65"/>
                <a:gd name="T18" fmla="*/ 0 w 65"/>
                <a:gd name="T19" fmla="*/ 37 h 65"/>
                <a:gd name="T20" fmla="*/ 2 w 65"/>
                <a:gd name="T21" fmla="*/ 18 h 65"/>
                <a:gd name="T22" fmla="*/ 24 w 65"/>
                <a:gd name="T23" fmla="*/ 22 h 65"/>
                <a:gd name="T24" fmla="*/ 28 w 65"/>
                <a:gd name="T2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65">
                  <a:moveTo>
                    <a:pt x="28" y="0"/>
                  </a:moveTo>
                  <a:lnTo>
                    <a:pt x="46" y="2"/>
                  </a:lnTo>
                  <a:lnTo>
                    <a:pt x="42" y="25"/>
                  </a:lnTo>
                  <a:lnTo>
                    <a:pt x="65" y="28"/>
                  </a:lnTo>
                  <a:lnTo>
                    <a:pt x="62" y="46"/>
                  </a:lnTo>
                  <a:lnTo>
                    <a:pt x="40" y="43"/>
                  </a:lnTo>
                  <a:lnTo>
                    <a:pt x="37" y="65"/>
                  </a:lnTo>
                  <a:lnTo>
                    <a:pt x="19" y="62"/>
                  </a:lnTo>
                  <a:lnTo>
                    <a:pt x="22" y="41"/>
                  </a:lnTo>
                  <a:lnTo>
                    <a:pt x="0" y="37"/>
                  </a:lnTo>
                  <a:lnTo>
                    <a:pt x="2" y="18"/>
                  </a:lnTo>
                  <a:lnTo>
                    <a:pt x="24" y="22"/>
                  </a:lnTo>
                  <a:lnTo>
                    <a:pt x="28"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4">
              <a:extLst>
                <a:ext uri="{FF2B5EF4-FFF2-40B4-BE49-F238E27FC236}">
                  <a16:creationId xmlns:a16="http://schemas.microsoft.com/office/drawing/2014/main" id="{42E57275-0461-52B7-D437-D63D62E27E74}"/>
                </a:ext>
              </a:extLst>
            </p:cNvPr>
            <p:cNvSpPr>
              <a:spLocks noEditPoints="1"/>
            </p:cNvSpPr>
            <p:nvPr/>
          </p:nvSpPr>
          <p:spPr bwMode="auto">
            <a:xfrm>
              <a:off x="8635583" y="3767138"/>
              <a:ext cx="134937" cy="165100"/>
            </a:xfrm>
            <a:custGeom>
              <a:avLst/>
              <a:gdLst>
                <a:gd name="T0" fmla="*/ 47 w 80"/>
                <a:gd name="T1" fmla="*/ 89 h 98"/>
                <a:gd name="T2" fmla="*/ 46 w 80"/>
                <a:gd name="T3" fmla="*/ 89 h 98"/>
                <a:gd name="T4" fmla="*/ 28 w 80"/>
                <a:gd name="T5" fmla="*/ 95 h 98"/>
                <a:gd name="T6" fmla="*/ 2 w 80"/>
                <a:gd name="T7" fmla="*/ 59 h 98"/>
                <a:gd name="T8" fmla="*/ 36 w 80"/>
                <a:gd name="T9" fmla="*/ 32 h 98"/>
                <a:gd name="T10" fmla="*/ 53 w 80"/>
                <a:gd name="T11" fmla="*/ 42 h 98"/>
                <a:gd name="T12" fmla="*/ 59 w 80"/>
                <a:gd name="T13" fmla="*/ 0 h 98"/>
                <a:gd name="T14" fmla="*/ 80 w 80"/>
                <a:gd name="T15" fmla="*/ 3 h 98"/>
                <a:gd name="T16" fmla="*/ 67 w 80"/>
                <a:gd name="T17" fmla="*/ 98 h 98"/>
                <a:gd name="T18" fmla="*/ 46 w 80"/>
                <a:gd name="T19" fmla="*/ 95 h 98"/>
                <a:gd name="T20" fmla="*/ 47 w 80"/>
                <a:gd name="T21" fmla="*/ 89 h 98"/>
                <a:gd name="T22" fmla="*/ 24 w 80"/>
                <a:gd name="T23" fmla="*/ 62 h 98"/>
                <a:gd name="T24" fmla="*/ 35 w 80"/>
                <a:gd name="T25" fmla="*/ 77 h 98"/>
                <a:gd name="T26" fmla="*/ 51 w 80"/>
                <a:gd name="T27" fmla="*/ 66 h 98"/>
                <a:gd name="T28" fmla="*/ 39 w 80"/>
                <a:gd name="T29" fmla="*/ 51 h 98"/>
                <a:gd name="T30" fmla="*/ 24 w 80"/>
                <a:gd name="T31"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98">
                  <a:moveTo>
                    <a:pt x="47" y="89"/>
                  </a:moveTo>
                  <a:cubicBezTo>
                    <a:pt x="46" y="89"/>
                    <a:pt x="46" y="89"/>
                    <a:pt x="46" y="89"/>
                  </a:cubicBezTo>
                  <a:cubicBezTo>
                    <a:pt x="42" y="94"/>
                    <a:pt x="34" y="96"/>
                    <a:pt x="28" y="95"/>
                  </a:cubicBezTo>
                  <a:cubicBezTo>
                    <a:pt x="10" y="92"/>
                    <a:pt x="0" y="76"/>
                    <a:pt x="2" y="59"/>
                  </a:cubicBezTo>
                  <a:cubicBezTo>
                    <a:pt x="5" y="42"/>
                    <a:pt x="19" y="30"/>
                    <a:pt x="36" y="32"/>
                  </a:cubicBezTo>
                  <a:cubicBezTo>
                    <a:pt x="43" y="33"/>
                    <a:pt x="50" y="37"/>
                    <a:pt x="53" y="42"/>
                  </a:cubicBezTo>
                  <a:cubicBezTo>
                    <a:pt x="59" y="0"/>
                    <a:pt x="59" y="0"/>
                    <a:pt x="59" y="0"/>
                  </a:cubicBezTo>
                  <a:cubicBezTo>
                    <a:pt x="80" y="3"/>
                    <a:pt x="80" y="3"/>
                    <a:pt x="80" y="3"/>
                  </a:cubicBezTo>
                  <a:cubicBezTo>
                    <a:pt x="67" y="98"/>
                    <a:pt x="67" y="98"/>
                    <a:pt x="67" y="98"/>
                  </a:cubicBezTo>
                  <a:cubicBezTo>
                    <a:pt x="46" y="95"/>
                    <a:pt x="46" y="95"/>
                    <a:pt x="46" y="95"/>
                  </a:cubicBezTo>
                  <a:lnTo>
                    <a:pt x="47" y="89"/>
                  </a:lnTo>
                  <a:close/>
                  <a:moveTo>
                    <a:pt x="24" y="62"/>
                  </a:moveTo>
                  <a:cubicBezTo>
                    <a:pt x="23" y="70"/>
                    <a:pt x="27" y="76"/>
                    <a:pt x="35" y="77"/>
                  </a:cubicBezTo>
                  <a:cubicBezTo>
                    <a:pt x="44" y="79"/>
                    <a:pt x="50" y="74"/>
                    <a:pt x="51" y="66"/>
                  </a:cubicBezTo>
                  <a:cubicBezTo>
                    <a:pt x="52" y="59"/>
                    <a:pt x="48" y="52"/>
                    <a:pt x="39" y="51"/>
                  </a:cubicBezTo>
                  <a:cubicBezTo>
                    <a:pt x="31" y="50"/>
                    <a:pt x="25" y="55"/>
                    <a:pt x="24" y="62"/>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55">
              <a:extLst>
                <a:ext uri="{FF2B5EF4-FFF2-40B4-BE49-F238E27FC236}">
                  <a16:creationId xmlns:a16="http://schemas.microsoft.com/office/drawing/2014/main" id="{6C9D6FC5-A182-3167-51B5-13CE3F7258F9}"/>
                </a:ext>
              </a:extLst>
            </p:cNvPr>
            <p:cNvSpPr>
              <a:spLocks noEditPoints="1"/>
            </p:cNvSpPr>
            <p:nvPr/>
          </p:nvSpPr>
          <p:spPr bwMode="auto">
            <a:xfrm>
              <a:off x="8165683" y="3625850"/>
              <a:ext cx="161925" cy="198438"/>
            </a:xfrm>
            <a:custGeom>
              <a:avLst/>
              <a:gdLst>
                <a:gd name="T0" fmla="*/ 20 w 102"/>
                <a:gd name="T1" fmla="*/ 91 h 125"/>
                <a:gd name="T2" fmla="*/ 13 w 102"/>
                <a:gd name="T3" fmla="*/ 122 h 125"/>
                <a:gd name="T4" fmla="*/ 0 w 102"/>
                <a:gd name="T5" fmla="*/ 125 h 125"/>
                <a:gd name="T6" fmla="*/ 24 w 102"/>
                <a:gd name="T7" fmla="*/ 0 h 125"/>
                <a:gd name="T8" fmla="*/ 102 w 102"/>
                <a:gd name="T9" fmla="*/ 101 h 125"/>
                <a:gd name="T10" fmla="*/ 89 w 102"/>
                <a:gd name="T11" fmla="*/ 104 h 125"/>
                <a:gd name="T12" fmla="*/ 69 w 102"/>
                <a:gd name="T13" fmla="*/ 79 h 125"/>
                <a:gd name="T14" fmla="*/ 20 w 102"/>
                <a:gd name="T15" fmla="*/ 91 h 125"/>
                <a:gd name="T16" fmla="*/ 31 w 102"/>
                <a:gd name="T17" fmla="*/ 30 h 125"/>
                <a:gd name="T18" fmla="*/ 23 w 102"/>
                <a:gd name="T19" fmla="*/ 77 h 125"/>
                <a:gd name="T20" fmla="*/ 61 w 102"/>
                <a:gd name="T21" fmla="*/ 69 h 125"/>
                <a:gd name="T22" fmla="*/ 31 w 102"/>
                <a:gd name="T23" fmla="*/ 3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 h="125">
                  <a:moveTo>
                    <a:pt x="20" y="91"/>
                  </a:moveTo>
                  <a:lnTo>
                    <a:pt x="13" y="122"/>
                  </a:lnTo>
                  <a:lnTo>
                    <a:pt x="0" y="125"/>
                  </a:lnTo>
                  <a:lnTo>
                    <a:pt x="24" y="0"/>
                  </a:lnTo>
                  <a:lnTo>
                    <a:pt x="102" y="101"/>
                  </a:lnTo>
                  <a:lnTo>
                    <a:pt x="89" y="104"/>
                  </a:lnTo>
                  <a:lnTo>
                    <a:pt x="69" y="79"/>
                  </a:lnTo>
                  <a:lnTo>
                    <a:pt x="20" y="91"/>
                  </a:lnTo>
                  <a:close/>
                  <a:moveTo>
                    <a:pt x="31" y="30"/>
                  </a:moveTo>
                  <a:lnTo>
                    <a:pt x="23" y="77"/>
                  </a:lnTo>
                  <a:lnTo>
                    <a:pt x="61" y="69"/>
                  </a:lnTo>
                  <a:lnTo>
                    <a:pt x="31" y="3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56">
              <a:extLst>
                <a:ext uri="{FF2B5EF4-FFF2-40B4-BE49-F238E27FC236}">
                  <a16:creationId xmlns:a16="http://schemas.microsoft.com/office/drawing/2014/main" id="{A491C1E1-A9CE-C9E7-C021-C857F5CED797}"/>
                </a:ext>
              </a:extLst>
            </p:cNvPr>
            <p:cNvSpPr>
              <a:spLocks/>
            </p:cNvSpPr>
            <p:nvPr/>
          </p:nvSpPr>
          <p:spPr bwMode="auto">
            <a:xfrm>
              <a:off x="8681620" y="4248151"/>
              <a:ext cx="131762" cy="192088"/>
            </a:xfrm>
            <a:custGeom>
              <a:avLst/>
              <a:gdLst>
                <a:gd name="T0" fmla="*/ 33 w 79"/>
                <a:gd name="T1" fmla="*/ 49 h 114"/>
                <a:gd name="T2" fmla="*/ 49 w 79"/>
                <a:gd name="T3" fmla="*/ 28 h 114"/>
                <a:gd name="T4" fmla="*/ 28 w 79"/>
                <a:gd name="T5" fmla="*/ 15 h 114"/>
                <a:gd name="T6" fmla="*/ 14 w 79"/>
                <a:gd name="T7" fmla="*/ 33 h 114"/>
                <a:gd name="T8" fmla="*/ 1 w 79"/>
                <a:gd name="T9" fmla="*/ 36 h 114"/>
                <a:gd name="T10" fmla="*/ 25 w 79"/>
                <a:gd name="T11" fmla="*/ 4 h 114"/>
                <a:gd name="T12" fmla="*/ 61 w 79"/>
                <a:gd name="T13" fmla="*/ 24 h 114"/>
                <a:gd name="T14" fmla="*/ 54 w 79"/>
                <a:gd name="T15" fmla="*/ 50 h 114"/>
                <a:gd name="T16" fmla="*/ 74 w 79"/>
                <a:gd name="T17" fmla="*/ 72 h 114"/>
                <a:gd name="T18" fmla="*/ 49 w 79"/>
                <a:gd name="T19" fmla="*/ 110 h 114"/>
                <a:gd name="T20" fmla="*/ 11 w 79"/>
                <a:gd name="T21" fmla="*/ 90 h 114"/>
                <a:gd name="T22" fmla="*/ 23 w 79"/>
                <a:gd name="T23" fmla="*/ 88 h 114"/>
                <a:gd name="T24" fmla="*/ 47 w 79"/>
                <a:gd name="T25" fmla="*/ 99 h 114"/>
                <a:gd name="T26" fmla="*/ 62 w 79"/>
                <a:gd name="T27" fmla="*/ 74 h 114"/>
                <a:gd name="T28" fmla="*/ 36 w 79"/>
                <a:gd name="T29" fmla="*/ 60 h 114"/>
                <a:gd name="T30" fmla="*/ 33 w 79"/>
                <a:gd name="T31" fmla="*/ 4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114">
                  <a:moveTo>
                    <a:pt x="33" y="49"/>
                  </a:moveTo>
                  <a:cubicBezTo>
                    <a:pt x="44" y="47"/>
                    <a:pt x="52" y="40"/>
                    <a:pt x="49" y="28"/>
                  </a:cubicBezTo>
                  <a:cubicBezTo>
                    <a:pt x="47" y="18"/>
                    <a:pt x="38" y="12"/>
                    <a:pt x="28" y="15"/>
                  </a:cubicBezTo>
                  <a:cubicBezTo>
                    <a:pt x="18" y="17"/>
                    <a:pt x="13" y="24"/>
                    <a:pt x="14" y="33"/>
                  </a:cubicBezTo>
                  <a:cubicBezTo>
                    <a:pt x="1" y="36"/>
                    <a:pt x="1" y="36"/>
                    <a:pt x="1" y="36"/>
                  </a:cubicBezTo>
                  <a:cubicBezTo>
                    <a:pt x="0" y="19"/>
                    <a:pt x="9" y="8"/>
                    <a:pt x="25" y="4"/>
                  </a:cubicBezTo>
                  <a:cubicBezTo>
                    <a:pt x="42" y="0"/>
                    <a:pt x="57" y="7"/>
                    <a:pt x="61" y="24"/>
                  </a:cubicBezTo>
                  <a:cubicBezTo>
                    <a:pt x="64" y="34"/>
                    <a:pt x="61" y="43"/>
                    <a:pt x="54" y="50"/>
                  </a:cubicBezTo>
                  <a:cubicBezTo>
                    <a:pt x="65" y="53"/>
                    <a:pt x="72" y="61"/>
                    <a:pt x="74" y="72"/>
                  </a:cubicBezTo>
                  <a:cubicBezTo>
                    <a:pt x="79" y="91"/>
                    <a:pt x="67" y="106"/>
                    <a:pt x="49" y="110"/>
                  </a:cubicBezTo>
                  <a:cubicBezTo>
                    <a:pt x="33" y="114"/>
                    <a:pt x="16" y="107"/>
                    <a:pt x="11" y="90"/>
                  </a:cubicBezTo>
                  <a:cubicBezTo>
                    <a:pt x="23" y="88"/>
                    <a:pt x="23" y="88"/>
                    <a:pt x="23" y="88"/>
                  </a:cubicBezTo>
                  <a:cubicBezTo>
                    <a:pt x="27" y="97"/>
                    <a:pt x="37" y="101"/>
                    <a:pt x="47" y="99"/>
                  </a:cubicBezTo>
                  <a:cubicBezTo>
                    <a:pt x="58" y="96"/>
                    <a:pt x="64" y="86"/>
                    <a:pt x="62" y="74"/>
                  </a:cubicBezTo>
                  <a:cubicBezTo>
                    <a:pt x="59" y="61"/>
                    <a:pt x="48" y="56"/>
                    <a:pt x="36" y="60"/>
                  </a:cubicBezTo>
                  <a:lnTo>
                    <a:pt x="33" y="49"/>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57">
              <a:extLst>
                <a:ext uri="{FF2B5EF4-FFF2-40B4-BE49-F238E27FC236}">
                  <a16:creationId xmlns:a16="http://schemas.microsoft.com/office/drawing/2014/main" id="{67C03AB9-DC33-D49B-7AB8-BA0E82C37D5F}"/>
                </a:ext>
              </a:extLst>
            </p:cNvPr>
            <p:cNvSpPr>
              <a:spLocks/>
            </p:cNvSpPr>
            <p:nvPr/>
          </p:nvSpPr>
          <p:spPr bwMode="auto">
            <a:xfrm>
              <a:off x="8794333" y="4581526"/>
              <a:ext cx="61912" cy="74613"/>
            </a:xfrm>
            <a:custGeom>
              <a:avLst/>
              <a:gdLst>
                <a:gd name="T0" fmla="*/ 36 w 37"/>
                <a:gd name="T1" fmla="*/ 30 h 45"/>
                <a:gd name="T2" fmla="*/ 37 w 37"/>
                <a:gd name="T3" fmla="*/ 38 h 45"/>
                <a:gd name="T4" fmla="*/ 7 w 37"/>
                <a:gd name="T5" fmla="*/ 45 h 45"/>
                <a:gd name="T6" fmla="*/ 19 w 37"/>
                <a:gd name="T7" fmla="*/ 25 h 45"/>
                <a:gd name="T8" fmla="*/ 21 w 37"/>
                <a:gd name="T9" fmla="*/ 14 h 45"/>
                <a:gd name="T10" fmla="*/ 15 w 37"/>
                <a:gd name="T11" fmla="*/ 10 h 45"/>
                <a:gd name="T12" fmla="*/ 12 w 37"/>
                <a:gd name="T13" fmla="*/ 16 h 45"/>
                <a:gd name="T14" fmla="*/ 13 w 37"/>
                <a:gd name="T15" fmla="*/ 17 h 45"/>
                <a:gd name="T16" fmla="*/ 2 w 37"/>
                <a:gd name="T17" fmla="*/ 20 h 45"/>
                <a:gd name="T18" fmla="*/ 14 w 37"/>
                <a:gd name="T19" fmla="*/ 2 h 45"/>
                <a:gd name="T20" fmla="*/ 31 w 37"/>
                <a:gd name="T21" fmla="*/ 12 h 45"/>
                <a:gd name="T22" fmla="*/ 28 w 37"/>
                <a:gd name="T23" fmla="*/ 26 h 45"/>
                <a:gd name="T24" fmla="*/ 23 w 37"/>
                <a:gd name="T25" fmla="*/ 33 h 45"/>
                <a:gd name="T26" fmla="*/ 36 w 37"/>
                <a:gd name="T27" fmla="*/ 3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 h="45">
                  <a:moveTo>
                    <a:pt x="36" y="30"/>
                  </a:moveTo>
                  <a:cubicBezTo>
                    <a:pt x="37" y="38"/>
                    <a:pt x="37" y="38"/>
                    <a:pt x="37" y="38"/>
                  </a:cubicBezTo>
                  <a:cubicBezTo>
                    <a:pt x="7" y="45"/>
                    <a:pt x="7" y="45"/>
                    <a:pt x="7" y="45"/>
                  </a:cubicBezTo>
                  <a:cubicBezTo>
                    <a:pt x="19" y="25"/>
                    <a:pt x="19" y="25"/>
                    <a:pt x="19" y="25"/>
                  </a:cubicBezTo>
                  <a:cubicBezTo>
                    <a:pt x="20" y="22"/>
                    <a:pt x="22" y="18"/>
                    <a:pt x="21" y="14"/>
                  </a:cubicBezTo>
                  <a:cubicBezTo>
                    <a:pt x="20" y="12"/>
                    <a:pt x="18" y="10"/>
                    <a:pt x="15" y="10"/>
                  </a:cubicBezTo>
                  <a:cubicBezTo>
                    <a:pt x="13" y="11"/>
                    <a:pt x="12" y="13"/>
                    <a:pt x="12" y="16"/>
                  </a:cubicBezTo>
                  <a:cubicBezTo>
                    <a:pt x="12" y="16"/>
                    <a:pt x="13" y="17"/>
                    <a:pt x="13" y="17"/>
                  </a:cubicBezTo>
                  <a:cubicBezTo>
                    <a:pt x="2" y="20"/>
                    <a:pt x="2" y="20"/>
                    <a:pt x="2" y="20"/>
                  </a:cubicBezTo>
                  <a:cubicBezTo>
                    <a:pt x="0" y="11"/>
                    <a:pt x="5" y="4"/>
                    <a:pt x="14" y="2"/>
                  </a:cubicBezTo>
                  <a:cubicBezTo>
                    <a:pt x="22" y="0"/>
                    <a:pt x="30" y="4"/>
                    <a:pt x="31" y="12"/>
                  </a:cubicBezTo>
                  <a:cubicBezTo>
                    <a:pt x="33" y="18"/>
                    <a:pt x="31" y="21"/>
                    <a:pt x="28" y="26"/>
                  </a:cubicBezTo>
                  <a:cubicBezTo>
                    <a:pt x="23" y="33"/>
                    <a:pt x="23" y="33"/>
                    <a:pt x="23" y="33"/>
                  </a:cubicBezTo>
                  <a:lnTo>
                    <a:pt x="36" y="3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5">
              <a:extLst>
                <a:ext uri="{FF2B5EF4-FFF2-40B4-BE49-F238E27FC236}">
                  <a16:creationId xmlns:a16="http://schemas.microsoft.com/office/drawing/2014/main" id="{3C10FF6C-781D-74F3-B337-48B6F965A233}"/>
                </a:ext>
              </a:extLst>
            </p:cNvPr>
            <p:cNvSpPr>
              <a:spLocks/>
            </p:cNvSpPr>
            <p:nvPr/>
          </p:nvSpPr>
          <p:spPr bwMode="auto">
            <a:xfrm>
              <a:off x="9145170" y="3744913"/>
              <a:ext cx="347662" cy="303213"/>
            </a:xfrm>
            <a:custGeom>
              <a:avLst/>
              <a:gdLst>
                <a:gd name="T0" fmla="*/ 119 w 207"/>
                <a:gd name="T1" fmla="*/ 118 h 180"/>
                <a:gd name="T2" fmla="*/ 95 w 207"/>
                <a:gd name="T3" fmla="*/ 141 h 180"/>
                <a:gd name="T4" fmla="*/ 75 w 207"/>
                <a:gd name="T5" fmla="*/ 168 h 180"/>
                <a:gd name="T6" fmla="*/ 58 w 207"/>
                <a:gd name="T7" fmla="*/ 172 h 180"/>
                <a:gd name="T8" fmla="*/ 71 w 207"/>
                <a:gd name="T9" fmla="*/ 153 h 180"/>
                <a:gd name="T10" fmla="*/ 81 w 207"/>
                <a:gd name="T11" fmla="*/ 128 h 180"/>
                <a:gd name="T12" fmla="*/ 78 w 207"/>
                <a:gd name="T13" fmla="*/ 106 h 180"/>
                <a:gd name="T14" fmla="*/ 47 w 207"/>
                <a:gd name="T15" fmla="*/ 105 h 180"/>
                <a:gd name="T16" fmla="*/ 22 w 207"/>
                <a:gd name="T17" fmla="*/ 92 h 180"/>
                <a:gd name="T18" fmla="*/ 51 w 207"/>
                <a:gd name="T19" fmla="*/ 85 h 180"/>
                <a:gd name="T20" fmla="*/ 80 w 207"/>
                <a:gd name="T21" fmla="*/ 75 h 180"/>
                <a:gd name="T22" fmla="*/ 82 w 207"/>
                <a:gd name="T23" fmla="*/ 53 h 180"/>
                <a:gd name="T24" fmla="*/ 75 w 207"/>
                <a:gd name="T25" fmla="*/ 27 h 180"/>
                <a:gd name="T26" fmla="*/ 65 w 207"/>
                <a:gd name="T27" fmla="*/ 10 h 180"/>
                <a:gd name="T28" fmla="*/ 77 w 207"/>
                <a:gd name="T29" fmla="*/ 8 h 180"/>
                <a:gd name="T30" fmla="*/ 104 w 207"/>
                <a:gd name="T31" fmla="*/ 48 h 180"/>
                <a:gd name="T32" fmla="*/ 117 w 207"/>
                <a:gd name="T33" fmla="*/ 70 h 180"/>
                <a:gd name="T34" fmla="*/ 151 w 207"/>
                <a:gd name="T35" fmla="*/ 56 h 180"/>
                <a:gd name="T36" fmla="*/ 175 w 207"/>
                <a:gd name="T37" fmla="*/ 44 h 180"/>
                <a:gd name="T38" fmla="*/ 163 w 207"/>
                <a:gd name="T39" fmla="*/ 71 h 180"/>
                <a:gd name="T40" fmla="*/ 138 w 207"/>
                <a:gd name="T41" fmla="*/ 95 h 180"/>
                <a:gd name="T42" fmla="*/ 143 w 207"/>
                <a:gd name="T43" fmla="*/ 113 h 180"/>
                <a:gd name="T44" fmla="*/ 161 w 207"/>
                <a:gd name="T45" fmla="*/ 141 h 180"/>
                <a:gd name="T46" fmla="*/ 163 w 207"/>
                <a:gd name="T47" fmla="*/ 160 h 180"/>
                <a:gd name="T48" fmla="*/ 150 w 207"/>
                <a:gd name="T49" fmla="*/ 157 h 180"/>
                <a:gd name="T50" fmla="*/ 139 w 207"/>
                <a:gd name="T51" fmla="*/ 136 h 180"/>
                <a:gd name="T52" fmla="*/ 130 w 207"/>
                <a:gd name="T53" fmla="*/ 126 h 180"/>
                <a:gd name="T54" fmla="*/ 119 w 207"/>
                <a:gd name="T55" fmla="*/ 11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7" h="180">
                  <a:moveTo>
                    <a:pt x="119" y="118"/>
                  </a:moveTo>
                  <a:cubicBezTo>
                    <a:pt x="104" y="108"/>
                    <a:pt x="99" y="130"/>
                    <a:pt x="95" y="141"/>
                  </a:cubicBezTo>
                  <a:cubicBezTo>
                    <a:pt x="91" y="152"/>
                    <a:pt x="81" y="162"/>
                    <a:pt x="75" y="168"/>
                  </a:cubicBezTo>
                  <a:cubicBezTo>
                    <a:pt x="70" y="173"/>
                    <a:pt x="57" y="180"/>
                    <a:pt x="58" y="172"/>
                  </a:cubicBezTo>
                  <a:cubicBezTo>
                    <a:pt x="60" y="165"/>
                    <a:pt x="68" y="159"/>
                    <a:pt x="71" y="153"/>
                  </a:cubicBezTo>
                  <a:cubicBezTo>
                    <a:pt x="76" y="145"/>
                    <a:pt x="79" y="137"/>
                    <a:pt x="81" y="128"/>
                  </a:cubicBezTo>
                  <a:cubicBezTo>
                    <a:pt x="82" y="124"/>
                    <a:pt x="87" y="109"/>
                    <a:pt x="78" y="106"/>
                  </a:cubicBezTo>
                  <a:cubicBezTo>
                    <a:pt x="68" y="104"/>
                    <a:pt x="58" y="105"/>
                    <a:pt x="47" y="105"/>
                  </a:cubicBezTo>
                  <a:cubicBezTo>
                    <a:pt x="39" y="105"/>
                    <a:pt x="0" y="104"/>
                    <a:pt x="22" y="92"/>
                  </a:cubicBezTo>
                  <a:cubicBezTo>
                    <a:pt x="31" y="87"/>
                    <a:pt x="42" y="87"/>
                    <a:pt x="51" y="85"/>
                  </a:cubicBezTo>
                  <a:cubicBezTo>
                    <a:pt x="58" y="85"/>
                    <a:pt x="76" y="83"/>
                    <a:pt x="80" y="75"/>
                  </a:cubicBezTo>
                  <a:cubicBezTo>
                    <a:pt x="83" y="69"/>
                    <a:pt x="83" y="60"/>
                    <a:pt x="82" y="53"/>
                  </a:cubicBezTo>
                  <a:cubicBezTo>
                    <a:pt x="80" y="44"/>
                    <a:pt x="79" y="35"/>
                    <a:pt x="75" y="27"/>
                  </a:cubicBezTo>
                  <a:cubicBezTo>
                    <a:pt x="73" y="21"/>
                    <a:pt x="69" y="14"/>
                    <a:pt x="65" y="10"/>
                  </a:cubicBezTo>
                  <a:cubicBezTo>
                    <a:pt x="56" y="0"/>
                    <a:pt x="72" y="5"/>
                    <a:pt x="77" y="8"/>
                  </a:cubicBezTo>
                  <a:cubicBezTo>
                    <a:pt x="94" y="20"/>
                    <a:pt x="100" y="32"/>
                    <a:pt x="104" y="48"/>
                  </a:cubicBezTo>
                  <a:cubicBezTo>
                    <a:pt x="106" y="54"/>
                    <a:pt x="111" y="67"/>
                    <a:pt x="117" y="70"/>
                  </a:cubicBezTo>
                  <a:cubicBezTo>
                    <a:pt x="126" y="74"/>
                    <a:pt x="143" y="61"/>
                    <a:pt x="151" y="56"/>
                  </a:cubicBezTo>
                  <a:cubicBezTo>
                    <a:pt x="159" y="52"/>
                    <a:pt x="166" y="48"/>
                    <a:pt x="175" y="44"/>
                  </a:cubicBezTo>
                  <a:cubicBezTo>
                    <a:pt x="207" y="33"/>
                    <a:pt x="177" y="61"/>
                    <a:pt x="163" y="71"/>
                  </a:cubicBezTo>
                  <a:cubicBezTo>
                    <a:pt x="152" y="80"/>
                    <a:pt x="141" y="83"/>
                    <a:pt x="138" y="95"/>
                  </a:cubicBezTo>
                  <a:cubicBezTo>
                    <a:pt x="136" y="102"/>
                    <a:pt x="139" y="108"/>
                    <a:pt x="143" y="113"/>
                  </a:cubicBezTo>
                  <a:cubicBezTo>
                    <a:pt x="150" y="121"/>
                    <a:pt x="157" y="131"/>
                    <a:pt x="161" y="141"/>
                  </a:cubicBezTo>
                  <a:cubicBezTo>
                    <a:pt x="162" y="145"/>
                    <a:pt x="165" y="158"/>
                    <a:pt x="163" y="160"/>
                  </a:cubicBezTo>
                  <a:cubicBezTo>
                    <a:pt x="160" y="167"/>
                    <a:pt x="153" y="163"/>
                    <a:pt x="150" y="157"/>
                  </a:cubicBezTo>
                  <a:cubicBezTo>
                    <a:pt x="147" y="149"/>
                    <a:pt x="144" y="142"/>
                    <a:pt x="139" y="136"/>
                  </a:cubicBezTo>
                  <a:cubicBezTo>
                    <a:pt x="136" y="133"/>
                    <a:pt x="133" y="129"/>
                    <a:pt x="130" y="126"/>
                  </a:cubicBezTo>
                  <a:cubicBezTo>
                    <a:pt x="127" y="122"/>
                    <a:pt x="123" y="120"/>
                    <a:pt x="119" y="1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7" name="Rectangle 46">
            <a:extLst>
              <a:ext uri="{FF2B5EF4-FFF2-40B4-BE49-F238E27FC236}">
                <a16:creationId xmlns:a16="http://schemas.microsoft.com/office/drawing/2014/main" id="{3C1BACD6-4CF9-A9DE-379F-BB6EFC98B658}"/>
              </a:ext>
            </a:extLst>
          </p:cNvPr>
          <p:cNvSpPr/>
          <p:nvPr/>
        </p:nvSpPr>
        <p:spPr>
          <a:xfrm>
            <a:off x="5981356" y="2296133"/>
            <a:ext cx="5801456" cy="461665"/>
          </a:xfrm>
          <a:prstGeom prst="rect">
            <a:avLst/>
          </a:prstGeom>
        </p:spPr>
        <p:txBody>
          <a:bodyPr wrap="square">
            <a:spAutoFit/>
          </a:bodyPr>
          <a:lstStyle/>
          <a:p>
            <a:pPr marL="358775" indent="-358775">
              <a:buFont typeface="Arial" panose="020B0604020202020204" pitchFamily="34" charset="0"/>
              <a:buChar char="•"/>
            </a:pPr>
            <a:r>
              <a:rPr lang="en-US" sz="2400" b="1" i="1" dirty="0">
                <a:solidFill>
                  <a:schemeClr val="accent1"/>
                </a:solidFill>
              </a:rPr>
              <a:t>Strategy Houses (e.g. McKinsey)</a:t>
            </a:r>
            <a:endParaRPr lang="en-US" sz="2400" dirty="0"/>
          </a:p>
        </p:txBody>
      </p:sp>
      <p:sp>
        <p:nvSpPr>
          <p:cNvPr id="48" name="Rectangle 47">
            <a:extLst>
              <a:ext uri="{FF2B5EF4-FFF2-40B4-BE49-F238E27FC236}">
                <a16:creationId xmlns:a16="http://schemas.microsoft.com/office/drawing/2014/main" id="{834B895E-BC5C-7A0D-9A67-0C94C6823A7C}"/>
              </a:ext>
            </a:extLst>
          </p:cNvPr>
          <p:cNvSpPr/>
          <p:nvPr/>
        </p:nvSpPr>
        <p:spPr>
          <a:xfrm>
            <a:off x="5981356" y="3012294"/>
            <a:ext cx="5801456" cy="461665"/>
          </a:xfrm>
          <a:prstGeom prst="rect">
            <a:avLst/>
          </a:prstGeom>
        </p:spPr>
        <p:txBody>
          <a:bodyPr wrap="square">
            <a:spAutoFit/>
          </a:bodyPr>
          <a:lstStyle/>
          <a:p>
            <a:pPr marL="358775" indent="-358775">
              <a:buFont typeface="Arial" panose="020B0604020202020204" pitchFamily="34" charset="0"/>
              <a:buChar char="•"/>
            </a:pPr>
            <a:r>
              <a:rPr lang="en-US" sz="2400" b="1" i="1" dirty="0">
                <a:solidFill>
                  <a:schemeClr val="accent2"/>
                </a:solidFill>
              </a:rPr>
              <a:t>Big-4 (e.g. KPMG)</a:t>
            </a:r>
            <a:endParaRPr lang="en-US" sz="2400" dirty="0"/>
          </a:p>
        </p:txBody>
      </p:sp>
      <p:sp>
        <p:nvSpPr>
          <p:cNvPr id="49" name="Rectangle 48">
            <a:extLst>
              <a:ext uri="{FF2B5EF4-FFF2-40B4-BE49-F238E27FC236}">
                <a16:creationId xmlns:a16="http://schemas.microsoft.com/office/drawing/2014/main" id="{4175B4C7-AB4C-24B0-38DA-A203378510FF}"/>
              </a:ext>
            </a:extLst>
          </p:cNvPr>
          <p:cNvSpPr/>
          <p:nvPr/>
        </p:nvSpPr>
        <p:spPr>
          <a:xfrm>
            <a:off x="5981356" y="3723554"/>
            <a:ext cx="5801456" cy="461665"/>
          </a:xfrm>
          <a:prstGeom prst="rect">
            <a:avLst/>
          </a:prstGeom>
        </p:spPr>
        <p:txBody>
          <a:bodyPr wrap="square">
            <a:spAutoFit/>
          </a:bodyPr>
          <a:lstStyle/>
          <a:p>
            <a:pPr marL="314325" indent="-314325">
              <a:buFont typeface="Arial" panose="020B0604020202020204" pitchFamily="34" charset="0"/>
              <a:buChar char="•"/>
            </a:pPr>
            <a:r>
              <a:rPr lang="en-US" sz="2400" b="1" i="1" dirty="0">
                <a:solidFill>
                  <a:schemeClr val="accent3"/>
                </a:solidFill>
              </a:rPr>
              <a:t>IT Services (e.g. Accenture)</a:t>
            </a:r>
          </a:p>
        </p:txBody>
      </p:sp>
      <p:sp>
        <p:nvSpPr>
          <p:cNvPr id="50" name="Rectangle 49">
            <a:extLst>
              <a:ext uri="{FF2B5EF4-FFF2-40B4-BE49-F238E27FC236}">
                <a16:creationId xmlns:a16="http://schemas.microsoft.com/office/drawing/2014/main" id="{8FA93F9D-5E37-F2D2-2EF1-78D5BF89201F}"/>
              </a:ext>
            </a:extLst>
          </p:cNvPr>
          <p:cNvSpPr/>
          <p:nvPr/>
        </p:nvSpPr>
        <p:spPr>
          <a:xfrm>
            <a:off x="5981356" y="4434814"/>
            <a:ext cx="5801456" cy="461665"/>
          </a:xfrm>
          <a:prstGeom prst="rect">
            <a:avLst/>
          </a:prstGeom>
        </p:spPr>
        <p:txBody>
          <a:bodyPr wrap="square">
            <a:spAutoFit/>
          </a:bodyPr>
          <a:lstStyle/>
          <a:p>
            <a:pPr marL="358775" indent="-358775">
              <a:buFont typeface="Arial" panose="020B0604020202020204" pitchFamily="34" charset="0"/>
              <a:buChar char="•"/>
            </a:pPr>
            <a:r>
              <a:rPr lang="en-US" sz="2400" b="1" i="1" dirty="0">
                <a:solidFill>
                  <a:schemeClr val="accent4"/>
                </a:solidFill>
              </a:rPr>
              <a:t>AI-powered Challengers</a:t>
            </a:r>
            <a:endParaRPr lang="en-US" sz="2400" dirty="0"/>
          </a:p>
        </p:txBody>
      </p:sp>
    </p:spTree>
    <p:extLst>
      <p:ext uri="{BB962C8B-B14F-4D97-AF65-F5344CB8AC3E}">
        <p14:creationId xmlns:p14="http://schemas.microsoft.com/office/powerpoint/2010/main" val="184172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2" presetClass="entr" presetSubtype="8" fill="hold" grpId="0" nodeType="withEffect">
                                  <p:stCondLst>
                                    <p:cond delay="750"/>
                                  </p:stCondLst>
                                  <p:childTnLst>
                                    <p:set>
                                      <p:cBhvr>
                                        <p:cTn id="10" dur="1" fill="hold">
                                          <p:stCondLst>
                                            <p:cond delay="0"/>
                                          </p:stCondLst>
                                        </p:cTn>
                                        <p:tgtEl>
                                          <p:spTgt spid="47"/>
                                        </p:tgtEl>
                                        <p:attrNameLst>
                                          <p:attrName>style.visibility</p:attrName>
                                        </p:attrNameLst>
                                      </p:cBhvr>
                                      <p:to>
                                        <p:strVal val="visible"/>
                                      </p:to>
                                    </p:set>
                                    <p:anim calcmode="lin" valueType="num">
                                      <p:cBhvr additive="base">
                                        <p:cTn id="11" dur="500"/>
                                        <p:tgtEl>
                                          <p:spTgt spid="47"/>
                                        </p:tgtEl>
                                        <p:attrNameLst>
                                          <p:attrName>ppt_x</p:attrName>
                                        </p:attrNameLst>
                                      </p:cBhvr>
                                      <p:tavLst>
                                        <p:tav tm="0">
                                          <p:val>
                                            <p:strVal val="#ppt_x-#ppt_w*1.125000"/>
                                          </p:val>
                                        </p:tav>
                                        <p:tav tm="100000">
                                          <p:val>
                                            <p:strVal val="#ppt_x"/>
                                          </p:val>
                                        </p:tav>
                                      </p:tavLst>
                                    </p:anim>
                                    <p:animEffect transition="in" filter="wipe(right)">
                                      <p:cBhvr>
                                        <p:cTn id="12" dur="500"/>
                                        <p:tgtEl>
                                          <p:spTgt spid="47"/>
                                        </p:tgtEl>
                                      </p:cBhvr>
                                    </p:animEffect>
                                  </p:childTnLst>
                                </p:cTn>
                              </p:par>
                              <p:par>
                                <p:cTn id="13" presetID="12" presetClass="entr" presetSubtype="8" fill="hold" grpId="0" nodeType="withEffect">
                                  <p:stCondLst>
                                    <p:cond delay="75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p:tgtEl>
                                          <p:spTgt spid="48"/>
                                        </p:tgtEl>
                                        <p:attrNameLst>
                                          <p:attrName>ppt_x</p:attrName>
                                        </p:attrNameLst>
                                      </p:cBhvr>
                                      <p:tavLst>
                                        <p:tav tm="0">
                                          <p:val>
                                            <p:strVal val="#ppt_x-#ppt_w*1.125000"/>
                                          </p:val>
                                        </p:tav>
                                        <p:tav tm="100000">
                                          <p:val>
                                            <p:strVal val="#ppt_x"/>
                                          </p:val>
                                        </p:tav>
                                      </p:tavLst>
                                    </p:anim>
                                    <p:animEffect transition="in" filter="wipe(right)">
                                      <p:cBhvr>
                                        <p:cTn id="16" dur="500"/>
                                        <p:tgtEl>
                                          <p:spTgt spid="48"/>
                                        </p:tgtEl>
                                      </p:cBhvr>
                                    </p:animEffect>
                                  </p:childTnLst>
                                </p:cTn>
                              </p:par>
                              <p:par>
                                <p:cTn id="17" presetID="12" presetClass="entr" presetSubtype="8" fill="hold" grpId="0" nodeType="withEffect">
                                  <p:stCondLst>
                                    <p:cond delay="75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p:tgtEl>
                                          <p:spTgt spid="49"/>
                                        </p:tgtEl>
                                        <p:attrNameLst>
                                          <p:attrName>ppt_x</p:attrName>
                                        </p:attrNameLst>
                                      </p:cBhvr>
                                      <p:tavLst>
                                        <p:tav tm="0">
                                          <p:val>
                                            <p:strVal val="#ppt_x-#ppt_w*1.125000"/>
                                          </p:val>
                                        </p:tav>
                                        <p:tav tm="100000">
                                          <p:val>
                                            <p:strVal val="#ppt_x"/>
                                          </p:val>
                                        </p:tav>
                                      </p:tavLst>
                                    </p:anim>
                                    <p:animEffect transition="in" filter="wipe(right)">
                                      <p:cBhvr>
                                        <p:cTn id="20" dur="500"/>
                                        <p:tgtEl>
                                          <p:spTgt spid="49"/>
                                        </p:tgtEl>
                                      </p:cBhvr>
                                    </p:animEffect>
                                  </p:childTnLst>
                                </p:cTn>
                              </p:par>
                              <p:par>
                                <p:cTn id="21" presetID="12" presetClass="entr" presetSubtype="8" fill="hold" grpId="0" nodeType="withEffect">
                                  <p:stCondLst>
                                    <p:cond delay="750"/>
                                  </p:stCondLst>
                                  <p:childTnLst>
                                    <p:set>
                                      <p:cBhvr>
                                        <p:cTn id="22" dur="1" fill="hold">
                                          <p:stCondLst>
                                            <p:cond delay="0"/>
                                          </p:stCondLst>
                                        </p:cTn>
                                        <p:tgtEl>
                                          <p:spTgt spid="50"/>
                                        </p:tgtEl>
                                        <p:attrNameLst>
                                          <p:attrName>style.visibility</p:attrName>
                                        </p:attrNameLst>
                                      </p:cBhvr>
                                      <p:to>
                                        <p:strVal val="visible"/>
                                      </p:to>
                                    </p:set>
                                    <p:anim calcmode="lin" valueType="num">
                                      <p:cBhvr additive="base">
                                        <p:cTn id="23" dur="500"/>
                                        <p:tgtEl>
                                          <p:spTgt spid="50"/>
                                        </p:tgtEl>
                                        <p:attrNameLst>
                                          <p:attrName>ppt_x</p:attrName>
                                        </p:attrNameLst>
                                      </p:cBhvr>
                                      <p:tavLst>
                                        <p:tav tm="0">
                                          <p:val>
                                            <p:strVal val="#ppt_x-#ppt_w*1.125000"/>
                                          </p:val>
                                        </p:tav>
                                        <p:tav tm="100000">
                                          <p:val>
                                            <p:strVal val="#ppt_x"/>
                                          </p:val>
                                        </p:tav>
                                      </p:tavLst>
                                    </p:anim>
                                    <p:animEffect transition="in" filter="wipe(right)">
                                      <p:cBhvr>
                                        <p:cTn id="2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659A-21E7-0825-D0E7-0FD2D880198D}"/>
              </a:ext>
            </a:extLst>
          </p:cNvPr>
          <p:cNvSpPr>
            <a:spLocks noGrp="1"/>
          </p:cNvSpPr>
          <p:nvPr>
            <p:ph type="title"/>
          </p:nvPr>
        </p:nvSpPr>
        <p:spPr/>
        <p:txBody>
          <a:bodyPr/>
          <a:lstStyle/>
          <a:p>
            <a:r>
              <a:rPr lang="en-GB" dirty="0"/>
              <a:t>Participants’ Exercise</a:t>
            </a:r>
          </a:p>
        </p:txBody>
      </p:sp>
      <p:pic>
        <p:nvPicPr>
          <p:cNvPr id="15362" name="Picture 2" descr="73+ Thousand Training Participants Royalty-Free Images, Stock Photos &amp;  Pictures | Shutterstock">
            <a:extLst>
              <a:ext uri="{FF2B5EF4-FFF2-40B4-BE49-F238E27FC236}">
                <a16:creationId xmlns:a16="http://schemas.microsoft.com/office/drawing/2014/main" id="{53DA5116-8B06-F77F-8992-5CEEB09A97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429"/>
          <a:stretch>
            <a:fillRect/>
          </a:stretch>
        </p:blipFill>
        <p:spPr bwMode="auto">
          <a:xfrm>
            <a:off x="1037590" y="2211070"/>
            <a:ext cx="5499100" cy="3149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84F890B-8664-B88A-519A-1E9B9F0C6778}"/>
              </a:ext>
            </a:extLst>
          </p:cNvPr>
          <p:cNvSpPr txBox="1"/>
          <p:nvPr/>
        </p:nvSpPr>
        <p:spPr>
          <a:xfrm>
            <a:off x="7360921" y="2697480"/>
            <a:ext cx="4183380" cy="2308324"/>
          </a:xfrm>
          <a:prstGeom prst="rect">
            <a:avLst/>
          </a:prstGeom>
          <a:noFill/>
        </p:spPr>
        <p:txBody>
          <a:bodyPr wrap="square" rtlCol="0">
            <a:spAutoFit/>
          </a:bodyPr>
          <a:lstStyle/>
          <a:p>
            <a:r>
              <a:rPr lang="en-GB" sz="2400" b="1" dirty="0">
                <a:solidFill>
                  <a:schemeClr val="tx2"/>
                </a:solidFill>
              </a:rPr>
              <a:t>As we look at what’s happening across our industry pay particular attention to what you could be doing either directly or by adapting it to something better?</a:t>
            </a:r>
          </a:p>
        </p:txBody>
      </p:sp>
    </p:spTree>
    <p:extLst>
      <p:ext uri="{BB962C8B-B14F-4D97-AF65-F5344CB8AC3E}">
        <p14:creationId xmlns:p14="http://schemas.microsoft.com/office/powerpoint/2010/main" val="479069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wiring the way McKinsey works with Lilli, our generative AI platform | Digital | McKinsey ...">
            <a:extLst>
              <a:ext uri="{FF2B5EF4-FFF2-40B4-BE49-F238E27FC236}">
                <a16:creationId xmlns:a16="http://schemas.microsoft.com/office/drawing/2014/main" id="{D419C3DD-7274-D742-C167-2DB378ADC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5EA8354B-E045-90DB-0CE5-68E694024A54}"/>
              </a:ext>
            </a:extLst>
          </p:cNvPr>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lnSpcReduction="10000"/>
          </a:bodyPr>
          <a:lstStyle/>
          <a:p>
            <a:pPr>
              <a:spcAft>
                <a:spcPts val="600"/>
              </a:spcAft>
              <a:defRPr/>
            </a:pPr>
            <a:fld id="{F3451B78-826D-4FE9-99FE-428C8E62A634}" type="slidenum">
              <a:rPr lang="en-US">
                <a:solidFill>
                  <a:srgbClr val="FFFFFF"/>
                </a:solidFill>
                <a:latin typeface="Calibri" panose="020F0502020204030204"/>
              </a:rPr>
              <a:pPr>
                <a:spcAft>
                  <a:spcPts val="600"/>
                </a:spcAft>
                <a:defRPr/>
              </a:pPr>
              <a:t>31</a:t>
            </a:fld>
            <a:endParaRPr lang="en-US">
              <a:solidFill>
                <a:srgbClr val="FFFFFF"/>
              </a:solidFill>
              <a:latin typeface="Calibri" panose="020F0502020204030204"/>
            </a:endParaRPr>
          </a:p>
        </p:txBody>
      </p:sp>
    </p:spTree>
    <p:extLst>
      <p:ext uri="{BB962C8B-B14F-4D97-AF65-F5344CB8AC3E}">
        <p14:creationId xmlns:p14="http://schemas.microsoft.com/office/powerpoint/2010/main" val="1635187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5" name="Rectangle 2084">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23899" y="723903"/>
            <a:ext cx="6857998" cy="5410189"/>
          </a:xfrm>
          <a:prstGeom prst="rect">
            <a:avLst/>
          </a:prstGeom>
          <a:ln>
            <a:noFill/>
          </a:ln>
          <a:effectLst>
            <a:outerShdw blurRad="368300" dist="127000" sx="97000" sy="97000" algn="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460707"/>
            <a:ext cx="3941323" cy="1811645"/>
          </a:xfrm>
        </p:spPr>
        <p:txBody>
          <a:bodyPr anchor="ctr">
            <a:normAutofit/>
          </a:bodyPr>
          <a:lstStyle/>
          <a:p>
            <a:r>
              <a:rPr lang="en-GB" sz="4000" dirty="0"/>
              <a:t>Quotes from McKinsey Leaders</a:t>
            </a:r>
          </a:p>
        </p:txBody>
      </p:sp>
      <p:pic>
        <p:nvPicPr>
          <p:cNvPr id="2058" name="Picture 10" descr="Jacky Wright | McKinsey &amp; Company">
            <a:extLst>
              <a:ext uri="{FF2B5EF4-FFF2-40B4-BE49-F238E27FC236}">
                <a16:creationId xmlns:a16="http://schemas.microsoft.com/office/drawing/2014/main" id="{CF171B73-96D5-2268-9375-B3DA54BA0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 r="1228" b="-4"/>
          <a:stretch>
            <a:fillRect/>
          </a:stretch>
        </p:blipFill>
        <p:spPr bwMode="auto">
          <a:xfrm>
            <a:off x="2696198" y="2721904"/>
            <a:ext cx="2708658" cy="205571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elphine Nain Zurkiya | McKinsey &amp; Company">
            <a:extLst>
              <a:ext uri="{FF2B5EF4-FFF2-40B4-BE49-F238E27FC236}">
                <a16:creationId xmlns:a16="http://schemas.microsoft.com/office/drawing/2014/main" id="{DBDDA346-83C0-EAE5-46BD-2DBE3F05D1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23" r="821" b="-1"/>
          <a:stretch>
            <a:fillRect/>
          </a:stretch>
        </p:blipFill>
        <p:spPr bwMode="auto">
          <a:xfrm>
            <a:off x="2703317" y="4772214"/>
            <a:ext cx="2701539" cy="20573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hil-Hudelson | Insurance blog ...">
            <a:extLst>
              <a:ext uri="{FF2B5EF4-FFF2-40B4-BE49-F238E27FC236}">
                <a16:creationId xmlns:a16="http://schemas.microsoft.com/office/drawing/2014/main" id="{FCD142CC-9562-EE0D-A589-99D6AD2370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911" r="-4" b="20686"/>
          <a:stretch>
            <a:fillRect/>
          </a:stretch>
        </p:blipFill>
        <p:spPr bwMode="auto">
          <a:xfrm>
            <a:off x="0" y="4743830"/>
            <a:ext cx="2708656" cy="206942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rik Roth">
            <a:extLst>
              <a:ext uri="{FF2B5EF4-FFF2-40B4-BE49-F238E27FC236}">
                <a16:creationId xmlns:a16="http://schemas.microsoft.com/office/drawing/2014/main" id="{B114B3EF-6132-9241-0B48-D0721E7383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3" b="23400"/>
          <a:stretch>
            <a:fillRect/>
          </a:stretch>
        </p:blipFill>
        <p:spPr bwMode="auto">
          <a:xfrm>
            <a:off x="3558" y="2694003"/>
            <a:ext cx="2701539" cy="20694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6096000" y="246184"/>
            <a:ext cx="5676900" cy="6435969"/>
          </a:xfrm>
        </p:spPr>
        <p:txBody>
          <a:bodyPr anchor="ctr">
            <a:normAutofit/>
          </a:bodyPr>
          <a:lstStyle/>
          <a:p>
            <a:pPr marL="0" indent="0">
              <a:buNone/>
            </a:pPr>
            <a:r>
              <a:rPr lang="en-GB" sz="1800" i="1" dirty="0"/>
              <a:t>“My hope is the future McKinsey consultant, and perhaps broader to the industry as well, will actually spend more time activating their insights as opposed to doing the analytics to create them.”</a:t>
            </a:r>
          </a:p>
          <a:p>
            <a:pPr marL="0" indent="0">
              <a:buNone/>
            </a:pPr>
            <a:r>
              <a:rPr lang="en-GB" sz="1800" dirty="0"/>
              <a:t>- Erik Roth, Creator of Lilli &amp; Senior Partner</a:t>
            </a:r>
            <a:br>
              <a:rPr lang="en-GB" sz="1800" dirty="0"/>
            </a:br>
            <a:endParaRPr lang="en-GB" sz="1800" dirty="0"/>
          </a:p>
          <a:p>
            <a:pPr marL="0" indent="0">
              <a:buNone/>
            </a:pPr>
            <a:r>
              <a:rPr lang="en-GB" sz="1800" i="1" dirty="0"/>
              <a:t>“With Lilli, we can use technology to access and leverage our entire body of knowledge and assets to drive new levels of productivity.”</a:t>
            </a:r>
          </a:p>
          <a:p>
            <a:pPr marL="0" indent="0">
              <a:buNone/>
            </a:pPr>
            <a:r>
              <a:rPr lang="en-GB" sz="1800" dirty="0"/>
              <a:t>- Jacky Wright, Senior Partner and CIO</a:t>
            </a:r>
            <a:br>
              <a:rPr lang="en-GB" sz="1800" dirty="0"/>
            </a:br>
            <a:endParaRPr lang="en-GB" sz="1800" dirty="0"/>
          </a:p>
          <a:p>
            <a:pPr marL="0" indent="0">
              <a:buNone/>
            </a:pPr>
            <a:r>
              <a:rPr lang="en-GB" sz="1800" i="1" dirty="0"/>
              <a:t>“Lilli has unleashed creative potential.”</a:t>
            </a:r>
          </a:p>
          <a:p>
            <a:pPr marL="0" indent="0">
              <a:buNone/>
            </a:pPr>
            <a:r>
              <a:rPr lang="en-GB" sz="1800" dirty="0"/>
              <a:t>- Phil Hudelson, Partner &amp; CTO</a:t>
            </a:r>
          </a:p>
          <a:p>
            <a:pPr marL="0" indent="0">
              <a:buNone/>
            </a:pPr>
            <a:endParaRPr lang="en-GB" sz="1800" dirty="0"/>
          </a:p>
          <a:p>
            <a:pPr marL="0" indent="0">
              <a:buNone/>
            </a:pPr>
            <a:r>
              <a:rPr lang="en-GB" sz="1800" i="1" dirty="0"/>
              <a:t>“We almost have AI in the room with us.”</a:t>
            </a:r>
          </a:p>
          <a:p>
            <a:pPr>
              <a:buFontTx/>
              <a:buChar char="-"/>
            </a:pPr>
            <a:r>
              <a:rPr lang="en-GB" sz="1800" dirty="0"/>
              <a:t>Delphine </a:t>
            </a:r>
            <a:r>
              <a:rPr lang="en-GB" sz="1800" dirty="0" err="1"/>
              <a:t>Zurkiya</a:t>
            </a:r>
            <a:r>
              <a:rPr lang="en-GB" sz="1800" dirty="0"/>
              <a:t>, Senior Partner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B7AB2EA-D5F1-BD88-C1BB-92DF6D472502}"/>
              </a:ext>
            </a:extLst>
          </p:cNvPr>
          <p:cNvSpPr>
            <a:spLocks noGrp="1"/>
          </p:cNvSpPr>
          <p:nvPr>
            <p:ph type="title"/>
          </p:nvPr>
        </p:nvSpPr>
        <p:spPr>
          <a:xfrm>
            <a:off x="838200" y="365126"/>
            <a:ext cx="10515600" cy="727694"/>
          </a:xfrm>
        </p:spPr>
        <p:txBody>
          <a:bodyPr/>
          <a:lstStyle/>
          <a:p>
            <a:pPr algn="ctr"/>
            <a:r>
              <a:rPr lang="en-GB" b="1" dirty="0">
                <a:solidFill>
                  <a:schemeClr val="tx2"/>
                </a:solidFill>
              </a:rPr>
              <a:t>Case: McKinsey’s “Lilli”</a:t>
            </a:r>
          </a:p>
        </p:txBody>
      </p:sp>
      <p:sp>
        <p:nvSpPr>
          <p:cNvPr id="3" name="Content Placeholder 2"/>
          <p:cNvSpPr>
            <a:spLocks noGrp="1"/>
          </p:cNvSpPr>
          <p:nvPr>
            <p:ph idx="4294967295"/>
          </p:nvPr>
        </p:nvSpPr>
        <p:spPr>
          <a:xfrm>
            <a:off x="848899" y="1757576"/>
            <a:ext cx="4663878" cy="2076450"/>
          </a:xfrm>
        </p:spPr>
        <p:txBody>
          <a:bodyPr>
            <a:normAutofit/>
          </a:bodyPr>
          <a:lstStyle/>
          <a:p>
            <a:r>
              <a:rPr sz="1600" dirty="0">
                <a:solidFill>
                  <a:schemeClr val="tx2"/>
                </a:solidFill>
              </a:rPr>
              <a:t>Lilli is McKinsey's proprietary generative AI platform.</a:t>
            </a:r>
          </a:p>
          <a:p>
            <a:r>
              <a:rPr sz="1600" dirty="0">
                <a:solidFill>
                  <a:schemeClr val="tx2"/>
                </a:solidFill>
              </a:rPr>
              <a:t>Named after Lillian Dombrowski.</a:t>
            </a:r>
          </a:p>
          <a:p>
            <a:r>
              <a:rPr sz="1600" dirty="0">
                <a:solidFill>
                  <a:schemeClr val="tx2"/>
                </a:solidFill>
              </a:rPr>
              <a:t>Launched in 2023.</a:t>
            </a:r>
          </a:p>
          <a:p>
            <a:r>
              <a:rPr sz="1600" dirty="0">
                <a:solidFill>
                  <a:schemeClr val="tx2"/>
                </a:solidFill>
              </a:rPr>
              <a:t>Designed to enhance consultants' efficiency by providing rapid access to firm-wide knowledge.</a:t>
            </a:r>
          </a:p>
        </p:txBody>
      </p:sp>
      <p:sp>
        <p:nvSpPr>
          <p:cNvPr id="4" name="TextBox 3">
            <a:extLst>
              <a:ext uri="{FF2B5EF4-FFF2-40B4-BE49-F238E27FC236}">
                <a16:creationId xmlns:a16="http://schemas.microsoft.com/office/drawing/2014/main" id="{3670FE2A-1EF1-F74F-E4AE-EA9A7DFB7B6C}"/>
              </a:ext>
            </a:extLst>
          </p:cNvPr>
          <p:cNvSpPr txBox="1"/>
          <p:nvPr/>
        </p:nvSpPr>
        <p:spPr>
          <a:xfrm>
            <a:off x="838200" y="1161237"/>
            <a:ext cx="4674577" cy="369332"/>
          </a:xfrm>
          <a:prstGeom prst="rect">
            <a:avLst/>
          </a:prstGeom>
          <a:solidFill>
            <a:schemeClr val="tx2"/>
          </a:solidFill>
        </p:spPr>
        <p:txBody>
          <a:bodyPr wrap="square" rtlCol="0">
            <a:spAutoFit/>
          </a:bodyPr>
          <a:lstStyle/>
          <a:p>
            <a:pPr algn="ctr"/>
            <a:r>
              <a:rPr lang="en-GB" b="1" dirty="0">
                <a:solidFill>
                  <a:schemeClr val="bg1"/>
                </a:solidFill>
              </a:rPr>
              <a:t>Lilli</a:t>
            </a:r>
          </a:p>
        </p:txBody>
      </p:sp>
      <p:sp>
        <p:nvSpPr>
          <p:cNvPr id="5" name="Content Placeholder 2">
            <a:extLst>
              <a:ext uri="{FF2B5EF4-FFF2-40B4-BE49-F238E27FC236}">
                <a16:creationId xmlns:a16="http://schemas.microsoft.com/office/drawing/2014/main" id="{E81B8C0E-B0B9-6A0A-60F6-78FA69541BD9}"/>
              </a:ext>
            </a:extLst>
          </p:cNvPr>
          <p:cNvSpPr txBox="1">
            <a:spLocks/>
          </p:cNvSpPr>
          <p:nvPr/>
        </p:nvSpPr>
        <p:spPr>
          <a:xfrm>
            <a:off x="6679224" y="1721578"/>
            <a:ext cx="4830337" cy="1908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Access internal knowledge (100,000+ documents).</a:t>
            </a:r>
          </a:p>
          <a:p>
            <a:r>
              <a:rPr lang="en-GB" sz="1600" dirty="0">
                <a:solidFill>
                  <a:schemeClr val="tx2"/>
                </a:solidFill>
              </a:rPr>
              <a:t>Identify subject matter experts.</a:t>
            </a:r>
          </a:p>
          <a:p>
            <a:r>
              <a:rPr lang="en-GB" sz="1600" dirty="0">
                <a:solidFill>
                  <a:schemeClr val="tx2"/>
                </a:solidFill>
              </a:rPr>
              <a:t>Develop client-ready materials.</a:t>
            </a:r>
          </a:p>
          <a:p>
            <a:r>
              <a:rPr lang="en-GB" sz="1600" dirty="0">
                <a:solidFill>
                  <a:schemeClr val="tx2"/>
                </a:solidFill>
              </a:rPr>
              <a:t>Brainstorm and generate insights.</a:t>
            </a:r>
          </a:p>
        </p:txBody>
      </p:sp>
      <p:sp>
        <p:nvSpPr>
          <p:cNvPr id="6" name="TextBox 5">
            <a:extLst>
              <a:ext uri="{FF2B5EF4-FFF2-40B4-BE49-F238E27FC236}">
                <a16:creationId xmlns:a16="http://schemas.microsoft.com/office/drawing/2014/main" id="{51B17E98-8618-B6FF-DD96-35F647D69F57}"/>
              </a:ext>
            </a:extLst>
          </p:cNvPr>
          <p:cNvSpPr txBox="1"/>
          <p:nvPr/>
        </p:nvSpPr>
        <p:spPr>
          <a:xfrm>
            <a:off x="6679224" y="1157097"/>
            <a:ext cx="4663878" cy="369332"/>
          </a:xfrm>
          <a:prstGeom prst="rect">
            <a:avLst/>
          </a:prstGeom>
          <a:solidFill>
            <a:schemeClr val="accent1"/>
          </a:solidFill>
        </p:spPr>
        <p:txBody>
          <a:bodyPr wrap="square" rtlCol="0">
            <a:spAutoFit/>
          </a:bodyPr>
          <a:lstStyle/>
          <a:p>
            <a:pPr algn="ctr"/>
            <a:r>
              <a:rPr lang="en-GB" b="1" dirty="0">
                <a:solidFill>
                  <a:schemeClr val="bg1"/>
                </a:solidFill>
              </a:rPr>
              <a:t>Usage by McKinsey Consultants</a:t>
            </a:r>
          </a:p>
        </p:txBody>
      </p:sp>
      <p:sp>
        <p:nvSpPr>
          <p:cNvPr id="7" name="Content Placeholder 2">
            <a:extLst>
              <a:ext uri="{FF2B5EF4-FFF2-40B4-BE49-F238E27FC236}">
                <a16:creationId xmlns:a16="http://schemas.microsoft.com/office/drawing/2014/main" id="{2B39429D-779C-2539-089A-41DE943F74B1}"/>
              </a:ext>
            </a:extLst>
          </p:cNvPr>
          <p:cNvSpPr txBox="1">
            <a:spLocks/>
          </p:cNvSpPr>
          <p:nvPr/>
        </p:nvSpPr>
        <p:spPr>
          <a:xfrm>
            <a:off x="152999" y="4613339"/>
            <a:ext cx="3785955" cy="2099282"/>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Used by 70%+ of employees (~17 uses/week).</a:t>
            </a:r>
          </a:p>
          <a:p>
            <a:r>
              <a:rPr lang="en-GB" sz="1600" dirty="0">
                <a:solidFill>
                  <a:schemeClr val="tx2"/>
                </a:solidFill>
              </a:rPr>
              <a:t>Saves up to 30% time in information gathering.</a:t>
            </a:r>
          </a:p>
          <a:p>
            <a:r>
              <a:rPr lang="en-GB" sz="1600" dirty="0">
                <a:solidFill>
                  <a:schemeClr val="tx2"/>
                </a:solidFill>
              </a:rPr>
              <a:t>Processes 500,000+ prompts/month.</a:t>
            </a:r>
          </a:p>
          <a:p>
            <a:r>
              <a:rPr lang="en-GB" sz="1600" dirty="0">
                <a:solidFill>
                  <a:schemeClr val="tx2"/>
                </a:solidFill>
              </a:rPr>
              <a:t>Streamlines workflows and increases productivity.</a:t>
            </a:r>
          </a:p>
        </p:txBody>
      </p:sp>
      <p:sp>
        <p:nvSpPr>
          <p:cNvPr id="9" name="TextBox 8">
            <a:extLst>
              <a:ext uri="{FF2B5EF4-FFF2-40B4-BE49-F238E27FC236}">
                <a16:creationId xmlns:a16="http://schemas.microsoft.com/office/drawing/2014/main" id="{0C8D56E2-E991-3F9E-A872-9874D6883594}"/>
              </a:ext>
            </a:extLst>
          </p:cNvPr>
          <p:cNvSpPr txBox="1"/>
          <p:nvPr/>
        </p:nvSpPr>
        <p:spPr>
          <a:xfrm>
            <a:off x="4203022" y="3990924"/>
            <a:ext cx="3785956" cy="369332"/>
          </a:xfrm>
          <a:prstGeom prst="rect">
            <a:avLst/>
          </a:prstGeom>
          <a:solidFill>
            <a:schemeClr val="accent3"/>
          </a:solidFill>
        </p:spPr>
        <p:txBody>
          <a:bodyPr wrap="square">
            <a:spAutoFit/>
          </a:bodyPr>
          <a:lstStyle/>
          <a:p>
            <a:pPr algn="ctr"/>
            <a:r>
              <a:rPr lang="en-GB" b="1" dirty="0">
                <a:solidFill>
                  <a:schemeClr val="bg1"/>
                </a:solidFill>
              </a:rPr>
              <a:t>Strategic Significance</a:t>
            </a:r>
          </a:p>
        </p:txBody>
      </p:sp>
      <p:sp>
        <p:nvSpPr>
          <p:cNvPr id="11" name="TextBox 10">
            <a:extLst>
              <a:ext uri="{FF2B5EF4-FFF2-40B4-BE49-F238E27FC236}">
                <a16:creationId xmlns:a16="http://schemas.microsoft.com/office/drawing/2014/main" id="{FD0130A5-C454-B1FC-45F9-9F561AD6D922}"/>
              </a:ext>
            </a:extLst>
          </p:cNvPr>
          <p:cNvSpPr txBox="1"/>
          <p:nvPr/>
        </p:nvSpPr>
        <p:spPr>
          <a:xfrm>
            <a:off x="152998" y="3971415"/>
            <a:ext cx="3785956" cy="369332"/>
          </a:xfrm>
          <a:prstGeom prst="rect">
            <a:avLst/>
          </a:prstGeom>
          <a:solidFill>
            <a:schemeClr val="accent2"/>
          </a:solidFill>
        </p:spPr>
        <p:txBody>
          <a:bodyPr wrap="square">
            <a:spAutoFit/>
          </a:bodyPr>
          <a:lstStyle/>
          <a:p>
            <a:pPr algn="ctr"/>
            <a:r>
              <a:rPr lang="en-GB" b="1" dirty="0">
                <a:solidFill>
                  <a:schemeClr val="bg1"/>
                </a:solidFill>
              </a:rPr>
              <a:t>Impact and Benefits</a:t>
            </a:r>
          </a:p>
        </p:txBody>
      </p:sp>
      <p:sp>
        <p:nvSpPr>
          <p:cNvPr id="12" name="Content Placeholder 2">
            <a:extLst>
              <a:ext uri="{FF2B5EF4-FFF2-40B4-BE49-F238E27FC236}">
                <a16:creationId xmlns:a16="http://schemas.microsoft.com/office/drawing/2014/main" id="{E8EC836C-CA46-B242-6C5F-1810CDFD7162}"/>
              </a:ext>
            </a:extLst>
          </p:cNvPr>
          <p:cNvSpPr txBox="1">
            <a:spLocks/>
          </p:cNvSpPr>
          <p:nvPr/>
        </p:nvSpPr>
        <p:spPr>
          <a:xfrm>
            <a:off x="4203022" y="4613339"/>
            <a:ext cx="3785955" cy="14385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Integrates internal and external data.</a:t>
            </a:r>
          </a:p>
          <a:p>
            <a:r>
              <a:rPr lang="en-GB" sz="1600" dirty="0">
                <a:solidFill>
                  <a:schemeClr val="tx2"/>
                </a:solidFill>
              </a:rPr>
              <a:t>Provides tailored insights for client contexts.</a:t>
            </a:r>
          </a:p>
          <a:p>
            <a:r>
              <a:rPr lang="en-GB" sz="1600" dirty="0">
                <a:solidFill>
                  <a:schemeClr val="tx2"/>
                </a:solidFill>
              </a:rPr>
              <a:t>Enhances collaboration through expert connections.</a:t>
            </a:r>
          </a:p>
          <a:p>
            <a:r>
              <a:rPr lang="en-GB" sz="1600" dirty="0">
                <a:solidFill>
                  <a:schemeClr val="tx2"/>
                </a:solidFill>
              </a:rPr>
              <a:t>Represents a major shift in knowledge management.</a:t>
            </a:r>
          </a:p>
        </p:txBody>
      </p:sp>
      <p:sp>
        <p:nvSpPr>
          <p:cNvPr id="15" name="TextBox 14">
            <a:extLst>
              <a:ext uri="{FF2B5EF4-FFF2-40B4-BE49-F238E27FC236}">
                <a16:creationId xmlns:a16="http://schemas.microsoft.com/office/drawing/2014/main" id="{01575D91-6C87-436F-9388-EE8CD42F7B49}"/>
              </a:ext>
            </a:extLst>
          </p:cNvPr>
          <p:cNvSpPr txBox="1"/>
          <p:nvPr/>
        </p:nvSpPr>
        <p:spPr>
          <a:xfrm>
            <a:off x="8253046" y="3990924"/>
            <a:ext cx="3785956" cy="369332"/>
          </a:xfrm>
          <a:prstGeom prst="rect">
            <a:avLst/>
          </a:prstGeom>
          <a:solidFill>
            <a:schemeClr val="accent4"/>
          </a:solidFill>
        </p:spPr>
        <p:txBody>
          <a:bodyPr wrap="square">
            <a:spAutoFit/>
          </a:bodyPr>
          <a:lstStyle/>
          <a:p>
            <a:pPr algn="ctr"/>
            <a:r>
              <a:rPr lang="en-GB" b="1" dirty="0">
                <a:solidFill>
                  <a:schemeClr val="bg1"/>
                </a:solidFill>
              </a:rPr>
              <a:t>Lessons Learned</a:t>
            </a:r>
          </a:p>
        </p:txBody>
      </p:sp>
      <p:sp>
        <p:nvSpPr>
          <p:cNvPr id="19" name="Content Placeholder 2">
            <a:extLst>
              <a:ext uri="{FF2B5EF4-FFF2-40B4-BE49-F238E27FC236}">
                <a16:creationId xmlns:a16="http://schemas.microsoft.com/office/drawing/2014/main" id="{DE8D17C7-7422-1B9B-FE50-DEE0C352893C}"/>
              </a:ext>
            </a:extLst>
          </p:cNvPr>
          <p:cNvSpPr txBox="1">
            <a:spLocks/>
          </p:cNvSpPr>
          <p:nvPr/>
        </p:nvSpPr>
        <p:spPr>
          <a:xfrm>
            <a:off x="8253046" y="4554542"/>
            <a:ext cx="3785956" cy="1908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Prompts matter a lot.</a:t>
            </a:r>
          </a:p>
          <a:p>
            <a:r>
              <a:rPr lang="en-GB" sz="1600" dirty="0">
                <a:solidFill>
                  <a:schemeClr val="tx2"/>
                </a:solidFill>
              </a:rPr>
              <a:t>Be vigilant about data curation</a:t>
            </a:r>
          </a:p>
          <a:p>
            <a:r>
              <a:rPr lang="en-GB" sz="1600" dirty="0">
                <a:solidFill>
                  <a:schemeClr val="tx2"/>
                </a:solidFill>
              </a:rPr>
              <a:t>Invest in an orchestration layer</a:t>
            </a:r>
          </a:p>
          <a:p>
            <a:r>
              <a:rPr lang="en-GB" sz="1600" dirty="0">
                <a:solidFill>
                  <a:schemeClr val="tx2"/>
                </a:solidFill>
              </a:rPr>
              <a:t>Test and test again and again</a:t>
            </a:r>
          </a:p>
          <a:p>
            <a:r>
              <a:rPr lang="en-GB" sz="1600" dirty="0">
                <a:solidFill>
                  <a:schemeClr val="tx2"/>
                </a:solidFill>
              </a:rPr>
              <a:t>Its never just tech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C8E5-5848-3C4F-9642-DCA375177684}"/>
              </a:ext>
            </a:extLst>
          </p:cNvPr>
          <p:cNvSpPr>
            <a:spLocks noGrp="1"/>
          </p:cNvSpPr>
          <p:nvPr>
            <p:ph type="title"/>
          </p:nvPr>
        </p:nvSpPr>
        <p:spPr/>
        <p:txBody>
          <a:bodyPr/>
          <a:lstStyle/>
          <a:p>
            <a:r>
              <a:rPr lang="en-US" dirty="0"/>
              <a:t>Passing 100 Billion Tokens on OpenAI Tech</a:t>
            </a:r>
          </a:p>
        </p:txBody>
      </p:sp>
      <p:pic>
        <p:nvPicPr>
          <p:cNvPr id="29700" name="Picture 4" descr="No alternative text description for this image">
            <a:extLst>
              <a:ext uri="{FF2B5EF4-FFF2-40B4-BE49-F238E27FC236}">
                <a16:creationId xmlns:a16="http://schemas.microsoft.com/office/drawing/2014/main" id="{583DFE0E-5816-A515-320B-3934B2105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0197" y="1690688"/>
            <a:ext cx="4288843" cy="5003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47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600074"/>
            <a:ext cx="6035040" cy="1529932"/>
          </a:xfrm>
        </p:spPr>
        <p:txBody>
          <a:bodyPr anchor="b">
            <a:normAutofit/>
          </a:bodyPr>
          <a:lstStyle/>
          <a:p>
            <a:r>
              <a:rPr lang="en-GB"/>
              <a:t>Lillian Dombrowski: The Inspiration Behind Lilli</a:t>
            </a:r>
          </a:p>
        </p:txBody>
      </p:sp>
      <p:sp>
        <p:nvSpPr>
          <p:cNvPr id="3" name="Content Placeholder 2"/>
          <p:cNvSpPr>
            <a:spLocks noGrp="1"/>
          </p:cNvSpPr>
          <p:nvPr>
            <p:ph idx="1"/>
          </p:nvPr>
        </p:nvSpPr>
        <p:spPr>
          <a:xfrm>
            <a:off x="612647" y="2212848"/>
            <a:ext cx="6035041" cy="4096512"/>
          </a:xfrm>
        </p:spPr>
        <p:txBody>
          <a:bodyPr>
            <a:normAutofit/>
          </a:bodyPr>
          <a:lstStyle/>
          <a:p>
            <a:pPr marL="0" indent="0">
              <a:buNone/>
            </a:pPr>
            <a:r>
              <a:rPr lang="en-GB" sz="1400" dirty="0"/>
              <a:t>• Lillian Dombrowski was McKinsey’s first professional female hire in 1945.</a:t>
            </a:r>
          </a:p>
          <a:p>
            <a:pPr marL="0" indent="0">
              <a:buNone/>
            </a:pPr>
            <a:r>
              <a:rPr lang="en-GB" sz="1400" dirty="0"/>
              <a:t>• Served for 35 years as an accountant, controller, and corporate secretary.</a:t>
            </a:r>
          </a:p>
          <a:p>
            <a:pPr marL="0" indent="0">
              <a:buNone/>
            </a:pPr>
            <a:r>
              <a:rPr lang="en-GB" sz="1400" dirty="0"/>
              <a:t>• Key contributions:</a:t>
            </a:r>
          </a:p>
          <a:p>
            <a:pPr marL="0" indent="0">
              <a:buNone/>
            </a:pPr>
            <a:r>
              <a:rPr lang="en-GB" sz="1400" dirty="0"/>
              <a:t>   - Reformed financial systems</a:t>
            </a:r>
          </a:p>
          <a:p>
            <a:pPr marL="0" indent="0">
              <a:buNone/>
            </a:pPr>
            <a:r>
              <a:rPr lang="en-GB" sz="1400" dirty="0"/>
              <a:t>   - Provided analytical support to consultants</a:t>
            </a:r>
          </a:p>
          <a:p>
            <a:pPr marL="0" indent="0">
              <a:buNone/>
            </a:pPr>
            <a:r>
              <a:rPr lang="en-GB" sz="1400" dirty="0"/>
              <a:t>   - Helped develop profit-sharing and pension plans</a:t>
            </a:r>
          </a:p>
          <a:p>
            <a:pPr marL="0" indent="0">
              <a:buNone/>
            </a:pPr>
            <a:r>
              <a:rPr lang="en-GB" sz="1400" dirty="0"/>
              <a:t>   - Organized McKinsey’s historical archives</a:t>
            </a:r>
          </a:p>
          <a:p>
            <a:pPr marL="0" indent="0">
              <a:buNone/>
            </a:pPr>
            <a:r>
              <a:rPr lang="en-GB" sz="1400" dirty="0"/>
              <a:t>• McKinsey’s AI platform 'Lilli' honours her legacy:</a:t>
            </a:r>
          </a:p>
          <a:p>
            <a:pPr marL="0" indent="0">
              <a:buNone/>
            </a:pPr>
            <a:r>
              <a:rPr lang="en-GB" sz="1400" dirty="0"/>
              <a:t>   - Like Lillian, Lilli aggregates and organizes knowledge</a:t>
            </a:r>
          </a:p>
          <a:p>
            <a:pPr marL="0" indent="0">
              <a:buNone/>
            </a:pPr>
            <a:r>
              <a:rPr lang="en-GB" sz="1400" dirty="0"/>
              <a:t>   - Empowers consultants with fast, insightful information</a:t>
            </a:r>
          </a:p>
          <a:p>
            <a:pPr marL="0" indent="0">
              <a:buNone/>
            </a:pPr>
            <a:r>
              <a:rPr lang="en-GB" sz="1400" dirty="0"/>
              <a:t>   - Embodies her pioneering, adaptable spirit</a:t>
            </a:r>
          </a:p>
          <a:p>
            <a:pPr marL="0" indent="0">
              <a:buNone/>
            </a:pPr>
            <a:r>
              <a:rPr lang="en-GB" sz="1400" dirty="0"/>
              <a:t>• Quote: 'Lilli was selected because the platform is as nimble, flexible, and thorough, as she was.'</a:t>
            </a:r>
          </a:p>
        </p:txBody>
      </p:sp>
      <p:pic>
        <p:nvPicPr>
          <p:cNvPr id="5" name="Picture 4" descr="A close-up of a person smiling&#10;&#10;AI-generated content may be incorrect.">
            <a:extLst>
              <a:ext uri="{FF2B5EF4-FFF2-40B4-BE49-F238E27FC236}">
                <a16:creationId xmlns:a16="http://schemas.microsoft.com/office/drawing/2014/main" id="{C3A2659B-FBC8-83AD-93AF-697D26E3BA8F}"/>
              </a:ext>
            </a:extLst>
          </p:cNvPr>
          <p:cNvPicPr>
            <a:picLocks noChangeAspect="1"/>
          </p:cNvPicPr>
          <p:nvPr/>
        </p:nvPicPr>
        <p:blipFill>
          <a:blip r:embed="rId2"/>
          <a:srcRect b="5543"/>
          <a:stretch>
            <a:fillRect/>
          </a:stretch>
        </p:blipFill>
        <p:spPr>
          <a:xfrm>
            <a:off x="7345680" y="10"/>
            <a:ext cx="4846320" cy="685799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448B6C-0D19-6131-8D0F-286828123AEC}"/>
              </a:ext>
            </a:extLst>
          </p:cNvPr>
          <p:cNvSpPr>
            <a:spLocks noGrp="1"/>
          </p:cNvSpPr>
          <p:nvPr>
            <p:ph type="title"/>
          </p:nvPr>
        </p:nvSpPr>
        <p:spPr>
          <a:xfrm>
            <a:off x="838200" y="365125"/>
            <a:ext cx="10515600" cy="972185"/>
          </a:xfrm>
        </p:spPr>
        <p:txBody>
          <a:bodyPr/>
          <a:lstStyle/>
          <a:p>
            <a:pPr algn="ctr"/>
            <a:r>
              <a:rPr lang="en-GB" b="1" dirty="0">
                <a:solidFill>
                  <a:schemeClr val="tx2"/>
                </a:solidFill>
              </a:rPr>
              <a:t>Ask McKinsey!</a:t>
            </a:r>
          </a:p>
        </p:txBody>
      </p:sp>
      <p:pic>
        <p:nvPicPr>
          <p:cNvPr id="7" name="Picture 6" descr="A screenshot of a computer&#10;&#10;AI-generated content may be incorrect.">
            <a:extLst>
              <a:ext uri="{FF2B5EF4-FFF2-40B4-BE49-F238E27FC236}">
                <a16:creationId xmlns:a16="http://schemas.microsoft.com/office/drawing/2014/main" id="{D898CA0D-F3EC-8639-F319-A2898FDB5B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7189" y="1703654"/>
            <a:ext cx="6781161" cy="428635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a:extLst>
              <a:ext uri="{FF2B5EF4-FFF2-40B4-BE49-F238E27FC236}">
                <a16:creationId xmlns:a16="http://schemas.microsoft.com/office/drawing/2014/main" id="{06AB5C51-1D75-0381-D7A6-B2F6BCF1107A}"/>
              </a:ext>
            </a:extLst>
          </p:cNvPr>
          <p:cNvSpPr txBox="1"/>
          <p:nvPr/>
        </p:nvSpPr>
        <p:spPr>
          <a:xfrm>
            <a:off x="263769" y="6492875"/>
            <a:ext cx="9140644" cy="215444"/>
          </a:xfrm>
          <a:prstGeom prst="rect">
            <a:avLst/>
          </a:prstGeom>
          <a:noFill/>
        </p:spPr>
        <p:txBody>
          <a:bodyPr wrap="none" rtlCol="0">
            <a:spAutoFit/>
          </a:bodyPr>
          <a:lstStyle/>
          <a:p>
            <a:r>
              <a:rPr lang="en-GB" sz="800" dirty="0"/>
              <a:t>Source: </a:t>
            </a:r>
            <a:r>
              <a:rPr lang="en-GB" sz="800" dirty="0">
                <a:hlinkClick r:id="rId3"/>
              </a:rPr>
              <a:t>https://www.mckinsey.com/features/ask-mckinsey?cid=other-eml-alt-mip-mck&amp;hlkid=baad510143c24d918432caf08cff703b&amp;hctky=2182130&amp;hdpid=5c430f42-8bd0-4b02-a31e-7519aee08fa9#ask-mckinsey</a:t>
            </a:r>
            <a:r>
              <a:rPr lang="en-GB" sz="800" dirty="0"/>
              <a:t> </a:t>
            </a:r>
          </a:p>
        </p:txBody>
      </p:sp>
    </p:spTree>
    <p:extLst>
      <p:ext uri="{BB962C8B-B14F-4D97-AF65-F5344CB8AC3E}">
        <p14:creationId xmlns:p14="http://schemas.microsoft.com/office/powerpoint/2010/main" val="6868435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E4BE5-DF02-87C4-73B5-991927076457}"/>
              </a:ext>
            </a:extLst>
          </p:cNvPr>
          <p:cNvSpPr>
            <a:spLocks noGrp="1"/>
          </p:cNvSpPr>
          <p:nvPr>
            <p:ph type="title"/>
          </p:nvPr>
        </p:nvSpPr>
        <p:spPr>
          <a:xfrm>
            <a:off x="838200" y="365125"/>
            <a:ext cx="10515600" cy="857885"/>
          </a:xfrm>
        </p:spPr>
        <p:txBody>
          <a:bodyPr>
            <a:noAutofit/>
          </a:bodyPr>
          <a:lstStyle/>
          <a:p>
            <a:pPr algn="ctr"/>
            <a:r>
              <a:rPr lang="en-GB" sz="3200" b="1" dirty="0">
                <a:solidFill>
                  <a:schemeClr val="tx2"/>
                </a:solidFill>
              </a:rPr>
              <a:t>How will generative AI impact the consultancy industry?</a:t>
            </a:r>
          </a:p>
        </p:txBody>
      </p:sp>
      <p:pic>
        <p:nvPicPr>
          <p:cNvPr id="5" name="Picture 4" descr="A screenshot of a computer&#10;&#10;AI-generated content may be incorrect.">
            <a:extLst>
              <a:ext uri="{FF2B5EF4-FFF2-40B4-BE49-F238E27FC236}">
                <a16:creationId xmlns:a16="http://schemas.microsoft.com/office/drawing/2014/main" id="{B380E324-4F4B-BD56-48B9-399519F876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5094" y="1583065"/>
            <a:ext cx="7772400" cy="490981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5505162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CEF94-8F08-D345-FCE1-1DBC7FC851B4}"/>
              </a:ext>
            </a:extLst>
          </p:cNvPr>
          <p:cNvSpPr>
            <a:spLocks noGrp="1"/>
          </p:cNvSpPr>
          <p:nvPr>
            <p:ph type="title"/>
          </p:nvPr>
        </p:nvSpPr>
        <p:spPr>
          <a:xfrm>
            <a:off x="838200" y="365125"/>
            <a:ext cx="10515600" cy="1006475"/>
          </a:xfrm>
        </p:spPr>
        <p:txBody>
          <a:bodyPr/>
          <a:lstStyle/>
          <a:p>
            <a:pPr algn="ctr"/>
            <a:r>
              <a:rPr lang="en-GB" b="1" dirty="0">
                <a:solidFill>
                  <a:schemeClr val="tx2"/>
                </a:solidFill>
              </a:rPr>
              <a:t>Case: AI at Boston Consulting Group (BCG)</a:t>
            </a:r>
          </a:p>
        </p:txBody>
      </p:sp>
      <p:sp>
        <p:nvSpPr>
          <p:cNvPr id="3" name="Slide Number Placeholder 2">
            <a:extLst>
              <a:ext uri="{FF2B5EF4-FFF2-40B4-BE49-F238E27FC236}">
                <a16:creationId xmlns:a16="http://schemas.microsoft.com/office/drawing/2014/main" id="{EC129033-D536-B7F9-B575-5C51116F6EF5}"/>
              </a:ext>
            </a:extLst>
          </p:cNvPr>
          <p:cNvSpPr>
            <a:spLocks noGrp="1"/>
          </p:cNvSpPr>
          <p:nvPr>
            <p:ph type="sldNum" sz="quarter" idx="4294967295"/>
          </p:nvPr>
        </p:nvSpPr>
        <p:spPr>
          <a:xfrm>
            <a:off x="8610600" y="6356350"/>
            <a:ext cx="2743200" cy="365125"/>
          </a:xfrm>
          <a:prstGeom prst="rect">
            <a:avLst/>
          </a:prstGeom>
        </p:spPr>
        <p:txBody>
          <a:bodyPr/>
          <a:lstStyle/>
          <a:p>
            <a:fld id="{F3451B78-826D-4FE9-99FE-428C8E62A634}" type="slidenum">
              <a:rPr lang="en-US" smtClean="0"/>
              <a:t>38</a:t>
            </a:fld>
            <a:endParaRPr lang="en-US"/>
          </a:p>
        </p:txBody>
      </p:sp>
      <p:pic>
        <p:nvPicPr>
          <p:cNvPr id="6148" name="Picture 4" descr="Headshot of BCG X Expert Vlad Lukic">
            <a:extLst>
              <a:ext uri="{FF2B5EF4-FFF2-40B4-BE49-F238E27FC236}">
                <a16:creationId xmlns:a16="http://schemas.microsoft.com/office/drawing/2014/main" id="{22A4766E-FC60-1AC2-F9AD-1FD6CF82E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225" y="2679097"/>
            <a:ext cx="2027719" cy="20277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9B804F2-CFE6-9583-54B2-5215E27A4623}"/>
              </a:ext>
            </a:extLst>
          </p:cNvPr>
          <p:cNvSpPr txBox="1"/>
          <p:nvPr/>
        </p:nvSpPr>
        <p:spPr>
          <a:xfrm>
            <a:off x="663313" y="4998650"/>
            <a:ext cx="3235309" cy="1015663"/>
          </a:xfrm>
          <a:prstGeom prst="rect">
            <a:avLst/>
          </a:prstGeom>
          <a:noFill/>
        </p:spPr>
        <p:txBody>
          <a:bodyPr wrap="none" rtlCol="0">
            <a:spAutoFit/>
          </a:bodyPr>
          <a:lstStyle/>
          <a:p>
            <a:pPr algn="ctr"/>
            <a:r>
              <a:rPr lang="en-GB" sz="1600" b="1" dirty="0">
                <a:solidFill>
                  <a:schemeClr val="tx2"/>
                </a:solidFill>
              </a:rPr>
              <a:t>Vlad Lukic</a:t>
            </a:r>
            <a:br>
              <a:rPr lang="en-GB" sz="1600" b="1" dirty="0">
                <a:solidFill>
                  <a:schemeClr val="tx2"/>
                </a:solidFill>
              </a:rPr>
            </a:br>
            <a:br>
              <a:rPr lang="en-GB" sz="1600" b="1" dirty="0">
                <a:solidFill>
                  <a:schemeClr val="tx2"/>
                </a:solidFill>
              </a:rPr>
            </a:br>
            <a:r>
              <a:rPr lang="en-GB" sz="1400" dirty="0"/>
              <a:t>Managing Director &amp; Senior Partner; </a:t>
            </a:r>
            <a:br>
              <a:rPr lang="en-GB" sz="1400" dirty="0"/>
            </a:br>
            <a:r>
              <a:rPr lang="en-GB" sz="1400" dirty="0"/>
              <a:t>Global Leader, Tech and Digital Advantage</a:t>
            </a:r>
          </a:p>
        </p:txBody>
      </p:sp>
      <p:sp>
        <p:nvSpPr>
          <p:cNvPr id="5" name="TextBox 4">
            <a:extLst>
              <a:ext uri="{FF2B5EF4-FFF2-40B4-BE49-F238E27FC236}">
                <a16:creationId xmlns:a16="http://schemas.microsoft.com/office/drawing/2014/main" id="{783C79BE-6776-1B20-FA8E-82659F917F6D}"/>
              </a:ext>
            </a:extLst>
          </p:cNvPr>
          <p:cNvSpPr txBox="1"/>
          <p:nvPr/>
        </p:nvSpPr>
        <p:spPr>
          <a:xfrm>
            <a:off x="430823" y="6475254"/>
            <a:ext cx="7039106" cy="246221"/>
          </a:xfrm>
          <a:prstGeom prst="rect">
            <a:avLst/>
          </a:prstGeom>
          <a:noFill/>
        </p:spPr>
        <p:txBody>
          <a:bodyPr wrap="none" rtlCol="0">
            <a:spAutoFit/>
          </a:bodyPr>
          <a:lstStyle/>
          <a:p>
            <a:r>
              <a:rPr lang="en-GB" sz="1000" dirty="0"/>
              <a:t>Forbes, 2024. </a:t>
            </a:r>
            <a:r>
              <a:rPr lang="en-GB" sz="1000" dirty="0">
                <a:hlinkClick r:id="rId4"/>
              </a:rPr>
              <a:t>https://www.forbes.com/sites/bernardmarr/2024/07/10/how-bcg-is-revolutionizing-consulting-with-ai-a-case-study/</a:t>
            </a:r>
            <a:r>
              <a:rPr lang="en-GB" sz="1000" dirty="0"/>
              <a:t> </a:t>
            </a:r>
          </a:p>
        </p:txBody>
      </p:sp>
      <p:pic>
        <p:nvPicPr>
          <p:cNvPr id="6146" name="Picture 2" descr="Boston Consulting Group - Wikipedia">
            <a:extLst>
              <a:ext uri="{FF2B5EF4-FFF2-40B4-BE49-F238E27FC236}">
                <a16:creationId xmlns:a16="http://schemas.microsoft.com/office/drawing/2014/main" id="{2242D326-256C-A669-7CA3-0F31F7EF36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313" y="2092621"/>
            <a:ext cx="827309" cy="7786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4E30429-660F-DE6B-2CB2-664796800AF2}"/>
              </a:ext>
            </a:extLst>
          </p:cNvPr>
          <p:cNvSpPr txBox="1"/>
          <p:nvPr/>
        </p:nvSpPr>
        <p:spPr>
          <a:xfrm>
            <a:off x="4844561" y="3077028"/>
            <a:ext cx="6163407" cy="1477328"/>
          </a:xfrm>
          <a:prstGeom prst="rect">
            <a:avLst/>
          </a:prstGeom>
          <a:noFill/>
        </p:spPr>
        <p:txBody>
          <a:bodyPr wrap="square" rtlCol="0">
            <a:spAutoFit/>
          </a:bodyPr>
          <a:lstStyle/>
          <a:p>
            <a:r>
              <a:rPr lang="en-GB" i="1" dirty="0"/>
              <a:t>"It gets into the crux of our business, right? And it's going to be fundamental to the toolkit and skills that we need to have." </a:t>
            </a:r>
            <a:br>
              <a:rPr lang="en-GB" i="1" dirty="0"/>
            </a:br>
            <a:br>
              <a:rPr lang="en-GB" i="1" dirty="0"/>
            </a:br>
            <a:br>
              <a:rPr lang="en-GB" i="1" dirty="0"/>
            </a:br>
            <a:r>
              <a:rPr lang="en-GB" i="1" dirty="0"/>
              <a:t>“50% of what we do, will be done by clever prompts.”</a:t>
            </a:r>
          </a:p>
        </p:txBody>
      </p:sp>
    </p:spTree>
    <p:extLst>
      <p:ext uri="{BB962C8B-B14F-4D97-AF65-F5344CB8AC3E}">
        <p14:creationId xmlns:p14="http://schemas.microsoft.com/office/powerpoint/2010/main" val="2892630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3E57-C030-54EA-7F7A-4ED915E9648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F41168F-F6E6-4182-B658-13136C9B56E7}"/>
              </a:ext>
            </a:extLst>
          </p:cNvPr>
          <p:cNvSpPr>
            <a:spLocks noGrp="1"/>
          </p:cNvSpPr>
          <p:nvPr>
            <p:ph type="title"/>
          </p:nvPr>
        </p:nvSpPr>
        <p:spPr>
          <a:xfrm>
            <a:off x="838200" y="365126"/>
            <a:ext cx="10515600" cy="727694"/>
          </a:xfrm>
        </p:spPr>
        <p:txBody>
          <a:bodyPr/>
          <a:lstStyle/>
          <a:p>
            <a:pPr algn="ctr"/>
            <a:r>
              <a:rPr lang="en-GB" b="1" dirty="0">
                <a:solidFill>
                  <a:schemeClr val="tx2"/>
                </a:solidFill>
              </a:rPr>
              <a:t>Case: BCG’s Enterprise GPT</a:t>
            </a:r>
          </a:p>
        </p:txBody>
      </p:sp>
      <p:sp>
        <p:nvSpPr>
          <p:cNvPr id="3" name="Content Placeholder 2">
            <a:extLst>
              <a:ext uri="{FF2B5EF4-FFF2-40B4-BE49-F238E27FC236}">
                <a16:creationId xmlns:a16="http://schemas.microsoft.com/office/drawing/2014/main" id="{FB56482A-1687-4743-FE18-F81CE0847DBB}"/>
              </a:ext>
            </a:extLst>
          </p:cNvPr>
          <p:cNvSpPr>
            <a:spLocks noGrp="1"/>
          </p:cNvSpPr>
          <p:nvPr>
            <p:ph idx="4294967295"/>
          </p:nvPr>
        </p:nvSpPr>
        <p:spPr>
          <a:xfrm>
            <a:off x="848899" y="1757576"/>
            <a:ext cx="4663878" cy="2076450"/>
          </a:xfrm>
        </p:spPr>
        <p:txBody>
          <a:bodyPr>
            <a:normAutofit/>
          </a:bodyPr>
          <a:lstStyle/>
          <a:p>
            <a:r>
              <a:rPr lang="en-GB" sz="1600" dirty="0">
                <a:solidFill>
                  <a:schemeClr val="tx2"/>
                </a:solidFill>
              </a:rPr>
              <a:t>Rolled out to all BCG staff</a:t>
            </a:r>
            <a:r>
              <a:rPr sz="1600" dirty="0">
                <a:solidFill>
                  <a:schemeClr val="tx2"/>
                </a:solidFill>
              </a:rPr>
              <a:t>.</a:t>
            </a:r>
          </a:p>
          <a:p>
            <a:r>
              <a:rPr lang="en-GB" sz="1600" dirty="0">
                <a:solidFill>
                  <a:schemeClr val="tx2"/>
                </a:solidFill>
              </a:rPr>
              <a:t>Ensures all data remains within BCG</a:t>
            </a:r>
            <a:r>
              <a:rPr sz="1600" dirty="0">
                <a:solidFill>
                  <a:schemeClr val="tx2"/>
                </a:solidFill>
              </a:rPr>
              <a:t>.</a:t>
            </a:r>
          </a:p>
          <a:p>
            <a:r>
              <a:rPr lang="en-GB" sz="1600" dirty="0">
                <a:solidFill>
                  <a:schemeClr val="tx2"/>
                </a:solidFill>
              </a:rPr>
              <a:t>Outputs are constrained to the client project</a:t>
            </a:r>
            <a:r>
              <a:rPr sz="1600" dirty="0">
                <a:solidFill>
                  <a:schemeClr val="tx2"/>
                </a:solidFill>
              </a:rPr>
              <a:t>.</a:t>
            </a:r>
            <a:endParaRPr lang="en-GB" sz="1600" dirty="0">
              <a:solidFill>
                <a:schemeClr val="tx2"/>
              </a:solidFill>
            </a:endParaRPr>
          </a:p>
          <a:p>
            <a:r>
              <a:rPr lang="en-GB" sz="1600" dirty="0">
                <a:solidFill>
                  <a:schemeClr val="tx2"/>
                </a:solidFill>
              </a:rPr>
              <a:t>Enterprise GPTs and consultants can create their own GPTs.</a:t>
            </a:r>
            <a:endParaRPr sz="1600" dirty="0">
              <a:solidFill>
                <a:schemeClr val="tx2"/>
              </a:solidFill>
            </a:endParaRPr>
          </a:p>
        </p:txBody>
      </p:sp>
      <p:sp>
        <p:nvSpPr>
          <p:cNvPr id="4" name="TextBox 3">
            <a:extLst>
              <a:ext uri="{FF2B5EF4-FFF2-40B4-BE49-F238E27FC236}">
                <a16:creationId xmlns:a16="http://schemas.microsoft.com/office/drawing/2014/main" id="{79D98FAD-74E2-7DD8-020E-BEE56A95AE51}"/>
              </a:ext>
            </a:extLst>
          </p:cNvPr>
          <p:cNvSpPr txBox="1"/>
          <p:nvPr/>
        </p:nvSpPr>
        <p:spPr>
          <a:xfrm>
            <a:off x="838200" y="1161237"/>
            <a:ext cx="4674577" cy="369332"/>
          </a:xfrm>
          <a:prstGeom prst="rect">
            <a:avLst/>
          </a:prstGeom>
          <a:solidFill>
            <a:schemeClr val="tx2"/>
          </a:solidFill>
        </p:spPr>
        <p:txBody>
          <a:bodyPr wrap="square" rtlCol="0">
            <a:spAutoFit/>
          </a:bodyPr>
          <a:lstStyle/>
          <a:p>
            <a:pPr algn="ctr"/>
            <a:r>
              <a:rPr lang="en-GB" b="1" dirty="0">
                <a:solidFill>
                  <a:schemeClr val="bg1"/>
                </a:solidFill>
              </a:rPr>
              <a:t>Enterprise GPT</a:t>
            </a:r>
          </a:p>
        </p:txBody>
      </p:sp>
      <p:sp>
        <p:nvSpPr>
          <p:cNvPr id="5" name="Content Placeholder 2">
            <a:extLst>
              <a:ext uri="{FF2B5EF4-FFF2-40B4-BE49-F238E27FC236}">
                <a16:creationId xmlns:a16="http://schemas.microsoft.com/office/drawing/2014/main" id="{F7D1FED1-3503-4F26-6984-2C90699B7FD1}"/>
              </a:ext>
            </a:extLst>
          </p:cNvPr>
          <p:cNvSpPr txBox="1">
            <a:spLocks/>
          </p:cNvSpPr>
          <p:nvPr/>
        </p:nvSpPr>
        <p:spPr>
          <a:xfrm>
            <a:off x="6679224" y="1721578"/>
            <a:ext cx="4830337" cy="1908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Over 3000 GPTs developed.</a:t>
            </a:r>
          </a:p>
          <a:p>
            <a:r>
              <a:rPr lang="en-GB" sz="1600" dirty="0">
                <a:solidFill>
                  <a:schemeClr val="tx2"/>
                </a:solidFill>
              </a:rPr>
              <a:t>Mix of enterprise consulting GPTs, corporate support function GPTs and personal GPTs.</a:t>
            </a:r>
          </a:p>
          <a:p>
            <a:r>
              <a:rPr lang="en-GB" sz="1600" dirty="0">
                <a:solidFill>
                  <a:schemeClr val="tx2"/>
                </a:solidFill>
              </a:rPr>
              <a:t>Gene is a versatile tool for client engagement and content creation.</a:t>
            </a:r>
          </a:p>
        </p:txBody>
      </p:sp>
      <p:sp>
        <p:nvSpPr>
          <p:cNvPr id="6" name="TextBox 5">
            <a:extLst>
              <a:ext uri="{FF2B5EF4-FFF2-40B4-BE49-F238E27FC236}">
                <a16:creationId xmlns:a16="http://schemas.microsoft.com/office/drawing/2014/main" id="{8165464C-C9BC-8C03-8BAF-56DAD784C4CB}"/>
              </a:ext>
            </a:extLst>
          </p:cNvPr>
          <p:cNvSpPr txBox="1"/>
          <p:nvPr/>
        </p:nvSpPr>
        <p:spPr>
          <a:xfrm>
            <a:off x="6679224" y="1157097"/>
            <a:ext cx="4663878" cy="369332"/>
          </a:xfrm>
          <a:prstGeom prst="rect">
            <a:avLst/>
          </a:prstGeom>
          <a:solidFill>
            <a:schemeClr val="accent1"/>
          </a:solidFill>
        </p:spPr>
        <p:txBody>
          <a:bodyPr wrap="square" rtlCol="0">
            <a:spAutoFit/>
          </a:bodyPr>
          <a:lstStyle/>
          <a:p>
            <a:pPr algn="ctr"/>
            <a:r>
              <a:rPr lang="en-GB" b="1" dirty="0">
                <a:solidFill>
                  <a:schemeClr val="bg1"/>
                </a:solidFill>
              </a:rPr>
              <a:t>Usage by BCG Consultants</a:t>
            </a:r>
          </a:p>
        </p:txBody>
      </p:sp>
      <p:sp>
        <p:nvSpPr>
          <p:cNvPr id="7" name="Content Placeholder 2">
            <a:extLst>
              <a:ext uri="{FF2B5EF4-FFF2-40B4-BE49-F238E27FC236}">
                <a16:creationId xmlns:a16="http://schemas.microsoft.com/office/drawing/2014/main" id="{CF64BB51-195F-F1CB-DF68-023AD54C8444}"/>
              </a:ext>
            </a:extLst>
          </p:cNvPr>
          <p:cNvSpPr txBox="1">
            <a:spLocks/>
          </p:cNvSpPr>
          <p:nvPr/>
        </p:nvSpPr>
        <p:spPr>
          <a:xfrm>
            <a:off x="152999" y="4613339"/>
            <a:ext cx="3785955" cy="16615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Speed and productivity benefits.</a:t>
            </a:r>
          </a:p>
          <a:p>
            <a:r>
              <a:rPr lang="en-GB" sz="1600" dirty="0">
                <a:solidFill>
                  <a:schemeClr val="tx2"/>
                </a:solidFill>
              </a:rPr>
              <a:t>AI is taking over routine consulting tasks.</a:t>
            </a:r>
          </a:p>
          <a:p>
            <a:r>
              <a:rPr lang="en-GB" sz="1600" dirty="0">
                <a:solidFill>
                  <a:schemeClr val="tx2"/>
                </a:solidFill>
              </a:rPr>
              <a:t>Consultants can go deeper with their analyses and insights.</a:t>
            </a:r>
          </a:p>
          <a:p>
            <a:r>
              <a:rPr lang="en-GB" sz="1600" dirty="0"/>
              <a:t>In 2024, AI-related services accounted for 20% of BCG's total revenue, amounting to $2.7 billion. </a:t>
            </a:r>
            <a:endParaRPr lang="en-GB" sz="1600" dirty="0">
              <a:solidFill>
                <a:schemeClr val="tx2"/>
              </a:solidFill>
            </a:endParaRPr>
          </a:p>
          <a:p>
            <a:pPr lvl="1"/>
            <a:endParaRPr lang="en-GB" sz="1200" dirty="0">
              <a:solidFill>
                <a:schemeClr val="tx2"/>
              </a:solidFill>
            </a:endParaRPr>
          </a:p>
        </p:txBody>
      </p:sp>
      <p:sp>
        <p:nvSpPr>
          <p:cNvPr id="9" name="TextBox 8">
            <a:extLst>
              <a:ext uri="{FF2B5EF4-FFF2-40B4-BE49-F238E27FC236}">
                <a16:creationId xmlns:a16="http://schemas.microsoft.com/office/drawing/2014/main" id="{1FF0E0B9-BDFB-D9FC-3959-C9D7D0CD3A77}"/>
              </a:ext>
            </a:extLst>
          </p:cNvPr>
          <p:cNvSpPr txBox="1"/>
          <p:nvPr/>
        </p:nvSpPr>
        <p:spPr>
          <a:xfrm>
            <a:off x="4203022" y="3990924"/>
            <a:ext cx="3785956" cy="369332"/>
          </a:xfrm>
          <a:prstGeom prst="rect">
            <a:avLst/>
          </a:prstGeom>
          <a:solidFill>
            <a:schemeClr val="accent3"/>
          </a:solidFill>
        </p:spPr>
        <p:txBody>
          <a:bodyPr wrap="square">
            <a:spAutoFit/>
          </a:bodyPr>
          <a:lstStyle/>
          <a:p>
            <a:pPr algn="ctr"/>
            <a:r>
              <a:rPr lang="en-GB" b="1" dirty="0">
                <a:solidFill>
                  <a:schemeClr val="bg1"/>
                </a:solidFill>
              </a:rPr>
              <a:t>Strategic Significance</a:t>
            </a:r>
          </a:p>
        </p:txBody>
      </p:sp>
      <p:sp>
        <p:nvSpPr>
          <p:cNvPr id="11" name="TextBox 10">
            <a:extLst>
              <a:ext uri="{FF2B5EF4-FFF2-40B4-BE49-F238E27FC236}">
                <a16:creationId xmlns:a16="http://schemas.microsoft.com/office/drawing/2014/main" id="{E1E63C55-E0EB-9C42-DEA1-1111EB814303}"/>
              </a:ext>
            </a:extLst>
          </p:cNvPr>
          <p:cNvSpPr txBox="1"/>
          <p:nvPr/>
        </p:nvSpPr>
        <p:spPr>
          <a:xfrm>
            <a:off x="152998" y="3971415"/>
            <a:ext cx="3785956" cy="369332"/>
          </a:xfrm>
          <a:prstGeom prst="rect">
            <a:avLst/>
          </a:prstGeom>
          <a:solidFill>
            <a:schemeClr val="accent2"/>
          </a:solidFill>
        </p:spPr>
        <p:txBody>
          <a:bodyPr wrap="square">
            <a:spAutoFit/>
          </a:bodyPr>
          <a:lstStyle/>
          <a:p>
            <a:pPr algn="ctr"/>
            <a:r>
              <a:rPr lang="en-GB" b="1" dirty="0">
                <a:solidFill>
                  <a:schemeClr val="bg1"/>
                </a:solidFill>
              </a:rPr>
              <a:t>Impact and Benefits</a:t>
            </a:r>
          </a:p>
        </p:txBody>
      </p:sp>
      <p:sp>
        <p:nvSpPr>
          <p:cNvPr id="12" name="Content Placeholder 2">
            <a:extLst>
              <a:ext uri="{FF2B5EF4-FFF2-40B4-BE49-F238E27FC236}">
                <a16:creationId xmlns:a16="http://schemas.microsoft.com/office/drawing/2014/main" id="{7B41866C-33A7-DD84-CB0B-998248D8A06C}"/>
              </a:ext>
            </a:extLst>
          </p:cNvPr>
          <p:cNvSpPr txBox="1">
            <a:spLocks/>
          </p:cNvSpPr>
          <p:nvPr/>
        </p:nvSpPr>
        <p:spPr>
          <a:xfrm>
            <a:off x="4203022" y="4613339"/>
            <a:ext cx="3785955" cy="14385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Cornerstone of BCG’s AI strategy.</a:t>
            </a:r>
          </a:p>
          <a:p>
            <a:r>
              <a:rPr lang="en-GB" sz="1600" dirty="0">
                <a:solidFill>
                  <a:schemeClr val="tx2"/>
                </a:solidFill>
              </a:rPr>
              <a:t>Top-down development for enterprise use cases.</a:t>
            </a:r>
          </a:p>
          <a:p>
            <a:r>
              <a:rPr lang="en-GB" sz="1600" dirty="0">
                <a:solidFill>
                  <a:schemeClr val="tx2"/>
                </a:solidFill>
              </a:rPr>
              <a:t>Bottom-up for innovations by individuals.</a:t>
            </a:r>
          </a:p>
          <a:p>
            <a:r>
              <a:rPr lang="en-GB" sz="1600" dirty="0">
                <a:solidFill>
                  <a:schemeClr val="tx2"/>
                </a:solidFill>
              </a:rPr>
              <a:t>Led by senior partner task force for corporate AI apps and general AI apps for consulting workflows</a:t>
            </a:r>
          </a:p>
        </p:txBody>
      </p:sp>
      <p:sp>
        <p:nvSpPr>
          <p:cNvPr id="15" name="TextBox 14">
            <a:extLst>
              <a:ext uri="{FF2B5EF4-FFF2-40B4-BE49-F238E27FC236}">
                <a16:creationId xmlns:a16="http://schemas.microsoft.com/office/drawing/2014/main" id="{2F81C897-8EF9-4688-9410-07CB03A6319C}"/>
              </a:ext>
            </a:extLst>
          </p:cNvPr>
          <p:cNvSpPr txBox="1"/>
          <p:nvPr/>
        </p:nvSpPr>
        <p:spPr>
          <a:xfrm>
            <a:off x="8253046" y="3990924"/>
            <a:ext cx="3785956" cy="369332"/>
          </a:xfrm>
          <a:prstGeom prst="rect">
            <a:avLst/>
          </a:prstGeom>
          <a:solidFill>
            <a:schemeClr val="accent4"/>
          </a:solidFill>
        </p:spPr>
        <p:txBody>
          <a:bodyPr wrap="square">
            <a:spAutoFit/>
          </a:bodyPr>
          <a:lstStyle/>
          <a:p>
            <a:pPr algn="ctr"/>
            <a:r>
              <a:rPr lang="en-GB" b="1" dirty="0">
                <a:solidFill>
                  <a:schemeClr val="bg1"/>
                </a:solidFill>
              </a:rPr>
              <a:t>Lessons Learned</a:t>
            </a:r>
          </a:p>
        </p:txBody>
      </p:sp>
      <p:sp>
        <p:nvSpPr>
          <p:cNvPr id="19" name="Content Placeholder 2">
            <a:extLst>
              <a:ext uri="{FF2B5EF4-FFF2-40B4-BE49-F238E27FC236}">
                <a16:creationId xmlns:a16="http://schemas.microsoft.com/office/drawing/2014/main" id="{3A345AF9-82FA-DB40-7BD1-0650C0767AA6}"/>
              </a:ext>
            </a:extLst>
          </p:cNvPr>
          <p:cNvSpPr txBox="1">
            <a:spLocks/>
          </p:cNvSpPr>
          <p:nvPr/>
        </p:nvSpPr>
        <p:spPr>
          <a:xfrm>
            <a:off x="8253046" y="4554542"/>
            <a:ext cx="3785956" cy="190872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Formally measured impact on 750 staff.</a:t>
            </a:r>
          </a:p>
          <a:p>
            <a:r>
              <a:rPr lang="en-GB" sz="1600" dirty="0">
                <a:solidFill>
                  <a:schemeClr val="tx2"/>
                </a:solidFill>
              </a:rPr>
              <a:t>For straightforward tasks, productivity increased by 30-40% for new hires and 20-30% for experienced consultants.</a:t>
            </a:r>
          </a:p>
          <a:p>
            <a:r>
              <a:rPr lang="en-GB" sz="1600" dirty="0">
                <a:solidFill>
                  <a:schemeClr val="tx2"/>
                </a:solidFill>
              </a:rPr>
              <a:t>For complex tasks, productivity sometimes decreased due to the challenges of debugging AI-generated outputs.</a:t>
            </a:r>
          </a:p>
        </p:txBody>
      </p:sp>
    </p:spTree>
    <p:extLst>
      <p:ext uri="{BB962C8B-B14F-4D97-AF65-F5344CB8AC3E}">
        <p14:creationId xmlns:p14="http://schemas.microsoft.com/office/powerpoint/2010/main" val="2896689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5CD15-64D0-F0F4-055E-C79429D6D45F}"/>
              </a:ext>
            </a:extLst>
          </p:cNvPr>
          <p:cNvSpPr>
            <a:spLocks noGrp="1"/>
          </p:cNvSpPr>
          <p:nvPr>
            <p:ph type="title"/>
          </p:nvPr>
        </p:nvSpPr>
        <p:spPr>
          <a:xfrm>
            <a:off x="838200" y="365126"/>
            <a:ext cx="10515600" cy="645990"/>
          </a:xfrm>
        </p:spPr>
        <p:txBody>
          <a:bodyPr>
            <a:normAutofit/>
          </a:bodyPr>
          <a:lstStyle/>
          <a:p>
            <a:pPr algn="ctr"/>
            <a:r>
              <a:rPr lang="en-GB" b="1" dirty="0">
                <a:solidFill>
                  <a:schemeClr val="tx2"/>
                </a:solidFill>
              </a:rPr>
              <a:t>Case: AI at Bain</a:t>
            </a:r>
          </a:p>
        </p:txBody>
      </p:sp>
      <p:sp>
        <p:nvSpPr>
          <p:cNvPr id="3" name="Slide Number Placeholder 2">
            <a:extLst>
              <a:ext uri="{FF2B5EF4-FFF2-40B4-BE49-F238E27FC236}">
                <a16:creationId xmlns:a16="http://schemas.microsoft.com/office/drawing/2014/main" id="{8996568F-C23C-708B-A3F7-D548BF0339A5}"/>
              </a:ext>
            </a:extLst>
          </p:cNvPr>
          <p:cNvSpPr>
            <a:spLocks noGrp="1"/>
          </p:cNvSpPr>
          <p:nvPr>
            <p:ph type="sldNum" sz="quarter" idx="4294967295"/>
          </p:nvPr>
        </p:nvSpPr>
        <p:spPr>
          <a:xfrm>
            <a:off x="8610600" y="6356350"/>
            <a:ext cx="2743200" cy="365125"/>
          </a:xfrm>
          <a:prstGeom prst="rect">
            <a:avLst/>
          </a:prstGeom>
        </p:spPr>
        <p:txBody>
          <a:bodyPr/>
          <a:lstStyle/>
          <a:p>
            <a:fld id="{F3451B78-826D-4FE9-99FE-428C8E62A634}" type="slidenum">
              <a:rPr lang="en-US" smtClean="0"/>
              <a:t>40</a:t>
            </a:fld>
            <a:endParaRPr lang="en-US"/>
          </a:p>
        </p:txBody>
      </p:sp>
      <p:pic>
        <p:nvPicPr>
          <p:cNvPr id="8194" name="Picture 2" descr="Chuck Whitten - Management Consultant ...">
            <a:extLst>
              <a:ext uri="{FF2B5EF4-FFF2-40B4-BE49-F238E27FC236}">
                <a16:creationId xmlns:a16="http://schemas.microsoft.com/office/drawing/2014/main" id="{293CAF5B-ABDA-89B4-8B15-4B6B38F310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77" b="3671"/>
          <a:stretch>
            <a:fillRect/>
          </a:stretch>
        </p:blipFill>
        <p:spPr bwMode="auto">
          <a:xfrm>
            <a:off x="1029486" y="1394689"/>
            <a:ext cx="2857500" cy="263034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Bain global managing partner predicts ...">
            <a:extLst>
              <a:ext uri="{FF2B5EF4-FFF2-40B4-BE49-F238E27FC236}">
                <a16:creationId xmlns:a16="http://schemas.microsoft.com/office/drawing/2014/main" id="{FF271ADD-BA75-56EB-1B79-B4EA0E1882D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69" r="5179"/>
          <a:stretch>
            <a:fillRect/>
          </a:stretch>
        </p:blipFill>
        <p:spPr bwMode="auto">
          <a:xfrm>
            <a:off x="1006868" y="4025035"/>
            <a:ext cx="2880118" cy="2552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C4E3CC1-A4ED-E682-B180-686BE289E8EC}"/>
              </a:ext>
            </a:extLst>
          </p:cNvPr>
          <p:cNvSpPr txBox="1"/>
          <p:nvPr/>
        </p:nvSpPr>
        <p:spPr>
          <a:xfrm>
            <a:off x="4809393" y="1807527"/>
            <a:ext cx="6544407" cy="1477328"/>
          </a:xfrm>
          <a:prstGeom prst="rect">
            <a:avLst/>
          </a:prstGeom>
          <a:noFill/>
        </p:spPr>
        <p:txBody>
          <a:bodyPr wrap="square" rtlCol="0">
            <a:spAutoFit/>
          </a:bodyPr>
          <a:lstStyle/>
          <a:p>
            <a:r>
              <a:rPr lang="en-GB" b="1" dirty="0"/>
              <a:t>Chuck Whitten</a:t>
            </a:r>
            <a:r>
              <a:rPr lang="en-GB" dirty="0"/>
              <a:t>, Bain’s Global Head of Digital, highlights the importance of integrating AI into core business functions, stating that companies should pursue a dual-track approach: balancing large-scale, transformative initiatives with incremental improvements.</a:t>
            </a:r>
          </a:p>
        </p:txBody>
      </p:sp>
      <p:sp>
        <p:nvSpPr>
          <p:cNvPr id="6" name="TextBox 5">
            <a:extLst>
              <a:ext uri="{FF2B5EF4-FFF2-40B4-BE49-F238E27FC236}">
                <a16:creationId xmlns:a16="http://schemas.microsoft.com/office/drawing/2014/main" id="{DDF33C26-9EC7-435C-B71C-E59D0D8D0005}"/>
              </a:ext>
            </a:extLst>
          </p:cNvPr>
          <p:cNvSpPr txBox="1"/>
          <p:nvPr/>
        </p:nvSpPr>
        <p:spPr>
          <a:xfrm>
            <a:off x="4809392" y="4701220"/>
            <a:ext cx="6544407" cy="1200329"/>
          </a:xfrm>
          <a:prstGeom prst="rect">
            <a:avLst/>
          </a:prstGeom>
          <a:noFill/>
        </p:spPr>
        <p:txBody>
          <a:bodyPr wrap="square" rtlCol="0">
            <a:spAutoFit/>
          </a:bodyPr>
          <a:lstStyle/>
          <a:p>
            <a:r>
              <a:rPr lang="en-GB" b="1" dirty="0"/>
              <a:t>Christophe De </a:t>
            </a:r>
            <a:r>
              <a:rPr lang="en-GB" b="1" dirty="0" err="1"/>
              <a:t>Vusser</a:t>
            </a:r>
            <a:r>
              <a:rPr lang="en-GB" dirty="0"/>
              <a:t>, Bain's Worldwide Managing Partner and CEO, notes the shift from experimentation to practical application of AI, emphasizing the need for businesses to assess their data readiness and the tangible results AI investments can yield.</a:t>
            </a:r>
          </a:p>
        </p:txBody>
      </p:sp>
    </p:spTree>
    <p:extLst>
      <p:ext uri="{BB962C8B-B14F-4D97-AF65-F5344CB8AC3E}">
        <p14:creationId xmlns:p14="http://schemas.microsoft.com/office/powerpoint/2010/main" val="1381920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BF00D-1296-62E7-B61E-F632E2421D4B}"/>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7FE7B85-1A72-7915-9C8C-E7B91F3B267F}"/>
              </a:ext>
            </a:extLst>
          </p:cNvPr>
          <p:cNvSpPr>
            <a:spLocks noGrp="1"/>
          </p:cNvSpPr>
          <p:nvPr>
            <p:ph type="title"/>
          </p:nvPr>
        </p:nvSpPr>
        <p:spPr>
          <a:xfrm>
            <a:off x="838200" y="365126"/>
            <a:ext cx="10515600" cy="727694"/>
          </a:xfrm>
        </p:spPr>
        <p:txBody>
          <a:bodyPr/>
          <a:lstStyle/>
          <a:p>
            <a:pPr algn="ctr"/>
            <a:r>
              <a:rPr lang="en-GB" b="1" dirty="0">
                <a:solidFill>
                  <a:schemeClr val="tx2"/>
                </a:solidFill>
              </a:rPr>
              <a:t>Case: Bain’s Enterprise GPT &amp; CoPilot</a:t>
            </a:r>
          </a:p>
        </p:txBody>
      </p:sp>
      <p:sp>
        <p:nvSpPr>
          <p:cNvPr id="3" name="Content Placeholder 2">
            <a:extLst>
              <a:ext uri="{FF2B5EF4-FFF2-40B4-BE49-F238E27FC236}">
                <a16:creationId xmlns:a16="http://schemas.microsoft.com/office/drawing/2014/main" id="{0B59C4B2-1F47-2889-A444-F734C9389E0D}"/>
              </a:ext>
            </a:extLst>
          </p:cNvPr>
          <p:cNvSpPr>
            <a:spLocks noGrp="1"/>
          </p:cNvSpPr>
          <p:nvPr>
            <p:ph idx="4294967295"/>
          </p:nvPr>
        </p:nvSpPr>
        <p:spPr>
          <a:xfrm>
            <a:off x="848899" y="1757576"/>
            <a:ext cx="4663878" cy="2076450"/>
          </a:xfrm>
        </p:spPr>
        <p:txBody>
          <a:bodyPr>
            <a:normAutofit/>
          </a:bodyPr>
          <a:lstStyle/>
          <a:p>
            <a:r>
              <a:rPr lang="en-GB" sz="1600" dirty="0">
                <a:solidFill>
                  <a:schemeClr val="tx2"/>
                </a:solidFill>
              </a:rPr>
              <a:t>OpenAI’s ChatGPT Enterprise available across all 18,000 staff.</a:t>
            </a:r>
          </a:p>
          <a:p>
            <a:r>
              <a:rPr lang="en-GB" sz="1600" dirty="0">
                <a:solidFill>
                  <a:schemeClr val="tx2"/>
                </a:solidFill>
              </a:rPr>
              <a:t>60% of consultants adopted it within 2 weeks.</a:t>
            </a:r>
          </a:p>
          <a:p>
            <a:r>
              <a:rPr lang="en-GB" sz="1600" dirty="0">
                <a:solidFill>
                  <a:schemeClr val="tx2"/>
                </a:solidFill>
              </a:rPr>
              <a:t>Partnered with OpenAI for client industry solutions.</a:t>
            </a:r>
            <a:endParaRPr sz="1600" dirty="0">
              <a:solidFill>
                <a:schemeClr val="tx2"/>
              </a:solidFill>
            </a:endParaRPr>
          </a:p>
        </p:txBody>
      </p:sp>
      <p:sp>
        <p:nvSpPr>
          <p:cNvPr id="4" name="TextBox 3">
            <a:extLst>
              <a:ext uri="{FF2B5EF4-FFF2-40B4-BE49-F238E27FC236}">
                <a16:creationId xmlns:a16="http://schemas.microsoft.com/office/drawing/2014/main" id="{28AAA49B-1A04-B991-B70C-A554E22BE5F8}"/>
              </a:ext>
            </a:extLst>
          </p:cNvPr>
          <p:cNvSpPr txBox="1"/>
          <p:nvPr/>
        </p:nvSpPr>
        <p:spPr>
          <a:xfrm>
            <a:off x="838200" y="1161237"/>
            <a:ext cx="4674577" cy="369332"/>
          </a:xfrm>
          <a:prstGeom prst="rect">
            <a:avLst/>
          </a:prstGeom>
          <a:solidFill>
            <a:schemeClr val="tx2"/>
          </a:solidFill>
        </p:spPr>
        <p:txBody>
          <a:bodyPr wrap="square" rtlCol="0">
            <a:spAutoFit/>
          </a:bodyPr>
          <a:lstStyle/>
          <a:p>
            <a:pPr algn="ctr"/>
            <a:r>
              <a:rPr lang="en-GB" b="1" dirty="0">
                <a:solidFill>
                  <a:schemeClr val="bg1"/>
                </a:solidFill>
              </a:rPr>
              <a:t>Enterprise GPT</a:t>
            </a:r>
          </a:p>
        </p:txBody>
      </p:sp>
      <p:sp>
        <p:nvSpPr>
          <p:cNvPr id="5" name="Content Placeholder 2">
            <a:extLst>
              <a:ext uri="{FF2B5EF4-FFF2-40B4-BE49-F238E27FC236}">
                <a16:creationId xmlns:a16="http://schemas.microsoft.com/office/drawing/2014/main" id="{688F29C3-A7F3-6FB8-5122-AE46362C37A6}"/>
              </a:ext>
            </a:extLst>
          </p:cNvPr>
          <p:cNvSpPr txBox="1">
            <a:spLocks/>
          </p:cNvSpPr>
          <p:nvPr/>
        </p:nvSpPr>
        <p:spPr>
          <a:xfrm>
            <a:off x="6679224" y="1721578"/>
            <a:ext cx="4830337" cy="1908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Bain is implementing other AI tools like MS Copilot.</a:t>
            </a:r>
          </a:p>
          <a:p>
            <a:r>
              <a:rPr lang="en-GB" sz="1600" dirty="0">
                <a:solidFill>
                  <a:schemeClr val="tx2"/>
                </a:solidFill>
              </a:rPr>
              <a:t>Have developed in house proprietary tools to guide interviews and for data analysis.</a:t>
            </a:r>
          </a:p>
        </p:txBody>
      </p:sp>
      <p:sp>
        <p:nvSpPr>
          <p:cNvPr id="6" name="TextBox 5">
            <a:extLst>
              <a:ext uri="{FF2B5EF4-FFF2-40B4-BE49-F238E27FC236}">
                <a16:creationId xmlns:a16="http://schemas.microsoft.com/office/drawing/2014/main" id="{C22B3A93-A5E4-42EA-C26A-585936A24BBF}"/>
              </a:ext>
            </a:extLst>
          </p:cNvPr>
          <p:cNvSpPr txBox="1"/>
          <p:nvPr/>
        </p:nvSpPr>
        <p:spPr>
          <a:xfrm>
            <a:off x="6679224" y="1157097"/>
            <a:ext cx="4663878" cy="369332"/>
          </a:xfrm>
          <a:prstGeom prst="rect">
            <a:avLst/>
          </a:prstGeom>
          <a:solidFill>
            <a:schemeClr val="accent1"/>
          </a:solidFill>
        </p:spPr>
        <p:txBody>
          <a:bodyPr wrap="square" rtlCol="0">
            <a:spAutoFit/>
          </a:bodyPr>
          <a:lstStyle/>
          <a:p>
            <a:pPr algn="ctr"/>
            <a:r>
              <a:rPr lang="en-GB" b="1" dirty="0">
                <a:solidFill>
                  <a:schemeClr val="bg1"/>
                </a:solidFill>
              </a:rPr>
              <a:t>Other AI Tools</a:t>
            </a:r>
          </a:p>
        </p:txBody>
      </p:sp>
      <p:sp>
        <p:nvSpPr>
          <p:cNvPr id="7" name="Content Placeholder 2">
            <a:extLst>
              <a:ext uri="{FF2B5EF4-FFF2-40B4-BE49-F238E27FC236}">
                <a16:creationId xmlns:a16="http://schemas.microsoft.com/office/drawing/2014/main" id="{343D26EC-47A8-DCB8-6C28-191F701553B9}"/>
              </a:ext>
            </a:extLst>
          </p:cNvPr>
          <p:cNvSpPr txBox="1">
            <a:spLocks/>
          </p:cNvSpPr>
          <p:nvPr/>
        </p:nvSpPr>
        <p:spPr>
          <a:xfrm>
            <a:off x="152999" y="4613339"/>
            <a:ext cx="3785955" cy="16615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Getting tasks done more quickly to enable increased focus on clients</a:t>
            </a:r>
          </a:p>
          <a:p>
            <a:r>
              <a:rPr lang="en-GB" sz="1600" dirty="0">
                <a:solidFill>
                  <a:schemeClr val="tx2"/>
                </a:solidFill>
              </a:rPr>
              <a:t>30% of revenues now from digital and AI with projected growth to 50%.</a:t>
            </a:r>
          </a:p>
          <a:p>
            <a:r>
              <a:rPr lang="en-GB" sz="1600" dirty="0">
                <a:solidFill>
                  <a:schemeClr val="tx2"/>
                </a:solidFill>
              </a:rPr>
              <a:t>AI is central to more than 25% of Bain’s work.</a:t>
            </a:r>
          </a:p>
          <a:p>
            <a:pPr lvl="1"/>
            <a:endParaRPr lang="en-GB" sz="1200" dirty="0">
              <a:solidFill>
                <a:schemeClr val="tx2"/>
              </a:solidFill>
            </a:endParaRPr>
          </a:p>
        </p:txBody>
      </p:sp>
      <p:sp>
        <p:nvSpPr>
          <p:cNvPr id="9" name="TextBox 8">
            <a:extLst>
              <a:ext uri="{FF2B5EF4-FFF2-40B4-BE49-F238E27FC236}">
                <a16:creationId xmlns:a16="http://schemas.microsoft.com/office/drawing/2014/main" id="{D6F9A79C-B1DB-27AE-08AA-1C603837119C}"/>
              </a:ext>
            </a:extLst>
          </p:cNvPr>
          <p:cNvSpPr txBox="1"/>
          <p:nvPr/>
        </p:nvSpPr>
        <p:spPr>
          <a:xfrm>
            <a:off x="4203022" y="3990924"/>
            <a:ext cx="3785956" cy="369332"/>
          </a:xfrm>
          <a:prstGeom prst="rect">
            <a:avLst/>
          </a:prstGeom>
          <a:solidFill>
            <a:schemeClr val="accent3"/>
          </a:solidFill>
        </p:spPr>
        <p:txBody>
          <a:bodyPr wrap="square">
            <a:spAutoFit/>
          </a:bodyPr>
          <a:lstStyle/>
          <a:p>
            <a:pPr algn="ctr"/>
            <a:r>
              <a:rPr lang="en-GB" b="1" dirty="0">
                <a:solidFill>
                  <a:schemeClr val="bg1"/>
                </a:solidFill>
              </a:rPr>
              <a:t>Strategic Significance</a:t>
            </a:r>
          </a:p>
        </p:txBody>
      </p:sp>
      <p:sp>
        <p:nvSpPr>
          <p:cNvPr id="11" name="TextBox 10">
            <a:extLst>
              <a:ext uri="{FF2B5EF4-FFF2-40B4-BE49-F238E27FC236}">
                <a16:creationId xmlns:a16="http://schemas.microsoft.com/office/drawing/2014/main" id="{F2B9C532-2132-9F18-2EC5-DFA41FBF7606}"/>
              </a:ext>
            </a:extLst>
          </p:cNvPr>
          <p:cNvSpPr txBox="1"/>
          <p:nvPr/>
        </p:nvSpPr>
        <p:spPr>
          <a:xfrm>
            <a:off x="152998" y="3971415"/>
            <a:ext cx="3785956" cy="369332"/>
          </a:xfrm>
          <a:prstGeom prst="rect">
            <a:avLst/>
          </a:prstGeom>
          <a:solidFill>
            <a:schemeClr val="accent2"/>
          </a:solidFill>
        </p:spPr>
        <p:txBody>
          <a:bodyPr wrap="square">
            <a:spAutoFit/>
          </a:bodyPr>
          <a:lstStyle/>
          <a:p>
            <a:pPr algn="ctr"/>
            <a:r>
              <a:rPr lang="en-GB" b="1" dirty="0">
                <a:solidFill>
                  <a:schemeClr val="bg1"/>
                </a:solidFill>
              </a:rPr>
              <a:t>Impact and Benefits</a:t>
            </a:r>
          </a:p>
        </p:txBody>
      </p:sp>
      <p:sp>
        <p:nvSpPr>
          <p:cNvPr id="12" name="Content Placeholder 2">
            <a:extLst>
              <a:ext uri="{FF2B5EF4-FFF2-40B4-BE49-F238E27FC236}">
                <a16:creationId xmlns:a16="http://schemas.microsoft.com/office/drawing/2014/main" id="{6FA347AE-8263-D2AB-D1AE-63682345ED91}"/>
              </a:ext>
            </a:extLst>
          </p:cNvPr>
          <p:cNvSpPr txBox="1">
            <a:spLocks/>
          </p:cNvSpPr>
          <p:nvPr/>
        </p:nvSpPr>
        <p:spPr>
          <a:xfrm>
            <a:off x="4203022" y="4613339"/>
            <a:ext cx="3785955" cy="14385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Leadership is emphasising the transformative potential of AI.</a:t>
            </a:r>
          </a:p>
          <a:p>
            <a:r>
              <a:rPr lang="en-GB" sz="1600" dirty="0">
                <a:solidFill>
                  <a:schemeClr val="tx2"/>
                </a:solidFill>
              </a:rPr>
              <a:t>Also promoting the smaller incremental improvements in parallel.</a:t>
            </a:r>
          </a:p>
        </p:txBody>
      </p:sp>
      <p:sp>
        <p:nvSpPr>
          <p:cNvPr id="15" name="TextBox 14">
            <a:extLst>
              <a:ext uri="{FF2B5EF4-FFF2-40B4-BE49-F238E27FC236}">
                <a16:creationId xmlns:a16="http://schemas.microsoft.com/office/drawing/2014/main" id="{2E54FE0A-A069-4240-EEBA-46449AB6188E}"/>
              </a:ext>
            </a:extLst>
          </p:cNvPr>
          <p:cNvSpPr txBox="1"/>
          <p:nvPr/>
        </p:nvSpPr>
        <p:spPr>
          <a:xfrm>
            <a:off x="8253046" y="3990924"/>
            <a:ext cx="3785956" cy="369332"/>
          </a:xfrm>
          <a:prstGeom prst="rect">
            <a:avLst/>
          </a:prstGeom>
          <a:solidFill>
            <a:schemeClr val="accent4"/>
          </a:solidFill>
        </p:spPr>
        <p:txBody>
          <a:bodyPr wrap="square">
            <a:spAutoFit/>
          </a:bodyPr>
          <a:lstStyle/>
          <a:p>
            <a:pPr algn="ctr"/>
            <a:r>
              <a:rPr lang="en-GB" b="1" dirty="0">
                <a:solidFill>
                  <a:schemeClr val="bg1"/>
                </a:solidFill>
              </a:rPr>
              <a:t>Lessons Learned</a:t>
            </a:r>
          </a:p>
        </p:txBody>
      </p:sp>
      <p:sp>
        <p:nvSpPr>
          <p:cNvPr id="19" name="Content Placeholder 2">
            <a:extLst>
              <a:ext uri="{FF2B5EF4-FFF2-40B4-BE49-F238E27FC236}">
                <a16:creationId xmlns:a16="http://schemas.microsoft.com/office/drawing/2014/main" id="{60A45E9B-D504-F914-6D23-7DF39FA82C28}"/>
              </a:ext>
            </a:extLst>
          </p:cNvPr>
          <p:cNvSpPr txBox="1">
            <a:spLocks/>
          </p:cNvSpPr>
          <p:nvPr/>
        </p:nvSpPr>
        <p:spPr>
          <a:xfrm>
            <a:off x="8253046" y="4554542"/>
            <a:ext cx="3785956" cy="1908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Rapid adoption.</a:t>
            </a:r>
          </a:p>
          <a:p>
            <a:r>
              <a:rPr lang="en-GB" sz="1600" dirty="0">
                <a:solidFill>
                  <a:schemeClr val="tx2"/>
                </a:solidFill>
              </a:rPr>
              <a:t>Integration of AI into operations and client services.</a:t>
            </a:r>
          </a:p>
          <a:p>
            <a:r>
              <a:rPr lang="en-GB" sz="1600" dirty="0">
                <a:solidFill>
                  <a:schemeClr val="tx2"/>
                </a:solidFill>
              </a:rPr>
              <a:t>Appointed a senior partner to provide firm wide leadership on digital and AI.</a:t>
            </a:r>
          </a:p>
        </p:txBody>
      </p:sp>
    </p:spTree>
    <p:extLst>
      <p:ext uri="{BB962C8B-B14F-4D97-AF65-F5344CB8AC3E}">
        <p14:creationId xmlns:p14="http://schemas.microsoft.com/office/powerpoint/2010/main" val="27485870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EE95A-1EEE-A5D0-A7AA-3296D202C132}"/>
              </a:ext>
            </a:extLst>
          </p:cNvPr>
          <p:cNvSpPr>
            <a:spLocks noGrp="1"/>
          </p:cNvSpPr>
          <p:nvPr>
            <p:ph type="title"/>
          </p:nvPr>
        </p:nvSpPr>
        <p:spPr>
          <a:xfrm>
            <a:off x="838200" y="365125"/>
            <a:ext cx="10515600" cy="826677"/>
          </a:xfrm>
        </p:spPr>
        <p:txBody>
          <a:bodyPr/>
          <a:lstStyle/>
          <a:p>
            <a:pPr algn="ctr"/>
            <a:r>
              <a:rPr lang="en-GB" dirty="0">
                <a:solidFill>
                  <a:schemeClr val="tx2"/>
                </a:solidFill>
              </a:rPr>
              <a:t>Case: AI at KPMG</a:t>
            </a:r>
          </a:p>
        </p:txBody>
      </p:sp>
      <p:pic>
        <p:nvPicPr>
          <p:cNvPr id="10242" name="Picture 2" descr="David Rowlands">
            <a:extLst>
              <a:ext uri="{FF2B5EF4-FFF2-40B4-BE49-F238E27FC236}">
                <a16:creationId xmlns:a16="http://schemas.microsoft.com/office/drawing/2014/main" id="{741EB43A-8E34-F061-3665-93F55F03B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221" y="1398355"/>
            <a:ext cx="2308688" cy="23086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B1B4E4-15D4-6EBF-6F03-D2AF86E3C6DC}"/>
              </a:ext>
            </a:extLst>
          </p:cNvPr>
          <p:cNvSpPr txBox="1"/>
          <p:nvPr/>
        </p:nvSpPr>
        <p:spPr>
          <a:xfrm>
            <a:off x="1109609" y="3935715"/>
            <a:ext cx="3419654" cy="369332"/>
          </a:xfrm>
          <a:prstGeom prst="rect">
            <a:avLst/>
          </a:prstGeom>
          <a:noFill/>
        </p:spPr>
        <p:txBody>
          <a:bodyPr wrap="none" rtlCol="0">
            <a:spAutoFit/>
          </a:bodyPr>
          <a:lstStyle/>
          <a:p>
            <a:r>
              <a:rPr lang="en-GB" dirty="0"/>
              <a:t>David Rowlands, Global Head of AI</a:t>
            </a:r>
          </a:p>
        </p:txBody>
      </p:sp>
      <p:pic>
        <p:nvPicPr>
          <p:cNvPr id="10246" name="Picture 6" descr="KPMG Canary Wharf Offices - Accountancy Age">
            <a:extLst>
              <a:ext uri="{FF2B5EF4-FFF2-40B4-BE49-F238E27FC236}">
                <a16:creationId xmlns:a16="http://schemas.microsoft.com/office/drawing/2014/main" id="{C118F36F-0CCD-E108-8E07-C953581B08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9135" y="4533719"/>
            <a:ext cx="3020602" cy="20137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89CF37-4E94-9F57-C044-A4FFFC875FB0}"/>
              </a:ext>
            </a:extLst>
          </p:cNvPr>
          <p:cNvSpPr txBox="1"/>
          <p:nvPr/>
        </p:nvSpPr>
        <p:spPr>
          <a:xfrm>
            <a:off x="5054886" y="1756881"/>
            <a:ext cx="5948736" cy="1200329"/>
          </a:xfrm>
          <a:prstGeom prst="rect">
            <a:avLst/>
          </a:prstGeom>
          <a:noFill/>
        </p:spPr>
        <p:txBody>
          <a:bodyPr wrap="square" rtlCol="0">
            <a:spAutoFit/>
          </a:bodyPr>
          <a:lstStyle/>
          <a:p>
            <a:r>
              <a:rPr lang="en-GB" i="1" dirty="0"/>
              <a:t>“We surveyed 1800 organisations … 100% felt the responsibility to review AI. 65% saw a key responsibility for KPMG as their auditors or big 4 partner to help them with the journey.”</a:t>
            </a:r>
          </a:p>
        </p:txBody>
      </p:sp>
      <p:sp>
        <p:nvSpPr>
          <p:cNvPr id="6" name="TextBox 5">
            <a:extLst>
              <a:ext uri="{FF2B5EF4-FFF2-40B4-BE49-F238E27FC236}">
                <a16:creationId xmlns:a16="http://schemas.microsoft.com/office/drawing/2014/main" id="{61732AB9-A82F-FB49-141E-D0D67BEC72C7}"/>
              </a:ext>
            </a:extLst>
          </p:cNvPr>
          <p:cNvSpPr txBox="1"/>
          <p:nvPr/>
        </p:nvSpPr>
        <p:spPr>
          <a:xfrm>
            <a:off x="5054887" y="3641117"/>
            <a:ext cx="5948736" cy="2308324"/>
          </a:xfrm>
          <a:prstGeom prst="rect">
            <a:avLst/>
          </a:prstGeom>
          <a:noFill/>
        </p:spPr>
        <p:txBody>
          <a:bodyPr wrap="square" rtlCol="0">
            <a:spAutoFit/>
          </a:bodyPr>
          <a:lstStyle/>
          <a:p>
            <a:r>
              <a:rPr lang="en-GB" i="1" dirty="0"/>
              <a:t>“We’re applying our own AI frameworks to ourselves; we are our own first client – our client zero ….we’re driving a broad- based transformation; how we sell our services, the services we sell, how we deliver them, how we use AI in our own operations, the impact on our workforce, how we look after our own data and technology….to make sure everything we do for our clients is successful and is done in a trusted manner.”</a:t>
            </a:r>
          </a:p>
        </p:txBody>
      </p:sp>
    </p:spTree>
    <p:extLst>
      <p:ext uri="{BB962C8B-B14F-4D97-AF65-F5344CB8AC3E}">
        <p14:creationId xmlns:p14="http://schemas.microsoft.com/office/powerpoint/2010/main" val="28427022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1E349-FC0E-3369-38F4-A176EBDBC6B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55129CA-3DBD-2A20-6B93-B8E8FCEE6E2F}"/>
              </a:ext>
            </a:extLst>
          </p:cNvPr>
          <p:cNvSpPr>
            <a:spLocks noGrp="1"/>
          </p:cNvSpPr>
          <p:nvPr>
            <p:ph type="title"/>
          </p:nvPr>
        </p:nvSpPr>
        <p:spPr>
          <a:xfrm>
            <a:off x="838200" y="365126"/>
            <a:ext cx="10515600" cy="727694"/>
          </a:xfrm>
        </p:spPr>
        <p:txBody>
          <a:bodyPr/>
          <a:lstStyle/>
          <a:p>
            <a:pPr algn="ctr"/>
            <a:r>
              <a:rPr lang="en-GB" b="1" dirty="0">
                <a:solidFill>
                  <a:schemeClr val="tx2"/>
                </a:solidFill>
              </a:rPr>
              <a:t>Case: AVA at KPMG</a:t>
            </a:r>
          </a:p>
        </p:txBody>
      </p:sp>
      <p:sp>
        <p:nvSpPr>
          <p:cNvPr id="3" name="Content Placeholder 2">
            <a:extLst>
              <a:ext uri="{FF2B5EF4-FFF2-40B4-BE49-F238E27FC236}">
                <a16:creationId xmlns:a16="http://schemas.microsoft.com/office/drawing/2014/main" id="{7E7F4320-FFEB-8AE5-291F-AFCC00009FE8}"/>
              </a:ext>
            </a:extLst>
          </p:cNvPr>
          <p:cNvSpPr>
            <a:spLocks noGrp="1"/>
          </p:cNvSpPr>
          <p:nvPr>
            <p:ph idx="4294967295"/>
          </p:nvPr>
        </p:nvSpPr>
        <p:spPr>
          <a:xfrm>
            <a:off x="848899" y="1757576"/>
            <a:ext cx="4663878" cy="2076450"/>
          </a:xfrm>
        </p:spPr>
        <p:txBody>
          <a:bodyPr>
            <a:normAutofit/>
          </a:bodyPr>
          <a:lstStyle/>
          <a:p>
            <a:r>
              <a:rPr lang="en-GB" sz="1600" dirty="0">
                <a:solidFill>
                  <a:schemeClr val="tx2"/>
                </a:solidFill>
              </a:rPr>
              <a:t>A generative AI tool developed by KPMG UK to assist employees in accessing information, improving efficiency, and reducing risk.</a:t>
            </a:r>
            <a:endParaRPr sz="1600" dirty="0">
              <a:solidFill>
                <a:schemeClr val="tx2"/>
              </a:solidFill>
            </a:endParaRPr>
          </a:p>
        </p:txBody>
      </p:sp>
      <p:sp>
        <p:nvSpPr>
          <p:cNvPr id="4" name="TextBox 3">
            <a:extLst>
              <a:ext uri="{FF2B5EF4-FFF2-40B4-BE49-F238E27FC236}">
                <a16:creationId xmlns:a16="http://schemas.microsoft.com/office/drawing/2014/main" id="{16D8E73D-4435-2A13-95BB-C4E6DC12E973}"/>
              </a:ext>
            </a:extLst>
          </p:cNvPr>
          <p:cNvSpPr txBox="1"/>
          <p:nvPr/>
        </p:nvSpPr>
        <p:spPr>
          <a:xfrm>
            <a:off x="838200" y="1161237"/>
            <a:ext cx="4674577" cy="369332"/>
          </a:xfrm>
          <a:prstGeom prst="rect">
            <a:avLst/>
          </a:prstGeom>
          <a:solidFill>
            <a:schemeClr val="tx2"/>
          </a:solidFill>
        </p:spPr>
        <p:txBody>
          <a:bodyPr wrap="square" rtlCol="0">
            <a:spAutoFit/>
          </a:bodyPr>
          <a:lstStyle/>
          <a:p>
            <a:pPr algn="ctr"/>
            <a:r>
              <a:rPr lang="en-GB" b="1" dirty="0">
                <a:solidFill>
                  <a:schemeClr val="bg1"/>
                </a:solidFill>
              </a:rPr>
              <a:t>AVA – Advanced Virtual Assistant</a:t>
            </a:r>
          </a:p>
        </p:txBody>
      </p:sp>
      <p:sp>
        <p:nvSpPr>
          <p:cNvPr id="5" name="Content Placeholder 2">
            <a:extLst>
              <a:ext uri="{FF2B5EF4-FFF2-40B4-BE49-F238E27FC236}">
                <a16:creationId xmlns:a16="http://schemas.microsoft.com/office/drawing/2014/main" id="{2AE46129-21E9-47CE-DCF7-83D97C95A601}"/>
              </a:ext>
            </a:extLst>
          </p:cNvPr>
          <p:cNvSpPr txBox="1">
            <a:spLocks/>
          </p:cNvSpPr>
          <p:nvPr/>
        </p:nvSpPr>
        <p:spPr>
          <a:xfrm>
            <a:off x="6679224" y="1721578"/>
            <a:ext cx="4830337" cy="1908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19,000+ users globally,</a:t>
            </a:r>
          </a:p>
          <a:p>
            <a:r>
              <a:rPr lang="en-GB" sz="1600" dirty="0">
                <a:solidFill>
                  <a:schemeClr val="tx2"/>
                </a:solidFill>
              </a:rPr>
              <a:t>More than 30 demo apps already developed</a:t>
            </a:r>
          </a:p>
          <a:p>
            <a:r>
              <a:rPr lang="en-GB" sz="1600" dirty="0">
                <a:solidFill>
                  <a:schemeClr val="tx2"/>
                </a:solidFill>
              </a:rPr>
              <a:t>£76 million in estimated savings generated at KPMG alone / for our clients </a:t>
            </a:r>
          </a:p>
          <a:p>
            <a:r>
              <a:rPr lang="en-GB" sz="1600" dirty="0">
                <a:solidFill>
                  <a:schemeClr val="tx2"/>
                </a:solidFill>
              </a:rPr>
              <a:t>On average users are saving over 2 working days (14.2 hours) per month by using AVA Chat.</a:t>
            </a:r>
          </a:p>
        </p:txBody>
      </p:sp>
      <p:sp>
        <p:nvSpPr>
          <p:cNvPr id="6" name="TextBox 5">
            <a:extLst>
              <a:ext uri="{FF2B5EF4-FFF2-40B4-BE49-F238E27FC236}">
                <a16:creationId xmlns:a16="http://schemas.microsoft.com/office/drawing/2014/main" id="{42522260-968C-DC79-5B91-6D93651170C7}"/>
              </a:ext>
            </a:extLst>
          </p:cNvPr>
          <p:cNvSpPr txBox="1"/>
          <p:nvPr/>
        </p:nvSpPr>
        <p:spPr>
          <a:xfrm>
            <a:off x="6679224" y="1157097"/>
            <a:ext cx="4663878" cy="369332"/>
          </a:xfrm>
          <a:prstGeom prst="rect">
            <a:avLst/>
          </a:prstGeom>
          <a:solidFill>
            <a:schemeClr val="accent1"/>
          </a:solidFill>
        </p:spPr>
        <p:txBody>
          <a:bodyPr wrap="square" rtlCol="0">
            <a:spAutoFit/>
          </a:bodyPr>
          <a:lstStyle/>
          <a:p>
            <a:pPr algn="ctr"/>
            <a:r>
              <a:rPr lang="en-GB" b="1" dirty="0">
                <a:solidFill>
                  <a:schemeClr val="bg1"/>
                </a:solidFill>
              </a:rPr>
              <a:t>Usage by KPMG</a:t>
            </a:r>
          </a:p>
        </p:txBody>
      </p:sp>
      <p:sp>
        <p:nvSpPr>
          <p:cNvPr id="7" name="Content Placeholder 2">
            <a:extLst>
              <a:ext uri="{FF2B5EF4-FFF2-40B4-BE49-F238E27FC236}">
                <a16:creationId xmlns:a16="http://schemas.microsoft.com/office/drawing/2014/main" id="{1B74B3EA-EBFB-7466-B3CE-FC306A9B5771}"/>
              </a:ext>
            </a:extLst>
          </p:cNvPr>
          <p:cNvSpPr txBox="1">
            <a:spLocks/>
          </p:cNvSpPr>
          <p:nvPr/>
        </p:nvSpPr>
        <p:spPr>
          <a:xfrm>
            <a:off x="152999" y="4613339"/>
            <a:ext cx="3785955" cy="16615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Dramatic increase in efficiencies</a:t>
            </a:r>
          </a:p>
          <a:p>
            <a:r>
              <a:rPr lang="en-GB" sz="1600" dirty="0">
                <a:solidFill>
                  <a:schemeClr val="tx2"/>
                </a:solidFill>
              </a:rPr>
              <a:t>Significant cost reductions</a:t>
            </a:r>
          </a:p>
          <a:p>
            <a:r>
              <a:rPr lang="en-GB" sz="1600" dirty="0">
                <a:solidFill>
                  <a:schemeClr val="tx2"/>
                </a:solidFill>
              </a:rPr>
              <a:t>Faster and deeper insights</a:t>
            </a:r>
          </a:p>
          <a:p>
            <a:r>
              <a:rPr lang="en-GB" sz="1600" dirty="0">
                <a:solidFill>
                  <a:schemeClr val="tx2"/>
                </a:solidFill>
              </a:rPr>
              <a:t>More time dedicated to strategic tasks</a:t>
            </a:r>
          </a:p>
          <a:p>
            <a:r>
              <a:rPr lang="en-GB" sz="1600" dirty="0">
                <a:solidFill>
                  <a:schemeClr val="tx2"/>
                </a:solidFill>
              </a:rPr>
              <a:t>Enhanced staff productivity </a:t>
            </a:r>
          </a:p>
          <a:p>
            <a:r>
              <a:rPr lang="en-GB" sz="1600" dirty="0">
                <a:solidFill>
                  <a:schemeClr val="tx2"/>
                </a:solidFill>
              </a:rPr>
              <a:t>Greater transparency and explainability</a:t>
            </a:r>
          </a:p>
          <a:p>
            <a:pPr lvl="1"/>
            <a:endParaRPr lang="en-GB" sz="1200" dirty="0">
              <a:solidFill>
                <a:schemeClr val="tx2"/>
              </a:solidFill>
            </a:endParaRPr>
          </a:p>
        </p:txBody>
      </p:sp>
      <p:sp>
        <p:nvSpPr>
          <p:cNvPr id="9" name="TextBox 8">
            <a:extLst>
              <a:ext uri="{FF2B5EF4-FFF2-40B4-BE49-F238E27FC236}">
                <a16:creationId xmlns:a16="http://schemas.microsoft.com/office/drawing/2014/main" id="{644CE8D6-C262-D4F6-35C3-FCA0EBBED36A}"/>
              </a:ext>
            </a:extLst>
          </p:cNvPr>
          <p:cNvSpPr txBox="1"/>
          <p:nvPr/>
        </p:nvSpPr>
        <p:spPr>
          <a:xfrm>
            <a:off x="4203022" y="3990924"/>
            <a:ext cx="3785956" cy="369332"/>
          </a:xfrm>
          <a:prstGeom prst="rect">
            <a:avLst/>
          </a:prstGeom>
          <a:solidFill>
            <a:schemeClr val="accent3"/>
          </a:solidFill>
        </p:spPr>
        <p:txBody>
          <a:bodyPr wrap="square">
            <a:spAutoFit/>
          </a:bodyPr>
          <a:lstStyle/>
          <a:p>
            <a:pPr algn="ctr"/>
            <a:r>
              <a:rPr lang="en-GB" b="1" dirty="0">
                <a:solidFill>
                  <a:schemeClr val="bg1"/>
                </a:solidFill>
              </a:rPr>
              <a:t>Strategic Significance</a:t>
            </a:r>
          </a:p>
        </p:txBody>
      </p:sp>
      <p:sp>
        <p:nvSpPr>
          <p:cNvPr id="11" name="TextBox 10">
            <a:extLst>
              <a:ext uri="{FF2B5EF4-FFF2-40B4-BE49-F238E27FC236}">
                <a16:creationId xmlns:a16="http://schemas.microsoft.com/office/drawing/2014/main" id="{C4201AC6-6770-D64B-1325-B9DAEECD82FB}"/>
              </a:ext>
            </a:extLst>
          </p:cNvPr>
          <p:cNvSpPr txBox="1"/>
          <p:nvPr/>
        </p:nvSpPr>
        <p:spPr>
          <a:xfrm>
            <a:off x="152998" y="3971415"/>
            <a:ext cx="3785956" cy="369332"/>
          </a:xfrm>
          <a:prstGeom prst="rect">
            <a:avLst/>
          </a:prstGeom>
          <a:solidFill>
            <a:schemeClr val="accent2"/>
          </a:solidFill>
        </p:spPr>
        <p:txBody>
          <a:bodyPr wrap="square">
            <a:spAutoFit/>
          </a:bodyPr>
          <a:lstStyle/>
          <a:p>
            <a:pPr algn="ctr"/>
            <a:r>
              <a:rPr lang="en-GB" b="1" dirty="0">
                <a:solidFill>
                  <a:schemeClr val="bg1"/>
                </a:solidFill>
              </a:rPr>
              <a:t>Impact and Benefits</a:t>
            </a:r>
          </a:p>
        </p:txBody>
      </p:sp>
      <p:sp>
        <p:nvSpPr>
          <p:cNvPr id="12" name="Content Placeholder 2">
            <a:extLst>
              <a:ext uri="{FF2B5EF4-FFF2-40B4-BE49-F238E27FC236}">
                <a16:creationId xmlns:a16="http://schemas.microsoft.com/office/drawing/2014/main" id="{B85A7749-5006-1917-13A3-7D322B18E391}"/>
              </a:ext>
            </a:extLst>
          </p:cNvPr>
          <p:cNvSpPr txBox="1">
            <a:spLocks/>
          </p:cNvSpPr>
          <p:nvPr/>
        </p:nvSpPr>
        <p:spPr>
          <a:xfrm>
            <a:off x="4203022" y="4613339"/>
            <a:ext cx="3785955" cy="14385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The firm has invested over $2 billion in AI and cloud services, aiming to generate $12 billion in revenue over the next five years. </a:t>
            </a:r>
          </a:p>
          <a:p>
            <a:r>
              <a:rPr lang="en-GB" sz="1600" dirty="0">
                <a:solidFill>
                  <a:schemeClr val="tx2"/>
                </a:solidFill>
              </a:rPr>
              <a:t>AVA is their own proprietary ”AI as a Service” tool.</a:t>
            </a:r>
          </a:p>
        </p:txBody>
      </p:sp>
      <p:sp>
        <p:nvSpPr>
          <p:cNvPr id="15" name="TextBox 14">
            <a:extLst>
              <a:ext uri="{FF2B5EF4-FFF2-40B4-BE49-F238E27FC236}">
                <a16:creationId xmlns:a16="http://schemas.microsoft.com/office/drawing/2014/main" id="{2BC16297-42DA-4D19-0F51-E10BE5CB1E54}"/>
              </a:ext>
            </a:extLst>
          </p:cNvPr>
          <p:cNvSpPr txBox="1"/>
          <p:nvPr/>
        </p:nvSpPr>
        <p:spPr>
          <a:xfrm>
            <a:off x="8253046" y="3990924"/>
            <a:ext cx="3785956" cy="369332"/>
          </a:xfrm>
          <a:prstGeom prst="rect">
            <a:avLst/>
          </a:prstGeom>
          <a:solidFill>
            <a:schemeClr val="accent4"/>
          </a:solidFill>
        </p:spPr>
        <p:txBody>
          <a:bodyPr wrap="square">
            <a:spAutoFit/>
          </a:bodyPr>
          <a:lstStyle/>
          <a:p>
            <a:pPr algn="ctr"/>
            <a:r>
              <a:rPr lang="en-GB" b="1" dirty="0">
                <a:solidFill>
                  <a:schemeClr val="bg1"/>
                </a:solidFill>
              </a:rPr>
              <a:t>Core Components of AVA</a:t>
            </a:r>
          </a:p>
        </p:txBody>
      </p:sp>
      <p:sp>
        <p:nvSpPr>
          <p:cNvPr id="19" name="Content Placeholder 2">
            <a:extLst>
              <a:ext uri="{FF2B5EF4-FFF2-40B4-BE49-F238E27FC236}">
                <a16:creationId xmlns:a16="http://schemas.microsoft.com/office/drawing/2014/main" id="{B81EC36E-B8F8-9305-D043-6BAFDE484103}"/>
              </a:ext>
            </a:extLst>
          </p:cNvPr>
          <p:cNvSpPr txBox="1">
            <a:spLocks/>
          </p:cNvSpPr>
          <p:nvPr/>
        </p:nvSpPr>
        <p:spPr>
          <a:xfrm>
            <a:off x="8253046" y="4554542"/>
            <a:ext cx="3785956" cy="19087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2"/>
                </a:solidFill>
              </a:rPr>
              <a:t>Knowledge digitalisation: To be mined for valuable insights.</a:t>
            </a:r>
          </a:p>
          <a:p>
            <a:r>
              <a:rPr lang="en-GB" sz="1600" dirty="0">
                <a:solidFill>
                  <a:schemeClr val="tx2"/>
                </a:solidFill>
              </a:rPr>
              <a:t>LLM-as-a-service: Secure access to the latest large language models.</a:t>
            </a:r>
          </a:p>
          <a:p>
            <a:r>
              <a:rPr lang="en-GB" sz="1600" dirty="0">
                <a:solidFill>
                  <a:schemeClr val="tx2"/>
                </a:solidFill>
              </a:rPr>
              <a:t>Workflow-as-a-service: Embeds gen AI into business processes and workflows. </a:t>
            </a:r>
          </a:p>
          <a:p>
            <a:r>
              <a:rPr lang="en-GB" sz="1600" dirty="0">
                <a:solidFill>
                  <a:schemeClr val="tx2"/>
                </a:solidFill>
              </a:rPr>
              <a:t>Apps-as-a-service: Builds and host AI applications.</a:t>
            </a:r>
          </a:p>
        </p:txBody>
      </p:sp>
    </p:spTree>
    <p:extLst>
      <p:ext uri="{BB962C8B-B14F-4D97-AF65-F5344CB8AC3E}">
        <p14:creationId xmlns:p14="http://schemas.microsoft.com/office/powerpoint/2010/main" val="726342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F0483-53C8-7D3E-15BC-2A1ABC9BD884}"/>
              </a:ext>
            </a:extLst>
          </p:cNvPr>
          <p:cNvSpPr>
            <a:spLocks noGrp="1"/>
          </p:cNvSpPr>
          <p:nvPr>
            <p:ph type="title"/>
          </p:nvPr>
        </p:nvSpPr>
        <p:spPr>
          <a:xfrm>
            <a:off x="838200" y="365126"/>
            <a:ext cx="10515600" cy="847226"/>
          </a:xfrm>
        </p:spPr>
        <p:txBody>
          <a:bodyPr>
            <a:normAutofit/>
          </a:bodyPr>
          <a:lstStyle/>
          <a:p>
            <a:pPr algn="ctr"/>
            <a:r>
              <a:rPr lang="en-GB" dirty="0">
                <a:solidFill>
                  <a:schemeClr val="tx2"/>
                </a:solidFill>
              </a:rPr>
              <a:t>Lessons from the Technical Lead for KPMG AVA</a:t>
            </a:r>
          </a:p>
        </p:txBody>
      </p:sp>
      <p:sp>
        <p:nvSpPr>
          <p:cNvPr id="3" name="Slide Number Placeholder 2">
            <a:extLst>
              <a:ext uri="{FF2B5EF4-FFF2-40B4-BE49-F238E27FC236}">
                <a16:creationId xmlns:a16="http://schemas.microsoft.com/office/drawing/2014/main" id="{5E367F68-66C7-4249-2192-CEE31DE73D8C}"/>
              </a:ext>
            </a:extLst>
          </p:cNvPr>
          <p:cNvSpPr>
            <a:spLocks noGrp="1"/>
          </p:cNvSpPr>
          <p:nvPr>
            <p:ph type="sldNum" sz="quarter" idx="4294967295"/>
          </p:nvPr>
        </p:nvSpPr>
        <p:spPr>
          <a:xfrm>
            <a:off x="8610600" y="6356350"/>
            <a:ext cx="2743200" cy="365125"/>
          </a:xfrm>
          <a:prstGeom prst="rect">
            <a:avLst/>
          </a:prstGeom>
        </p:spPr>
        <p:txBody>
          <a:bodyPr/>
          <a:lstStyle/>
          <a:p>
            <a:fld id="{F3451B78-826D-4FE9-99FE-428C8E62A634}" type="slidenum">
              <a:rPr lang="en-US" smtClean="0"/>
              <a:t>44</a:t>
            </a:fld>
            <a:endParaRPr lang="en-US"/>
          </a:p>
        </p:txBody>
      </p:sp>
      <p:pic>
        <p:nvPicPr>
          <p:cNvPr id="13314" name="Picture 2" descr="No alternative text description for this image">
            <a:extLst>
              <a:ext uri="{FF2B5EF4-FFF2-40B4-BE49-F238E27FC236}">
                <a16:creationId xmlns:a16="http://schemas.microsoft.com/office/drawing/2014/main" id="{0D364BFA-5980-B534-4624-08AEA919A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647" y="2013735"/>
            <a:ext cx="2445250" cy="30565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A6B07B0-8FFD-093A-D1E1-7B20BDE6E044}"/>
              </a:ext>
            </a:extLst>
          </p:cNvPr>
          <p:cNvSpPr txBox="1"/>
          <p:nvPr/>
        </p:nvSpPr>
        <p:spPr>
          <a:xfrm>
            <a:off x="468534" y="6415801"/>
            <a:ext cx="8406468" cy="246221"/>
          </a:xfrm>
          <a:prstGeom prst="rect">
            <a:avLst/>
          </a:prstGeom>
          <a:noFill/>
        </p:spPr>
        <p:txBody>
          <a:bodyPr wrap="none" rtlCol="0">
            <a:spAutoFit/>
          </a:bodyPr>
          <a:lstStyle/>
          <a:p>
            <a:r>
              <a:rPr lang="en-GB" sz="1000" dirty="0"/>
              <a:t>Source (i.e. distilled from): </a:t>
            </a:r>
            <a:r>
              <a:rPr lang="en-GB" sz="1000" dirty="0">
                <a:hlinkClick r:id="rId3"/>
              </a:rPr>
              <a:t>https://medium.com/@philwc/ten-lessons-i-learned-developing-ava-kpmg-uks-flagship-genai-as-a-service-platform-75e4644d282c</a:t>
            </a:r>
            <a:r>
              <a:rPr lang="en-GB" sz="1000" dirty="0"/>
              <a:t> </a:t>
            </a:r>
          </a:p>
        </p:txBody>
      </p:sp>
      <p:sp>
        <p:nvSpPr>
          <p:cNvPr id="6" name="TextBox 5">
            <a:extLst>
              <a:ext uri="{FF2B5EF4-FFF2-40B4-BE49-F238E27FC236}">
                <a16:creationId xmlns:a16="http://schemas.microsoft.com/office/drawing/2014/main" id="{9EE73C43-9857-4E6B-2FE6-44C7DFCB6A5E}"/>
              </a:ext>
            </a:extLst>
          </p:cNvPr>
          <p:cNvSpPr txBox="1"/>
          <p:nvPr/>
        </p:nvSpPr>
        <p:spPr>
          <a:xfrm>
            <a:off x="972620" y="5246631"/>
            <a:ext cx="2632754" cy="992836"/>
          </a:xfrm>
          <a:prstGeom prst="rect">
            <a:avLst/>
          </a:prstGeom>
          <a:noFill/>
        </p:spPr>
        <p:txBody>
          <a:bodyPr wrap="square">
            <a:spAutoFit/>
          </a:bodyPr>
          <a:lstStyle/>
          <a:p>
            <a:pPr algn="l">
              <a:lnSpc>
                <a:spcPts val="2400"/>
              </a:lnSpc>
              <a:buNone/>
            </a:pPr>
            <a:r>
              <a:rPr lang="en-GB" sz="1600" b="1" i="0" dirty="0">
                <a:solidFill>
                  <a:schemeClr val="tx2"/>
                </a:solidFill>
                <a:effectLst/>
                <a:latin typeface="source-serif-pro"/>
              </a:rPr>
              <a:t>Phil Wright-Christie</a:t>
            </a:r>
          </a:p>
          <a:p>
            <a:pPr algn="l">
              <a:lnSpc>
                <a:spcPts val="2400"/>
              </a:lnSpc>
            </a:pPr>
            <a:r>
              <a:rPr lang="en-GB" sz="1600" i="0" dirty="0">
                <a:solidFill>
                  <a:schemeClr val="tx2"/>
                </a:solidFill>
                <a:effectLst/>
                <a:latin typeface="source-serif-pro"/>
              </a:rPr>
              <a:t>KPMG Cloud Capability Lead &amp; AVA Technical Lead</a:t>
            </a:r>
          </a:p>
        </p:txBody>
      </p:sp>
      <p:sp>
        <p:nvSpPr>
          <p:cNvPr id="7" name="TextBox 6">
            <a:extLst>
              <a:ext uri="{FF2B5EF4-FFF2-40B4-BE49-F238E27FC236}">
                <a16:creationId xmlns:a16="http://schemas.microsoft.com/office/drawing/2014/main" id="{F6DBB7C2-BD66-85E3-704B-D38DE73E6A6D}"/>
              </a:ext>
            </a:extLst>
          </p:cNvPr>
          <p:cNvSpPr txBox="1"/>
          <p:nvPr/>
        </p:nvSpPr>
        <p:spPr>
          <a:xfrm>
            <a:off x="4419578" y="1599227"/>
            <a:ext cx="6934222" cy="4924425"/>
          </a:xfrm>
          <a:prstGeom prst="rect">
            <a:avLst/>
          </a:prstGeom>
          <a:noFill/>
        </p:spPr>
        <p:txBody>
          <a:bodyPr wrap="square" rtlCol="0">
            <a:spAutoFit/>
          </a:bodyPr>
          <a:lstStyle/>
          <a:p>
            <a:pPr marL="7938" indent="-7938">
              <a:spcAft>
                <a:spcPts val="600"/>
              </a:spcAft>
              <a:buAutoNum type="arabicPeriod"/>
            </a:pPr>
            <a:r>
              <a:rPr lang="en-GB" sz="1200" b="1" dirty="0"/>
              <a:t> AI is Still Software - </a:t>
            </a:r>
            <a:r>
              <a:rPr lang="en-GB" sz="1200" dirty="0"/>
              <a:t>Treat GenAI like any complex software project: robust SDLC, CI/CD, automated testing, and multidisciplinary teams are critical.</a:t>
            </a:r>
          </a:p>
          <a:p>
            <a:pPr>
              <a:spcAft>
                <a:spcPts val="600"/>
              </a:spcAft>
            </a:pPr>
            <a:r>
              <a:rPr lang="en-GB" sz="1200" b="1" dirty="0"/>
              <a:t>2. Governance is Essential - </a:t>
            </a:r>
            <a:r>
              <a:rPr lang="en-GB" sz="1200" dirty="0"/>
              <a:t>AI without policies risks misuse. Embed clear rules, educate stakeholders, and enforce responsible use.</a:t>
            </a:r>
          </a:p>
          <a:p>
            <a:pPr>
              <a:spcAft>
                <a:spcPts val="600"/>
              </a:spcAft>
            </a:pPr>
            <a:r>
              <a:rPr lang="en-GB" sz="1200" b="1" dirty="0"/>
              <a:t>3. Security First - </a:t>
            </a:r>
            <a:r>
              <a:rPr lang="en-GB" sz="1200" dirty="0"/>
              <a:t>AI thrives on data—protect it. Use secure-by-default configurations, access controls, and strict data segregation.</a:t>
            </a:r>
          </a:p>
          <a:p>
            <a:pPr>
              <a:spcAft>
                <a:spcPts val="600"/>
              </a:spcAft>
            </a:pPr>
            <a:r>
              <a:rPr lang="en-GB" sz="1200" b="1" dirty="0"/>
              <a:t>4. Augment, Don’t Replace - </a:t>
            </a:r>
            <a:r>
              <a:rPr lang="en-GB" sz="1200" dirty="0"/>
              <a:t>Use the “80/20” rule: AI handles 80% of work, humans apply judgment to the final 20% for quality and ethics.</a:t>
            </a:r>
          </a:p>
          <a:p>
            <a:pPr>
              <a:spcAft>
                <a:spcPts val="600"/>
              </a:spcAft>
            </a:pPr>
            <a:r>
              <a:rPr lang="en-GB" sz="1200" b="1" dirty="0"/>
              <a:t>5. AI is a Tool, Not a Replacement - </a:t>
            </a:r>
            <a:r>
              <a:rPr lang="en-GB" sz="1200" dirty="0"/>
              <a:t>Use AI to supercharge—not replace—domain-specific tools (e.g., DMS, reporting), enhancing insight and responsiveness.</a:t>
            </a:r>
          </a:p>
          <a:p>
            <a:pPr>
              <a:spcAft>
                <a:spcPts val="600"/>
              </a:spcAft>
            </a:pPr>
            <a:r>
              <a:rPr lang="en-GB" sz="1200" b="1" dirty="0"/>
              <a:t>6. Tangible ROI - </a:t>
            </a:r>
            <a:r>
              <a:rPr lang="en-GB" sz="1200" dirty="0"/>
              <a:t>AVA saves 14+ hours/month per user and shortens project timelines. Clear productivity and value gains.</a:t>
            </a:r>
          </a:p>
          <a:p>
            <a:pPr>
              <a:spcAft>
                <a:spcPts val="600"/>
              </a:spcAft>
            </a:pPr>
            <a:r>
              <a:rPr lang="en-GB" sz="1200" b="1" dirty="0"/>
              <a:t>7. Process Clarity is Key - </a:t>
            </a:r>
            <a:r>
              <a:rPr lang="en-GB" sz="1200" dirty="0"/>
              <a:t>AI needs clear, well-documented workflows to automate effectively. This also strengthens overall process governance.</a:t>
            </a:r>
          </a:p>
          <a:p>
            <a:pPr>
              <a:spcAft>
                <a:spcPts val="600"/>
              </a:spcAft>
            </a:pPr>
            <a:r>
              <a:rPr lang="en-GB" sz="1200" b="1" dirty="0"/>
              <a:t>8. AI + Humans = Success - </a:t>
            </a:r>
            <a:r>
              <a:rPr lang="en-GB" sz="1200" dirty="0"/>
              <a:t>AI is not magic. It succeeds when paired with domain knowledge, creativity, and collaboration.</a:t>
            </a:r>
          </a:p>
          <a:p>
            <a:pPr>
              <a:spcAft>
                <a:spcPts val="600"/>
              </a:spcAft>
            </a:pPr>
            <a:r>
              <a:rPr lang="en-GB" sz="1200" b="1" dirty="0"/>
              <a:t>9. Design for Change - </a:t>
            </a:r>
            <a:r>
              <a:rPr lang="en-GB" sz="1200" dirty="0"/>
              <a:t>The AI landscape evolves fast. Prioritize configurability to adopt new models and features swiftly.</a:t>
            </a:r>
          </a:p>
          <a:p>
            <a:pPr>
              <a:spcAft>
                <a:spcPts val="600"/>
              </a:spcAft>
            </a:pPr>
            <a:r>
              <a:rPr lang="en-GB" sz="1200" b="1" dirty="0"/>
              <a:t>10. Adoption Requires Support - </a:t>
            </a:r>
            <a:r>
              <a:rPr lang="en-GB" sz="1200" dirty="0"/>
              <a:t>Build it </a:t>
            </a:r>
            <a:r>
              <a:rPr lang="en-GB" sz="1200" i="1" dirty="0"/>
              <a:t>and</a:t>
            </a:r>
            <a:r>
              <a:rPr lang="en-GB" sz="1200" dirty="0"/>
              <a:t> support it: documentation, training, and user engagement are essential to drive uptake.</a:t>
            </a:r>
          </a:p>
          <a:p>
            <a:pPr>
              <a:spcAft>
                <a:spcPts val="600"/>
              </a:spcAft>
            </a:pPr>
            <a:endParaRPr lang="en-GB" sz="1200" dirty="0"/>
          </a:p>
        </p:txBody>
      </p:sp>
    </p:spTree>
    <p:extLst>
      <p:ext uri="{BB962C8B-B14F-4D97-AF65-F5344CB8AC3E}">
        <p14:creationId xmlns:p14="http://schemas.microsoft.com/office/powerpoint/2010/main" val="1787647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2619-5327-B348-5BF2-27B445BF0FE7}"/>
              </a:ext>
            </a:extLst>
          </p:cNvPr>
          <p:cNvSpPr>
            <a:spLocks noGrp="1"/>
          </p:cNvSpPr>
          <p:nvPr>
            <p:ph type="title"/>
          </p:nvPr>
        </p:nvSpPr>
        <p:spPr>
          <a:xfrm>
            <a:off x="838200" y="365125"/>
            <a:ext cx="10515600" cy="949967"/>
          </a:xfrm>
        </p:spPr>
        <p:txBody>
          <a:bodyPr/>
          <a:lstStyle/>
          <a:p>
            <a:pPr algn="ctr"/>
            <a:r>
              <a:rPr lang="en-GB" dirty="0">
                <a:solidFill>
                  <a:schemeClr val="tx2"/>
                </a:solidFill>
              </a:rPr>
              <a:t>KPMG’s “Trusted AI” Framework</a:t>
            </a:r>
          </a:p>
        </p:txBody>
      </p:sp>
      <p:pic>
        <p:nvPicPr>
          <p:cNvPr id="11266" name="Picture 2" descr="Trusted AI - KPMG Canada">
            <a:extLst>
              <a:ext uri="{FF2B5EF4-FFF2-40B4-BE49-F238E27FC236}">
                <a16:creationId xmlns:a16="http://schemas.microsoft.com/office/drawing/2014/main" id="{7C13AFAA-CB8C-33C8-4A67-B5BB47693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46" y="2618197"/>
            <a:ext cx="2262290" cy="23339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6953A26-3168-EAFB-A0D6-BB4273919A84}"/>
              </a:ext>
            </a:extLst>
          </p:cNvPr>
          <p:cNvSpPr txBox="1"/>
          <p:nvPr/>
        </p:nvSpPr>
        <p:spPr>
          <a:xfrm>
            <a:off x="456746" y="6362070"/>
            <a:ext cx="1002197" cy="261610"/>
          </a:xfrm>
          <a:prstGeom prst="rect">
            <a:avLst/>
          </a:prstGeom>
          <a:noFill/>
        </p:spPr>
        <p:txBody>
          <a:bodyPr wrap="none" rtlCol="0">
            <a:spAutoFit/>
          </a:bodyPr>
          <a:lstStyle/>
          <a:p>
            <a:r>
              <a:rPr lang="en-GB" sz="1050" dirty="0"/>
              <a:t>Source: KPMG</a:t>
            </a:r>
          </a:p>
        </p:txBody>
      </p:sp>
      <p:sp>
        <p:nvSpPr>
          <p:cNvPr id="5" name="TextBox 4">
            <a:extLst>
              <a:ext uri="{FF2B5EF4-FFF2-40B4-BE49-F238E27FC236}">
                <a16:creationId xmlns:a16="http://schemas.microsoft.com/office/drawing/2014/main" id="{81E57CE3-0D29-9BC2-A408-7C905F920AFE}"/>
              </a:ext>
            </a:extLst>
          </p:cNvPr>
          <p:cNvSpPr txBox="1"/>
          <p:nvPr/>
        </p:nvSpPr>
        <p:spPr>
          <a:xfrm>
            <a:off x="3053065" y="1414562"/>
            <a:ext cx="8453992" cy="5216813"/>
          </a:xfrm>
          <a:prstGeom prst="rect">
            <a:avLst/>
          </a:prstGeom>
          <a:noFill/>
        </p:spPr>
        <p:txBody>
          <a:bodyPr wrap="square" rtlCol="0">
            <a:spAutoFit/>
          </a:bodyPr>
          <a:lstStyle/>
          <a:p>
            <a:r>
              <a:rPr lang="en-GB" sz="900" dirty="0"/>
              <a:t>KPMG's Trusted AI framework is a comprehensive strategy designed to ensure that artificial intelligence (AI) technologies are developed, deployed, and managed responsibly and ethically. </a:t>
            </a:r>
          </a:p>
          <a:p>
            <a:endParaRPr lang="en-GB" sz="900" dirty="0"/>
          </a:p>
          <a:p>
            <a:r>
              <a:rPr lang="en-GB" sz="900" b="1" dirty="0"/>
              <a:t>Core Principles</a:t>
            </a:r>
          </a:p>
          <a:p>
            <a:r>
              <a:rPr lang="en-GB" sz="900" dirty="0"/>
              <a:t>KPMG's approach to Trusted AI is guided by three foundational principles:</a:t>
            </a:r>
          </a:p>
          <a:p>
            <a:pPr marL="628650" lvl="1" indent="-171450">
              <a:buFont typeface="Arial" panose="020B0604020202020204" pitchFamily="34" charset="0"/>
              <a:buChar char="•"/>
            </a:pPr>
            <a:r>
              <a:rPr lang="en-GB" sz="900" b="1" dirty="0"/>
              <a:t>Values-Driven</a:t>
            </a:r>
            <a:r>
              <a:rPr lang="en-GB" sz="900" dirty="0"/>
              <a:t>: AI initiatives are aligned with KPMG's core values, promoting a culture that is open, inclusive, and adheres to the highest ethical standards.</a:t>
            </a:r>
          </a:p>
          <a:p>
            <a:pPr marL="628650" lvl="1" indent="-171450">
              <a:buFont typeface="Arial" panose="020B0604020202020204" pitchFamily="34" charset="0"/>
              <a:buChar char="•"/>
            </a:pPr>
            <a:r>
              <a:rPr lang="en-GB" sz="900" b="1" dirty="0"/>
              <a:t>Human-Centric</a:t>
            </a:r>
            <a:r>
              <a:rPr lang="en-GB" sz="900" dirty="0"/>
              <a:t>: The framework emphasizes the importance of human impact, aiming to empower and augment human capabilities rather than replace them. </a:t>
            </a:r>
          </a:p>
          <a:p>
            <a:pPr marL="628650" lvl="1" indent="-171450">
              <a:buFont typeface="Arial" panose="020B0604020202020204" pitchFamily="34" charset="0"/>
              <a:buChar char="•"/>
            </a:pPr>
            <a:r>
              <a:rPr lang="en-GB" sz="900" b="1" dirty="0"/>
              <a:t>Trustworthy</a:t>
            </a:r>
            <a:r>
              <a:rPr lang="en-GB" sz="900" dirty="0"/>
              <a:t>: KPMG commits to maintaining ethical standards in data acquisition, governance, and usage, ensuring compliance with privacy and data protection regulations.</a:t>
            </a:r>
          </a:p>
          <a:p>
            <a:endParaRPr lang="en-GB" sz="900" dirty="0"/>
          </a:p>
          <a:p>
            <a:r>
              <a:rPr lang="en-GB" sz="900" b="1" dirty="0"/>
              <a:t>Ethical Pillars</a:t>
            </a:r>
          </a:p>
          <a:p>
            <a:r>
              <a:rPr lang="en-GB" sz="900" dirty="0"/>
              <a:t>To operationalize these principles, KPMG has established ten ethical pillars that guide the responsible use of AI:</a:t>
            </a:r>
          </a:p>
          <a:p>
            <a:pPr marL="685800" lvl="1" indent="-228600">
              <a:buFont typeface="+mj-lt"/>
              <a:buAutoNum type="arabicPeriod"/>
            </a:pPr>
            <a:r>
              <a:rPr lang="en-GB" sz="900" b="1" dirty="0"/>
              <a:t>Fairness</a:t>
            </a:r>
            <a:r>
              <a:rPr lang="en-GB" sz="900" dirty="0"/>
              <a:t>: Designing AI systems to minimize bias against individuals or groups.</a:t>
            </a:r>
          </a:p>
          <a:p>
            <a:pPr marL="685800" lvl="1" indent="-228600">
              <a:buFont typeface="+mj-lt"/>
              <a:buAutoNum type="arabicPeriod"/>
            </a:pPr>
            <a:r>
              <a:rPr lang="en-GB" sz="900" b="1" dirty="0"/>
              <a:t>Transparency</a:t>
            </a:r>
            <a:r>
              <a:rPr lang="en-GB" sz="900" dirty="0"/>
              <a:t>: Ensuring AI processes and decisions are understandable and communicated clearly.</a:t>
            </a:r>
          </a:p>
          <a:p>
            <a:pPr marL="685800" lvl="1" indent="-228600">
              <a:buFont typeface="+mj-lt"/>
              <a:buAutoNum type="arabicPeriod"/>
            </a:pPr>
            <a:r>
              <a:rPr lang="en-GB" sz="900" b="1" dirty="0"/>
              <a:t>Explainability</a:t>
            </a:r>
            <a:r>
              <a:rPr lang="en-GB" sz="900" dirty="0"/>
              <a:t>: Developing AI solutions that can articulate how and why decisions are made.</a:t>
            </a:r>
          </a:p>
          <a:p>
            <a:pPr marL="685800" lvl="1" indent="-228600">
              <a:buFont typeface="+mj-lt"/>
              <a:buAutoNum type="arabicPeriod"/>
            </a:pPr>
            <a:r>
              <a:rPr lang="en-GB" sz="900" b="1" dirty="0"/>
              <a:t>Accountability</a:t>
            </a:r>
            <a:r>
              <a:rPr lang="en-GB" sz="900" dirty="0"/>
              <a:t>: Embedding human oversight throughout the AI lifecycle to manage risks and ensure compliance.</a:t>
            </a:r>
          </a:p>
          <a:p>
            <a:pPr marL="685800" lvl="1" indent="-228600">
              <a:buFont typeface="+mj-lt"/>
              <a:buAutoNum type="arabicPeriod"/>
            </a:pPr>
            <a:r>
              <a:rPr lang="en-GB" sz="900" b="1" dirty="0"/>
              <a:t>Data Integrity</a:t>
            </a:r>
            <a:r>
              <a:rPr lang="en-GB" sz="900" dirty="0"/>
              <a:t>: Acquiring and using data that is accurate, complete, and appropriate for driving trustworthy decisions.</a:t>
            </a:r>
          </a:p>
          <a:p>
            <a:pPr marL="685800" lvl="1" indent="-228600">
              <a:buFont typeface="+mj-lt"/>
              <a:buAutoNum type="arabicPeriod"/>
            </a:pPr>
            <a:r>
              <a:rPr lang="en-GB" sz="900" b="1" dirty="0"/>
              <a:t>Reliability</a:t>
            </a:r>
            <a:r>
              <a:rPr lang="en-GB" sz="900" dirty="0"/>
              <a:t>: Ensuring AI systems operate consistently within their intended scope and precision.</a:t>
            </a:r>
          </a:p>
          <a:p>
            <a:pPr marL="685800" lvl="1" indent="-228600">
              <a:buFont typeface="+mj-lt"/>
              <a:buAutoNum type="arabicPeriod"/>
            </a:pPr>
            <a:r>
              <a:rPr lang="en-GB" sz="900" b="1" dirty="0"/>
              <a:t>Security</a:t>
            </a:r>
            <a:r>
              <a:rPr lang="en-GB" sz="900" dirty="0"/>
              <a:t>: Implementing robust measures to protect AI systems from malicious activities and misinformation.</a:t>
            </a:r>
          </a:p>
          <a:p>
            <a:pPr marL="685800" lvl="1" indent="-228600">
              <a:buFont typeface="+mj-lt"/>
              <a:buAutoNum type="arabicPeriod"/>
            </a:pPr>
            <a:r>
              <a:rPr lang="en-GB" sz="900" b="1" dirty="0"/>
              <a:t>Safety</a:t>
            </a:r>
            <a:r>
              <a:rPr lang="en-GB" sz="900" dirty="0"/>
              <a:t>: Designing AI to prevent harm to individuals, businesses, and property.</a:t>
            </a:r>
          </a:p>
          <a:p>
            <a:pPr marL="685800" lvl="1" indent="-228600">
              <a:buFont typeface="+mj-lt"/>
              <a:buAutoNum type="arabicPeriod"/>
            </a:pPr>
            <a:r>
              <a:rPr lang="en-GB" sz="900" b="1" dirty="0"/>
              <a:t>Privacy</a:t>
            </a:r>
            <a:r>
              <a:rPr lang="en-GB" sz="900" dirty="0"/>
              <a:t>: Complying with relevant privacy and data protection laws in AI design and implementation.</a:t>
            </a:r>
          </a:p>
          <a:p>
            <a:pPr marL="685800" lvl="1" indent="-228600">
              <a:buFont typeface="+mj-lt"/>
              <a:buAutoNum type="arabicPeriod"/>
            </a:pPr>
            <a:r>
              <a:rPr lang="en-GB" sz="900" b="1" dirty="0"/>
              <a:t>Sustainability</a:t>
            </a:r>
            <a:r>
              <a:rPr lang="en-GB" sz="900" dirty="0"/>
              <a:t>: Creating AI solutions that are energy-efficient and environmentally friendly. </a:t>
            </a:r>
          </a:p>
          <a:p>
            <a:endParaRPr lang="en-GB" sz="900" dirty="0"/>
          </a:p>
          <a:p>
            <a:r>
              <a:rPr lang="en-GB" sz="900" b="1" dirty="0"/>
              <a:t>Governance and Implementation</a:t>
            </a:r>
          </a:p>
          <a:p>
            <a:r>
              <a:rPr lang="en-GB" sz="900" dirty="0"/>
              <a:t>KPMG's Trusted AI framework is supported by a structured governance model that involves:</a:t>
            </a:r>
          </a:p>
          <a:p>
            <a:pPr marL="628650" lvl="1" indent="-171450">
              <a:buFont typeface="Arial" panose="020B0604020202020204" pitchFamily="34" charset="0"/>
              <a:buChar char="•"/>
            </a:pPr>
            <a:r>
              <a:rPr lang="en-GB" sz="900" b="1" dirty="0"/>
              <a:t>Leadership Engagement</a:t>
            </a:r>
            <a:r>
              <a:rPr lang="en-GB" sz="900" dirty="0"/>
              <a:t>: Senior leadership, including the board and C-suite, are responsible for setting AI strategies, defining risk appetites, and ensuring alignment with business goals.</a:t>
            </a:r>
          </a:p>
          <a:p>
            <a:pPr marL="628650" lvl="1" indent="-171450">
              <a:buFont typeface="Arial" panose="020B0604020202020204" pitchFamily="34" charset="0"/>
              <a:buChar char="•"/>
            </a:pPr>
            <a:r>
              <a:rPr lang="en-GB" sz="900" b="1" dirty="0"/>
              <a:t>Policy Development</a:t>
            </a:r>
            <a:r>
              <a:rPr lang="en-GB" sz="900" dirty="0"/>
              <a:t>: Establishing comprehensive policies and standards around AI design and usage, focusing on ethical principles and data lifecycle management. </a:t>
            </a:r>
          </a:p>
          <a:p>
            <a:pPr marL="628650" lvl="1" indent="-171450">
              <a:buFont typeface="Arial" panose="020B0604020202020204" pitchFamily="34" charset="0"/>
              <a:buChar char="•"/>
            </a:pPr>
            <a:r>
              <a:rPr lang="en-GB" sz="900" b="1" dirty="0"/>
              <a:t>Risk Management</a:t>
            </a:r>
            <a:r>
              <a:rPr lang="en-GB" sz="900" dirty="0"/>
              <a:t>: Implementing protocols to assess and mitigate risks associated with AI, including privacy, security, and compliance concerns. </a:t>
            </a:r>
          </a:p>
          <a:p>
            <a:pPr marL="628650" lvl="1" indent="-171450">
              <a:buFont typeface="Arial" panose="020B0604020202020204" pitchFamily="34" charset="0"/>
              <a:buChar char="•"/>
            </a:pPr>
            <a:r>
              <a:rPr lang="en-GB" sz="900" b="1" dirty="0"/>
              <a:t>Data Governance</a:t>
            </a:r>
            <a:r>
              <a:rPr lang="en-GB" sz="900" dirty="0"/>
              <a:t>: Ensuring data quality, security, and ethical use throughout the AI lifecycle. </a:t>
            </a:r>
          </a:p>
          <a:p>
            <a:pPr marL="628650" lvl="1" indent="-171450">
              <a:buFont typeface="Arial" panose="020B0604020202020204" pitchFamily="34" charset="0"/>
              <a:buChar char="•"/>
            </a:pPr>
            <a:r>
              <a:rPr lang="en-GB" sz="900" b="1" dirty="0"/>
              <a:t>Cross-Functional Collaboration</a:t>
            </a:r>
            <a:r>
              <a:rPr lang="en-GB" sz="900" dirty="0"/>
              <a:t>: Encouraging collaboration among AI developers, data scientists, legal, and business teams to address multifaceted AI challenges. </a:t>
            </a:r>
          </a:p>
          <a:p>
            <a:pPr marL="628650" lvl="1" indent="-171450">
              <a:buFont typeface="Arial" panose="020B0604020202020204" pitchFamily="34" charset="0"/>
              <a:buChar char="•"/>
            </a:pPr>
            <a:r>
              <a:rPr lang="en-GB" sz="900" b="1" dirty="0"/>
              <a:t>Continuous Evaluation</a:t>
            </a:r>
            <a:r>
              <a:rPr lang="en-GB" sz="900" dirty="0"/>
              <a:t>: Regularly assessing the effectiveness of AI management systems and making necessary improvements to align with evolving regulations and standards. </a:t>
            </a:r>
          </a:p>
          <a:p>
            <a:endParaRPr lang="en-GB" sz="900" dirty="0"/>
          </a:p>
          <a:p>
            <a:r>
              <a:rPr lang="en-GB" sz="900" dirty="0"/>
              <a:t>By integrating these principles and pillars, KPMG's Trusted AI framework aims to foster responsible AI adoption, ensuring that AI technologies are used ethically and effectively to drive innovation and value.</a:t>
            </a:r>
          </a:p>
          <a:p>
            <a:endParaRPr lang="en-GB" sz="900" dirty="0"/>
          </a:p>
        </p:txBody>
      </p:sp>
    </p:spTree>
    <p:extLst>
      <p:ext uri="{BB962C8B-B14F-4D97-AF65-F5344CB8AC3E}">
        <p14:creationId xmlns:p14="http://schemas.microsoft.com/office/powerpoint/2010/main" val="4229883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A78A-E6AE-4631-76ED-7C9B3893C8C6}"/>
              </a:ext>
            </a:extLst>
          </p:cNvPr>
          <p:cNvSpPr>
            <a:spLocks noGrp="1"/>
          </p:cNvSpPr>
          <p:nvPr>
            <p:ph type="title"/>
          </p:nvPr>
        </p:nvSpPr>
        <p:spPr>
          <a:xfrm>
            <a:off x="838200" y="365126"/>
            <a:ext cx="10515600" cy="918552"/>
          </a:xfrm>
        </p:spPr>
        <p:txBody>
          <a:bodyPr>
            <a:normAutofit fontScale="90000"/>
          </a:bodyPr>
          <a:lstStyle/>
          <a:p>
            <a:pPr algn="ctr"/>
            <a:r>
              <a:rPr lang="en-GB" dirty="0">
                <a:solidFill>
                  <a:schemeClr val="tx2"/>
                </a:solidFill>
              </a:rPr>
              <a:t>Case: </a:t>
            </a:r>
            <a:r>
              <a:rPr lang="en-GB" dirty="0" err="1">
                <a:solidFill>
                  <a:schemeClr val="tx2"/>
                </a:solidFill>
              </a:rPr>
              <a:t>PairD</a:t>
            </a:r>
            <a:r>
              <a:rPr lang="en-GB" dirty="0">
                <a:solidFill>
                  <a:schemeClr val="tx2"/>
                </a:solidFill>
              </a:rPr>
              <a:t> at Deloitte, a UK Developed GenAI Platform</a:t>
            </a:r>
          </a:p>
        </p:txBody>
      </p:sp>
      <p:sp>
        <p:nvSpPr>
          <p:cNvPr id="5" name="TextBox 4">
            <a:extLst>
              <a:ext uri="{FF2B5EF4-FFF2-40B4-BE49-F238E27FC236}">
                <a16:creationId xmlns:a16="http://schemas.microsoft.com/office/drawing/2014/main" id="{2F86C446-8D18-0000-5CD4-23AAF7A995AE}"/>
              </a:ext>
            </a:extLst>
          </p:cNvPr>
          <p:cNvSpPr txBox="1"/>
          <p:nvPr/>
        </p:nvSpPr>
        <p:spPr>
          <a:xfrm>
            <a:off x="4994031" y="1879876"/>
            <a:ext cx="6119445" cy="923330"/>
          </a:xfrm>
          <a:prstGeom prst="rect">
            <a:avLst/>
          </a:prstGeom>
          <a:noFill/>
        </p:spPr>
        <p:txBody>
          <a:bodyPr wrap="square" rtlCol="0">
            <a:spAutoFit/>
          </a:bodyPr>
          <a:lstStyle/>
          <a:p>
            <a:r>
              <a:rPr lang="en-GB" i="1" dirty="0"/>
              <a:t>“Our generative AI platform is part of long-term AI investment plans, as we continue to explore the potential that this technology could offer our firm, our clients and wider society,”</a:t>
            </a:r>
          </a:p>
        </p:txBody>
      </p:sp>
      <p:pic>
        <p:nvPicPr>
          <p:cNvPr id="15362" name="Picture 2" descr="Costi Perricos">
            <a:extLst>
              <a:ext uri="{FF2B5EF4-FFF2-40B4-BE49-F238E27FC236}">
                <a16:creationId xmlns:a16="http://schemas.microsoft.com/office/drawing/2014/main" id="{C3094F0D-D52B-0736-09DF-5C24B9D13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850" y="1657393"/>
            <a:ext cx="1329730" cy="13297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88FD1F-CFAA-933D-0B96-0C687C92D7FF}"/>
              </a:ext>
            </a:extLst>
          </p:cNvPr>
          <p:cNvSpPr txBox="1"/>
          <p:nvPr/>
        </p:nvSpPr>
        <p:spPr>
          <a:xfrm>
            <a:off x="1867693" y="3222338"/>
            <a:ext cx="2084225" cy="461665"/>
          </a:xfrm>
          <a:prstGeom prst="rect">
            <a:avLst/>
          </a:prstGeom>
          <a:noFill/>
        </p:spPr>
        <p:txBody>
          <a:bodyPr wrap="none" rtlCol="0">
            <a:spAutoFit/>
          </a:bodyPr>
          <a:lstStyle/>
          <a:p>
            <a:pPr algn="ctr"/>
            <a:r>
              <a:rPr lang="en-GB" sz="1200" b="1" dirty="0"/>
              <a:t>Costi </a:t>
            </a:r>
            <a:r>
              <a:rPr lang="en-GB" sz="1200" b="1" dirty="0" err="1"/>
              <a:t>Perricos</a:t>
            </a:r>
            <a:endParaRPr lang="en-GB" sz="1200" b="1" dirty="0"/>
          </a:p>
          <a:p>
            <a:pPr algn="ctr"/>
            <a:r>
              <a:rPr lang="en-GB" sz="1200" b="1" dirty="0">
                <a:solidFill>
                  <a:schemeClr val="tx2"/>
                </a:solidFill>
              </a:rPr>
              <a:t>Global GenAI Business Leader</a:t>
            </a:r>
          </a:p>
        </p:txBody>
      </p:sp>
      <p:pic>
        <p:nvPicPr>
          <p:cNvPr id="9" name="Picture 8">
            <a:extLst>
              <a:ext uri="{FF2B5EF4-FFF2-40B4-BE49-F238E27FC236}">
                <a16:creationId xmlns:a16="http://schemas.microsoft.com/office/drawing/2014/main" id="{546F9FDC-8F65-9AF4-1F4F-B7F4BB0035D7}"/>
              </a:ext>
            </a:extLst>
          </p:cNvPr>
          <p:cNvPicPr>
            <a:picLocks noChangeAspect="1"/>
          </p:cNvPicPr>
          <p:nvPr/>
        </p:nvPicPr>
        <p:blipFill>
          <a:blip r:embed="rId3"/>
          <a:srcRect l="64817" b="55889"/>
          <a:stretch>
            <a:fillRect/>
          </a:stretch>
        </p:blipFill>
        <p:spPr>
          <a:xfrm>
            <a:off x="2244033" y="4100354"/>
            <a:ext cx="1331547" cy="1333291"/>
          </a:xfrm>
          <a:prstGeom prst="rect">
            <a:avLst/>
          </a:prstGeom>
        </p:spPr>
      </p:pic>
      <p:sp>
        <p:nvSpPr>
          <p:cNvPr id="11" name="TextBox 10">
            <a:extLst>
              <a:ext uri="{FF2B5EF4-FFF2-40B4-BE49-F238E27FC236}">
                <a16:creationId xmlns:a16="http://schemas.microsoft.com/office/drawing/2014/main" id="{8DBE8367-E5C5-58CC-AC4C-2837A92F0C8A}"/>
              </a:ext>
            </a:extLst>
          </p:cNvPr>
          <p:cNvSpPr txBox="1"/>
          <p:nvPr/>
        </p:nvSpPr>
        <p:spPr>
          <a:xfrm>
            <a:off x="1867693" y="5671038"/>
            <a:ext cx="1895454" cy="461665"/>
          </a:xfrm>
          <a:prstGeom prst="rect">
            <a:avLst/>
          </a:prstGeom>
          <a:noFill/>
        </p:spPr>
        <p:txBody>
          <a:bodyPr wrap="none" rtlCol="0">
            <a:spAutoFit/>
          </a:bodyPr>
          <a:lstStyle/>
          <a:p>
            <a:pPr algn="ctr"/>
            <a:r>
              <a:rPr lang="en-GB" sz="1200" b="1" dirty="0">
                <a:solidFill>
                  <a:srgbClr val="424242"/>
                </a:solidFill>
              </a:rPr>
              <a:t>Sulabh Soral </a:t>
            </a:r>
          </a:p>
          <a:p>
            <a:pPr algn="ctr"/>
            <a:r>
              <a:rPr lang="en-GB" sz="1200" b="1" dirty="0">
                <a:solidFill>
                  <a:srgbClr val="424242"/>
                </a:solidFill>
              </a:rPr>
              <a:t>Chief AI Officer, Consulting</a:t>
            </a:r>
          </a:p>
        </p:txBody>
      </p:sp>
      <p:sp>
        <p:nvSpPr>
          <p:cNvPr id="12" name="TextBox 11">
            <a:extLst>
              <a:ext uri="{FF2B5EF4-FFF2-40B4-BE49-F238E27FC236}">
                <a16:creationId xmlns:a16="http://schemas.microsoft.com/office/drawing/2014/main" id="{9F1D00F9-55E3-3261-31E9-459B82F23278}"/>
              </a:ext>
            </a:extLst>
          </p:cNvPr>
          <p:cNvSpPr txBox="1"/>
          <p:nvPr/>
        </p:nvSpPr>
        <p:spPr>
          <a:xfrm>
            <a:off x="4991062" y="4193710"/>
            <a:ext cx="6122415" cy="1754326"/>
          </a:xfrm>
          <a:prstGeom prst="rect">
            <a:avLst/>
          </a:prstGeom>
          <a:noFill/>
        </p:spPr>
        <p:txBody>
          <a:bodyPr wrap="square" rtlCol="0">
            <a:spAutoFit/>
          </a:bodyPr>
          <a:lstStyle/>
          <a:p>
            <a:r>
              <a:rPr lang="en-GB" i="1" dirty="0"/>
              <a:t>“It was brilliant to see so many teams from across the firm – those with expertise in AI technology, platforms, risk, legal, ethics, and data security and privacy – rally behind this common goal. With a lot of grit and determination, we were able to develop a solution that met our exacting standards for ethical and secure GenAI use within the firm.”</a:t>
            </a:r>
          </a:p>
        </p:txBody>
      </p:sp>
    </p:spTree>
    <p:extLst>
      <p:ext uri="{BB962C8B-B14F-4D97-AF65-F5344CB8AC3E}">
        <p14:creationId xmlns:p14="http://schemas.microsoft.com/office/powerpoint/2010/main" val="2874135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269D7-0500-4302-9CD9-6371A8ED65D1}"/>
              </a:ext>
            </a:extLst>
          </p:cNvPr>
          <p:cNvSpPr>
            <a:spLocks noGrp="1"/>
          </p:cNvSpPr>
          <p:nvPr>
            <p:ph type="title"/>
          </p:nvPr>
        </p:nvSpPr>
        <p:spPr>
          <a:xfrm>
            <a:off x="838200" y="365126"/>
            <a:ext cx="10515600" cy="939568"/>
          </a:xfrm>
        </p:spPr>
        <p:txBody>
          <a:bodyPr/>
          <a:lstStyle/>
          <a:p>
            <a:pPr algn="ctr"/>
            <a:r>
              <a:rPr lang="en-GB" b="1" dirty="0">
                <a:solidFill>
                  <a:schemeClr val="tx2"/>
                </a:solidFill>
              </a:rPr>
              <a:t>Case: PWC</a:t>
            </a:r>
          </a:p>
        </p:txBody>
      </p:sp>
      <p:pic>
        <p:nvPicPr>
          <p:cNvPr id="1026" name="Picture 2" descr="Meet the Luton-raised Italian running ...">
            <a:extLst>
              <a:ext uri="{FF2B5EF4-FFF2-40B4-BE49-F238E27FC236}">
                <a16:creationId xmlns:a16="http://schemas.microsoft.com/office/drawing/2014/main" id="{E440C75F-EF2A-474E-3067-D6C614742D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839" y="2570821"/>
            <a:ext cx="3492500" cy="2324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BA57EF3-F48F-902D-26ED-EC151FF626C9}"/>
              </a:ext>
            </a:extLst>
          </p:cNvPr>
          <p:cNvSpPr txBox="1"/>
          <p:nvPr/>
        </p:nvSpPr>
        <p:spPr>
          <a:xfrm>
            <a:off x="4994031" y="1879876"/>
            <a:ext cx="6119445" cy="4524315"/>
          </a:xfrm>
          <a:prstGeom prst="rect">
            <a:avLst/>
          </a:prstGeom>
          <a:noFill/>
        </p:spPr>
        <p:txBody>
          <a:bodyPr wrap="square" rtlCol="0">
            <a:spAutoFit/>
          </a:bodyPr>
          <a:lstStyle/>
          <a:p>
            <a:r>
              <a:rPr lang="en-GB" dirty="0"/>
              <a:t>On increased spending on AI technologies….</a:t>
            </a:r>
            <a:br>
              <a:rPr lang="en-GB" i="1" dirty="0"/>
            </a:br>
            <a:br>
              <a:rPr lang="en-GB" i="1" dirty="0"/>
            </a:br>
            <a:r>
              <a:rPr lang="en-GB" i="1" dirty="0"/>
              <a:t>“I could see pretty quickly [early on] that the money we were going to need to spend on technology , and AI in particular, needed to go up.  We were going to need to spend more than we’ve ever spent before.”</a:t>
            </a:r>
            <a:br>
              <a:rPr lang="en-GB" i="1" dirty="0"/>
            </a:br>
            <a:br>
              <a:rPr lang="en-GB" i="1" dirty="0"/>
            </a:br>
            <a:r>
              <a:rPr lang="en-GB" dirty="0"/>
              <a:t>On the role of PWC in the AI wave…..</a:t>
            </a:r>
          </a:p>
          <a:p>
            <a:endParaRPr lang="en-GB" i="1" dirty="0"/>
          </a:p>
          <a:p>
            <a:r>
              <a:rPr lang="en-GB" i="1" dirty="0"/>
              <a:t>“We know what this stuff can do and what it can’t do.  We know more about that than Meta does, or any of the tech people.  </a:t>
            </a:r>
            <a:br>
              <a:rPr lang="en-GB" i="1" dirty="0"/>
            </a:br>
            <a:br>
              <a:rPr lang="en-GB" i="1" dirty="0"/>
            </a:br>
            <a:r>
              <a:rPr lang="en-GB" i="1" dirty="0"/>
              <a:t>If I’ve got a client who needs to manage their fleet of cars better … what I’m looking for is an AI-based solution to that challenge.  Meta won’t give them that.”</a:t>
            </a:r>
          </a:p>
        </p:txBody>
      </p:sp>
      <p:sp>
        <p:nvSpPr>
          <p:cNvPr id="6" name="TextBox 5">
            <a:extLst>
              <a:ext uri="{FF2B5EF4-FFF2-40B4-BE49-F238E27FC236}">
                <a16:creationId xmlns:a16="http://schemas.microsoft.com/office/drawing/2014/main" id="{AF46764E-F8FF-857C-B0C2-878231ABE678}"/>
              </a:ext>
            </a:extLst>
          </p:cNvPr>
          <p:cNvSpPr txBox="1"/>
          <p:nvPr/>
        </p:nvSpPr>
        <p:spPr>
          <a:xfrm>
            <a:off x="726202" y="5330283"/>
            <a:ext cx="3310137" cy="369332"/>
          </a:xfrm>
          <a:prstGeom prst="rect">
            <a:avLst/>
          </a:prstGeom>
          <a:noFill/>
        </p:spPr>
        <p:txBody>
          <a:bodyPr wrap="none" rtlCol="0">
            <a:spAutoFit/>
          </a:bodyPr>
          <a:lstStyle/>
          <a:p>
            <a:r>
              <a:rPr lang="en-GB" dirty="0"/>
              <a:t>Marco Amitrano, PWC EMEA CEO</a:t>
            </a:r>
          </a:p>
        </p:txBody>
      </p:sp>
      <p:sp>
        <p:nvSpPr>
          <p:cNvPr id="7" name="TextBox 6">
            <a:extLst>
              <a:ext uri="{FF2B5EF4-FFF2-40B4-BE49-F238E27FC236}">
                <a16:creationId xmlns:a16="http://schemas.microsoft.com/office/drawing/2014/main" id="{E128053F-7037-559D-DCB9-6EC2F2F8EBBB}"/>
              </a:ext>
            </a:extLst>
          </p:cNvPr>
          <p:cNvSpPr txBox="1"/>
          <p:nvPr/>
        </p:nvSpPr>
        <p:spPr>
          <a:xfrm>
            <a:off x="838200" y="6356350"/>
            <a:ext cx="2138727" cy="246221"/>
          </a:xfrm>
          <a:prstGeom prst="rect">
            <a:avLst/>
          </a:prstGeom>
          <a:noFill/>
        </p:spPr>
        <p:txBody>
          <a:bodyPr wrap="none" rtlCol="0">
            <a:spAutoFit/>
          </a:bodyPr>
          <a:lstStyle/>
          <a:p>
            <a:r>
              <a:rPr lang="en-GB" sz="1000" dirty="0"/>
              <a:t>Source: Sunday Times, June 15, 2025.</a:t>
            </a:r>
          </a:p>
        </p:txBody>
      </p:sp>
    </p:spTree>
    <p:extLst>
      <p:ext uri="{BB962C8B-B14F-4D97-AF65-F5344CB8AC3E}">
        <p14:creationId xmlns:p14="http://schemas.microsoft.com/office/powerpoint/2010/main" val="38658520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23E56-40D4-6109-AC33-A658E0CE1DE8}"/>
              </a:ext>
            </a:extLst>
          </p:cNvPr>
          <p:cNvSpPr>
            <a:spLocks noGrp="1"/>
          </p:cNvSpPr>
          <p:nvPr>
            <p:ph type="title"/>
          </p:nvPr>
        </p:nvSpPr>
        <p:spPr/>
        <p:txBody>
          <a:bodyPr/>
          <a:lstStyle/>
          <a:p>
            <a:r>
              <a:rPr lang="en-GB" dirty="0"/>
              <a:t>Case: Accenture</a:t>
            </a:r>
          </a:p>
        </p:txBody>
      </p:sp>
      <p:sp>
        <p:nvSpPr>
          <p:cNvPr id="3" name="TextBox 2">
            <a:extLst>
              <a:ext uri="{FF2B5EF4-FFF2-40B4-BE49-F238E27FC236}">
                <a16:creationId xmlns:a16="http://schemas.microsoft.com/office/drawing/2014/main" id="{76104E53-1809-D051-5390-FFA9827F8951}"/>
              </a:ext>
            </a:extLst>
          </p:cNvPr>
          <p:cNvSpPr txBox="1"/>
          <p:nvPr/>
        </p:nvSpPr>
        <p:spPr>
          <a:xfrm>
            <a:off x="5382737" y="1502688"/>
            <a:ext cx="5838638" cy="5355312"/>
          </a:xfrm>
          <a:prstGeom prst="rect">
            <a:avLst/>
          </a:prstGeom>
          <a:noFill/>
        </p:spPr>
        <p:txBody>
          <a:bodyPr wrap="square" rtlCol="0">
            <a:spAutoFit/>
          </a:bodyPr>
          <a:lstStyle/>
          <a:p>
            <a:r>
              <a:rPr lang="en-GB" i="1" dirty="0"/>
              <a:t>“We are writing the playbook for how to be the most AI-enabled, client-focused professional services company in the world and a great place to work for our people - our reinventors.”</a:t>
            </a:r>
            <a:br>
              <a:rPr lang="en-GB" i="1" dirty="0"/>
            </a:br>
            <a:endParaRPr lang="en-GB" dirty="0"/>
          </a:p>
          <a:p>
            <a:r>
              <a:rPr lang="en-GB" dirty="0"/>
              <a:t>Bringing all its service (incl. consultancy) together into a single, integrated unit called “Reinvention Services” - to create more leading solutions faster and embed data and AI more easily into its solutions and delivery</a:t>
            </a:r>
          </a:p>
          <a:p>
            <a:br>
              <a:rPr lang="en-GB" dirty="0"/>
            </a:br>
            <a:r>
              <a:rPr lang="en-GB" dirty="0"/>
              <a:t>AI Refiner Distiller platform— addresses the full lifecycle: multi-agent orchestration, memory, workflows, governance, observability, cross-platform interoperability</a:t>
            </a:r>
          </a:p>
          <a:p>
            <a:endParaRPr lang="en-GB" dirty="0"/>
          </a:p>
          <a:p>
            <a:r>
              <a:rPr lang="en-GB" dirty="0"/>
              <a:t>Investing heavily in reskilling: rolling out AI / agentic AI training programs across its workforce.</a:t>
            </a:r>
          </a:p>
          <a:p>
            <a:endParaRPr lang="en-GB" dirty="0"/>
          </a:p>
          <a:p>
            <a:r>
              <a:rPr lang="en-GB" dirty="0"/>
              <a:t>Generative AI new bookings of $1.8 billion for the quarter and $5.9 billion for the year</a:t>
            </a:r>
            <a:endParaRPr lang="en-GB" i="1" dirty="0"/>
          </a:p>
        </p:txBody>
      </p:sp>
      <p:pic>
        <p:nvPicPr>
          <p:cNvPr id="16386" name="Picture 2" descr="*Julie Sweet | World Economic Forum">
            <a:extLst>
              <a:ext uri="{FF2B5EF4-FFF2-40B4-BE49-F238E27FC236}">
                <a16:creationId xmlns:a16="http://schemas.microsoft.com/office/drawing/2014/main" id="{72213D03-4B92-9285-0BED-743D34F08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1110" y="2057400"/>
            <a:ext cx="2959100" cy="2743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31B856A-CF82-8722-B844-075A8DAC3B30}"/>
              </a:ext>
            </a:extLst>
          </p:cNvPr>
          <p:cNvSpPr txBox="1"/>
          <p:nvPr/>
        </p:nvSpPr>
        <p:spPr>
          <a:xfrm>
            <a:off x="1506059" y="5167312"/>
            <a:ext cx="2469202" cy="369332"/>
          </a:xfrm>
          <a:prstGeom prst="rect">
            <a:avLst/>
          </a:prstGeom>
          <a:noFill/>
        </p:spPr>
        <p:txBody>
          <a:bodyPr wrap="none" rtlCol="0">
            <a:spAutoFit/>
          </a:bodyPr>
          <a:lstStyle/>
          <a:p>
            <a:r>
              <a:rPr lang="en-GB" dirty="0"/>
              <a:t>Chair &amp; CEO, Julie Sweet</a:t>
            </a:r>
          </a:p>
        </p:txBody>
      </p:sp>
    </p:spTree>
    <p:extLst>
      <p:ext uri="{BB962C8B-B14F-4D97-AF65-F5344CB8AC3E}">
        <p14:creationId xmlns:p14="http://schemas.microsoft.com/office/powerpoint/2010/main" val="29684386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3DDF3-40A5-C8E7-53CA-A01ACCDF314C}"/>
              </a:ext>
            </a:extLst>
          </p:cNvPr>
          <p:cNvSpPr>
            <a:spLocks noGrp="1"/>
          </p:cNvSpPr>
          <p:nvPr>
            <p:ph type="title"/>
          </p:nvPr>
        </p:nvSpPr>
        <p:spPr>
          <a:xfrm>
            <a:off x="838200" y="365125"/>
            <a:ext cx="10515600" cy="871975"/>
          </a:xfrm>
        </p:spPr>
        <p:txBody>
          <a:bodyPr/>
          <a:lstStyle/>
          <a:p>
            <a:pPr algn="ctr"/>
            <a:r>
              <a:rPr lang="en-GB" b="1" dirty="0">
                <a:solidFill>
                  <a:schemeClr val="tx2"/>
                </a:solidFill>
              </a:rPr>
              <a:t>Case: Unity Advisory (Challenging General Consulting)</a:t>
            </a:r>
          </a:p>
        </p:txBody>
      </p:sp>
      <p:pic>
        <p:nvPicPr>
          <p:cNvPr id="2052" name="Picture 4" descr="EY chief Steve Varley takes on global ...">
            <a:extLst>
              <a:ext uri="{FF2B5EF4-FFF2-40B4-BE49-F238E27FC236}">
                <a16:creationId xmlns:a16="http://schemas.microsoft.com/office/drawing/2014/main" id="{EE6EB492-E6B7-8431-383F-F77C70137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931" y="4011008"/>
            <a:ext cx="2078990" cy="16352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CE2F33B-E1C2-C277-AC71-08D5D09D9318}"/>
              </a:ext>
            </a:extLst>
          </p:cNvPr>
          <p:cNvSpPr txBox="1"/>
          <p:nvPr/>
        </p:nvSpPr>
        <p:spPr>
          <a:xfrm>
            <a:off x="445760" y="5784532"/>
            <a:ext cx="3785332" cy="307777"/>
          </a:xfrm>
          <a:prstGeom prst="rect">
            <a:avLst/>
          </a:prstGeom>
          <a:noFill/>
        </p:spPr>
        <p:txBody>
          <a:bodyPr wrap="none" rtlCol="0">
            <a:spAutoFit/>
          </a:bodyPr>
          <a:lstStyle/>
          <a:p>
            <a:r>
              <a:rPr lang="en-GB" sz="1400" dirty="0"/>
              <a:t>Steve Varley, Former UK Chair of EY &amp; Chair of UA</a:t>
            </a:r>
          </a:p>
        </p:txBody>
      </p:sp>
      <p:pic>
        <p:nvPicPr>
          <p:cNvPr id="2054" name="Picture 6" descr="PwC UK senior partner hopeful Marissa ...">
            <a:extLst>
              <a:ext uri="{FF2B5EF4-FFF2-40B4-BE49-F238E27FC236}">
                <a16:creationId xmlns:a16="http://schemas.microsoft.com/office/drawing/2014/main" id="{E0828D11-8137-2EAE-994F-351B6D0D2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297" y="1239292"/>
            <a:ext cx="2078990" cy="20789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7F347E1-170D-7C66-AAF3-49473BA0E3DE}"/>
              </a:ext>
            </a:extLst>
          </p:cNvPr>
          <p:cNvSpPr txBox="1"/>
          <p:nvPr/>
        </p:nvSpPr>
        <p:spPr>
          <a:xfrm>
            <a:off x="445760" y="3456553"/>
            <a:ext cx="3886064" cy="307777"/>
          </a:xfrm>
          <a:prstGeom prst="rect">
            <a:avLst/>
          </a:prstGeom>
          <a:noFill/>
        </p:spPr>
        <p:txBody>
          <a:bodyPr wrap="none" rtlCol="0">
            <a:spAutoFit/>
          </a:bodyPr>
          <a:lstStyle/>
          <a:p>
            <a:r>
              <a:rPr lang="en-GB" sz="1400" dirty="0"/>
              <a:t>Marissa Thomas, Former COO of PWC &amp; CEO of UA</a:t>
            </a:r>
          </a:p>
        </p:txBody>
      </p:sp>
      <p:sp>
        <p:nvSpPr>
          <p:cNvPr id="6" name="TextBox 5">
            <a:extLst>
              <a:ext uri="{FF2B5EF4-FFF2-40B4-BE49-F238E27FC236}">
                <a16:creationId xmlns:a16="http://schemas.microsoft.com/office/drawing/2014/main" id="{E175398E-9A09-A677-8FFE-4F1DE816803D}"/>
              </a:ext>
            </a:extLst>
          </p:cNvPr>
          <p:cNvSpPr txBox="1"/>
          <p:nvPr/>
        </p:nvSpPr>
        <p:spPr>
          <a:xfrm>
            <a:off x="445760" y="6492875"/>
            <a:ext cx="2571730" cy="276999"/>
          </a:xfrm>
          <a:prstGeom prst="rect">
            <a:avLst/>
          </a:prstGeom>
          <a:noFill/>
        </p:spPr>
        <p:txBody>
          <a:bodyPr wrap="none" rtlCol="0">
            <a:spAutoFit/>
          </a:bodyPr>
          <a:lstStyle/>
          <a:p>
            <a:r>
              <a:rPr lang="en-GB" sz="1200" dirty="0"/>
              <a:t>Source: </a:t>
            </a:r>
            <a:r>
              <a:rPr lang="en-GB" sz="1200" dirty="0" err="1"/>
              <a:t>Consultancy.uk</a:t>
            </a:r>
            <a:r>
              <a:rPr lang="en-GB" sz="1200" dirty="0"/>
              <a:t> 29 April, 2025.</a:t>
            </a:r>
          </a:p>
        </p:txBody>
      </p:sp>
      <p:sp>
        <p:nvSpPr>
          <p:cNvPr id="7" name="TextBox 6">
            <a:extLst>
              <a:ext uri="{FF2B5EF4-FFF2-40B4-BE49-F238E27FC236}">
                <a16:creationId xmlns:a16="http://schemas.microsoft.com/office/drawing/2014/main" id="{95648F17-0A1A-D380-012A-D951DAD51523}"/>
              </a:ext>
            </a:extLst>
          </p:cNvPr>
          <p:cNvSpPr txBox="1"/>
          <p:nvPr/>
        </p:nvSpPr>
        <p:spPr>
          <a:xfrm>
            <a:off x="5006898" y="1377389"/>
            <a:ext cx="6055112" cy="1754326"/>
          </a:xfrm>
          <a:prstGeom prst="rect">
            <a:avLst/>
          </a:prstGeom>
          <a:noFill/>
        </p:spPr>
        <p:txBody>
          <a:bodyPr wrap="square" rtlCol="0">
            <a:spAutoFit/>
          </a:bodyPr>
          <a:lstStyle/>
          <a:p>
            <a:pPr marL="285750" indent="-285750">
              <a:buFont typeface="Arial" panose="020B0604020202020204" pitchFamily="34" charset="0"/>
              <a:buChar char="•"/>
            </a:pPr>
            <a:r>
              <a:rPr lang="en-GB" dirty="0"/>
              <a:t>$300m in funding</a:t>
            </a:r>
            <a:br>
              <a:rPr lang="en-GB" dirty="0"/>
            </a:br>
            <a:endParaRPr lang="en-GB" dirty="0"/>
          </a:p>
          <a:p>
            <a:pPr marL="285750" indent="-285750">
              <a:buFont typeface="Arial" panose="020B0604020202020204" pitchFamily="34" charset="0"/>
              <a:buChar char="•"/>
            </a:pPr>
            <a:r>
              <a:rPr lang="en-GB" dirty="0"/>
              <a:t>Aims to be “leaner, conflict-free and </a:t>
            </a:r>
            <a:r>
              <a:rPr lang="en-GB" b="1" dirty="0"/>
              <a:t>offer AI embedded performance-led models to clients.</a:t>
            </a:r>
            <a:r>
              <a:rPr lang="en-GB" dirty="0"/>
              <a:t>”</a:t>
            </a:r>
            <a:br>
              <a:rPr lang="en-GB" dirty="0"/>
            </a:br>
            <a:endParaRPr lang="en-GB" dirty="0"/>
          </a:p>
          <a:p>
            <a:pPr marL="285750" indent="-285750">
              <a:buFont typeface="Arial" panose="020B0604020202020204" pitchFamily="34" charset="0"/>
              <a:buChar char="•"/>
            </a:pPr>
            <a:r>
              <a:rPr lang="en-GB" dirty="0"/>
              <a:t>Targeting clients with between £500m to £1.5 bn</a:t>
            </a:r>
          </a:p>
        </p:txBody>
      </p:sp>
      <p:sp>
        <p:nvSpPr>
          <p:cNvPr id="9" name="TextBox 8">
            <a:extLst>
              <a:ext uri="{FF2B5EF4-FFF2-40B4-BE49-F238E27FC236}">
                <a16:creationId xmlns:a16="http://schemas.microsoft.com/office/drawing/2014/main" id="{457FE9E8-DDBC-B56B-EF1A-1FAD0603CA0A}"/>
              </a:ext>
            </a:extLst>
          </p:cNvPr>
          <p:cNvSpPr txBox="1"/>
          <p:nvPr/>
        </p:nvSpPr>
        <p:spPr>
          <a:xfrm>
            <a:off x="5006898" y="4089970"/>
            <a:ext cx="6346902" cy="1477328"/>
          </a:xfrm>
          <a:prstGeom prst="rect">
            <a:avLst/>
          </a:prstGeom>
          <a:noFill/>
        </p:spPr>
        <p:txBody>
          <a:bodyPr wrap="square" rtlCol="0">
            <a:spAutoFit/>
          </a:bodyPr>
          <a:lstStyle/>
          <a:p>
            <a:r>
              <a:rPr lang="en-GB" i="1" dirty="0"/>
              <a:t>“CFOs are open to a new proposition.  The Big Four are a classy bunch of service providers, but people are looking for a proposition that is super client-centric, has really low administrative cost, is AI-led rather than based on legacy infrastructure and, crucially, has no conflicts.”</a:t>
            </a:r>
          </a:p>
        </p:txBody>
      </p:sp>
    </p:spTree>
    <p:extLst>
      <p:ext uri="{BB962C8B-B14F-4D97-AF65-F5344CB8AC3E}">
        <p14:creationId xmlns:p14="http://schemas.microsoft.com/office/powerpoint/2010/main" val="15603479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0F799B-0771-0315-1027-1BC255FCC7C8}"/>
              </a:ext>
            </a:extLst>
          </p:cNvPr>
          <p:cNvSpPr>
            <a:spLocks noGrp="1"/>
          </p:cNvSpPr>
          <p:nvPr>
            <p:ph type="title"/>
          </p:nvPr>
        </p:nvSpPr>
        <p:spPr/>
        <p:txBody>
          <a:bodyPr/>
          <a:lstStyle/>
          <a:p>
            <a:r>
              <a:rPr lang="en-GB" dirty="0"/>
              <a:t>Case: </a:t>
            </a:r>
            <a:r>
              <a:rPr lang="en-GB" dirty="0" err="1"/>
              <a:t>Dstyl</a:t>
            </a:r>
            <a:r>
              <a:rPr lang="en-GB" dirty="0"/>
              <a:t> (Focused on AI Consulting)</a:t>
            </a:r>
          </a:p>
        </p:txBody>
      </p:sp>
      <p:pic>
        <p:nvPicPr>
          <p:cNvPr id="7" name="Picture 6">
            <a:extLst>
              <a:ext uri="{FF2B5EF4-FFF2-40B4-BE49-F238E27FC236}">
                <a16:creationId xmlns:a16="http://schemas.microsoft.com/office/drawing/2014/main" id="{DB4E7EF1-4373-48B4-E0EB-0C603C0C1501}"/>
              </a:ext>
            </a:extLst>
          </p:cNvPr>
          <p:cNvPicPr>
            <a:picLocks noChangeAspect="1"/>
          </p:cNvPicPr>
          <p:nvPr/>
        </p:nvPicPr>
        <p:blipFill>
          <a:blip r:embed="rId2"/>
          <a:stretch>
            <a:fillRect/>
          </a:stretch>
        </p:blipFill>
        <p:spPr>
          <a:xfrm>
            <a:off x="1471613" y="1897697"/>
            <a:ext cx="3457880" cy="2306900"/>
          </a:xfrm>
          <a:prstGeom prst="rect">
            <a:avLst/>
          </a:prstGeom>
        </p:spPr>
      </p:pic>
      <p:sp>
        <p:nvSpPr>
          <p:cNvPr id="9" name="TextBox 8">
            <a:extLst>
              <a:ext uri="{FF2B5EF4-FFF2-40B4-BE49-F238E27FC236}">
                <a16:creationId xmlns:a16="http://schemas.microsoft.com/office/drawing/2014/main" id="{21BD021F-A60F-BD80-A98F-B5C2F17F991E}"/>
              </a:ext>
            </a:extLst>
          </p:cNvPr>
          <p:cNvSpPr txBox="1"/>
          <p:nvPr/>
        </p:nvSpPr>
        <p:spPr>
          <a:xfrm>
            <a:off x="1471613" y="4752720"/>
            <a:ext cx="3309937" cy="738664"/>
          </a:xfrm>
          <a:prstGeom prst="rect">
            <a:avLst/>
          </a:prstGeom>
          <a:noFill/>
        </p:spPr>
        <p:txBody>
          <a:bodyPr wrap="square">
            <a:spAutoFit/>
          </a:bodyPr>
          <a:lstStyle/>
          <a:p>
            <a:r>
              <a:rPr lang="en-GB" sz="1400" dirty="0"/>
              <a:t>Founders: Arjun Prakash and Derek Ho formerly in senior business development roles at Palantir</a:t>
            </a:r>
          </a:p>
        </p:txBody>
      </p:sp>
      <p:sp>
        <p:nvSpPr>
          <p:cNvPr id="11" name="TextBox 10">
            <a:extLst>
              <a:ext uri="{FF2B5EF4-FFF2-40B4-BE49-F238E27FC236}">
                <a16:creationId xmlns:a16="http://schemas.microsoft.com/office/drawing/2014/main" id="{14ABB977-4A22-EDE2-E31A-909766677BDF}"/>
              </a:ext>
            </a:extLst>
          </p:cNvPr>
          <p:cNvSpPr txBox="1"/>
          <p:nvPr/>
        </p:nvSpPr>
        <p:spPr>
          <a:xfrm>
            <a:off x="5666423" y="5491384"/>
            <a:ext cx="6097904" cy="830997"/>
          </a:xfrm>
          <a:prstGeom prst="rect">
            <a:avLst/>
          </a:prstGeom>
          <a:noFill/>
        </p:spPr>
        <p:txBody>
          <a:bodyPr wrap="square">
            <a:spAutoFit/>
          </a:bodyPr>
          <a:lstStyle/>
          <a:p>
            <a:r>
              <a:rPr lang="en-GB" sz="1600" i="1" dirty="0"/>
              <a:t>“Our belief is that the next chapter of AI leadership won’t be won by the models alone, but by operationalizing AI at scale in enterprises and transforming how they work.” </a:t>
            </a:r>
          </a:p>
        </p:txBody>
      </p:sp>
      <p:sp>
        <p:nvSpPr>
          <p:cNvPr id="12" name="TextBox 11">
            <a:extLst>
              <a:ext uri="{FF2B5EF4-FFF2-40B4-BE49-F238E27FC236}">
                <a16:creationId xmlns:a16="http://schemas.microsoft.com/office/drawing/2014/main" id="{85FE8250-B78F-7744-15A7-41754574E173}"/>
              </a:ext>
            </a:extLst>
          </p:cNvPr>
          <p:cNvSpPr txBox="1"/>
          <p:nvPr/>
        </p:nvSpPr>
        <p:spPr>
          <a:xfrm>
            <a:off x="5666423" y="1897697"/>
            <a:ext cx="6055112" cy="3785652"/>
          </a:xfrm>
          <a:prstGeom prst="rect">
            <a:avLst/>
          </a:prstGeom>
          <a:noFill/>
        </p:spPr>
        <p:txBody>
          <a:bodyPr wrap="square" rtlCol="0">
            <a:spAutoFit/>
          </a:bodyPr>
          <a:lstStyle/>
          <a:p>
            <a:pPr marL="285750" indent="-285750">
              <a:buFont typeface="Arial" panose="020B0604020202020204" pitchFamily="34" charset="0"/>
              <a:buChar char="•"/>
            </a:pPr>
            <a:r>
              <a:rPr lang="en-GB" sz="1600" dirty="0"/>
              <a:t>Founded in 2022 from employees of Palantir where they served in senior business development roles for over 5 years (Cornell &amp; Wharton grads)</a:t>
            </a:r>
            <a:br>
              <a:rPr lang="en-GB" sz="1600" dirty="0"/>
            </a:br>
            <a:endParaRPr lang="en-GB" sz="1600" dirty="0"/>
          </a:p>
          <a:p>
            <a:pPr marL="285750" indent="-285750">
              <a:buFont typeface="Arial" panose="020B0604020202020204" pitchFamily="34" charset="0"/>
              <a:buChar char="•"/>
            </a:pPr>
            <a:r>
              <a:rPr lang="en-GB" sz="1600" dirty="0"/>
              <a:t>HQ in San Francisco</a:t>
            </a:r>
            <a:br>
              <a:rPr lang="en-GB" sz="1600" dirty="0"/>
            </a:br>
            <a:endParaRPr lang="en-GB" sz="1600" dirty="0"/>
          </a:p>
          <a:p>
            <a:pPr marL="285750" indent="-285750">
              <a:buFont typeface="Arial" panose="020B0604020202020204" pitchFamily="34" charset="0"/>
              <a:buChar char="•"/>
            </a:pPr>
            <a:r>
              <a:rPr lang="en-GB" sz="1600" dirty="0"/>
              <a:t>Approx. 100 employees, around $30m of revenues growing at 5x in 2024 and 8x in 2025</a:t>
            </a:r>
            <a:br>
              <a:rPr lang="en-GB" sz="1600" dirty="0"/>
            </a:br>
            <a:endParaRPr lang="en-GB" sz="1600" dirty="0"/>
          </a:p>
          <a:p>
            <a:pPr marL="285750" indent="-285750">
              <a:buFont typeface="Arial" panose="020B0604020202020204" pitchFamily="34" charset="0"/>
              <a:buChar char="•"/>
            </a:pPr>
            <a:r>
              <a:rPr lang="en-GB" sz="1600" dirty="0"/>
              <a:t>Raised $175 million, giving it a valuation (reported) of ~$1.8 billion</a:t>
            </a:r>
            <a:br>
              <a:rPr lang="en-GB" sz="1600" dirty="0"/>
            </a:br>
            <a:endParaRPr lang="en-GB" sz="1600" dirty="0"/>
          </a:p>
          <a:p>
            <a:pPr marL="285750" indent="-285750">
              <a:buFont typeface="Arial" panose="020B0604020202020204" pitchFamily="34" charset="0"/>
              <a:buChar char="•"/>
            </a:pPr>
            <a:r>
              <a:rPr lang="en-GB" sz="1600" dirty="0"/>
              <a:t>Closing the “last mile” of AI adoption (integration, embedding, operations) that many tool vendors don’t address</a:t>
            </a:r>
          </a:p>
          <a:p>
            <a:br>
              <a:rPr lang="en-GB" sz="1600" dirty="0"/>
            </a:br>
            <a:endParaRPr lang="en-GB" sz="1600" dirty="0"/>
          </a:p>
        </p:txBody>
      </p:sp>
    </p:spTree>
    <p:extLst>
      <p:ext uri="{BB962C8B-B14F-4D97-AF65-F5344CB8AC3E}">
        <p14:creationId xmlns:p14="http://schemas.microsoft.com/office/powerpoint/2010/main" val="29964430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EC5F2-AE1A-D30D-D6FF-523790A92501}"/>
              </a:ext>
            </a:extLst>
          </p:cNvPr>
          <p:cNvSpPr>
            <a:spLocks noGrp="1"/>
          </p:cNvSpPr>
          <p:nvPr>
            <p:ph type="title"/>
          </p:nvPr>
        </p:nvSpPr>
        <p:spPr/>
        <p:txBody>
          <a:bodyPr/>
          <a:lstStyle/>
          <a:p>
            <a:r>
              <a:rPr lang="en-US" dirty="0"/>
              <a:t>Case: Faculty AI (Focused on Applied AI – Consulting, Applications &amp; Platform specializing in Frontier AI)</a:t>
            </a:r>
          </a:p>
        </p:txBody>
      </p:sp>
      <p:pic>
        <p:nvPicPr>
          <p:cNvPr id="4" name="Picture 3">
            <a:extLst>
              <a:ext uri="{FF2B5EF4-FFF2-40B4-BE49-F238E27FC236}">
                <a16:creationId xmlns:a16="http://schemas.microsoft.com/office/drawing/2014/main" id="{B3E9C865-EEE0-7277-348F-C8A8CD0B7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9821" y="2525486"/>
            <a:ext cx="5063864" cy="3323772"/>
          </a:xfrm>
          <a:prstGeom prst="rect">
            <a:avLst/>
          </a:prstGeom>
        </p:spPr>
      </p:pic>
      <p:pic>
        <p:nvPicPr>
          <p:cNvPr id="4098" name="Picture 2" descr="British artificial intelligence company ...">
            <a:extLst>
              <a:ext uri="{FF2B5EF4-FFF2-40B4-BE49-F238E27FC236}">
                <a16:creationId xmlns:a16="http://schemas.microsoft.com/office/drawing/2014/main" id="{E847CCC4-A770-574D-66A0-F5A72D93E0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7064" y="2284249"/>
            <a:ext cx="3492500" cy="23241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9F59F4D-7D9F-E906-478F-1AED61FAD176}"/>
              </a:ext>
            </a:extLst>
          </p:cNvPr>
          <p:cNvSpPr txBox="1"/>
          <p:nvPr/>
        </p:nvSpPr>
        <p:spPr>
          <a:xfrm>
            <a:off x="664028" y="4894133"/>
            <a:ext cx="4898571" cy="307777"/>
          </a:xfrm>
          <a:prstGeom prst="rect">
            <a:avLst/>
          </a:prstGeom>
          <a:noFill/>
        </p:spPr>
        <p:txBody>
          <a:bodyPr wrap="square">
            <a:spAutoFit/>
          </a:bodyPr>
          <a:lstStyle/>
          <a:p>
            <a:r>
              <a:rPr lang="en-GB" sz="1400" i="0" u="none" strike="noStrike" dirty="0">
                <a:effectLst/>
              </a:rPr>
              <a:t>Founded by Marc Warner, Angie Ma and Andy Brookes in 2014</a:t>
            </a:r>
            <a:endParaRPr lang="en-US" sz="1400" dirty="0"/>
          </a:p>
        </p:txBody>
      </p:sp>
    </p:spTree>
    <p:extLst>
      <p:ext uri="{BB962C8B-B14F-4D97-AF65-F5344CB8AC3E}">
        <p14:creationId xmlns:p14="http://schemas.microsoft.com/office/powerpoint/2010/main" val="35440352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F3A1-2A7E-4088-CF4A-BCB3B612247C}"/>
              </a:ext>
            </a:extLst>
          </p:cNvPr>
          <p:cNvSpPr>
            <a:spLocks noGrp="1"/>
          </p:cNvSpPr>
          <p:nvPr>
            <p:ph type="title"/>
          </p:nvPr>
        </p:nvSpPr>
        <p:spPr/>
        <p:txBody>
          <a:bodyPr>
            <a:normAutofit/>
          </a:bodyPr>
          <a:lstStyle/>
          <a:p>
            <a:r>
              <a:rPr lang="en-US" dirty="0"/>
              <a:t>Case: Echelon AI – (Automating Implementation of Enterprise Software Application, ServiceNow)</a:t>
            </a:r>
          </a:p>
        </p:txBody>
      </p:sp>
      <p:sp>
        <p:nvSpPr>
          <p:cNvPr id="6" name="TextBox 5">
            <a:extLst>
              <a:ext uri="{FF2B5EF4-FFF2-40B4-BE49-F238E27FC236}">
                <a16:creationId xmlns:a16="http://schemas.microsoft.com/office/drawing/2014/main" id="{C1EB2EF0-B865-25E3-8B44-F3B113707751}"/>
              </a:ext>
            </a:extLst>
          </p:cNvPr>
          <p:cNvSpPr txBox="1"/>
          <p:nvPr/>
        </p:nvSpPr>
        <p:spPr>
          <a:xfrm>
            <a:off x="10036629" y="6362070"/>
            <a:ext cx="2046514" cy="261610"/>
          </a:xfrm>
          <a:prstGeom prst="rect">
            <a:avLst/>
          </a:prstGeom>
          <a:noFill/>
        </p:spPr>
        <p:txBody>
          <a:bodyPr wrap="square">
            <a:spAutoFit/>
          </a:bodyPr>
          <a:lstStyle/>
          <a:p>
            <a:r>
              <a:rPr lang="en-US" sz="1100" dirty="0"/>
              <a:t>https://</a:t>
            </a:r>
            <a:r>
              <a:rPr lang="en-US" sz="1100" dirty="0" err="1"/>
              <a:t>www.echelonai.com</a:t>
            </a:r>
            <a:endParaRPr lang="en-US" sz="1100" dirty="0"/>
          </a:p>
        </p:txBody>
      </p:sp>
      <p:sp>
        <p:nvSpPr>
          <p:cNvPr id="8" name="TextBox 7">
            <a:extLst>
              <a:ext uri="{FF2B5EF4-FFF2-40B4-BE49-F238E27FC236}">
                <a16:creationId xmlns:a16="http://schemas.microsoft.com/office/drawing/2014/main" id="{A1D3A26B-1286-2359-415F-1D75DF2A8988}"/>
              </a:ext>
            </a:extLst>
          </p:cNvPr>
          <p:cNvSpPr txBox="1"/>
          <p:nvPr/>
        </p:nvSpPr>
        <p:spPr>
          <a:xfrm>
            <a:off x="742948" y="5323506"/>
            <a:ext cx="3048001" cy="307777"/>
          </a:xfrm>
          <a:prstGeom prst="rect">
            <a:avLst/>
          </a:prstGeom>
          <a:noFill/>
        </p:spPr>
        <p:txBody>
          <a:bodyPr wrap="square">
            <a:spAutoFit/>
          </a:bodyPr>
          <a:lstStyle/>
          <a:p>
            <a:r>
              <a:rPr lang="en-GB" sz="1400" b="0" i="0" u="none" strike="noStrike" dirty="0">
                <a:solidFill>
                  <a:schemeClr val="tx2"/>
                </a:solidFill>
                <a:effectLst/>
                <a:latin typeface="Darker Grotesque"/>
              </a:rPr>
              <a:t>Rahul Kayala – Co Founder, Echelon AI</a:t>
            </a:r>
            <a:endParaRPr lang="en-US" sz="1400" dirty="0">
              <a:solidFill>
                <a:schemeClr val="tx2"/>
              </a:solidFill>
            </a:endParaRPr>
          </a:p>
        </p:txBody>
      </p:sp>
      <p:pic>
        <p:nvPicPr>
          <p:cNvPr id="3077" name="Picture 5" descr="Rahul Kayala (@RahulKayala) / X">
            <a:extLst>
              <a:ext uri="{FF2B5EF4-FFF2-40B4-BE49-F238E27FC236}">
                <a16:creationId xmlns:a16="http://schemas.microsoft.com/office/drawing/2014/main" id="{8B3776A7-D306-E8E7-DBFE-D8E549E2F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48" y="2109803"/>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BAC1F22-8F17-ED44-4771-A7D921C85AA5}"/>
              </a:ext>
            </a:extLst>
          </p:cNvPr>
          <p:cNvSpPr txBox="1"/>
          <p:nvPr/>
        </p:nvSpPr>
        <p:spPr>
          <a:xfrm>
            <a:off x="4963886" y="1882866"/>
            <a:ext cx="6096000"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11111"/>
                </a:solidFill>
                <a:effectLst/>
                <a:latin typeface="var(--font-merryweather)"/>
              </a:rPr>
              <a:t>"The biggest barrier to digital transformation isn't technology — it's the time it takes to implement it …..  AI agents are eliminating that constraint entirely, allowing enterprises to experiment, iterate, and deploy platform changes with unprecedented speed."</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80FEE70C-AD45-2343-74DD-A99FE109AC69}"/>
              </a:ext>
            </a:extLst>
          </p:cNvPr>
          <p:cNvSpPr txBox="1"/>
          <p:nvPr/>
        </p:nvSpPr>
        <p:spPr>
          <a:xfrm>
            <a:off x="4963887" y="3552372"/>
            <a:ext cx="6389914" cy="1754326"/>
          </a:xfrm>
          <a:prstGeom prst="rect">
            <a:avLst/>
          </a:prstGeom>
          <a:noFill/>
        </p:spPr>
        <p:txBody>
          <a:bodyPr wrap="square" rtlCol="0">
            <a:spAutoFit/>
          </a:bodyPr>
          <a:lstStyle/>
          <a:p>
            <a:r>
              <a:rPr lang="en-GB" dirty="0"/>
              <a:t>Echelon's approach replaces human consultants with AI agents trained by elite ServiceNow experts from top consulting firms. These agents can analyse business requirements, ask clarifying questions in real-time, and automatically generate complete ServiceNow configurations including forms, workflows, testing scenarios, and documentation.</a:t>
            </a:r>
            <a:endParaRPr lang="en-US" dirty="0"/>
          </a:p>
        </p:txBody>
      </p:sp>
      <p:sp>
        <p:nvSpPr>
          <p:cNvPr id="14" name="TextBox 13">
            <a:extLst>
              <a:ext uri="{FF2B5EF4-FFF2-40B4-BE49-F238E27FC236}">
                <a16:creationId xmlns:a16="http://schemas.microsoft.com/office/drawing/2014/main" id="{58F66892-7A14-B3DA-2438-DCE5044C64AA}"/>
              </a:ext>
            </a:extLst>
          </p:cNvPr>
          <p:cNvSpPr txBox="1"/>
          <p:nvPr/>
        </p:nvSpPr>
        <p:spPr>
          <a:xfrm>
            <a:off x="4963886" y="5498876"/>
            <a:ext cx="6096000" cy="369332"/>
          </a:xfrm>
          <a:prstGeom prst="rect">
            <a:avLst/>
          </a:prstGeom>
          <a:noFill/>
        </p:spPr>
        <p:txBody>
          <a:bodyPr wrap="square">
            <a:spAutoFit/>
          </a:bodyPr>
          <a:lstStyle/>
          <a:p>
            <a:r>
              <a:rPr kumimoji="0" lang="en-US" altLang="en-US" sz="1800" b="0" i="0" u="none" strike="noStrike" cap="none" normalizeH="0" baseline="0" dirty="0">
                <a:ln>
                  <a:noFill/>
                </a:ln>
                <a:solidFill>
                  <a:srgbClr val="111111"/>
                </a:solidFill>
                <a:effectLst/>
                <a:latin typeface="var(--font-merryweather)"/>
              </a:rPr>
              <a:t>$4.75 million in seed funding led by </a:t>
            </a:r>
            <a:r>
              <a:rPr kumimoji="0" lang="en-US" altLang="en-US" sz="1800" b="0" i="0" strike="noStrike" cap="none" normalizeH="0" baseline="0" dirty="0">
                <a:ln>
                  <a:noFill/>
                </a:ln>
                <a:effectLst/>
                <a:latin typeface="var(--font-merryweather)"/>
              </a:rPr>
              <a:t>Bain Capital Ventures</a:t>
            </a:r>
            <a:endParaRPr lang="en-US" dirty="0"/>
          </a:p>
        </p:txBody>
      </p:sp>
    </p:spTree>
    <p:extLst>
      <p:ext uri="{BB962C8B-B14F-4D97-AF65-F5344CB8AC3E}">
        <p14:creationId xmlns:p14="http://schemas.microsoft.com/office/powerpoint/2010/main" val="26401941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7BF69-3602-795A-DE5C-0B8A852BE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0A54A-A3CE-BB17-EDDA-DC928E957A7D}"/>
              </a:ext>
            </a:extLst>
          </p:cNvPr>
          <p:cNvSpPr>
            <a:spLocks noGrp="1"/>
          </p:cNvSpPr>
          <p:nvPr>
            <p:ph type="title"/>
          </p:nvPr>
        </p:nvSpPr>
        <p:spPr/>
        <p:txBody>
          <a:bodyPr/>
          <a:lstStyle/>
          <a:p>
            <a:r>
              <a:rPr lang="en-GB" dirty="0"/>
              <a:t>Participants’ Exercise</a:t>
            </a:r>
          </a:p>
        </p:txBody>
      </p:sp>
      <p:pic>
        <p:nvPicPr>
          <p:cNvPr id="15362" name="Picture 2" descr="73+ Thousand Training Participants Royalty-Free Images, Stock Photos &amp;  Pictures | Shutterstock">
            <a:extLst>
              <a:ext uri="{FF2B5EF4-FFF2-40B4-BE49-F238E27FC236}">
                <a16:creationId xmlns:a16="http://schemas.microsoft.com/office/drawing/2014/main" id="{2D6297E3-4E2B-61B8-5B82-76CFC65872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429"/>
          <a:stretch>
            <a:fillRect/>
          </a:stretch>
        </p:blipFill>
        <p:spPr bwMode="auto">
          <a:xfrm>
            <a:off x="1037590" y="2211070"/>
            <a:ext cx="5499100" cy="3149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B37EBF-9E58-7B53-CB0B-F1CCF5223E80}"/>
              </a:ext>
            </a:extLst>
          </p:cNvPr>
          <p:cNvSpPr txBox="1"/>
          <p:nvPr/>
        </p:nvSpPr>
        <p:spPr>
          <a:xfrm>
            <a:off x="7360921" y="2697480"/>
            <a:ext cx="4183380" cy="2308324"/>
          </a:xfrm>
          <a:prstGeom prst="rect">
            <a:avLst/>
          </a:prstGeom>
          <a:noFill/>
        </p:spPr>
        <p:txBody>
          <a:bodyPr wrap="square" rtlCol="0">
            <a:spAutoFit/>
          </a:bodyPr>
          <a:lstStyle/>
          <a:p>
            <a:r>
              <a:rPr lang="en-GB" sz="2400" b="1" dirty="0">
                <a:solidFill>
                  <a:schemeClr val="tx2"/>
                </a:solidFill>
              </a:rPr>
              <a:t>OK who will admit to considering their own “challenger” play! </a:t>
            </a:r>
            <a:r>
              <a:rPr lang="en-GB" sz="2400" b="1" dirty="0">
                <a:solidFill>
                  <a:schemeClr val="tx2"/>
                </a:solidFill>
                <a:sym typeface="Wingdings" pitchFamily="2" charset="2"/>
              </a:rPr>
              <a:t></a:t>
            </a:r>
            <a:br>
              <a:rPr lang="en-GB" sz="2400" b="1" dirty="0">
                <a:solidFill>
                  <a:schemeClr val="tx2"/>
                </a:solidFill>
                <a:sym typeface="Wingdings" pitchFamily="2" charset="2"/>
              </a:rPr>
            </a:br>
            <a:br>
              <a:rPr lang="en-GB" sz="2400" b="1" dirty="0">
                <a:solidFill>
                  <a:schemeClr val="tx2"/>
                </a:solidFill>
                <a:sym typeface="Wingdings" pitchFamily="2" charset="2"/>
              </a:rPr>
            </a:br>
            <a:r>
              <a:rPr lang="en-GB" sz="2400" b="1" dirty="0">
                <a:solidFill>
                  <a:schemeClr val="tx2"/>
                </a:solidFill>
                <a:sym typeface="Wingdings" pitchFamily="2" charset="2"/>
              </a:rPr>
              <a:t>… only kidding </a:t>
            </a:r>
          </a:p>
          <a:p>
            <a:endParaRPr lang="en-GB" sz="2400" b="1" dirty="0">
              <a:solidFill>
                <a:schemeClr val="tx2"/>
              </a:solidFill>
            </a:endParaRPr>
          </a:p>
        </p:txBody>
      </p:sp>
    </p:spTree>
    <p:extLst>
      <p:ext uri="{BB962C8B-B14F-4D97-AF65-F5344CB8AC3E}">
        <p14:creationId xmlns:p14="http://schemas.microsoft.com/office/powerpoint/2010/main" val="41198504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iagram">
            <a:extLst>
              <a:ext uri="{FF2B5EF4-FFF2-40B4-BE49-F238E27FC236}">
                <a16:creationId xmlns:a16="http://schemas.microsoft.com/office/drawing/2014/main" id="{241B2301-2BDA-FD62-456B-885523D10F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9662"/>
          <a:stretch>
            <a:fillRect/>
          </a:stretch>
        </p:blipFill>
        <p:spPr bwMode="auto">
          <a:xfrm>
            <a:off x="2258791" y="0"/>
            <a:ext cx="805235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D4906A1-E258-6368-A542-1F7B0C9D2DA3}"/>
              </a:ext>
            </a:extLst>
          </p:cNvPr>
          <p:cNvSpPr txBox="1"/>
          <p:nvPr/>
        </p:nvSpPr>
        <p:spPr>
          <a:xfrm>
            <a:off x="10197296" y="5531144"/>
            <a:ext cx="1886673" cy="1200329"/>
          </a:xfrm>
          <a:prstGeom prst="rect">
            <a:avLst/>
          </a:prstGeom>
          <a:noFill/>
        </p:spPr>
        <p:txBody>
          <a:bodyPr wrap="square" rtlCol="0">
            <a:spAutoFit/>
          </a:bodyPr>
          <a:lstStyle/>
          <a:p>
            <a:r>
              <a:rPr lang="en-US" sz="800" dirty="0"/>
              <a:t>© </a:t>
            </a:r>
            <a:r>
              <a:rPr lang="en-US" sz="800" dirty="0" err="1"/>
              <a:t>CBInsights</a:t>
            </a:r>
            <a:br>
              <a:rPr lang="en-US" sz="800" dirty="0"/>
            </a:br>
            <a:r>
              <a:rPr lang="en-US" sz="800" dirty="0"/>
              <a:t>Source: https://</a:t>
            </a:r>
            <a:r>
              <a:rPr lang="en-US" sz="800" dirty="0" err="1"/>
              <a:t>www.linkedin.com</a:t>
            </a:r>
            <a:r>
              <a:rPr lang="en-US" sz="800" dirty="0"/>
              <a:t>/posts/hugoraaijmakers_ai-agents-are-reshaping-consulting-faster-activity-7379775982997757952-o7Mb/?</a:t>
            </a:r>
            <a:r>
              <a:rPr lang="en-US" sz="800" dirty="0" err="1"/>
              <a:t>utm_source</a:t>
            </a:r>
            <a:r>
              <a:rPr lang="en-US" sz="800" dirty="0"/>
              <a:t>=</a:t>
            </a:r>
            <a:r>
              <a:rPr lang="en-US" sz="800" dirty="0" err="1"/>
              <a:t>share&amp;utm_medium</a:t>
            </a:r>
            <a:r>
              <a:rPr lang="en-US" sz="800" dirty="0"/>
              <a:t>=</a:t>
            </a:r>
            <a:r>
              <a:rPr lang="en-US" sz="800" dirty="0" err="1"/>
              <a:t>member_ios&amp;rcm</a:t>
            </a:r>
            <a:r>
              <a:rPr lang="en-US" sz="800" dirty="0"/>
              <a:t>=ACoAAAAHVlcBM9XTwIsp2Pvb1QCQ-7A1hJdMnGM</a:t>
            </a:r>
          </a:p>
        </p:txBody>
      </p:sp>
    </p:spTree>
    <p:extLst>
      <p:ext uri="{BB962C8B-B14F-4D97-AF65-F5344CB8AC3E}">
        <p14:creationId xmlns:p14="http://schemas.microsoft.com/office/powerpoint/2010/main" val="210629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D18A-774F-E169-D148-4CCC79456F47}"/>
              </a:ext>
            </a:extLst>
          </p:cNvPr>
          <p:cNvSpPr>
            <a:spLocks noGrp="1"/>
          </p:cNvSpPr>
          <p:nvPr>
            <p:ph type="title"/>
          </p:nvPr>
        </p:nvSpPr>
        <p:spPr/>
        <p:txBody>
          <a:bodyPr/>
          <a:lstStyle/>
          <a:p>
            <a:r>
              <a:rPr lang="en-GB" dirty="0"/>
              <a:t>Insights: AI Developments across Consulting Industry</a:t>
            </a:r>
          </a:p>
        </p:txBody>
      </p:sp>
      <p:graphicFrame>
        <p:nvGraphicFramePr>
          <p:cNvPr id="3" name="Table 2">
            <a:extLst>
              <a:ext uri="{FF2B5EF4-FFF2-40B4-BE49-F238E27FC236}">
                <a16:creationId xmlns:a16="http://schemas.microsoft.com/office/drawing/2014/main" id="{351CB4C0-12A0-63CD-C280-5E74C908085C}"/>
              </a:ext>
            </a:extLst>
          </p:cNvPr>
          <p:cNvGraphicFramePr>
            <a:graphicFrameLocks noGrp="1"/>
          </p:cNvGraphicFramePr>
          <p:nvPr>
            <p:extLst>
              <p:ext uri="{D42A27DB-BD31-4B8C-83A1-F6EECF244321}">
                <p14:modId xmlns:p14="http://schemas.microsoft.com/office/powerpoint/2010/main" val="2787630776"/>
              </p:ext>
            </p:extLst>
          </p:nvPr>
        </p:nvGraphicFramePr>
        <p:xfrm>
          <a:off x="585188" y="1616310"/>
          <a:ext cx="10768612" cy="5029200"/>
        </p:xfrm>
        <a:graphic>
          <a:graphicData uri="http://schemas.openxmlformats.org/drawingml/2006/table">
            <a:tbl>
              <a:tblPr firstRow="1" bandRow="1">
                <a:tableStyleId>{0505E3EF-67EA-436B-97B2-0124C06EBD24}</a:tableStyleId>
              </a:tblPr>
              <a:tblGrid>
                <a:gridCol w="3551068">
                  <a:extLst>
                    <a:ext uri="{9D8B030D-6E8A-4147-A177-3AD203B41FA5}">
                      <a16:colId xmlns:a16="http://schemas.microsoft.com/office/drawing/2014/main" val="987724884"/>
                    </a:ext>
                  </a:extLst>
                </a:gridCol>
                <a:gridCol w="7217544">
                  <a:extLst>
                    <a:ext uri="{9D8B030D-6E8A-4147-A177-3AD203B41FA5}">
                      <a16:colId xmlns:a16="http://schemas.microsoft.com/office/drawing/2014/main" val="424654558"/>
                    </a:ext>
                  </a:extLst>
                </a:gridCol>
              </a:tblGrid>
              <a:tr h="370840">
                <a:tc>
                  <a:txBody>
                    <a:bodyPr/>
                    <a:lstStyle/>
                    <a:p>
                      <a:r>
                        <a:rPr lang="en-GB" b="0" dirty="0">
                          <a:solidFill>
                            <a:schemeClr val="bg1"/>
                          </a:solidFill>
                        </a:rPr>
                        <a:t>Consultancy Industry</a:t>
                      </a:r>
                    </a:p>
                  </a:txBody>
                  <a:tcPr anchor="ctr">
                    <a:solidFill>
                      <a:schemeClr val="accent1"/>
                    </a:solidFill>
                  </a:tcPr>
                </a:tc>
                <a:tc>
                  <a:txBody>
                    <a:bodyPr/>
                    <a:lstStyle/>
                    <a:p>
                      <a:pPr marL="285750" indent="-285750">
                        <a:buFont typeface="Arial" panose="020B0604020202020204" pitchFamily="34" charset="0"/>
                        <a:buChar char="•"/>
                      </a:pPr>
                      <a:r>
                        <a:rPr lang="en-GB" b="0" dirty="0"/>
                        <a:t>Gathering pace and investing in platforms, people and propositions</a:t>
                      </a:r>
                    </a:p>
                    <a:p>
                      <a:pPr marL="285750" indent="-285750">
                        <a:buFont typeface="Arial" panose="020B0604020202020204" pitchFamily="34" charset="0"/>
                        <a:buChar char="•"/>
                      </a:pPr>
                      <a:r>
                        <a:rPr lang="en-GB" b="0" dirty="0"/>
                        <a:t>Senior level leadership with some restructuring happening</a:t>
                      </a:r>
                    </a:p>
                    <a:p>
                      <a:pPr marL="285750" indent="-285750">
                        <a:buFont typeface="Arial" panose="020B0604020202020204" pitchFamily="34" charset="0"/>
                        <a:buChar char="•"/>
                      </a:pPr>
                      <a:r>
                        <a:rPr lang="en-GB" b="0" dirty="0"/>
                        <a:t>Early days for benefits from AI deployed within consultancy processes</a:t>
                      </a:r>
                    </a:p>
                    <a:p>
                      <a:pPr marL="285750" indent="-285750">
                        <a:buFont typeface="Arial" panose="020B0604020202020204" pitchFamily="34" charset="0"/>
                        <a:buChar char="•"/>
                      </a:pPr>
                      <a:r>
                        <a:rPr lang="en-GB" b="0" dirty="0"/>
                        <a:t>Rapid growth in new business supporting clients in their AI journeys</a:t>
                      </a:r>
                    </a:p>
                    <a:p>
                      <a:pPr marL="285750" indent="-285750">
                        <a:buFont typeface="Arial" panose="020B0604020202020204" pitchFamily="34" charset="0"/>
                        <a:buChar char="•"/>
                      </a:pPr>
                      <a:r>
                        <a:rPr lang="en-GB" b="0" dirty="0"/>
                        <a:t>Recruitment and retention being affected &amp; investing in training</a:t>
                      </a:r>
                    </a:p>
                    <a:p>
                      <a:pPr marL="285750" indent="-285750">
                        <a:buFont typeface="Arial" panose="020B0604020202020204" pitchFamily="34" charset="0"/>
                        <a:buChar char="•"/>
                      </a:pPr>
                      <a:r>
                        <a:rPr lang="en-GB" b="0" dirty="0"/>
                        <a:t>Different ways for solving the issue of needing an AI platform</a:t>
                      </a:r>
                    </a:p>
                  </a:txBody>
                  <a:tcPr>
                    <a:solidFill>
                      <a:schemeClr val="accent1">
                        <a:lumMod val="20000"/>
                        <a:lumOff val="80000"/>
                      </a:schemeClr>
                    </a:solidFill>
                  </a:tcPr>
                </a:tc>
                <a:extLst>
                  <a:ext uri="{0D108BD9-81ED-4DB2-BD59-A6C34878D82A}">
                    <a16:rowId xmlns:a16="http://schemas.microsoft.com/office/drawing/2014/main" val="935451453"/>
                  </a:ext>
                </a:extLst>
              </a:tr>
              <a:tr h="370840">
                <a:tc>
                  <a:txBody>
                    <a:bodyPr/>
                    <a:lstStyle/>
                    <a:p>
                      <a:r>
                        <a:rPr lang="en-GB" dirty="0">
                          <a:solidFill>
                            <a:schemeClr val="bg1"/>
                          </a:solidFill>
                        </a:rPr>
                        <a:t>Strategy houses &amp; boutiques</a:t>
                      </a:r>
                    </a:p>
                  </a:txBody>
                  <a:tcPr anchor="ctr">
                    <a:solidFill>
                      <a:schemeClr val="accent3"/>
                    </a:solidFill>
                  </a:tcPr>
                </a:tc>
                <a:tc>
                  <a:txBody>
                    <a:bodyPr/>
                    <a:lstStyle/>
                    <a:p>
                      <a:pPr marL="285750" indent="-285750">
                        <a:buFont typeface="Arial" panose="020B0604020202020204" pitchFamily="34" charset="0"/>
                        <a:buChar char="•"/>
                      </a:pPr>
                      <a:r>
                        <a:rPr lang="en-GB" dirty="0"/>
                        <a:t>Early mover advantages have yielded impressive results</a:t>
                      </a:r>
                    </a:p>
                    <a:p>
                      <a:pPr marL="285750" indent="-285750">
                        <a:buFont typeface="Arial" panose="020B0604020202020204" pitchFamily="34" charset="0"/>
                        <a:buChar char="•"/>
                      </a:pPr>
                      <a:r>
                        <a:rPr lang="en-GB" dirty="0"/>
                        <a:t>Partnering for AI technology platforms</a:t>
                      </a:r>
                    </a:p>
                    <a:p>
                      <a:pPr marL="285750" indent="-285750">
                        <a:buFont typeface="Arial" panose="020B0604020202020204" pitchFamily="34" charset="0"/>
                        <a:buChar char="•"/>
                      </a:pPr>
                      <a:r>
                        <a:rPr lang="en-GB" dirty="0"/>
                        <a:t>Able to leverage their internal data and knowledge bases</a:t>
                      </a:r>
                    </a:p>
                  </a:txBody>
                  <a:tcPr>
                    <a:solidFill>
                      <a:schemeClr val="accent3">
                        <a:lumMod val="20000"/>
                        <a:lumOff val="80000"/>
                      </a:schemeClr>
                    </a:solidFill>
                  </a:tcPr>
                </a:tc>
                <a:extLst>
                  <a:ext uri="{0D108BD9-81ED-4DB2-BD59-A6C34878D82A}">
                    <a16:rowId xmlns:a16="http://schemas.microsoft.com/office/drawing/2014/main" val="907996382"/>
                  </a:ext>
                </a:extLst>
              </a:tr>
              <a:tr h="370840">
                <a:tc>
                  <a:txBody>
                    <a:bodyPr/>
                    <a:lstStyle/>
                    <a:p>
                      <a:r>
                        <a:rPr lang="en-GB" dirty="0">
                          <a:solidFill>
                            <a:schemeClr val="bg1"/>
                          </a:solidFill>
                        </a:rPr>
                        <a:t>Big-4 &amp; IT Services consultancies</a:t>
                      </a:r>
                    </a:p>
                  </a:txBody>
                  <a:tcPr anchor="ctr">
                    <a:solidFill>
                      <a:schemeClr val="accent4"/>
                    </a:solidFill>
                  </a:tcPr>
                </a:tc>
                <a:tc>
                  <a:txBody>
                    <a:bodyPr/>
                    <a:lstStyle/>
                    <a:p>
                      <a:pPr marL="285750" indent="-285750">
                        <a:buFont typeface="Arial" panose="020B0604020202020204" pitchFamily="34" charset="0"/>
                        <a:buChar char="•"/>
                      </a:pPr>
                      <a:r>
                        <a:rPr lang="en-GB" dirty="0"/>
                        <a:t>Early moves do not seem to have paid off, but moving at pace now</a:t>
                      </a:r>
                    </a:p>
                    <a:p>
                      <a:pPr marL="285750" indent="-285750">
                        <a:buFont typeface="Arial" panose="020B0604020202020204" pitchFamily="34" charset="0"/>
                        <a:buChar char="•"/>
                      </a:pPr>
                      <a:r>
                        <a:rPr lang="en-GB" dirty="0"/>
                        <a:t>Building their own comprehensive AI technology platforms (not yet with own foundation models)</a:t>
                      </a:r>
                    </a:p>
                    <a:p>
                      <a:pPr marL="285750" indent="-285750">
                        <a:buFont typeface="Arial" panose="020B0604020202020204" pitchFamily="34" charset="0"/>
                        <a:buChar char="•"/>
                      </a:pPr>
                      <a:r>
                        <a:rPr lang="en-GB" dirty="0"/>
                        <a:t>Rapidly growing revenue on corporate agentic AI</a:t>
                      </a:r>
                    </a:p>
                    <a:p>
                      <a:pPr marL="285750" indent="-285750">
                        <a:buFont typeface="Arial" panose="020B0604020202020204" pitchFamily="34" charset="0"/>
                        <a:buChar char="•"/>
                      </a:pPr>
                      <a:r>
                        <a:rPr lang="en-GB" dirty="0"/>
                        <a:t>Restructuring &amp; AI platform investments pressuring earnings </a:t>
                      </a:r>
                    </a:p>
                  </a:txBody>
                  <a:tcPr>
                    <a:solidFill>
                      <a:schemeClr val="accent4">
                        <a:lumMod val="20000"/>
                        <a:lumOff val="80000"/>
                      </a:schemeClr>
                    </a:solidFill>
                  </a:tcPr>
                </a:tc>
                <a:extLst>
                  <a:ext uri="{0D108BD9-81ED-4DB2-BD59-A6C34878D82A}">
                    <a16:rowId xmlns:a16="http://schemas.microsoft.com/office/drawing/2014/main" val="1592151266"/>
                  </a:ext>
                </a:extLst>
              </a:tr>
              <a:tr h="370840">
                <a:tc>
                  <a:txBody>
                    <a:bodyPr/>
                    <a:lstStyle/>
                    <a:p>
                      <a:r>
                        <a:rPr lang="en-GB" dirty="0">
                          <a:solidFill>
                            <a:schemeClr val="bg1"/>
                          </a:solidFill>
                        </a:rPr>
                        <a:t>Challengers</a:t>
                      </a:r>
                    </a:p>
                  </a:txBody>
                  <a:tcPr anchor="ctr">
                    <a:solidFill>
                      <a:schemeClr val="accent5"/>
                    </a:solidFill>
                  </a:tcPr>
                </a:tc>
                <a:tc>
                  <a:txBody>
                    <a:bodyPr/>
                    <a:lstStyle/>
                    <a:p>
                      <a:pPr marL="285750" indent="-285750">
                        <a:buFont typeface="Arial" panose="020B0604020202020204" pitchFamily="34" charset="0"/>
                        <a:buChar char="•"/>
                      </a:pPr>
                      <a:r>
                        <a:rPr lang="en-GB" dirty="0"/>
                        <a:t>Surprisingly, so far only a few and not a major feature</a:t>
                      </a:r>
                    </a:p>
                    <a:p>
                      <a:pPr marL="285750" indent="-285750">
                        <a:buFont typeface="Arial" panose="020B0604020202020204" pitchFamily="34" charset="0"/>
                        <a:buChar char="•"/>
                      </a:pPr>
                      <a:r>
                        <a:rPr lang="en-GB" dirty="0"/>
                        <a:t>VC funding available and first movers are gaining traction</a:t>
                      </a:r>
                    </a:p>
                    <a:p>
                      <a:pPr marL="285750" indent="-285750">
                        <a:buFont typeface="Arial" panose="020B0604020202020204" pitchFamily="34" charset="0"/>
                        <a:buChar char="•"/>
                      </a:pPr>
                      <a:r>
                        <a:rPr lang="en-GB" dirty="0"/>
                        <a:t>Less “challenging the incumbents” than “riding the wave”</a:t>
                      </a:r>
                    </a:p>
                  </a:txBody>
                  <a:tcPr>
                    <a:solidFill>
                      <a:schemeClr val="accent5">
                        <a:lumMod val="20000"/>
                        <a:lumOff val="80000"/>
                      </a:schemeClr>
                    </a:solidFill>
                  </a:tcPr>
                </a:tc>
                <a:extLst>
                  <a:ext uri="{0D108BD9-81ED-4DB2-BD59-A6C34878D82A}">
                    <a16:rowId xmlns:a16="http://schemas.microsoft.com/office/drawing/2014/main" val="2437685684"/>
                  </a:ext>
                </a:extLst>
              </a:tr>
            </a:tbl>
          </a:graphicData>
        </a:graphic>
      </p:graphicFrame>
    </p:spTree>
    <p:extLst>
      <p:ext uri="{BB962C8B-B14F-4D97-AF65-F5344CB8AC3E}">
        <p14:creationId xmlns:p14="http://schemas.microsoft.com/office/powerpoint/2010/main" val="24550834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44FEF3-393B-CBB4-C6E4-5D0BD9329068}"/>
              </a:ext>
            </a:extLst>
          </p:cNvPr>
          <p:cNvSpPr>
            <a:spLocks noGrp="1"/>
          </p:cNvSpPr>
          <p:nvPr>
            <p:ph type="title"/>
          </p:nvPr>
        </p:nvSpPr>
        <p:spPr/>
        <p:txBody>
          <a:bodyPr/>
          <a:lstStyle/>
          <a:p>
            <a:r>
              <a:rPr lang="en-GB" dirty="0"/>
              <a:t>Insights: AI Services for Clients’ AI Transformations</a:t>
            </a:r>
          </a:p>
        </p:txBody>
      </p:sp>
      <p:sp>
        <p:nvSpPr>
          <p:cNvPr id="6" name="Rectangle 5">
            <a:extLst>
              <a:ext uri="{FF2B5EF4-FFF2-40B4-BE49-F238E27FC236}">
                <a16:creationId xmlns:a16="http://schemas.microsoft.com/office/drawing/2014/main" id="{525936AA-0DBF-40DE-06C4-32B2B617C4A4}"/>
              </a:ext>
            </a:extLst>
          </p:cNvPr>
          <p:cNvSpPr/>
          <p:nvPr/>
        </p:nvSpPr>
        <p:spPr>
          <a:xfrm>
            <a:off x="1674475" y="3880233"/>
            <a:ext cx="4962505" cy="346456"/>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Supportive</a:t>
            </a:r>
          </a:p>
        </p:txBody>
      </p:sp>
      <p:sp>
        <p:nvSpPr>
          <p:cNvPr id="2" name="Rectangle 1">
            <a:extLst>
              <a:ext uri="{FF2B5EF4-FFF2-40B4-BE49-F238E27FC236}">
                <a16:creationId xmlns:a16="http://schemas.microsoft.com/office/drawing/2014/main" id="{7CF354CE-9DE0-A32B-9777-63DE835B5D12}"/>
              </a:ext>
            </a:extLst>
          </p:cNvPr>
          <p:cNvSpPr/>
          <p:nvPr/>
        </p:nvSpPr>
        <p:spPr>
          <a:xfrm>
            <a:off x="1671187" y="1447620"/>
            <a:ext cx="4968447" cy="3464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Innovative</a:t>
            </a:r>
          </a:p>
        </p:txBody>
      </p:sp>
      <p:sp>
        <p:nvSpPr>
          <p:cNvPr id="3" name="Rectangle 2">
            <a:extLst>
              <a:ext uri="{FF2B5EF4-FFF2-40B4-BE49-F238E27FC236}">
                <a16:creationId xmlns:a16="http://schemas.microsoft.com/office/drawing/2014/main" id="{C5D3AC89-7789-7A3C-6AB1-22B292A69A10}"/>
              </a:ext>
            </a:extLst>
          </p:cNvPr>
          <p:cNvSpPr/>
          <p:nvPr/>
        </p:nvSpPr>
        <p:spPr>
          <a:xfrm>
            <a:off x="6639635" y="1447620"/>
            <a:ext cx="4968447" cy="34645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Strategic</a:t>
            </a:r>
          </a:p>
        </p:txBody>
      </p:sp>
      <p:sp>
        <p:nvSpPr>
          <p:cNvPr id="5" name="Rectangle 4">
            <a:extLst>
              <a:ext uri="{FF2B5EF4-FFF2-40B4-BE49-F238E27FC236}">
                <a16:creationId xmlns:a16="http://schemas.microsoft.com/office/drawing/2014/main" id="{E4867A2D-5BB1-301D-61E3-97E055CFF16C}"/>
              </a:ext>
            </a:extLst>
          </p:cNvPr>
          <p:cNvSpPr/>
          <p:nvPr/>
        </p:nvSpPr>
        <p:spPr>
          <a:xfrm>
            <a:off x="6639636" y="3880233"/>
            <a:ext cx="4968446" cy="346456"/>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Operational</a:t>
            </a:r>
          </a:p>
        </p:txBody>
      </p:sp>
      <p:sp>
        <p:nvSpPr>
          <p:cNvPr id="7" name="Rectangle 6">
            <a:extLst>
              <a:ext uri="{FF2B5EF4-FFF2-40B4-BE49-F238E27FC236}">
                <a16:creationId xmlns:a16="http://schemas.microsoft.com/office/drawing/2014/main" id="{97E1EBEB-C431-F1F8-8D8A-6A1BB3F6B462}"/>
              </a:ext>
            </a:extLst>
          </p:cNvPr>
          <p:cNvSpPr/>
          <p:nvPr/>
        </p:nvSpPr>
        <p:spPr>
          <a:xfrm>
            <a:off x="1671187" y="1794076"/>
            <a:ext cx="4968447" cy="20861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DF9D802-0FC6-E7B0-9FBF-27265C7047F7}"/>
              </a:ext>
            </a:extLst>
          </p:cNvPr>
          <p:cNvSpPr/>
          <p:nvPr/>
        </p:nvSpPr>
        <p:spPr>
          <a:xfrm>
            <a:off x="6640961" y="1794076"/>
            <a:ext cx="4968447" cy="20861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88729-8A1E-B1C5-FCA3-3DBF8DF29101}"/>
              </a:ext>
            </a:extLst>
          </p:cNvPr>
          <p:cNvSpPr/>
          <p:nvPr/>
        </p:nvSpPr>
        <p:spPr>
          <a:xfrm>
            <a:off x="1669861" y="4226689"/>
            <a:ext cx="4968447" cy="20861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0FCB52-1E93-DCA1-9C4E-BD487693AB45}"/>
              </a:ext>
            </a:extLst>
          </p:cNvPr>
          <p:cNvSpPr/>
          <p:nvPr/>
        </p:nvSpPr>
        <p:spPr>
          <a:xfrm>
            <a:off x="6638308" y="4226689"/>
            <a:ext cx="4969774" cy="20861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98C669C-C7AB-A155-7A1E-D72BB25CE7DF}"/>
              </a:ext>
            </a:extLst>
          </p:cNvPr>
          <p:cNvSpPr txBox="1"/>
          <p:nvPr/>
        </p:nvSpPr>
        <p:spPr>
          <a:xfrm>
            <a:off x="5023413" y="6488668"/>
            <a:ext cx="2837123" cy="369332"/>
          </a:xfrm>
          <a:prstGeom prst="rect">
            <a:avLst/>
          </a:prstGeom>
          <a:noFill/>
        </p:spPr>
        <p:txBody>
          <a:bodyPr wrap="none" rtlCol="0">
            <a:spAutoFit/>
          </a:bodyPr>
          <a:lstStyle/>
          <a:p>
            <a:r>
              <a:rPr lang="en-US" dirty="0"/>
              <a:t>Developing </a:t>
            </a:r>
            <a:r>
              <a:rPr lang="en-US" b="1" dirty="0"/>
              <a:t>current</a:t>
            </a:r>
            <a:r>
              <a:rPr lang="en-US" dirty="0"/>
              <a:t> business</a:t>
            </a:r>
          </a:p>
        </p:txBody>
      </p:sp>
      <p:sp>
        <p:nvSpPr>
          <p:cNvPr id="12" name="TextBox 11">
            <a:extLst>
              <a:ext uri="{FF2B5EF4-FFF2-40B4-BE49-F238E27FC236}">
                <a16:creationId xmlns:a16="http://schemas.microsoft.com/office/drawing/2014/main" id="{70D33B5C-B218-8B07-036C-4EAA50C9CA84}"/>
              </a:ext>
            </a:extLst>
          </p:cNvPr>
          <p:cNvSpPr txBox="1"/>
          <p:nvPr/>
        </p:nvSpPr>
        <p:spPr>
          <a:xfrm>
            <a:off x="3869839" y="6304002"/>
            <a:ext cx="568489" cy="369332"/>
          </a:xfrm>
          <a:prstGeom prst="rect">
            <a:avLst/>
          </a:prstGeom>
          <a:noFill/>
        </p:spPr>
        <p:txBody>
          <a:bodyPr wrap="none" rtlCol="0">
            <a:spAutoFit/>
          </a:bodyPr>
          <a:lstStyle/>
          <a:p>
            <a:r>
              <a:rPr lang="en-US" dirty="0"/>
              <a:t>Low</a:t>
            </a:r>
          </a:p>
        </p:txBody>
      </p:sp>
      <p:sp>
        <p:nvSpPr>
          <p:cNvPr id="13" name="TextBox 12">
            <a:extLst>
              <a:ext uri="{FF2B5EF4-FFF2-40B4-BE49-F238E27FC236}">
                <a16:creationId xmlns:a16="http://schemas.microsoft.com/office/drawing/2014/main" id="{BD1AEE05-14A1-83AC-A336-21ECD4BA2CC2}"/>
              </a:ext>
            </a:extLst>
          </p:cNvPr>
          <p:cNvSpPr txBox="1"/>
          <p:nvPr/>
        </p:nvSpPr>
        <p:spPr>
          <a:xfrm>
            <a:off x="8816861" y="6245557"/>
            <a:ext cx="612668" cy="369332"/>
          </a:xfrm>
          <a:prstGeom prst="rect">
            <a:avLst/>
          </a:prstGeom>
          <a:noFill/>
        </p:spPr>
        <p:txBody>
          <a:bodyPr wrap="square" rtlCol="0">
            <a:spAutoFit/>
          </a:bodyPr>
          <a:lstStyle/>
          <a:p>
            <a:r>
              <a:rPr lang="en-US" dirty="0"/>
              <a:t>High</a:t>
            </a:r>
          </a:p>
        </p:txBody>
      </p:sp>
      <p:sp>
        <p:nvSpPr>
          <p:cNvPr id="14" name="TextBox 13">
            <a:extLst>
              <a:ext uri="{FF2B5EF4-FFF2-40B4-BE49-F238E27FC236}">
                <a16:creationId xmlns:a16="http://schemas.microsoft.com/office/drawing/2014/main" id="{01E6CE13-8558-4139-97BC-780D817CEB59}"/>
              </a:ext>
            </a:extLst>
          </p:cNvPr>
          <p:cNvSpPr txBox="1"/>
          <p:nvPr/>
        </p:nvSpPr>
        <p:spPr>
          <a:xfrm rot="16200000">
            <a:off x="1205564" y="5085100"/>
            <a:ext cx="568489" cy="369332"/>
          </a:xfrm>
          <a:prstGeom prst="rect">
            <a:avLst/>
          </a:prstGeom>
          <a:noFill/>
        </p:spPr>
        <p:txBody>
          <a:bodyPr wrap="none" rtlCol="0">
            <a:spAutoFit/>
          </a:bodyPr>
          <a:lstStyle/>
          <a:p>
            <a:r>
              <a:rPr lang="en-US" dirty="0"/>
              <a:t>Low</a:t>
            </a:r>
          </a:p>
        </p:txBody>
      </p:sp>
      <p:sp>
        <p:nvSpPr>
          <p:cNvPr id="15" name="TextBox 14">
            <a:extLst>
              <a:ext uri="{FF2B5EF4-FFF2-40B4-BE49-F238E27FC236}">
                <a16:creationId xmlns:a16="http://schemas.microsoft.com/office/drawing/2014/main" id="{17A41FB1-0C7E-21FA-085D-7603347646D8}"/>
              </a:ext>
            </a:extLst>
          </p:cNvPr>
          <p:cNvSpPr txBox="1"/>
          <p:nvPr/>
        </p:nvSpPr>
        <p:spPr>
          <a:xfrm rot="16200000">
            <a:off x="1183474" y="2652488"/>
            <a:ext cx="612668" cy="369332"/>
          </a:xfrm>
          <a:prstGeom prst="rect">
            <a:avLst/>
          </a:prstGeom>
          <a:noFill/>
        </p:spPr>
        <p:txBody>
          <a:bodyPr wrap="none" rtlCol="0">
            <a:spAutoFit/>
          </a:bodyPr>
          <a:lstStyle/>
          <a:p>
            <a:r>
              <a:rPr lang="en-US" dirty="0"/>
              <a:t>High</a:t>
            </a:r>
          </a:p>
        </p:txBody>
      </p:sp>
      <p:sp>
        <p:nvSpPr>
          <p:cNvPr id="16" name="TextBox 15">
            <a:extLst>
              <a:ext uri="{FF2B5EF4-FFF2-40B4-BE49-F238E27FC236}">
                <a16:creationId xmlns:a16="http://schemas.microsoft.com/office/drawing/2014/main" id="{730F9BB9-52D3-8E4C-4898-E3B030973DA9}"/>
              </a:ext>
            </a:extLst>
          </p:cNvPr>
          <p:cNvSpPr txBox="1"/>
          <p:nvPr/>
        </p:nvSpPr>
        <p:spPr>
          <a:xfrm rot="16200000">
            <a:off x="-341998" y="3744652"/>
            <a:ext cx="2731838" cy="369332"/>
          </a:xfrm>
          <a:prstGeom prst="rect">
            <a:avLst/>
          </a:prstGeom>
          <a:noFill/>
        </p:spPr>
        <p:txBody>
          <a:bodyPr wrap="none" rtlCol="0">
            <a:spAutoFit/>
          </a:bodyPr>
          <a:lstStyle/>
          <a:p>
            <a:r>
              <a:rPr lang="en-US" dirty="0"/>
              <a:t>Developing </a:t>
            </a:r>
            <a:r>
              <a:rPr lang="en-US" b="1" dirty="0"/>
              <a:t>future</a:t>
            </a:r>
            <a:r>
              <a:rPr lang="en-US" dirty="0"/>
              <a:t> business</a:t>
            </a:r>
          </a:p>
        </p:txBody>
      </p:sp>
      <p:sp>
        <p:nvSpPr>
          <p:cNvPr id="17" name="TextBox 16">
            <a:extLst>
              <a:ext uri="{FF2B5EF4-FFF2-40B4-BE49-F238E27FC236}">
                <a16:creationId xmlns:a16="http://schemas.microsoft.com/office/drawing/2014/main" id="{BA704CB7-C608-6760-3171-0BE0C801324E}"/>
              </a:ext>
            </a:extLst>
          </p:cNvPr>
          <p:cNvSpPr txBox="1"/>
          <p:nvPr/>
        </p:nvSpPr>
        <p:spPr>
          <a:xfrm>
            <a:off x="1881549" y="2542834"/>
            <a:ext cx="4560425" cy="1077218"/>
          </a:xfrm>
          <a:prstGeom prst="rect">
            <a:avLst/>
          </a:prstGeom>
          <a:noFill/>
        </p:spPr>
        <p:txBody>
          <a:bodyPr wrap="square" rtlCol="0">
            <a:spAutoFit/>
          </a:bodyPr>
          <a:lstStyle/>
          <a:p>
            <a:r>
              <a:rPr lang="en-GB" sz="1600" dirty="0"/>
              <a:t>• Agentic AI / autonomous-agent development </a:t>
            </a:r>
            <a:br>
              <a:rPr lang="en-GB" sz="1600" dirty="0"/>
            </a:br>
            <a:r>
              <a:rPr lang="en-GB" sz="1600" dirty="0"/>
              <a:t>• Generative AI products / asset creation</a:t>
            </a:r>
            <a:br>
              <a:rPr lang="en-GB" sz="1600" dirty="0"/>
            </a:br>
            <a:r>
              <a:rPr lang="en-GB" sz="1600" dirty="0"/>
              <a:t>• Industry-/domain-specific next-gen AI solutions</a:t>
            </a:r>
            <a:br>
              <a:rPr lang="en-GB" sz="1600" dirty="0"/>
            </a:br>
            <a:r>
              <a:rPr lang="en-GB" sz="1600" dirty="0"/>
              <a:t>• AI strategy &amp; new business-model re-thinking</a:t>
            </a:r>
            <a:endParaRPr lang="en-US" sz="1600" dirty="0"/>
          </a:p>
        </p:txBody>
      </p:sp>
      <p:sp>
        <p:nvSpPr>
          <p:cNvPr id="19" name="TextBox 18">
            <a:extLst>
              <a:ext uri="{FF2B5EF4-FFF2-40B4-BE49-F238E27FC236}">
                <a16:creationId xmlns:a16="http://schemas.microsoft.com/office/drawing/2014/main" id="{EC2FD56A-C15C-D159-A6A1-E7D8734B88C8}"/>
              </a:ext>
            </a:extLst>
          </p:cNvPr>
          <p:cNvSpPr txBox="1"/>
          <p:nvPr/>
        </p:nvSpPr>
        <p:spPr>
          <a:xfrm>
            <a:off x="1872543" y="1885448"/>
            <a:ext cx="4560425" cy="553998"/>
          </a:xfrm>
          <a:prstGeom prst="rect">
            <a:avLst/>
          </a:prstGeom>
          <a:noFill/>
        </p:spPr>
        <p:txBody>
          <a:bodyPr wrap="square" rtlCol="0">
            <a:spAutoFit/>
          </a:bodyPr>
          <a:lstStyle/>
          <a:p>
            <a:r>
              <a:rPr lang="en-GB" sz="1000" i="1" dirty="0"/>
              <a:t>Services that are new, disruptive, differentiate the consultancy and generate new business models or capabilities—not just incremental improvement. They are higher risk, higher reward.</a:t>
            </a:r>
            <a:endParaRPr lang="en-US" sz="1000" i="1" dirty="0"/>
          </a:p>
        </p:txBody>
      </p:sp>
      <p:sp>
        <p:nvSpPr>
          <p:cNvPr id="21" name="TextBox 20">
            <a:extLst>
              <a:ext uri="{FF2B5EF4-FFF2-40B4-BE49-F238E27FC236}">
                <a16:creationId xmlns:a16="http://schemas.microsoft.com/office/drawing/2014/main" id="{040252AC-032D-5C79-6B80-41CB5FD92BD4}"/>
              </a:ext>
            </a:extLst>
          </p:cNvPr>
          <p:cNvSpPr txBox="1"/>
          <p:nvPr/>
        </p:nvSpPr>
        <p:spPr>
          <a:xfrm>
            <a:off x="6741641" y="1885014"/>
            <a:ext cx="4612159" cy="553998"/>
          </a:xfrm>
          <a:prstGeom prst="rect">
            <a:avLst/>
          </a:prstGeom>
          <a:noFill/>
        </p:spPr>
        <p:txBody>
          <a:bodyPr wrap="square">
            <a:spAutoFit/>
          </a:bodyPr>
          <a:lstStyle/>
          <a:p>
            <a:r>
              <a:rPr lang="en-GB" sz="1000" i="1" dirty="0"/>
              <a:t>Services that are critical to building the consultancy’s core future growth, or positioning them in the market, or shifting their business model—but maybe less novel. They help the consultancy’s brand, alliances, capabilities, and growth pipeline.</a:t>
            </a:r>
            <a:endParaRPr lang="en-US" sz="1000" i="1" dirty="0"/>
          </a:p>
        </p:txBody>
      </p:sp>
      <p:sp>
        <p:nvSpPr>
          <p:cNvPr id="23" name="TextBox 22">
            <a:extLst>
              <a:ext uri="{FF2B5EF4-FFF2-40B4-BE49-F238E27FC236}">
                <a16:creationId xmlns:a16="http://schemas.microsoft.com/office/drawing/2014/main" id="{EAF013A2-DF87-BA7E-4B35-62180FA350EB}"/>
              </a:ext>
            </a:extLst>
          </p:cNvPr>
          <p:cNvSpPr txBox="1"/>
          <p:nvPr/>
        </p:nvSpPr>
        <p:spPr>
          <a:xfrm>
            <a:off x="6741641" y="2480977"/>
            <a:ext cx="6099858" cy="1323439"/>
          </a:xfrm>
          <a:prstGeom prst="rect">
            <a:avLst/>
          </a:prstGeom>
          <a:noFill/>
        </p:spPr>
        <p:txBody>
          <a:bodyPr wrap="square">
            <a:spAutoFit/>
          </a:bodyPr>
          <a:lstStyle/>
          <a:p>
            <a:r>
              <a:rPr lang="en-GB" sz="1600" dirty="0"/>
              <a:t>• AI / Gen-AI strategy &amp; roadmap development</a:t>
            </a:r>
            <a:br>
              <a:rPr lang="en-GB" sz="1600" dirty="0"/>
            </a:br>
            <a:r>
              <a:rPr lang="en-GB" sz="1600" dirty="0"/>
              <a:t>• Data &amp; tech readiness / AI-foundation building</a:t>
            </a:r>
            <a:br>
              <a:rPr lang="en-GB" sz="1600" dirty="0"/>
            </a:br>
            <a:r>
              <a:rPr lang="en-GB" sz="1600" dirty="0"/>
              <a:t>• Governance, ethics, assurance and risk frameworks </a:t>
            </a:r>
            <a:br>
              <a:rPr lang="en-GB" sz="1600" dirty="0"/>
            </a:br>
            <a:r>
              <a:rPr lang="en-GB" sz="1600" dirty="0"/>
              <a:t>• Talent, change management, people &amp; culture </a:t>
            </a:r>
            <a:br>
              <a:rPr lang="en-GB" sz="1600" dirty="0"/>
            </a:br>
            <a:r>
              <a:rPr lang="en-GB" sz="1600" dirty="0"/>
              <a:t>• Compliance/regulatory AI audit services</a:t>
            </a:r>
            <a:endParaRPr lang="en-US" sz="1600" dirty="0"/>
          </a:p>
        </p:txBody>
      </p:sp>
      <p:sp>
        <p:nvSpPr>
          <p:cNvPr id="24" name="TextBox 23">
            <a:extLst>
              <a:ext uri="{FF2B5EF4-FFF2-40B4-BE49-F238E27FC236}">
                <a16:creationId xmlns:a16="http://schemas.microsoft.com/office/drawing/2014/main" id="{71FD8451-6C14-505E-F9BF-4BCF75B1BA6B}"/>
              </a:ext>
            </a:extLst>
          </p:cNvPr>
          <p:cNvSpPr txBox="1"/>
          <p:nvPr/>
        </p:nvSpPr>
        <p:spPr>
          <a:xfrm>
            <a:off x="6741641" y="4319517"/>
            <a:ext cx="4694146" cy="553998"/>
          </a:xfrm>
          <a:prstGeom prst="rect">
            <a:avLst/>
          </a:prstGeom>
          <a:noFill/>
        </p:spPr>
        <p:txBody>
          <a:bodyPr wrap="square" rtlCol="0">
            <a:spAutoFit/>
          </a:bodyPr>
          <a:lstStyle/>
          <a:p>
            <a:r>
              <a:rPr lang="en-GB" sz="1000" i="1" dirty="0"/>
              <a:t>Services that are important and often must be done for AI programmes to work but are less likely to create new strategic advantage for the consultancy (and may provide lower margins). They often support the journey rather than lead.</a:t>
            </a:r>
            <a:endParaRPr lang="en-US" sz="1000" i="1" dirty="0"/>
          </a:p>
        </p:txBody>
      </p:sp>
      <p:sp>
        <p:nvSpPr>
          <p:cNvPr id="25" name="TextBox 24">
            <a:extLst>
              <a:ext uri="{FF2B5EF4-FFF2-40B4-BE49-F238E27FC236}">
                <a16:creationId xmlns:a16="http://schemas.microsoft.com/office/drawing/2014/main" id="{39197339-5760-B3F7-FB71-248B765CE981}"/>
              </a:ext>
            </a:extLst>
          </p:cNvPr>
          <p:cNvSpPr txBox="1"/>
          <p:nvPr/>
        </p:nvSpPr>
        <p:spPr>
          <a:xfrm>
            <a:off x="6741641" y="4985521"/>
            <a:ext cx="4293804" cy="1077218"/>
          </a:xfrm>
          <a:prstGeom prst="rect">
            <a:avLst/>
          </a:prstGeom>
          <a:noFill/>
        </p:spPr>
        <p:txBody>
          <a:bodyPr wrap="none" rtlCol="0">
            <a:spAutoFit/>
          </a:bodyPr>
          <a:lstStyle/>
          <a:p>
            <a:r>
              <a:rPr lang="en-GB" sz="1600" dirty="0"/>
              <a:t>• Use-case identification &amp; prioritisation</a:t>
            </a:r>
            <a:br>
              <a:rPr lang="en-GB" sz="1600" dirty="0"/>
            </a:br>
            <a:r>
              <a:rPr lang="en-GB" sz="1600" dirty="0"/>
              <a:t>• Implementation/roll-out of generative AI</a:t>
            </a:r>
            <a:br>
              <a:rPr lang="en-GB" sz="1600" dirty="0"/>
            </a:br>
            <a:r>
              <a:rPr lang="en-GB" sz="1600" dirty="0"/>
              <a:t>• Performance monitoring, model maintenance </a:t>
            </a:r>
            <a:br>
              <a:rPr lang="en-GB" sz="1600" dirty="0"/>
            </a:br>
            <a:r>
              <a:rPr lang="en-GB" sz="1600" dirty="0"/>
              <a:t>• Operational automation / efficiency gains</a:t>
            </a:r>
            <a:endParaRPr lang="en-US" sz="1600" dirty="0"/>
          </a:p>
        </p:txBody>
      </p:sp>
      <p:sp>
        <p:nvSpPr>
          <p:cNvPr id="26" name="TextBox 25">
            <a:extLst>
              <a:ext uri="{FF2B5EF4-FFF2-40B4-BE49-F238E27FC236}">
                <a16:creationId xmlns:a16="http://schemas.microsoft.com/office/drawing/2014/main" id="{AB8775E4-D33A-DF48-B976-8A1161C93393}"/>
              </a:ext>
            </a:extLst>
          </p:cNvPr>
          <p:cNvSpPr txBox="1"/>
          <p:nvPr/>
        </p:nvSpPr>
        <p:spPr>
          <a:xfrm>
            <a:off x="1942834" y="4330077"/>
            <a:ext cx="4626512" cy="400110"/>
          </a:xfrm>
          <a:prstGeom prst="rect">
            <a:avLst/>
          </a:prstGeom>
          <a:noFill/>
        </p:spPr>
        <p:txBody>
          <a:bodyPr wrap="square" rtlCol="0">
            <a:spAutoFit/>
          </a:bodyPr>
          <a:lstStyle/>
          <a:p>
            <a:r>
              <a:rPr lang="en-GB" sz="1000" i="1" dirty="0"/>
              <a:t>Services that are required (or soon will be) but are relatively mundane, commoditised, perhaps low margin, and unlikely to build new business or major differentiation.</a:t>
            </a:r>
            <a:endParaRPr lang="en-US" sz="1000" i="1" dirty="0"/>
          </a:p>
        </p:txBody>
      </p:sp>
      <p:sp>
        <p:nvSpPr>
          <p:cNvPr id="27" name="TextBox 26">
            <a:extLst>
              <a:ext uri="{FF2B5EF4-FFF2-40B4-BE49-F238E27FC236}">
                <a16:creationId xmlns:a16="http://schemas.microsoft.com/office/drawing/2014/main" id="{69AEEB79-A39C-1AEC-CE05-759B32941931}"/>
              </a:ext>
            </a:extLst>
          </p:cNvPr>
          <p:cNvSpPr txBox="1"/>
          <p:nvPr/>
        </p:nvSpPr>
        <p:spPr>
          <a:xfrm>
            <a:off x="1881549" y="4992560"/>
            <a:ext cx="4626512" cy="1077218"/>
          </a:xfrm>
          <a:prstGeom prst="rect">
            <a:avLst/>
          </a:prstGeom>
          <a:noFill/>
        </p:spPr>
        <p:txBody>
          <a:bodyPr wrap="square" rtlCol="0">
            <a:spAutoFit/>
          </a:bodyPr>
          <a:lstStyle/>
          <a:p>
            <a:r>
              <a:rPr lang="en-GB" sz="1600" dirty="0"/>
              <a:t>• Back-office, shared-services automation via AI</a:t>
            </a:r>
            <a:br>
              <a:rPr lang="en-GB" sz="1600" dirty="0"/>
            </a:br>
            <a:r>
              <a:rPr lang="en-GB" sz="1600" dirty="0"/>
              <a:t>• Basic training/up-skilling of workforce for AI literacy </a:t>
            </a:r>
            <a:br>
              <a:rPr lang="en-GB" sz="1600" dirty="0"/>
            </a:br>
            <a:r>
              <a:rPr lang="en-GB" sz="1600" dirty="0"/>
              <a:t>• Basic infrastructure set-up (if standardised) </a:t>
            </a:r>
            <a:br>
              <a:rPr lang="en-GB" sz="1600" dirty="0"/>
            </a:br>
            <a:r>
              <a:rPr lang="en-GB" sz="1600" dirty="0"/>
              <a:t>• Routine compliance reporting for AI (as baseline)</a:t>
            </a:r>
            <a:endParaRPr lang="en-US" sz="1600" dirty="0"/>
          </a:p>
        </p:txBody>
      </p:sp>
    </p:spTree>
    <p:extLst>
      <p:ext uri="{BB962C8B-B14F-4D97-AF65-F5344CB8AC3E}">
        <p14:creationId xmlns:p14="http://schemas.microsoft.com/office/powerpoint/2010/main" val="895329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47514C-824E-4E3D-2AB3-FEBA7CF65854}"/>
              </a:ext>
            </a:extLst>
          </p:cNvPr>
          <p:cNvSpPr>
            <a:spLocks noGrp="1"/>
          </p:cNvSpPr>
          <p:nvPr>
            <p:ph type="title"/>
          </p:nvPr>
        </p:nvSpPr>
        <p:spPr/>
        <p:txBody>
          <a:bodyPr/>
          <a:lstStyle/>
          <a:p>
            <a:r>
              <a:rPr lang="en-GB" dirty="0"/>
              <a:t>Generative &amp; Agentic AI for Consulting</a:t>
            </a:r>
          </a:p>
        </p:txBody>
      </p:sp>
      <p:sp>
        <p:nvSpPr>
          <p:cNvPr id="5" name="Oval 119">
            <a:extLst>
              <a:ext uri="{FF2B5EF4-FFF2-40B4-BE49-F238E27FC236}">
                <a16:creationId xmlns:a16="http://schemas.microsoft.com/office/drawing/2014/main" id="{ABC1B61B-C734-CB84-BEAE-50C5D60D20C2}"/>
              </a:ext>
            </a:extLst>
          </p:cNvPr>
          <p:cNvSpPr>
            <a:spLocks noChangeArrowheads="1"/>
          </p:cNvSpPr>
          <p:nvPr/>
        </p:nvSpPr>
        <p:spPr bwMode="auto">
          <a:xfrm>
            <a:off x="3379582" y="1897554"/>
            <a:ext cx="1016000" cy="101600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Oval 121">
            <a:extLst>
              <a:ext uri="{FF2B5EF4-FFF2-40B4-BE49-F238E27FC236}">
                <a16:creationId xmlns:a16="http://schemas.microsoft.com/office/drawing/2014/main" id="{D4150EF1-25FD-F2E0-936F-F46EA59CE1BE}"/>
              </a:ext>
            </a:extLst>
          </p:cNvPr>
          <p:cNvSpPr>
            <a:spLocks noChangeArrowheads="1"/>
          </p:cNvSpPr>
          <p:nvPr/>
        </p:nvSpPr>
        <p:spPr bwMode="auto">
          <a:xfrm>
            <a:off x="5585413" y="1897554"/>
            <a:ext cx="1014413" cy="1016000"/>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Oval 124">
            <a:extLst>
              <a:ext uri="{FF2B5EF4-FFF2-40B4-BE49-F238E27FC236}">
                <a16:creationId xmlns:a16="http://schemas.microsoft.com/office/drawing/2014/main" id="{33EAD14A-2F6E-2FCF-9E17-48468B8C57DF}"/>
              </a:ext>
            </a:extLst>
          </p:cNvPr>
          <p:cNvSpPr>
            <a:spLocks noChangeArrowheads="1"/>
          </p:cNvSpPr>
          <p:nvPr/>
        </p:nvSpPr>
        <p:spPr bwMode="auto">
          <a:xfrm>
            <a:off x="1173750" y="1897554"/>
            <a:ext cx="1016000" cy="101600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8" name="Straight Connector 7">
            <a:extLst>
              <a:ext uri="{FF2B5EF4-FFF2-40B4-BE49-F238E27FC236}">
                <a16:creationId xmlns:a16="http://schemas.microsoft.com/office/drawing/2014/main" id="{1F8309CB-A8F9-0E2F-A844-9A65F5299C29}"/>
              </a:ext>
            </a:extLst>
          </p:cNvPr>
          <p:cNvCxnSpPr/>
          <p:nvPr/>
        </p:nvCxnSpPr>
        <p:spPr>
          <a:xfrm>
            <a:off x="2784666" y="1897554"/>
            <a:ext cx="0" cy="2746545"/>
          </a:xfrm>
          <a:prstGeom prst="line">
            <a:avLst/>
          </a:prstGeom>
          <a:ln>
            <a:solidFill>
              <a:schemeClr val="tx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970A98-3FD9-F3E5-068F-64769B3D85C1}"/>
              </a:ext>
            </a:extLst>
          </p:cNvPr>
          <p:cNvCxnSpPr/>
          <p:nvPr/>
        </p:nvCxnSpPr>
        <p:spPr>
          <a:xfrm>
            <a:off x="4990498" y="1897554"/>
            <a:ext cx="0" cy="2746545"/>
          </a:xfrm>
          <a:prstGeom prst="line">
            <a:avLst/>
          </a:prstGeom>
          <a:ln>
            <a:solidFill>
              <a:schemeClr val="tx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288F0CA-4896-9965-31C9-DAA85309E574}"/>
              </a:ext>
            </a:extLst>
          </p:cNvPr>
          <p:cNvSpPr txBox="1"/>
          <p:nvPr/>
        </p:nvSpPr>
        <p:spPr>
          <a:xfrm>
            <a:off x="878488" y="3069817"/>
            <a:ext cx="1610890" cy="629083"/>
          </a:xfrm>
          <a:prstGeom prst="rect">
            <a:avLst/>
          </a:prstGeom>
          <a:noFill/>
        </p:spPr>
        <p:txBody>
          <a:bodyPr wrap="none" rtlCol="0">
            <a:spAutoFit/>
          </a:bodyPr>
          <a:lstStyle/>
          <a:p>
            <a:pPr algn="ctr">
              <a:lnSpc>
                <a:spcPct val="120000"/>
              </a:lnSpc>
            </a:pPr>
            <a:r>
              <a:rPr lang="en-US" sz="1600" b="1" dirty="0">
                <a:solidFill>
                  <a:schemeClr val="accent1"/>
                </a:solidFill>
              </a:rPr>
              <a:t>Naïve Prompting</a:t>
            </a:r>
            <a:br>
              <a:rPr lang="en-US" sz="1600" b="1" dirty="0">
                <a:solidFill>
                  <a:schemeClr val="accent1"/>
                </a:solidFill>
              </a:rPr>
            </a:br>
            <a:r>
              <a:rPr lang="en-US" sz="1400" b="1" i="1" dirty="0">
                <a:solidFill>
                  <a:schemeClr val="accent1"/>
                </a:solidFill>
              </a:rPr>
              <a:t>LLM + UI</a:t>
            </a:r>
            <a:endParaRPr lang="en-US" sz="1600" b="1" i="1" dirty="0">
              <a:solidFill>
                <a:schemeClr val="accent1"/>
              </a:solidFill>
            </a:endParaRPr>
          </a:p>
        </p:txBody>
      </p:sp>
      <p:sp>
        <p:nvSpPr>
          <p:cNvPr id="11" name="Rectangle 10">
            <a:extLst>
              <a:ext uri="{FF2B5EF4-FFF2-40B4-BE49-F238E27FC236}">
                <a16:creationId xmlns:a16="http://schemas.microsoft.com/office/drawing/2014/main" id="{A38F2C05-9D56-E6BD-632F-19DDFAF8FA14}"/>
              </a:ext>
            </a:extLst>
          </p:cNvPr>
          <p:cNvSpPr/>
          <p:nvPr/>
        </p:nvSpPr>
        <p:spPr>
          <a:xfrm>
            <a:off x="857091" y="4238193"/>
            <a:ext cx="1691462" cy="1628716"/>
          </a:xfrm>
          <a:prstGeom prst="rect">
            <a:avLst/>
          </a:prstGeom>
        </p:spPr>
        <p:txBody>
          <a:bodyPr wrap="square">
            <a:spAutoFit/>
          </a:bodyPr>
          <a:lstStyle/>
          <a:p>
            <a:pPr algn="ctr">
              <a:lnSpc>
                <a:spcPct val="120000"/>
              </a:lnSpc>
            </a:pPr>
            <a:r>
              <a:rPr lang="en-US" sz="1200" dirty="0">
                <a:solidFill>
                  <a:schemeClr val="tx2"/>
                </a:solidFill>
              </a:rPr>
              <a:t>Consultants asking questions or requesting actions from a ChatGPT – both on firm’s platform or as “shadow AI” on their personal GPT accounts</a:t>
            </a:r>
            <a:endParaRPr lang="en-US" sz="1200" dirty="0"/>
          </a:p>
        </p:txBody>
      </p:sp>
      <p:sp>
        <p:nvSpPr>
          <p:cNvPr id="13" name="Freeform 76">
            <a:extLst>
              <a:ext uri="{FF2B5EF4-FFF2-40B4-BE49-F238E27FC236}">
                <a16:creationId xmlns:a16="http://schemas.microsoft.com/office/drawing/2014/main" id="{FCE4F002-19D2-FB37-E861-35DD6A6F31BF}"/>
              </a:ext>
            </a:extLst>
          </p:cNvPr>
          <p:cNvSpPr>
            <a:spLocks noChangeArrowheads="1"/>
          </p:cNvSpPr>
          <p:nvPr/>
        </p:nvSpPr>
        <p:spPr bwMode="auto">
          <a:xfrm>
            <a:off x="1533375" y="2133538"/>
            <a:ext cx="305090" cy="526279"/>
          </a:xfrm>
          <a:custGeom>
            <a:avLst/>
            <a:gdLst>
              <a:gd name="T0" fmla="*/ 106806 w 283"/>
              <a:gd name="T1" fmla="*/ 0 h 489"/>
              <a:gd name="T2" fmla="*/ 106806 w 283"/>
              <a:gd name="T3" fmla="*/ 0 h 489"/>
              <a:gd name="T4" fmla="*/ 19746 w 283"/>
              <a:gd name="T5" fmla="*/ 0 h 489"/>
              <a:gd name="T6" fmla="*/ 0 w 283"/>
              <a:gd name="T7" fmla="*/ 19712 h 489"/>
              <a:gd name="T8" fmla="*/ 0 w 283"/>
              <a:gd name="T9" fmla="*/ 194435 h 489"/>
              <a:gd name="T10" fmla="*/ 19746 w 283"/>
              <a:gd name="T11" fmla="*/ 218627 h 489"/>
              <a:gd name="T12" fmla="*/ 106806 w 283"/>
              <a:gd name="T13" fmla="*/ 218627 h 489"/>
              <a:gd name="T14" fmla="*/ 126551 w 283"/>
              <a:gd name="T15" fmla="*/ 194435 h 489"/>
              <a:gd name="T16" fmla="*/ 126551 w 283"/>
              <a:gd name="T17" fmla="*/ 19712 h 489"/>
              <a:gd name="T18" fmla="*/ 106806 w 283"/>
              <a:gd name="T19" fmla="*/ 0 h 489"/>
              <a:gd name="T20" fmla="*/ 63276 w 283"/>
              <a:gd name="T21" fmla="*/ 206083 h 489"/>
              <a:gd name="T22" fmla="*/ 63276 w 283"/>
              <a:gd name="T23" fmla="*/ 206083 h 489"/>
              <a:gd name="T24" fmla="*/ 47569 w 283"/>
              <a:gd name="T25" fmla="*/ 198467 h 489"/>
              <a:gd name="T26" fmla="*/ 63276 w 283"/>
              <a:gd name="T27" fmla="*/ 186371 h 489"/>
              <a:gd name="T28" fmla="*/ 78982 w 283"/>
              <a:gd name="T29" fmla="*/ 198467 h 489"/>
              <a:gd name="T30" fmla="*/ 63276 w 283"/>
              <a:gd name="T31" fmla="*/ 206083 h 489"/>
              <a:gd name="T32" fmla="*/ 110845 w 283"/>
              <a:gd name="T33" fmla="*/ 174722 h 489"/>
              <a:gd name="T34" fmla="*/ 110845 w 283"/>
              <a:gd name="T35" fmla="*/ 174722 h 489"/>
              <a:gd name="T36" fmla="*/ 15707 w 283"/>
              <a:gd name="T37" fmla="*/ 174722 h 489"/>
              <a:gd name="T38" fmla="*/ 15707 w 283"/>
              <a:gd name="T39" fmla="*/ 27776 h 489"/>
              <a:gd name="T40" fmla="*/ 110845 w 283"/>
              <a:gd name="T41" fmla="*/ 27776 h 489"/>
              <a:gd name="T42" fmla="*/ 110845 w 283"/>
              <a:gd name="T43" fmla="*/ 174722 h 48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83" h="489">
                <a:moveTo>
                  <a:pt x="238" y="0"/>
                </a:moveTo>
                <a:lnTo>
                  <a:pt x="238" y="0"/>
                </a:lnTo>
                <a:cubicBezTo>
                  <a:pt x="44" y="0"/>
                  <a:pt x="44" y="0"/>
                  <a:pt x="44" y="0"/>
                </a:cubicBezTo>
                <a:cubicBezTo>
                  <a:pt x="17" y="0"/>
                  <a:pt x="0" y="18"/>
                  <a:pt x="0" y="44"/>
                </a:cubicBezTo>
                <a:cubicBezTo>
                  <a:pt x="0" y="434"/>
                  <a:pt x="0" y="434"/>
                  <a:pt x="0" y="434"/>
                </a:cubicBezTo>
                <a:cubicBezTo>
                  <a:pt x="0" y="460"/>
                  <a:pt x="17" y="488"/>
                  <a:pt x="44" y="488"/>
                </a:cubicBezTo>
                <a:cubicBezTo>
                  <a:pt x="238" y="488"/>
                  <a:pt x="238" y="488"/>
                  <a:pt x="238" y="488"/>
                </a:cubicBezTo>
                <a:cubicBezTo>
                  <a:pt x="265" y="488"/>
                  <a:pt x="282" y="460"/>
                  <a:pt x="282" y="434"/>
                </a:cubicBezTo>
                <a:cubicBezTo>
                  <a:pt x="282" y="44"/>
                  <a:pt x="282" y="44"/>
                  <a:pt x="282" y="44"/>
                </a:cubicBezTo>
                <a:cubicBezTo>
                  <a:pt x="282" y="18"/>
                  <a:pt x="265" y="0"/>
                  <a:pt x="238" y="0"/>
                </a:cubicBezTo>
                <a:close/>
                <a:moveTo>
                  <a:pt x="141" y="460"/>
                </a:moveTo>
                <a:lnTo>
                  <a:pt x="141" y="460"/>
                </a:lnTo>
                <a:cubicBezTo>
                  <a:pt x="123" y="460"/>
                  <a:pt x="106" y="451"/>
                  <a:pt x="106" y="443"/>
                </a:cubicBezTo>
                <a:cubicBezTo>
                  <a:pt x="106" y="425"/>
                  <a:pt x="123" y="416"/>
                  <a:pt x="141" y="416"/>
                </a:cubicBezTo>
                <a:cubicBezTo>
                  <a:pt x="159" y="416"/>
                  <a:pt x="176" y="425"/>
                  <a:pt x="176" y="443"/>
                </a:cubicBezTo>
                <a:cubicBezTo>
                  <a:pt x="176" y="451"/>
                  <a:pt x="159" y="460"/>
                  <a:pt x="141" y="460"/>
                </a:cubicBezTo>
                <a:close/>
                <a:moveTo>
                  <a:pt x="247" y="390"/>
                </a:moveTo>
                <a:lnTo>
                  <a:pt x="247" y="390"/>
                </a:lnTo>
                <a:cubicBezTo>
                  <a:pt x="35" y="390"/>
                  <a:pt x="35" y="390"/>
                  <a:pt x="35" y="390"/>
                </a:cubicBezTo>
                <a:cubicBezTo>
                  <a:pt x="35" y="62"/>
                  <a:pt x="35" y="62"/>
                  <a:pt x="35" y="62"/>
                </a:cubicBezTo>
                <a:cubicBezTo>
                  <a:pt x="247" y="62"/>
                  <a:pt x="247" y="62"/>
                  <a:pt x="247" y="62"/>
                </a:cubicBezTo>
                <a:lnTo>
                  <a:pt x="247" y="390"/>
                </a:lnTo>
                <a:close/>
              </a:path>
            </a:pathLst>
          </a:custGeom>
          <a:solidFill>
            <a:schemeClr val="bg1"/>
          </a:solidFill>
          <a:ln>
            <a:noFill/>
          </a:ln>
          <a:effectLst/>
        </p:spPr>
        <p:txBody>
          <a:bodyPr wrap="none" lIns="34290" tIns="17145" rIns="34290" bIns="17145" anchor="ctr"/>
          <a:lstStyle/>
          <a:p>
            <a:endParaRPr lang="en-US"/>
          </a:p>
        </p:txBody>
      </p:sp>
      <p:sp>
        <p:nvSpPr>
          <p:cNvPr id="15" name="TextBox 14">
            <a:extLst>
              <a:ext uri="{FF2B5EF4-FFF2-40B4-BE49-F238E27FC236}">
                <a16:creationId xmlns:a16="http://schemas.microsoft.com/office/drawing/2014/main" id="{3B6B2DF7-DA0E-68C1-C169-310AC29B77EF}"/>
              </a:ext>
            </a:extLst>
          </p:cNvPr>
          <p:cNvSpPr txBox="1"/>
          <p:nvPr/>
        </p:nvSpPr>
        <p:spPr>
          <a:xfrm>
            <a:off x="2950533" y="3069817"/>
            <a:ext cx="1874103" cy="629083"/>
          </a:xfrm>
          <a:prstGeom prst="rect">
            <a:avLst/>
          </a:prstGeom>
          <a:noFill/>
        </p:spPr>
        <p:txBody>
          <a:bodyPr wrap="none" rtlCol="0">
            <a:spAutoFit/>
          </a:bodyPr>
          <a:lstStyle/>
          <a:p>
            <a:pPr algn="ctr">
              <a:lnSpc>
                <a:spcPct val="120000"/>
              </a:lnSpc>
            </a:pPr>
            <a:r>
              <a:rPr lang="en-US" sz="1600" b="1" dirty="0">
                <a:solidFill>
                  <a:schemeClr val="accent2"/>
                </a:solidFill>
              </a:rPr>
              <a:t>Prompt Engineering</a:t>
            </a:r>
            <a:br>
              <a:rPr lang="en-US" sz="1600" b="1" dirty="0">
                <a:solidFill>
                  <a:schemeClr val="accent2"/>
                </a:solidFill>
              </a:rPr>
            </a:br>
            <a:r>
              <a:rPr lang="en-US" sz="1400" b="1" i="1" dirty="0">
                <a:solidFill>
                  <a:schemeClr val="accent2"/>
                </a:solidFill>
              </a:rPr>
              <a:t>LLM + Prompt + UI</a:t>
            </a:r>
            <a:endParaRPr lang="en-US" sz="1600" b="1" i="1" dirty="0">
              <a:solidFill>
                <a:schemeClr val="accent2"/>
              </a:solidFill>
            </a:endParaRPr>
          </a:p>
        </p:txBody>
      </p:sp>
      <p:sp>
        <p:nvSpPr>
          <p:cNvPr id="16" name="Rectangle 15">
            <a:extLst>
              <a:ext uri="{FF2B5EF4-FFF2-40B4-BE49-F238E27FC236}">
                <a16:creationId xmlns:a16="http://schemas.microsoft.com/office/drawing/2014/main" id="{2F530DCE-2F64-0DEC-B1B7-7859A1128E0D}"/>
              </a:ext>
            </a:extLst>
          </p:cNvPr>
          <p:cNvSpPr/>
          <p:nvPr/>
        </p:nvSpPr>
        <p:spPr>
          <a:xfrm>
            <a:off x="3060741" y="4238193"/>
            <a:ext cx="1691462" cy="1850315"/>
          </a:xfrm>
          <a:prstGeom prst="rect">
            <a:avLst/>
          </a:prstGeom>
        </p:spPr>
        <p:txBody>
          <a:bodyPr wrap="square">
            <a:spAutoFit/>
          </a:bodyPr>
          <a:lstStyle/>
          <a:p>
            <a:pPr algn="ctr">
              <a:lnSpc>
                <a:spcPct val="120000"/>
              </a:lnSpc>
            </a:pPr>
            <a:r>
              <a:rPr lang="en-US" sz="1200" dirty="0">
                <a:solidFill>
                  <a:schemeClr val="tx2"/>
                </a:solidFill>
              </a:rPr>
              <a:t>Outputs from a ChatGPT can be improved significantly with context and prompt engineering introduced to the LLM via the LLM’s context window</a:t>
            </a:r>
            <a:endParaRPr lang="en-US" sz="1200" dirty="0"/>
          </a:p>
        </p:txBody>
      </p:sp>
      <p:sp>
        <p:nvSpPr>
          <p:cNvPr id="17" name="TextBox 16">
            <a:extLst>
              <a:ext uri="{FF2B5EF4-FFF2-40B4-BE49-F238E27FC236}">
                <a16:creationId xmlns:a16="http://schemas.microsoft.com/office/drawing/2014/main" id="{49137FD0-1891-B329-A713-A09F711BFD1C}"/>
              </a:ext>
            </a:extLst>
          </p:cNvPr>
          <p:cNvSpPr txBox="1"/>
          <p:nvPr/>
        </p:nvSpPr>
        <p:spPr>
          <a:xfrm>
            <a:off x="5072121" y="3069817"/>
            <a:ext cx="2041008" cy="629083"/>
          </a:xfrm>
          <a:prstGeom prst="rect">
            <a:avLst/>
          </a:prstGeom>
          <a:noFill/>
        </p:spPr>
        <p:txBody>
          <a:bodyPr wrap="none" rtlCol="0">
            <a:spAutoFit/>
          </a:bodyPr>
          <a:lstStyle/>
          <a:p>
            <a:pPr algn="ctr">
              <a:lnSpc>
                <a:spcPct val="120000"/>
              </a:lnSpc>
            </a:pPr>
            <a:r>
              <a:rPr lang="en-US" sz="1600" b="1" dirty="0">
                <a:solidFill>
                  <a:schemeClr val="accent3"/>
                </a:solidFill>
              </a:rPr>
              <a:t>Augmentation</a:t>
            </a:r>
            <a:br>
              <a:rPr lang="en-US" sz="1600" b="1" dirty="0">
                <a:solidFill>
                  <a:schemeClr val="accent3"/>
                </a:solidFill>
              </a:rPr>
            </a:br>
            <a:r>
              <a:rPr lang="en-US" sz="1400" b="1" i="1" dirty="0">
                <a:solidFill>
                  <a:schemeClr val="accent3"/>
                </a:solidFill>
              </a:rPr>
              <a:t>LLM + RAG + Prompt + UI</a:t>
            </a:r>
            <a:endParaRPr lang="en-US" sz="1600" b="1" i="1" dirty="0">
              <a:solidFill>
                <a:schemeClr val="accent3"/>
              </a:solidFill>
            </a:endParaRPr>
          </a:p>
        </p:txBody>
      </p:sp>
      <p:sp>
        <p:nvSpPr>
          <p:cNvPr id="18" name="Rectangle 17">
            <a:extLst>
              <a:ext uri="{FF2B5EF4-FFF2-40B4-BE49-F238E27FC236}">
                <a16:creationId xmlns:a16="http://schemas.microsoft.com/office/drawing/2014/main" id="{E9C51E92-2874-A793-AC83-53E8837C19E2}"/>
              </a:ext>
            </a:extLst>
          </p:cNvPr>
          <p:cNvSpPr/>
          <p:nvPr/>
        </p:nvSpPr>
        <p:spPr>
          <a:xfrm>
            <a:off x="5265778" y="4238193"/>
            <a:ext cx="1691462" cy="1628716"/>
          </a:xfrm>
          <a:prstGeom prst="rect">
            <a:avLst/>
          </a:prstGeom>
        </p:spPr>
        <p:txBody>
          <a:bodyPr wrap="square">
            <a:spAutoFit/>
          </a:bodyPr>
          <a:lstStyle/>
          <a:p>
            <a:pPr algn="ctr">
              <a:lnSpc>
                <a:spcPct val="120000"/>
              </a:lnSpc>
            </a:pPr>
            <a:r>
              <a:rPr lang="en-US" sz="1200" dirty="0">
                <a:solidFill>
                  <a:schemeClr val="tx2"/>
                </a:solidFill>
              </a:rPr>
              <a:t>The LLM can be fine tuned for specialist tasks or specialist knowledge introduced using RAG for the LLM to use that knowledge in its responses</a:t>
            </a:r>
            <a:endParaRPr lang="en-US" sz="1200" dirty="0"/>
          </a:p>
        </p:txBody>
      </p:sp>
      <p:grpSp>
        <p:nvGrpSpPr>
          <p:cNvPr id="21" name="Group 20">
            <a:extLst>
              <a:ext uri="{FF2B5EF4-FFF2-40B4-BE49-F238E27FC236}">
                <a16:creationId xmlns:a16="http://schemas.microsoft.com/office/drawing/2014/main" id="{A3C6F8DA-D75B-F833-8EE1-6E06450773D2}"/>
              </a:ext>
            </a:extLst>
          </p:cNvPr>
          <p:cNvGrpSpPr/>
          <p:nvPr/>
        </p:nvGrpSpPr>
        <p:grpSpPr>
          <a:xfrm>
            <a:off x="3655410" y="2175747"/>
            <a:ext cx="464344" cy="464344"/>
            <a:chOff x="4427654" y="3049909"/>
            <a:chExt cx="464344" cy="464344"/>
          </a:xfrm>
          <a:solidFill>
            <a:schemeClr val="bg1"/>
          </a:solidFill>
        </p:grpSpPr>
        <p:sp>
          <p:nvSpPr>
            <p:cNvPr id="22" name="AutoShape 123">
              <a:extLst>
                <a:ext uri="{FF2B5EF4-FFF2-40B4-BE49-F238E27FC236}">
                  <a16:creationId xmlns:a16="http://schemas.microsoft.com/office/drawing/2014/main" id="{43DBE470-EF0E-7609-D840-2EB011D41832}"/>
                </a:ext>
              </a:extLst>
            </p:cNvPr>
            <p:cNvSpPr>
              <a:spLocks/>
            </p:cNvSpPr>
            <p:nvPr/>
          </p:nvSpPr>
          <p:spPr bwMode="auto">
            <a:xfrm>
              <a:off x="4427654" y="304990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23" name="AutoShape 124">
              <a:extLst>
                <a:ext uri="{FF2B5EF4-FFF2-40B4-BE49-F238E27FC236}">
                  <a16:creationId xmlns:a16="http://schemas.microsoft.com/office/drawing/2014/main" id="{9658EA6A-1DE9-FDF8-7A92-294CE2902B5E}"/>
                </a:ext>
              </a:extLst>
            </p:cNvPr>
            <p:cNvSpPr>
              <a:spLocks/>
            </p:cNvSpPr>
            <p:nvPr/>
          </p:nvSpPr>
          <p:spPr bwMode="auto">
            <a:xfrm>
              <a:off x="4558623" y="318008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24" name="AutoShape 125">
              <a:extLst>
                <a:ext uri="{FF2B5EF4-FFF2-40B4-BE49-F238E27FC236}">
                  <a16:creationId xmlns:a16="http://schemas.microsoft.com/office/drawing/2014/main" id="{DD5EB18F-B548-6176-1783-6D161B6DC656}"/>
                </a:ext>
              </a:extLst>
            </p:cNvPr>
            <p:cNvSpPr>
              <a:spLocks/>
            </p:cNvSpPr>
            <p:nvPr/>
          </p:nvSpPr>
          <p:spPr bwMode="auto">
            <a:xfrm>
              <a:off x="4601485" y="322374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25" name="Oval 121">
            <a:extLst>
              <a:ext uri="{FF2B5EF4-FFF2-40B4-BE49-F238E27FC236}">
                <a16:creationId xmlns:a16="http://schemas.microsoft.com/office/drawing/2014/main" id="{93097344-4496-0ACE-D28F-AD187813E3FB}"/>
              </a:ext>
            </a:extLst>
          </p:cNvPr>
          <p:cNvSpPr>
            <a:spLocks noChangeArrowheads="1"/>
          </p:cNvSpPr>
          <p:nvPr/>
        </p:nvSpPr>
        <p:spPr bwMode="auto">
          <a:xfrm>
            <a:off x="8025232" y="1897554"/>
            <a:ext cx="1014413" cy="101600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6" name="Straight Connector 25">
            <a:extLst>
              <a:ext uri="{FF2B5EF4-FFF2-40B4-BE49-F238E27FC236}">
                <a16:creationId xmlns:a16="http://schemas.microsoft.com/office/drawing/2014/main" id="{A775CC1E-C384-F2C8-4E2F-F8EB1713B3A5}"/>
              </a:ext>
            </a:extLst>
          </p:cNvPr>
          <p:cNvCxnSpPr/>
          <p:nvPr/>
        </p:nvCxnSpPr>
        <p:spPr>
          <a:xfrm>
            <a:off x="7430317" y="1897554"/>
            <a:ext cx="0" cy="2746545"/>
          </a:xfrm>
          <a:prstGeom prst="line">
            <a:avLst/>
          </a:prstGeom>
          <a:ln>
            <a:solidFill>
              <a:schemeClr val="tx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79AC487-BC3F-D3A0-6760-B90CE7329EB8}"/>
              </a:ext>
            </a:extLst>
          </p:cNvPr>
          <p:cNvSpPr txBox="1"/>
          <p:nvPr/>
        </p:nvSpPr>
        <p:spPr>
          <a:xfrm>
            <a:off x="7296247" y="3069817"/>
            <a:ext cx="2472407" cy="887615"/>
          </a:xfrm>
          <a:prstGeom prst="rect">
            <a:avLst/>
          </a:prstGeom>
          <a:noFill/>
        </p:spPr>
        <p:txBody>
          <a:bodyPr wrap="none" rtlCol="0">
            <a:spAutoFit/>
          </a:bodyPr>
          <a:lstStyle/>
          <a:p>
            <a:pPr algn="ctr">
              <a:lnSpc>
                <a:spcPct val="120000"/>
              </a:lnSpc>
            </a:pPr>
            <a:r>
              <a:rPr lang="en-US" sz="1600" b="1" dirty="0">
                <a:solidFill>
                  <a:schemeClr val="accent4"/>
                </a:solidFill>
              </a:rPr>
              <a:t>Agentic AI</a:t>
            </a:r>
            <a:br>
              <a:rPr lang="en-US" sz="1600" b="1" dirty="0">
                <a:solidFill>
                  <a:schemeClr val="accent4"/>
                </a:solidFill>
              </a:rPr>
            </a:br>
            <a:r>
              <a:rPr lang="en-US" sz="1400" b="1" i="1" dirty="0">
                <a:solidFill>
                  <a:schemeClr val="accent4"/>
                </a:solidFill>
              </a:rPr>
              <a:t>LLM + RAG + Agents + Memory</a:t>
            </a:r>
            <a:br>
              <a:rPr lang="en-US" sz="1400" b="1" i="1" dirty="0">
                <a:solidFill>
                  <a:schemeClr val="accent4"/>
                </a:solidFill>
              </a:rPr>
            </a:br>
            <a:r>
              <a:rPr lang="en-US" sz="1400" b="1" i="1" dirty="0">
                <a:solidFill>
                  <a:schemeClr val="accent4"/>
                </a:solidFill>
              </a:rPr>
              <a:t> + MCP + Prompt + UI</a:t>
            </a:r>
            <a:endParaRPr lang="en-US" sz="1600" b="1" i="1" dirty="0">
              <a:solidFill>
                <a:schemeClr val="accent4"/>
              </a:solidFill>
            </a:endParaRPr>
          </a:p>
        </p:txBody>
      </p:sp>
      <p:sp>
        <p:nvSpPr>
          <p:cNvPr id="29" name="Rectangle 28">
            <a:extLst>
              <a:ext uri="{FF2B5EF4-FFF2-40B4-BE49-F238E27FC236}">
                <a16:creationId xmlns:a16="http://schemas.microsoft.com/office/drawing/2014/main" id="{6302CE2A-B307-AD7B-DCD9-0613F60BA266}"/>
              </a:ext>
            </a:extLst>
          </p:cNvPr>
          <p:cNvSpPr/>
          <p:nvPr/>
        </p:nvSpPr>
        <p:spPr>
          <a:xfrm>
            <a:off x="7705597" y="4238193"/>
            <a:ext cx="1691462" cy="2071914"/>
          </a:xfrm>
          <a:prstGeom prst="rect">
            <a:avLst/>
          </a:prstGeom>
        </p:spPr>
        <p:txBody>
          <a:bodyPr wrap="square">
            <a:spAutoFit/>
          </a:bodyPr>
          <a:lstStyle/>
          <a:p>
            <a:pPr algn="ctr">
              <a:lnSpc>
                <a:spcPct val="120000"/>
              </a:lnSpc>
            </a:pPr>
            <a:r>
              <a:rPr lang="en-US" sz="1200" dirty="0">
                <a:solidFill>
                  <a:schemeClr val="tx2"/>
                </a:solidFill>
              </a:rPr>
              <a:t>Specialised agents (often by role) can be created that work together under an orchestrating agent to carry out a series of specialist AI-enabled tasks to achieved a complex goal</a:t>
            </a:r>
            <a:endParaRPr lang="en-US" sz="1200" dirty="0"/>
          </a:p>
        </p:txBody>
      </p:sp>
      <p:sp>
        <p:nvSpPr>
          <p:cNvPr id="30" name="Oval 121">
            <a:extLst>
              <a:ext uri="{FF2B5EF4-FFF2-40B4-BE49-F238E27FC236}">
                <a16:creationId xmlns:a16="http://schemas.microsoft.com/office/drawing/2014/main" id="{E8CECFAA-1F84-8F4B-A8D9-EE6F363BE0AC}"/>
              </a:ext>
            </a:extLst>
          </p:cNvPr>
          <p:cNvSpPr>
            <a:spLocks noChangeArrowheads="1"/>
          </p:cNvSpPr>
          <p:nvPr/>
        </p:nvSpPr>
        <p:spPr bwMode="auto">
          <a:xfrm>
            <a:off x="10499914" y="1897554"/>
            <a:ext cx="1014413" cy="1016000"/>
          </a:xfrm>
          <a:prstGeom prst="ellipse">
            <a:avLst/>
          </a:pr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31" name="Straight Connector 30">
            <a:extLst>
              <a:ext uri="{FF2B5EF4-FFF2-40B4-BE49-F238E27FC236}">
                <a16:creationId xmlns:a16="http://schemas.microsoft.com/office/drawing/2014/main" id="{8AC91785-7A71-0BC1-421B-09217C3C55AF}"/>
              </a:ext>
            </a:extLst>
          </p:cNvPr>
          <p:cNvCxnSpPr/>
          <p:nvPr/>
        </p:nvCxnSpPr>
        <p:spPr>
          <a:xfrm>
            <a:off x="9904999" y="1897554"/>
            <a:ext cx="0" cy="2746545"/>
          </a:xfrm>
          <a:prstGeom prst="line">
            <a:avLst/>
          </a:prstGeom>
          <a:ln>
            <a:solidFill>
              <a:schemeClr val="tx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4E06EC3-41C7-272A-09B3-E08DEAB49B6C}"/>
              </a:ext>
            </a:extLst>
          </p:cNvPr>
          <p:cNvSpPr txBox="1"/>
          <p:nvPr/>
        </p:nvSpPr>
        <p:spPr>
          <a:xfrm>
            <a:off x="9914171" y="3069817"/>
            <a:ext cx="2185919" cy="887615"/>
          </a:xfrm>
          <a:prstGeom prst="rect">
            <a:avLst/>
          </a:prstGeom>
          <a:noFill/>
        </p:spPr>
        <p:txBody>
          <a:bodyPr wrap="none" rtlCol="0">
            <a:spAutoFit/>
          </a:bodyPr>
          <a:lstStyle/>
          <a:p>
            <a:pPr algn="ctr">
              <a:lnSpc>
                <a:spcPct val="120000"/>
              </a:lnSpc>
            </a:pPr>
            <a:r>
              <a:rPr lang="en-US" sz="1600" b="1" dirty="0">
                <a:solidFill>
                  <a:schemeClr val="accent5"/>
                </a:solidFill>
              </a:rPr>
              <a:t>Autonomous Agents</a:t>
            </a:r>
            <a:br>
              <a:rPr lang="en-US" sz="1600" b="1" dirty="0">
                <a:solidFill>
                  <a:schemeClr val="accent5"/>
                </a:solidFill>
              </a:rPr>
            </a:br>
            <a:r>
              <a:rPr lang="en-US" sz="1400" b="1" i="1" dirty="0">
                <a:solidFill>
                  <a:schemeClr val="accent5"/>
                </a:solidFill>
              </a:rPr>
              <a:t>LLM + RAG + Agents + MCP</a:t>
            </a:r>
            <a:br>
              <a:rPr lang="en-US" sz="1400" b="1" i="1" dirty="0">
                <a:solidFill>
                  <a:schemeClr val="accent5"/>
                </a:solidFill>
              </a:rPr>
            </a:br>
            <a:r>
              <a:rPr lang="en-US" sz="1400" b="1" i="1" dirty="0">
                <a:solidFill>
                  <a:schemeClr val="accent5"/>
                </a:solidFill>
              </a:rPr>
              <a:t>+ Prompt + UI + Autonomy</a:t>
            </a:r>
            <a:endParaRPr lang="en-US" sz="1600" b="1" i="1" dirty="0">
              <a:solidFill>
                <a:schemeClr val="accent5"/>
              </a:solidFill>
            </a:endParaRPr>
          </a:p>
        </p:txBody>
      </p:sp>
      <p:sp>
        <p:nvSpPr>
          <p:cNvPr id="34" name="Rectangle 33">
            <a:extLst>
              <a:ext uri="{FF2B5EF4-FFF2-40B4-BE49-F238E27FC236}">
                <a16:creationId xmlns:a16="http://schemas.microsoft.com/office/drawing/2014/main" id="{4DE3EC32-1FCE-ABBF-77DE-C561B95D98B8}"/>
              </a:ext>
            </a:extLst>
          </p:cNvPr>
          <p:cNvSpPr/>
          <p:nvPr/>
        </p:nvSpPr>
        <p:spPr>
          <a:xfrm>
            <a:off x="10180279" y="4238193"/>
            <a:ext cx="1691462" cy="1185517"/>
          </a:xfrm>
          <a:prstGeom prst="rect">
            <a:avLst/>
          </a:prstGeom>
        </p:spPr>
        <p:txBody>
          <a:bodyPr wrap="square">
            <a:spAutoFit/>
          </a:bodyPr>
          <a:lstStyle/>
          <a:p>
            <a:pPr algn="ctr">
              <a:lnSpc>
                <a:spcPct val="120000"/>
              </a:lnSpc>
            </a:pPr>
            <a:r>
              <a:rPr lang="en-US" sz="1200" dirty="0">
                <a:solidFill>
                  <a:schemeClr val="tx2"/>
                </a:solidFill>
              </a:rPr>
              <a:t>The AI application can be allowed to operate autonomously – with humans in the loop or (potentially) without!</a:t>
            </a:r>
            <a:endParaRPr lang="en-US" sz="1200" dirty="0"/>
          </a:p>
        </p:txBody>
      </p:sp>
      <p:grpSp>
        <p:nvGrpSpPr>
          <p:cNvPr id="35" name="Group 34">
            <a:extLst>
              <a:ext uri="{FF2B5EF4-FFF2-40B4-BE49-F238E27FC236}">
                <a16:creationId xmlns:a16="http://schemas.microsoft.com/office/drawing/2014/main" id="{36C4F3DF-AA75-5C3F-055F-84CCBB0F1BED}"/>
              </a:ext>
            </a:extLst>
          </p:cNvPr>
          <p:cNvGrpSpPr/>
          <p:nvPr/>
        </p:nvGrpSpPr>
        <p:grpSpPr>
          <a:xfrm>
            <a:off x="5839513" y="2246961"/>
            <a:ext cx="465138" cy="406400"/>
            <a:chOff x="6357938" y="3535363"/>
            <a:chExt cx="465138" cy="406400"/>
          </a:xfrm>
          <a:solidFill>
            <a:schemeClr val="bg1"/>
          </a:solidFill>
        </p:grpSpPr>
        <p:sp>
          <p:nvSpPr>
            <p:cNvPr id="36" name="AutoShape 43">
              <a:extLst>
                <a:ext uri="{FF2B5EF4-FFF2-40B4-BE49-F238E27FC236}">
                  <a16:creationId xmlns:a16="http://schemas.microsoft.com/office/drawing/2014/main" id="{DE774E42-D372-9B28-E70C-7E16C9F00BD5}"/>
                </a:ext>
              </a:extLst>
            </p:cNvPr>
            <p:cNvSpPr>
              <a:spLocks/>
            </p:cNvSpPr>
            <p:nvPr/>
          </p:nvSpPr>
          <p:spPr bwMode="auto">
            <a:xfrm>
              <a:off x="6357938" y="3535363"/>
              <a:ext cx="465138" cy="3341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7" name="AutoShape 44">
              <a:extLst>
                <a:ext uri="{FF2B5EF4-FFF2-40B4-BE49-F238E27FC236}">
                  <a16:creationId xmlns:a16="http://schemas.microsoft.com/office/drawing/2014/main" id="{BFF409FD-6EAA-4371-9D8F-9EC081434224}"/>
                </a:ext>
              </a:extLst>
            </p:cNvPr>
            <p:cNvSpPr>
              <a:spLocks/>
            </p:cNvSpPr>
            <p:nvPr/>
          </p:nvSpPr>
          <p:spPr bwMode="auto">
            <a:xfrm>
              <a:off x="6779419" y="3680619"/>
              <a:ext cx="28575" cy="1595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8" name="AutoShape 45">
              <a:extLst>
                <a:ext uri="{FF2B5EF4-FFF2-40B4-BE49-F238E27FC236}">
                  <a16:creationId xmlns:a16="http://schemas.microsoft.com/office/drawing/2014/main" id="{AD9739F9-6254-DD93-B9EA-F0EDCE4C44D1}"/>
                </a:ext>
              </a:extLst>
            </p:cNvPr>
            <p:cNvSpPr>
              <a:spLocks/>
            </p:cNvSpPr>
            <p:nvPr/>
          </p:nvSpPr>
          <p:spPr bwMode="auto">
            <a:xfrm>
              <a:off x="6764338" y="3854450"/>
              <a:ext cx="58738"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39" name="Group 38">
            <a:extLst>
              <a:ext uri="{FF2B5EF4-FFF2-40B4-BE49-F238E27FC236}">
                <a16:creationId xmlns:a16="http://schemas.microsoft.com/office/drawing/2014/main" id="{41E6B1CB-FEA2-0C7D-34A5-1E5047BEB37A}"/>
              </a:ext>
            </a:extLst>
          </p:cNvPr>
          <p:cNvGrpSpPr/>
          <p:nvPr/>
        </p:nvGrpSpPr>
        <p:grpSpPr>
          <a:xfrm>
            <a:off x="10745814" y="2195473"/>
            <a:ext cx="537369" cy="464344"/>
            <a:chOff x="9148085" y="2115665"/>
            <a:chExt cx="434975" cy="464344"/>
          </a:xfrm>
          <a:solidFill>
            <a:schemeClr val="bg1"/>
          </a:solidFill>
        </p:grpSpPr>
        <p:sp>
          <p:nvSpPr>
            <p:cNvPr id="40" name="AutoShape 78">
              <a:extLst>
                <a:ext uri="{FF2B5EF4-FFF2-40B4-BE49-F238E27FC236}">
                  <a16:creationId xmlns:a16="http://schemas.microsoft.com/office/drawing/2014/main" id="{C047BBE8-6042-DECE-07EE-B41B27B26939}"/>
                </a:ext>
              </a:extLst>
            </p:cNvPr>
            <p:cNvSpPr>
              <a:spLocks/>
            </p:cNvSpPr>
            <p:nvPr/>
          </p:nvSpPr>
          <p:spPr bwMode="auto">
            <a:xfrm>
              <a:off x="9148085" y="2115665"/>
              <a:ext cx="434975"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1" name="AutoShape 79">
              <a:extLst>
                <a:ext uri="{FF2B5EF4-FFF2-40B4-BE49-F238E27FC236}">
                  <a16:creationId xmlns:a16="http://schemas.microsoft.com/office/drawing/2014/main" id="{F458C208-09A6-FB15-0695-3512626B07F0}"/>
                </a:ext>
              </a:extLst>
            </p:cNvPr>
            <p:cNvSpPr>
              <a:spLocks/>
            </p:cNvSpPr>
            <p:nvPr/>
          </p:nvSpPr>
          <p:spPr bwMode="auto">
            <a:xfrm>
              <a:off x="9206029" y="2173609"/>
              <a:ext cx="319088" cy="2905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2" name="AutoShape 80">
              <a:extLst>
                <a:ext uri="{FF2B5EF4-FFF2-40B4-BE49-F238E27FC236}">
                  <a16:creationId xmlns:a16="http://schemas.microsoft.com/office/drawing/2014/main" id="{78F88D0A-49EB-C564-BEC6-4B9B6EBA9194}"/>
                </a:ext>
              </a:extLst>
            </p:cNvPr>
            <p:cNvSpPr>
              <a:spLocks/>
            </p:cNvSpPr>
            <p:nvPr/>
          </p:nvSpPr>
          <p:spPr bwMode="auto">
            <a:xfrm>
              <a:off x="9379860" y="2217265"/>
              <a:ext cx="87313"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43" name="Group 42">
            <a:extLst>
              <a:ext uri="{FF2B5EF4-FFF2-40B4-BE49-F238E27FC236}">
                <a16:creationId xmlns:a16="http://schemas.microsoft.com/office/drawing/2014/main" id="{90996507-C08C-71FB-F0BA-D920C2064CE4}"/>
              </a:ext>
            </a:extLst>
          </p:cNvPr>
          <p:cNvGrpSpPr/>
          <p:nvPr/>
        </p:nvGrpSpPr>
        <p:grpSpPr>
          <a:xfrm>
            <a:off x="8267169" y="2059644"/>
            <a:ext cx="367279" cy="406616"/>
            <a:chOff x="4427654" y="3049909"/>
            <a:chExt cx="464344" cy="464344"/>
          </a:xfrm>
          <a:solidFill>
            <a:schemeClr val="bg1"/>
          </a:solidFill>
        </p:grpSpPr>
        <p:sp>
          <p:nvSpPr>
            <p:cNvPr id="44" name="AutoShape 123">
              <a:extLst>
                <a:ext uri="{FF2B5EF4-FFF2-40B4-BE49-F238E27FC236}">
                  <a16:creationId xmlns:a16="http://schemas.microsoft.com/office/drawing/2014/main" id="{E8238412-56F6-7016-59EA-F51C1A0217C4}"/>
                </a:ext>
              </a:extLst>
            </p:cNvPr>
            <p:cNvSpPr>
              <a:spLocks/>
            </p:cNvSpPr>
            <p:nvPr/>
          </p:nvSpPr>
          <p:spPr bwMode="auto">
            <a:xfrm>
              <a:off x="4427654" y="304990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5" name="AutoShape 124">
              <a:extLst>
                <a:ext uri="{FF2B5EF4-FFF2-40B4-BE49-F238E27FC236}">
                  <a16:creationId xmlns:a16="http://schemas.microsoft.com/office/drawing/2014/main" id="{DF3FBD7F-AF56-1D9D-699B-9EE4D265ABC4}"/>
                </a:ext>
              </a:extLst>
            </p:cNvPr>
            <p:cNvSpPr>
              <a:spLocks/>
            </p:cNvSpPr>
            <p:nvPr/>
          </p:nvSpPr>
          <p:spPr bwMode="auto">
            <a:xfrm>
              <a:off x="4558623" y="318008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6" name="AutoShape 125">
              <a:extLst>
                <a:ext uri="{FF2B5EF4-FFF2-40B4-BE49-F238E27FC236}">
                  <a16:creationId xmlns:a16="http://schemas.microsoft.com/office/drawing/2014/main" id="{8FCDF5A8-9D13-D70A-A5F0-AA2334657468}"/>
                </a:ext>
              </a:extLst>
            </p:cNvPr>
            <p:cNvSpPr>
              <a:spLocks/>
            </p:cNvSpPr>
            <p:nvPr/>
          </p:nvSpPr>
          <p:spPr bwMode="auto">
            <a:xfrm>
              <a:off x="4601485" y="322374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47" name="Group 46">
            <a:extLst>
              <a:ext uri="{FF2B5EF4-FFF2-40B4-BE49-F238E27FC236}">
                <a16:creationId xmlns:a16="http://schemas.microsoft.com/office/drawing/2014/main" id="{1D71B902-470E-F411-D9EB-740D7BC40D74}"/>
              </a:ext>
            </a:extLst>
          </p:cNvPr>
          <p:cNvGrpSpPr/>
          <p:nvPr/>
        </p:nvGrpSpPr>
        <p:grpSpPr>
          <a:xfrm>
            <a:off x="8515299" y="2233475"/>
            <a:ext cx="367279" cy="406616"/>
            <a:chOff x="4427654" y="3049909"/>
            <a:chExt cx="464344" cy="464344"/>
          </a:xfrm>
          <a:solidFill>
            <a:schemeClr val="bg1"/>
          </a:solidFill>
        </p:grpSpPr>
        <p:sp>
          <p:nvSpPr>
            <p:cNvPr id="48" name="AutoShape 123">
              <a:extLst>
                <a:ext uri="{FF2B5EF4-FFF2-40B4-BE49-F238E27FC236}">
                  <a16:creationId xmlns:a16="http://schemas.microsoft.com/office/drawing/2014/main" id="{D454F247-EC35-6C3B-52E9-8CBF077C37A4}"/>
                </a:ext>
              </a:extLst>
            </p:cNvPr>
            <p:cNvSpPr>
              <a:spLocks/>
            </p:cNvSpPr>
            <p:nvPr/>
          </p:nvSpPr>
          <p:spPr bwMode="auto">
            <a:xfrm>
              <a:off x="4427654" y="304990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9" name="AutoShape 124">
              <a:extLst>
                <a:ext uri="{FF2B5EF4-FFF2-40B4-BE49-F238E27FC236}">
                  <a16:creationId xmlns:a16="http://schemas.microsoft.com/office/drawing/2014/main" id="{CA7BEF01-EDBB-C89B-F6BA-524EB0E9F6D3}"/>
                </a:ext>
              </a:extLst>
            </p:cNvPr>
            <p:cNvSpPr>
              <a:spLocks/>
            </p:cNvSpPr>
            <p:nvPr/>
          </p:nvSpPr>
          <p:spPr bwMode="auto">
            <a:xfrm>
              <a:off x="4558623" y="318008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50" name="AutoShape 125">
              <a:extLst>
                <a:ext uri="{FF2B5EF4-FFF2-40B4-BE49-F238E27FC236}">
                  <a16:creationId xmlns:a16="http://schemas.microsoft.com/office/drawing/2014/main" id="{0923AE0F-09BC-3A34-7A21-84A155B62195}"/>
                </a:ext>
              </a:extLst>
            </p:cNvPr>
            <p:cNvSpPr>
              <a:spLocks/>
            </p:cNvSpPr>
            <p:nvPr/>
          </p:nvSpPr>
          <p:spPr bwMode="auto">
            <a:xfrm>
              <a:off x="4601485" y="322374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51" name="Group 50">
            <a:extLst>
              <a:ext uri="{FF2B5EF4-FFF2-40B4-BE49-F238E27FC236}">
                <a16:creationId xmlns:a16="http://schemas.microsoft.com/office/drawing/2014/main" id="{E4E2D890-0093-B862-7B79-8B364581F0CD}"/>
              </a:ext>
            </a:extLst>
          </p:cNvPr>
          <p:cNvGrpSpPr/>
          <p:nvPr/>
        </p:nvGrpSpPr>
        <p:grpSpPr>
          <a:xfrm>
            <a:off x="8207595" y="2349544"/>
            <a:ext cx="367279" cy="406616"/>
            <a:chOff x="4427654" y="3049909"/>
            <a:chExt cx="464344" cy="464344"/>
          </a:xfrm>
          <a:solidFill>
            <a:schemeClr val="bg1"/>
          </a:solidFill>
        </p:grpSpPr>
        <p:sp>
          <p:nvSpPr>
            <p:cNvPr id="52" name="AutoShape 123">
              <a:extLst>
                <a:ext uri="{FF2B5EF4-FFF2-40B4-BE49-F238E27FC236}">
                  <a16:creationId xmlns:a16="http://schemas.microsoft.com/office/drawing/2014/main" id="{7AD54054-DB18-E9EE-38A2-E4E138298628}"/>
                </a:ext>
              </a:extLst>
            </p:cNvPr>
            <p:cNvSpPr>
              <a:spLocks/>
            </p:cNvSpPr>
            <p:nvPr/>
          </p:nvSpPr>
          <p:spPr bwMode="auto">
            <a:xfrm>
              <a:off x="4427654" y="304990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53" name="AutoShape 124">
              <a:extLst>
                <a:ext uri="{FF2B5EF4-FFF2-40B4-BE49-F238E27FC236}">
                  <a16:creationId xmlns:a16="http://schemas.microsoft.com/office/drawing/2014/main" id="{1420074B-833B-CE08-9433-77CFE7451EBA}"/>
                </a:ext>
              </a:extLst>
            </p:cNvPr>
            <p:cNvSpPr>
              <a:spLocks/>
            </p:cNvSpPr>
            <p:nvPr/>
          </p:nvSpPr>
          <p:spPr bwMode="auto">
            <a:xfrm>
              <a:off x="4558623" y="318008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54" name="AutoShape 125">
              <a:extLst>
                <a:ext uri="{FF2B5EF4-FFF2-40B4-BE49-F238E27FC236}">
                  <a16:creationId xmlns:a16="http://schemas.microsoft.com/office/drawing/2014/main" id="{30D2C0C3-CEC0-C2F1-DF2D-ED32681166C1}"/>
                </a:ext>
              </a:extLst>
            </p:cNvPr>
            <p:cNvSpPr>
              <a:spLocks/>
            </p:cNvSpPr>
            <p:nvPr/>
          </p:nvSpPr>
          <p:spPr bwMode="auto">
            <a:xfrm>
              <a:off x="4601485" y="322374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Tree>
    <p:extLst>
      <p:ext uri="{BB962C8B-B14F-4D97-AF65-F5344CB8AC3E}">
        <p14:creationId xmlns:p14="http://schemas.microsoft.com/office/powerpoint/2010/main" val="261336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par>
                          <p:cTn id="17" fill="hold">
                            <p:stCondLst>
                              <p:cond delay="1000"/>
                            </p:stCondLst>
                            <p:childTnLst>
                              <p:par>
                                <p:cTn id="18" presetID="16" presetClass="entr" presetSubtype="42"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outHorizontal)">
                                      <p:cBhvr>
                                        <p:cTn id="20" dur="500"/>
                                        <p:tgtEl>
                                          <p:spTgt spid="8"/>
                                        </p:tgtEl>
                                      </p:cBhvr>
                                    </p:animEffect>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par>
                          <p:cTn id="39" fill="hold">
                            <p:stCondLst>
                              <p:cond delay="2500"/>
                            </p:stCondLst>
                            <p:childTnLst>
                              <p:par>
                                <p:cTn id="40" presetID="16" presetClass="entr" presetSubtype="42"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arn(outHorizontal)">
                                      <p:cBhvr>
                                        <p:cTn id="42" dur="500"/>
                                        <p:tgtEl>
                                          <p:spTgt spid="9"/>
                                        </p:tgtEl>
                                      </p:cBhvr>
                                    </p:animEffect>
                                  </p:childTnLst>
                                </p:cTn>
                              </p:par>
                            </p:childTnLst>
                          </p:cTn>
                        </p:par>
                        <p:par>
                          <p:cTn id="43" fill="hold">
                            <p:stCondLst>
                              <p:cond delay="3000"/>
                            </p:stCondLst>
                            <p:childTnLst>
                              <p:par>
                                <p:cTn id="44" presetID="53" presetClass="entr" presetSubtype="16"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p:cTn id="46" dur="500" fill="hold"/>
                                        <p:tgtEl>
                                          <p:spTgt spid="6"/>
                                        </p:tgtEl>
                                        <p:attrNameLst>
                                          <p:attrName>ppt_w</p:attrName>
                                        </p:attrNameLst>
                                      </p:cBhvr>
                                      <p:tavLst>
                                        <p:tav tm="0">
                                          <p:val>
                                            <p:fltVal val="0"/>
                                          </p:val>
                                        </p:tav>
                                        <p:tav tm="100000">
                                          <p:val>
                                            <p:strVal val="#ppt_w"/>
                                          </p:val>
                                        </p:tav>
                                      </p:tavLst>
                                    </p:anim>
                                    <p:anim calcmode="lin" valueType="num">
                                      <p:cBhvr>
                                        <p:cTn id="47" dur="500" fill="hold"/>
                                        <p:tgtEl>
                                          <p:spTgt spid="6"/>
                                        </p:tgtEl>
                                        <p:attrNameLst>
                                          <p:attrName>ppt_h</p:attrName>
                                        </p:attrNameLst>
                                      </p:cBhvr>
                                      <p:tavLst>
                                        <p:tav tm="0">
                                          <p:val>
                                            <p:fltVal val="0"/>
                                          </p:val>
                                        </p:tav>
                                        <p:tav tm="100000">
                                          <p:val>
                                            <p:strVal val="#ppt_h"/>
                                          </p:val>
                                        </p:tav>
                                      </p:tavLst>
                                    </p:anim>
                                    <p:animEffect transition="in" filter="fade">
                                      <p:cBhvr>
                                        <p:cTn id="48" dur="500"/>
                                        <p:tgtEl>
                                          <p:spTgt spid="6"/>
                                        </p:tgtEl>
                                      </p:cBhvr>
                                    </p:animEffect>
                                  </p:childTnLst>
                                </p:cTn>
                              </p:par>
                            </p:childTnLst>
                          </p:cTn>
                        </p:par>
                        <p:par>
                          <p:cTn id="49" fill="hold">
                            <p:stCondLst>
                              <p:cond delay="3500"/>
                            </p:stCondLst>
                            <p:childTnLst>
                              <p:par>
                                <p:cTn id="50" presetID="10"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par>
                          <p:cTn id="56" fill="hold">
                            <p:stCondLst>
                              <p:cond delay="4000"/>
                            </p:stCondLst>
                            <p:childTnLst>
                              <p:par>
                                <p:cTn id="57" presetID="16" presetClass="entr" presetSubtype="4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barn(outHorizontal)">
                                      <p:cBhvr>
                                        <p:cTn id="59" dur="500"/>
                                        <p:tgtEl>
                                          <p:spTgt spid="26"/>
                                        </p:tgtEl>
                                      </p:cBhvr>
                                    </p:animEffect>
                                  </p:childTnLst>
                                </p:cTn>
                              </p:par>
                            </p:childTnLst>
                          </p:cTn>
                        </p:par>
                        <p:par>
                          <p:cTn id="60" fill="hold">
                            <p:stCondLst>
                              <p:cond delay="4500"/>
                            </p:stCondLst>
                            <p:childTnLst>
                              <p:par>
                                <p:cTn id="61" presetID="53" presetClass="entr" presetSubtype="16" fill="hold" grpId="0" nodeType="afterEffect">
                                  <p:stCondLst>
                                    <p:cond delay="0"/>
                                  </p:stCondLst>
                                  <p:childTnLst>
                                    <p:set>
                                      <p:cBhvr>
                                        <p:cTn id="62" dur="1" fill="hold">
                                          <p:stCondLst>
                                            <p:cond delay="0"/>
                                          </p:stCondLst>
                                        </p:cTn>
                                        <p:tgtEl>
                                          <p:spTgt spid="25"/>
                                        </p:tgtEl>
                                        <p:attrNameLst>
                                          <p:attrName>style.visibility</p:attrName>
                                        </p:attrNameLst>
                                      </p:cBhvr>
                                      <p:to>
                                        <p:strVal val="visible"/>
                                      </p:to>
                                    </p:set>
                                    <p:anim calcmode="lin" valueType="num">
                                      <p:cBhvr>
                                        <p:cTn id="63" dur="500" fill="hold"/>
                                        <p:tgtEl>
                                          <p:spTgt spid="25"/>
                                        </p:tgtEl>
                                        <p:attrNameLst>
                                          <p:attrName>ppt_w</p:attrName>
                                        </p:attrNameLst>
                                      </p:cBhvr>
                                      <p:tavLst>
                                        <p:tav tm="0">
                                          <p:val>
                                            <p:fltVal val="0"/>
                                          </p:val>
                                        </p:tav>
                                        <p:tav tm="100000">
                                          <p:val>
                                            <p:strVal val="#ppt_w"/>
                                          </p:val>
                                        </p:tav>
                                      </p:tavLst>
                                    </p:anim>
                                    <p:anim calcmode="lin" valueType="num">
                                      <p:cBhvr>
                                        <p:cTn id="64" dur="500" fill="hold"/>
                                        <p:tgtEl>
                                          <p:spTgt spid="25"/>
                                        </p:tgtEl>
                                        <p:attrNameLst>
                                          <p:attrName>ppt_h</p:attrName>
                                        </p:attrNameLst>
                                      </p:cBhvr>
                                      <p:tavLst>
                                        <p:tav tm="0">
                                          <p:val>
                                            <p:fltVal val="0"/>
                                          </p:val>
                                        </p:tav>
                                        <p:tav tm="100000">
                                          <p:val>
                                            <p:strVal val="#ppt_h"/>
                                          </p:val>
                                        </p:tav>
                                      </p:tavLst>
                                    </p:anim>
                                    <p:animEffect transition="in" filter="fade">
                                      <p:cBhvr>
                                        <p:cTn id="65" dur="500"/>
                                        <p:tgtEl>
                                          <p:spTgt spid="25"/>
                                        </p:tgtEl>
                                      </p:cBhvr>
                                    </p:animEffect>
                                  </p:childTnLst>
                                </p:cTn>
                              </p:par>
                            </p:childTnLst>
                          </p:cTn>
                        </p:par>
                        <p:par>
                          <p:cTn id="66" fill="hold">
                            <p:stCondLst>
                              <p:cond delay="5000"/>
                            </p:stCondLst>
                            <p:childTnLst>
                              <p:par>
                                <p:cTn id="67" presetID="10" presetClass="entr" presetSubtype="0" fill="hold" grpId="0"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childTnLst>
                          </p:cTn>
                        </p:par>
                        <p:par>
                          <p:cTn id="73" fill="hold">
                            <p:stCondLst>
                              <p:cond delay="5500"/>
                            </p:stCondLst>
                            <p:childTnLst>
                              <p:par>
                                <p:cTn id="74" presetID="16" presetClass="entr" presetSubtype="42" fill="hold" nodeType="after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barn(outHorizontal)">
                                      <p:cBhvr>
                                        <p:cTn id="76" dur="500"/>
                                        <p:tgtEl>
                                          <p:spTgt spid="31"/>
                                        </p:tgtEl>
                                      </p:cBhvr>
                                    </p:animEffect>
                                  </p:childTnLst>
                                </p:cTn>
                              </p:par>
                            </p:childTnLst>
                          </p:cTn>
                        </p:par>
                        <p:par>
                          <p:cTn id="77" fill="hold">
                            <p:stCondLst>
                              <p:cond delay="6000"/>
                            </p:stCondLst>
                            <p:childTnLst>
                              <p:par>
                                <p:cTn id="78" presetID="53" presetClass="entr" presetSubtype="16" fill="hold" grpId="0" nodeType="afterEffect">
                                  <p:stCondLst>
                                    <p:cond delay="0"/>
                                  </p:stCondLst>
                                  <p:childTnLst>
                                    <p:set>
                                      <p:cBhvr>
                                        <p:cTn id="79" dur="1" fill="hold">
                                          <p:stCondLst>
                                            <p:cond delay="0"/>
                                          </p:stCondLst>
                                        </p:cTn>
                                        <p:tgtEl>
                                          <p:spTgt spid="30"/>
                                        </p:tgtEl>
                                        <p:attrNameLst>
                                          <p:attrName>style.visibility</p:attrName>
                                        </p:attrNameLst>
                                      </p:cBhvr>
                                      <p:to>
                                        <p:strVal val="visible"/>
                                      </p:to>
                                    </p:set>
                                    <p:anim calcmode="lin" valueType="num">
                                      <p:cBhvr>
                                        <p:cTn id="80" dur="500" fill="hold"/>
                                        <p:tgtEl>
                                          <p:spTgt spid="30"/>
                                        </p:tgtEl>
                                        <p:attrNameLst>
                                          <p:attrName>ppt_w</p:attrName>
                                        </p:attrNameLst>
                                      </p:cBhvr>
                                      <p:tavLst>
                                        <p:tav tm="0">
                                          <p:val>
                                            <p:fltVal val="0"/>
                                          </p:val>
                                        </p:tav>
                                        <p:tav tm="100000">
                                          <p:val>
                                            <p:strVal val="#ppt_w"/>
                                          </p:val>
                                        </p:tav>
                                      </p:tavLst>
                                    </p:anim>
                                    <p:anim calcmode="lin" valueType="num">
                                      <p:cBhvr>
                                        <p:cTn id="81" dur="500" fill="hold"/>
                                        <p:tgtEl>
                                          <p:spTgt spid="30"/>
                                        </p:tgtEl>
                                        <p:attrNameLst>
                                          <p:attrName>ppt_h</p:attrName>
                                        </p:attrNameLst>
                                      </p:cBhvr>
                                      <p:tavLst>
                                        <p:tav tm="0">
                                          <p:val>
                                            <p:fltVal val="0"/>
                                          </p:val>
                                        </p:tav>
                                        <p:tav tm="100000">
                                          <p:val>
                                            <p:strVal val="#ppt_h"/>
                                          </p:val>
                                        </p:tav>
                                      </p:tavLst>
                                    </p:anim>
                                    <p:animEffect transition="in" filter="fade">
                                      <p:cBhvr>
                                        <p:cTn id="82" dur="500"/>
                                        <p:tgtEl>
                                          <p:spTgt spid="30"/>
                                        </p:tgtEl>
                                      </p:cBhvr>
                                    </p:animEffect>
                                  </p:childTnLst>
                                </p:cTn>
                              </p:par>
                            </p:childTnLst>
                          </p:cTn>
                        </p:par>
                        <p:par>
                          <p:cTn id="83" fill="hold">
                            <p:stCondLst>
                              <p:cond delay="6500"/>
                            </p:stCondLst>
                            <p:childTnLst>
                              <p:par>
                                <p:cTn id="84" presetID="10" presetClass="entr" presetSubtype="0" fill="hold" grpId="0" nodeType="after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p:bldP spid="11" grpId="0"/>
      <p:bldP spid="13" grpId="0" animBg="1"/>
      <p:bldP spid="15" grpId="0"/>
      <p:bldP spid="16" grpId="0"/>
      <p:bldP spid="17" grpId="0"/>
      <p:bldP spid="18" grpId="0"/>
      <p:bldP spid="25" grpId="0" animBg="1"/>
      <p:bldP spid="28" grpId="0"/>
      <p:bldP spid="29" grpId="0"/>
      <p:bldP spid="30" grpId="0" animBg="1"/>
      <p:bldP spid="33" grpId="0"/>
      <p:bldP spid="3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D33F2-9CD1-FC28-060F-41230C5D4281}"/>
              </a:ext>
            </a:extLst>
          </p:cNvPr>
          <p:cNvSpPr>
            <a:spLocks noGrp="1"/>
          </p:cNvSpPr>
          <p:nvPr>
            <p:ph type="title"/>
          </p:nvPr>
        </p:nvSpPr>
        <p:spPr>
          <a:xfrm>
            <a:off x="838200" y="365125"/>
            <a:ext cx="10515600" cy="1325563"/>
          </a:xfrm>
        </p:spPr>
        <p:txBody>
          <a:bodyPr anchor="ctr">
            <a:normAutofit/>
          </a:bodyPr>
          <a:lstStyle/>
          <a:p>
            <a:r>
              <a:rPr lang="en-US" dirty="0"/>
              <a:t>Live Demo 2 | Co-Worker</a:t>
            </a:r>
          </a:p>
        </p:txBody>
      </p:sp>
      <p:pic>
        <p:nvPicPr>
          <p:cNvPr id="26626" name="Picture 2" descr="Finding calm in the chaos: BCS SIGiST 2025 | BCS">
            <a:extLst>
              <a:ext uri="{FF2B5EF4-FFF2-40B4-BE49-F238E27FC236}">
                <a16:creationId xmlns:a16="http://schemas.microsoft.com/office/drawing/2014/main" id="{94E5A1A9-2219-BFA8-2C03-5C4530C63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020" b="14101"/>
          <a:stretch>
            <a:fillRect/>
          </a:stretch>
        </p:blipFill>
        <p:spPr bwMode="auto">
          <a:xfrm>
            <a:off x="838200" y="1825625"/>
            <a:ext cx="10515600" cy="435133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854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526D0-2836-39C5-E567-B5F35FB53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044A1-57A3-0E72-5E93-04CD5F69E7D7}"/>
              </a:ext>
            </a:extLst>
          </p:cNvPr>
          <p:cNvSpPr>
            <a:spLocks noGrp="1"/>
          </p:cNvSpPr>
          <p:nvPr>
            <p:ph type="title"/>
          </p:nvPr>
        </p:nvSpPr>
        <p:spPr/>
        <p:txBody>
          <a:bodyPr/>
          <a:lstStyle/>
          <a:p>
            <a:r>
              <a:rPr lang="en-GB" dirty="0"/>
              <a:t>Demo: AI Enabled Consultancy Co-Worker (1) </a:t>
            </a:r>
            <a:endParaRPr lang="en-GB" sz="1600" dirty="0"/>
          </a:p>
        </p:txBody>
      </p:sp>
      <p:sp>
        <p:nvSpPr>
          <p:cNvPr id="3" name="TextBox 2">
            <a:extLst>
              <a:ext uri="{FF2B5EF4-FFF2-40B4-BE49-F238E27FC236}">
                <a16:creationId xmlns:a16="http://schemas.microsoft.com/office/drawing/2014/main" id="{2BE94836-CD7E-4B87-7264-95773A011CD1}"/>
              </a:ext>
            </a:extLst>
          </p:cNvPr>
          <p:cNvSpPr txBox="1"/>
          <p:nvPr/>
        </p:nvSpPr>
        <p:spPr>
          <a:xfrm>
            <a:off x="1898248" y="1900988"/>
            <a:ext cx="4833395" cy="2031325"/>
          </a:xfrm>
          <a:prstGeom prst="rect">
            <a:avLst/>
          </a:prstGeom>
          <a:noFill/>
        </p:spPr>
        <p:txBody>
          <a:bodyPr wrap="square" rtlCol="0">
            <a:spAutoFit/>
          </a:bodyPr>
          <a:lstStyle/>
          <a:p>
            <a:r>
              <a:rPr lang="en-US" b="1" dirty="0"/>
              <a:t>Idea: </a:t>
            </a:r>
            <a:r>
              <a:rPr lang="en-US" dirty="0"/>
              <a:t>I am a practicing consultant in a consultancy.  My expertise is not in AI but given the demand for AI advice from clients a “Co-Worker” with both </a:t>
            </a:r>
            <a:r>
              <a:rPr lang="en-US" u="sng" dirty="0"/>
              <a:t>consultancy</a:t>
            </a:r>
            <a:r>
              <a:rPr lang="en-US" dirty="0"/>
              <a:t> expertise and </a:t>
            </a:r>
            <a:r>
              <a:rPr lang="en-US" u="sng" dirty="0"/>
              <a:t>AI strategy </a:t>
            </a:r>
            <a:r>
              <a:rPr lang="en-US" dirty="0"/>
              <a:t>expertise would be helpful.  HR say recruiting such a person is impossible.  Can Agentic AI be used instead.</a:t>
            </a:r>
          </a:p>
        </p:txBody>
      </p:sp>
      <p:pic>
        <p:nvPicPr>
          <p:cNvPr id="20482" name="Picture 2" descr="What Is Agentic AI? How AI Agents ...">
            <a:extLst>
              <a:ext uri="{FF2B5EF4-FFF2-40B4-BE49-F238E27FC236}">
                <a16:creationId xmlns:a16="http://schemas.microsoft.com/office/drawing/2014/main" id="{97EF430D-EFB8-DFC4-A0CC-36ED4F861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2625751"/>
            <a:ext cx="38100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descr="Meeting outline">
            <a:extLst>
              <a:ext uri="{FF2B5EF4-FFF2-40B4-BE49-F238E27FC236}">
                <a16:creationId xmlns:a16="http://schemas.microsoft.com/office/drawing/2014/main" id="{C421096F-1400-46A4-6CA0-A33D7A03AA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000" y="4444678"/>
            <a:ext cx="914400" cy="914400"/>
          </a:xfrm>
          <a:prstGeom prst="rect">
            <a:avLst/>
          </a:prstGeom>
        </p:spPr>
      </p:pic>
      <p:sp>
        <p:nvSpPr>
          <p:cNvPr id="10" name="TextBox 9">
            <a:extLst>
              <a:ext uri="{FF2B5EF4-FFF2-40B4-BE49-F238E27FC236}">
                <a16:creationId xmlns:a16="http://schemas.microsoft.com/office/drawing/2014/main" id="{45FAE57A-703B-20A0-60AF-9D916DD4F2A3}"/>
              </a:ext>
            </a:extLst>
          </p:cNvPr>
          <p:cNvSpPr txBox="1"/>
          <p:nvPr/>
        </p:nvSpPr>
        <p:spPr>
          <a:xfrm>
            <a:off x="1898248" y="4444678"/>
            <a:ext cx="4747148" cy="1200329"/>
          </a:xfrm>
          <a:prstGeom prst="rect">
            <a:avLst/>
          </a:prstGeom>
          <a:noFill/>
        </p:spPr>
        <p:txBody>
          <a:bodyPr wrap="square" rtlCol="0">
            <a:spAutoFit/>
          </a:bodyPr>
          <a:lstStyle/>
          <a:p>
            <a:r>
              <a:rPr lang="en-US" b="1" dirty="0"/>
              <a:t>Scenario:  </a:t>
            </a:r>
            <a:r>
              <a:rPr lang="en-US" dirty="0"/>
              <a:t>We have a meeting with the CEO of the BCS to discuss its AI strategy.  Can the AI Co-Worker create a briefing pack, plan to support the BCS, engaging email and a slide deck?</a:t>
            </a:r>
          </a:p>
        </p:txBody>
      </p:sp>
      <p:pic>
        <p:nvPicPr>
          <p:cNvPr id="12" name="Graphic 11" descr="Lights On outline">
            <a:extLst>
              <a:ext uri="{FF2B5EF4-FFF2-40B4-BE49-F238E27FC236}">
                <a16:creationId xmlns:a16="http://schemas.microsoft.com/office/drawing/2014/main" id="{64295574-CB7D-63A7-33D8-EB6E8B8184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1000" y="2459450"/>
            <a:ext cx="914400" cy="914400"/>
          </a:xfrm>
          <a:prstGeom prst="rect">
            <a:avLst/>
          </a:prstGeom>
        </p:spPr>
      </p:pic>
    </p:spTree>
    <p:extLst>
      <p:ext uri="{BB962C8B-B14F-4D97-AF65-F5344CB8AC3E}">
        <p14:creationId xmlns:p14="http://schemas.microsoft.com/office/powerpoint/2010/main" val="840262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1147-52CC-68B6-88E1-2EEF483FA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A444D-5C2A-198E-BF00-BC83053F3BFF}"/>
              </a:ext>
            </a:extLst>
          </p:cNvPr>
          <p:cNvSpPr>
            <a:spLocks noGrp="1"/>
          </p:cNvSpPr>
          <p:nvPr>
            <p:ph type="title"/>
          </p:nvPr>
        </p:nvSpPr>
        <p:spPr/>
        <p:txBody>
          <a:bodyPr/>
          <a:lstStyle/>
          <a:p>
            <a:r>
              <a:rPr lang="en-GB" dirty="0"/>
              <a:t>Demo: AI Enabled Consultancy Co-Worker (2) </a:t>
            </a:r>
            <a:endParaRPr lang="en-GB" sz="1600" dirty="0"/>
          </a:p>
        </p:txBody>
      </p:sp>
      <p:pic>
        <p:nvPicPr>
          <p:cNvPr id="7" name="Picture 6">
            <a:extLst>
              <a:ext uri="{FF2B5EF4-FFF2-40B4-BE49-F238E27FC236}">
                <a16:creationId xmlns:a16="http://schemas.microsoft.com/office/drawing/2014/main" id="{D5CE5594-172A-DE84-F6D7-0572814278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1715549"/>
            <a:ext cx="7772400" cy="4777326"/>
          </a:xfrm>
          <a:prstGeom prst="rect">
            <a:avLst/>
          </a:prstGeom>
        </p:spPr>
      </p:pic>
    </p:spTree>
    <p:extLst>
      <p:ext uri="{BB962C8B-B14F-4D97-AF65-F5344CB8AC3E}">
        <p14:creationId xmlns:p14="http://schemas.microsoft.com/office/powerpoint/2010/main" val="33174227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0980B-7FC7-DEBC-B7A1-2DAF51B6D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82680-2CA3-5546-3B54-F0160CF51F2D}"/>
              </a:ext>
            </a:extLst>
          </p:cNvPr>
          <p:cNvSpPr>
            <a:spLocks noGrp="1"/>
          </p:cNvSpPr>
          <p:nvPr>
            <p:ph type="title"/>
          </p:nvPr>
        </p:nvSpPr>
        <p:spPr/>
        <p:txBody>
          <a:bodyPr/>
          <a:lstStyle/>
          <a:p>
            <a:r>
              <a:rPr lang="en-GB" dirty="0"/>
              <a:t>Demo: AI Enabled Consultancy Co-Worker (3) </a:t>
            </a:r>
            <a:endParaRPr lang="en-GB" sz="1600" dirty="0"/>
          </a:p>
        </p:txBody>
      </p:sp>
      <p:pic>
        <p:nvPicPr>
          <p:cNvPr id="4" name="Picture 3">
            <a:extLst>
              <a:ext uri="{FF2B5EF4-FFF2-40B4-BE49-F238E27FC236}">
                <a16:creationId xmlns:a16="http://schemas.microsoft.com/office/drawing/2014/main" id="{A149394B-826A-2FB4-F9B6-25E496407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417" y="2305822"/>
            <a:ext cx="5179522" cy="4448006"/>
          </a:xfrm>
          <a:prstGeom prst="rect">
            <a:avLst/>
          </a:prstGeom>
          <a:ln>
            <a:solidFill>
              <a:schemeClr val="accent1">
                <a:lumMod val="50000"/>
              </a:schemeClr>
            </a:solidFill>
          </a:ln>
        </p:spPr>
      </p:pic>
      <p:pic>
        <p:nvPicPr>
          <p:cNvPr id="6" name="Picture 5">
            <a:extLst>
              <a:ext uri="{FF2B5EF4-FFF2-40B4-BE49-F238E27FC236}">
                <a16:creationId xmlns:a16="http://schemas.microsoft.com/office/drawing/2014/main" id="{BE0DB804-5D07-08CF-ECD4-913F78703F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218" y="2295193"/>
            <a:ext cx="5179521" cy="4458634"/>
          </a:xfrm>
          <a:prstGeom prst="rect">
            <a:avLst/>
          </a:prstGeom>
          <a:ln>
            <a:solidFill>
              <a:schemeClr val="accent2">
                <a:lumMod val="50000"/>
              </a:schemeClr>
            </a:solidFill>
          </a:ln>
        </p:spPr>
      </p:pic>
      <p:sp>
        <p:nvSpPr>
          <p:cNvPr id="8" name="Rectangle 7">
            <a:extLst>
              <a:ext uri="{FF2B5EF4-FFF2-40B4-BE49-F238E27FC236}">
                <a16:creationId xmlns:a16="http://schemas.microsoft.com/office/drawing/2014/main" id="{1E855737-B057-8A2F-44E3-81C1A4E9918A}"/>
              </a:ext>
            </a:extLst>
          </p:cNvPr>
          <p:cNvSpPr/>
          <p:nvPr/>
        </p:nvSpPr>
        <p:spPr>
          <a:xfrm>
            <a:off x="752355" y="1500391"/>
            <a:ext cx="5179521" cy="7948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Consultancy Playbook</a:t>
            </a:r>
          </a:p>
          <a:p>
            <a:pPr algn="ctr"/>
            <a:r>
              <a:rPr lang="en-US" dirty="0"/>
              <a:t>(increased knowledge of consulting)</a:t>
            </a:r>
          </a:p>
        </p:txBody>
      </p:sp>
      <p:sp>
        <p:nvSpPr>
          <p:cNvPr id="9" name="Rectangle 8">
            <a:extLst>
              <a:ext uri="{FF2B5EF4-FFF2-40B4-BE49-F238E27FC236}">
                <a16:creationId xmlns:a16="http://schemas.microsoft.com/office/drawing/2014/main" id="{9FF0BE45-5D27-2ECD-CCB0-21581B5BD5CC}"/>
              </a:ext>
            </a:extLst>
          </p:cNvPr>
          <p:cNvSpPr/>
          <p:nvPr/>
        </p:nvSpPr>
        <p:spPr>
          <a:xfrm>
            <a:off x="6391155" y="1500390"/>
            <a:ext cx="5179521" cy="79480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Strategy Compendium</a:t>
            </a:r>
          </a:p>
          <a:p>
            <a:pPr algn="ctr"/>
            <a:r>
              <a:rPr lang="en-US" dirty="0"/>
              <a:t>(increased knowledge of AI in business)</a:t>
            </a:r>
          </a:p>
        </p:txBody>
      </p:sp>
    </p:spTree>
    <p:extLst>
      <p:ext uri="{BB962C8B-B14F-4D97-AF65-F5344CB8AC3E}">
        <p14:creationId xmlns:p14="http://schemas.microsoft.com/office/powerpoint/2010/main" val="37601874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2A43B-C6EA-4C3A-6F44-B066CDC6E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5B609-61EE-763C-E7A3-74DF1F1B3482}"/>
              </a:ext>
            </a:extLst>
          </p:cNvPr>
          <p:cNvSpPr>
            <a:spLocks noGrp="1"/>
          </p:cNvSpPr>
          <p:nvPr>
            <p:ph type="title"/>
          </p:nvPr>
        </p:nvSpPr>
        <p:spPr/>
        <p:txBody>
          <a:bodyPr/>
          <a:lstStyle/>
          <a:p>
            <a:r>
              <a:rPr lang="en-GB" dirty="0"/>
              <a:t>Demo: AI Enabled Consultancy Co-Worker (4) </a:t>
            </a:r>
            <a:endParaRPr lang="en-GB" sz="1600" dirty="0"/>
          </a:p>
        </p:txBody>
      </p:sp>
      <p:sp>
        <p:nvSpPr>
          <p:cNvPr id="6" name="TextBox 5">
            <a:extLst>
              <a:ext uri="{FF2B5EF4-FFF2-40B4-BE49-F238E27FC236}">
                <a16:creationId xmlns:a16="http://schemas.microsoft.com/office/drawing/2014/main" id="{9D154DC8-3132-F83F-7AC1-D5C200A771B1}"/>
              </a:ext>
            </a:extLst>
          </p:cNvPr>
          <p:cNvSpPr txBox="1"/>
          <p:nvPr/>
        </p:nvSpPr>
        <p:spPr>
          <a:xfrm>
            <a:off x="3461312" y="2011287"/>
            <a:ext cx="6898029" cy="830997"/>
          </a:xfrm>
          <a:prstGeom prst="rect">
            <a:avLst/>
          </a:prstGeom>
          <a:noFill/>
        </p:spPr>
        <p:txBody>
          <a:bodyPr wrap="square">
            <a:spAutoFit/>
          </a:bodyPr>
          <a:lstStyle/>
          <a:p>
            <a:r>
              <a:rPr lang="en-US" sz="1600" dirty="0"/>
              <a:t>/brief. We have a meeting with the Chief Executive of the British Computer Society to discuss the Society's AI strategy.  Prepare a briefing paper on the British Computer Society and propose AI strategies it should be considering.</a:t>
            </a:r>
          </a:p>
        </p:txBody>
      </p:sp>
      <p:sp>
        <p:nvSpPr>
          <p:cNvPr id="14" name="TextBox 13">
            <a:extLst>
              <a:ext uri="{FF2B5EF4-FFF2-40B4-BE49-F238E27FC236}">
                <a16:creationId xmlns:a16="http://schemas.microsoft.com/office/drawing/2014/main" id="{BAB3A3E6-FC13-218E-6E80-C9E64FAFAA0F}"/>
              </a:ext>
            </a:extLst>
          </p:cNvPr>
          <p:cNvSpPr txBox="1"/>
          <p:nvPr/>
        </p:nvSpPr>
        <p:spPr>
          <a:xfrm>
            <a:off x="3461313" y="3304658"/>
            <a:ext cx="6898028" cy="584775"/>
          </a:xfrm>
          <a:prstGeom prst="rect">
            <a:avLst/>
          </a:prstGeom>
          <a:noFill/>
        </p:spPr>
        <p:txBody>
          <a:bodyPr wrap="square" rtlCol="0">
            <a:spAutoFit/>
          </a:bodyPr>
          <a:lstStyle/>
          <a:p>
            <a:r>
              <a:rPr lang="en-US" sz="1600" dirty="0"/>
              <a:t>/plan. Create a plan that we can discuss with the Chief Executive for creating and implementing an AI strategy for the Society with support from consultancy.</a:t>
            </a:r>
          </a:p>
        </p:txBody>
      </p:sp>
      <p:sp>
        <p:nvSpPr>
          <p:cNvPr id="15" name="Oval 124">
            <a:extLst>
              <a:ext uri="{FF2B5EF4-FFF2-40B4-BE49-F238E27FC236}">
                <a16:creationId xmlns:a16="http://schemas.microsoft.com/office/drawing/2014/main" id="{D23B1776-09E6-9FC6-D3EE-B5BEC87384BD}"/>
              </a:ext>
            </a:extLst>
          </p:cNvPr>
          <p:cNvSpPr>
            <a:spLocks noChangeArrowheads="1"/>
          </p:cNvSpPr>
          <p:nvPr/>
        </p:nvSpPr>
        <p:spPr bwMode="auto">
          <a:xfrm>
            <a:off x="1460339" y="1920705"/>
            <a:ext cx="1016000" cy="101600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16" name="Graphic 15" descr="Document outline">
            <a:extLst>
              <a:ext uri="{FF2B5EF4-FFF2-40B4-BE49-F238E27FC236}">
                <a16:creationId xmlns:a16="http://schemas.microsoft.com/office/drawing/2014/main" id="{3BEC01D8-0604-BA54-8ED2-A380184B1E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61931" y="2085162"/>
            <a:ext cx="684674" cy="684674"/>
          </a:xfrm>
          <a:prstGeom prst="rect">
            <a:avLst/>
          </a:prstGeom>
        </p:spPr>
      </p:pic>
      <p:sp>
        <p:nvSpPr>
          <p:cNvPr id="17" name="Oval 119">
            <a:extLst>
              <a:ext uri="{FF2B5EF4-FFF2-40B4-BE49-F238E27FC236}">
                <a16:creationId xmlns:a16="http://schemas.microsoft.com/office/drawing/2014/main" id="{D53E539C-0DB7-0BC3-C24A-B0F4C5EAE306}"/>
              </a:ext>
            </a:extLst>
          </p:cNvPr>
          <p:cNvSpPr>
            <a:spLocks noChangeArrowheads="1"/>
          </p:cNvSpPr>
          <p:nvPr/>
        </p:nvSpPr>
        <p:spPr bwMode="auto">
          <a:xfrm>
            <a:off x="1460339" y="3084304"/>
            <a:ext cx="1016000" cy="101600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pic>
        <p:nvPicPr>
          <p:cNvPr id="9" name="Graphic 8" descr="Gantt Chart outline">
            <a:extLst>
              <a:ext uri="{FF2B5EF4-FFF2-40B4-BE49-F238E27FC236}">
                <a16:creationId xmlns:a16="http://schemas.microsoft.com/office/drawing/2014/main" id="{11CDE4E2-31EC-10D7-2DD4-D877293E87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23204" y="3204666"/>
            <a:ext cx="750719" cy="750719"/>
          </a:xfrm>
          <a:prstGeom prst="rect">
            <a:avLst/>
          </a:prstGeom>
        </p:spPr>
      </p:pic>
      <p:sp>
        <p:nvSpPr>
          <p:cNvPr id="18" name="Oval 121">
            <a:extLst>
              <a:ext uri="{FF2B5EF4-FFF2-40B4-BE49-F238E27FC236}">
                <a16:creationId xmlns:a16="http://schemas.microsoft.com/office/drawing/2014/main" id="{B6E73F39-35F9-4FF7-181E-3B52931A2578}"/>
              </a:ext>
            </a:extLst>
          </p:cNvPr>
          <p:cNvSpPr>
            <a:spLocks noChangeArrowheads="1"/>
          </p:cNvSpPr>
          <p:nvPr/>
        </p:nvSpPr>
        <p:spPr bwMode="auto">
          <a:xfrm>
            <a:off x="1460339" y="4247903"/>
            <a:ext cx="1014413" cy="1016000"/>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descr="Envelope outline">
            <a:extLst>
              <a:ext uri="{FF2B5EF4-FFF2-40B4-BE49-F238E27FC236}">
                <a16:creationId xmlns:a16="http://schemas.microsoft.com/office/drawing/2014/main" id="{A6F38473-22FF-F645-7347-81329D2CB8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31281" y="4431214"/>
            <a:ext cx="672528" cy="672528"/>
          </a:xfrm>
          <a:prstGeom prst="rect">
            <a:avLst/>
          </a:prstGeom>
        </p:spPr>
      </p:pic>
      <p:sp>
        <p:nvSpPr>
          <p:cNvPr id="19" name="TextBox 18">
            <a:extLst>
              <a:ext uri="{FF2B5EF4-FFF2-40B4-BE49-F238E27FC236}">
                <a16:creationId xmlns:a16="http://schemas.microsoft.com/office/drawing/2014/main" id="{D4F668C1-A542-AF8B-6B19-63D04B7C535B}"/>
              </a:ext>
            </a:extLst>
          </p:cNvPr>
          <p:cNvSpPr txBox="1"/>
          <p:nvPr/>
        </p:nvSpPr>
        <p:spPr>
          <a:xfrm>
            <a:off x="3461311" y="4475090"/>
            <a:ext cx="6643387" cy="584775"/>
          </a:xfrm>
          <a:prstGeom prst="rect">
            <a:avLst/>
          </a:prstGeom>
          <a:noFill/>
        </p:spPr>
        <p:txBody>
          <a:bodyPr wrap="square" rtlCol="0">
            <a:spAutoFit/>
          </a:bodyPr>
          <a:lstStyle/>
          <a:p>
            <a:r>
              <a:rPr lang="en-US" sz="1600" dirty="0"/>
              <a:t>/email.  Draft an email to the Chief Executive thanking her agree to the forthcoming meeting and outlining what should be discussed.</a:t>
            </a:r>
          </a:p>
        </p:txBody>
      </p:sp>
      <p:sp>
        <p:nvSpPr>
          <p:cNvPr id="20" name="Oval 121">
            <a:extLst>
              <a:ext uri="{FF2B5EF4-FFF2-40B4-BE49-F238E27FC236}">
                <a16:creationId xmlns:a16="http://schemas.microsoft.com/office/drawing/2014/main" id="{E27BD8CA-F080-C6D7-1821-7C627D43A9FF}"/>
              </a:ext>
            </a:extLst>
          </p:cNvPr>
          <p:cNvSpPr>
            <a:spLocks noChangeArrowheads="1"/>
          </p:cNvSpPr>
          <p:nvPr/>
        </p:nvSpPr>
        <p:spPr bwMode="auto">
          <a:xfrm>
            <a:off x="1491356" y="5411502"/>
            <a:ext cx="1014413" cy="101600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pic>
        <p:nvPicPr>
          <p:cNvPr id="13" name="Graphic 12" descr="Teacher outline">
            <a:extLst>
              <a:ext uri="{FF2B5EF4-FFF2-40B4-BE49-F238E27FC236}">
                <a16:creationId xmlns:a16="http://schemas.microsoft.com/office/drawing/2014/main" id="{947E3E87-8C52-02AD-C725-146767FE4C0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06174" y="5627114"/>
            <a:ext cx="584775" cy="584775"/>
          </a:xfrm>
          <a:prstGeom prst="rect">
            <a:avLst/>
          </a:prstGeom>
        </p:spPr>
      </p:pic>
      <p:sp>
        <p:nvSpPr>
          <p:cNvPr id="21" name="TextBox 20">
            <a:extLst>
              <a:ext uri="{FF2B5EF4-FFF2-40B4-BE49-F238E27FC236}">
                <a16:creationId xmlns:a16="http://schemas.microsoft.com/office/drawing/2014/main" id="{2DD35865-0D80-0DA9-F3A1-10229C33930F}"/>
              </a:ext>
            </a:extLst>
          </p:cNvPr>
          <p:cNvSpPr txBox="1"/>
          <p:nvPr/>
        </p:nvSpPr>
        <p:spPr>
          <a:xfrm>
            <a:off x="3461311" y="5750224"/>
            <a:ext cx="3643883" cy="338554"/>
          </a:xfrm>
          <a:prstGeom prst="rect">
            <a:avLst/>
          </a:prstGeom>
          <a:noFill/>
        </p:spPr>
        <p:txBody>
          <a:bodyPr wrap="none" rtlCol="0">
            <a:spAutoFit/>
          </a:bodyPr>
          <a:lstStyle/>
          <a:p>
            <a:r>
              <a:rPr lang="en-US" sz="1600" dirty="0"/>
              <a:t>/slides.  Create the slides for the meeting.</a:t>
            </a:r>
          </a:p>
        </p:txBody>
      </p:sp>
    </p:spTree>
    <p:extLst>
      <p:ext uri="{BB962C8B-B14F-4D97-AF65-F5344CB8AC3E}">
        <p14:creationId xmlns:p14="http://schemas.microsoft.com/office/powerpoint/2010/main" val="332657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ppt_w</p:attrName>
                                        </p:attrNameLst>
                                      </p:cBhvr>
                                      <p:tavLst>
                                        <p:tav tm="0">
                                          <p:val>
                                            <p:fltVal val="0"/>
                                          </p:val>
                                        </p:tav>
                                        <p:tav tm="100000">
                                          <p:val>
                                            <p:strVal val="#ppt_w"/>
                                          </p:val>
                                        </p:tav>
                                      </p:tavLst>
                                    </p:anim>
                                    <p:anim calcmode="lin" valueType="num">
                                      <p:cBhvr>
                                        <p:cTn id="14" dur="500" fill="hold"/>
                                        <p:tgtEl>
                                          <p:spTgt spid="17"/>
                                        </p:tgtEl>
                                        <p:attrNameLst>
                                          <p:attrName>ppt_h</p:attrName>
                                        </p:attrNameLst>
                                      </p:cBhvr>
                                      <p:tavLst>
                                        <p:tav tm="0">
                                          <p:val>
                                            <p:fltVal val="0"/>
                                          </p:val>
                                        </p:tav>
                                        <p:tav tm="100000">
                                          <p:val>
                                            <p:strVal val="#ppt_h"/>
                                          </p:val>
                                        </p:tav>
                                      </p:tavLst>
                                    </p:anim>
                                    <p:animEffect transition="in" filter="fade">
                                      <p:cBhvr>
                                        <p:cTn id="15" dur="500"/>
                                        <p:tgtEl>
                                          <p:spTgt spid="17"/>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fltVal val="0"/>
                                          </p:val>
                                        </p:tav>
                                        <p:tav tm="100000">
                                          <p:val>
                                            <p:strVal val="#ppt_w"/>
                                          </p:val>
                                        </p:tav>
                                      </p:tavLst>
                                    </p:anim>
                                    <p:anim calcmode="lin" valueType="num">
                                      <p:cBhvr>
                                        <p:cTn id="20" dur="500" fill="hold"/>
                                        <p:tgtEl>
                                          <p:spTgt spid="18"/>
                                        </p:tgtEl>
                                        <p:attrNameLst>
                                          <p:attrName>ppt_h</p:attrName>
                                        </p:attrNameLst>
                                      </p:cBhvr>
                                      <p:tavLst>
                                        <p:tav tm="0">
                                          <p:val>
                                            <p:fltVal val="0"/>
                                          </p:val>
                                        </p:tav>
                                        <p:tav tm="100000">
                                          <p:val>
                                            <p:strVal val="#ppt_h"/>
                                          </p:val>
                                        </p:tav>
                                      </p:tavLst>
                                    </p:anim>
                                    <p:animEffect transition="in" filter="fade">
                                      <p:cBhvr>
                                        <p:cTn id="21" dur="500"/>
                                        <p:tgtEl>
                                          <p:spTgt spid="18"/>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2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1E8C5036-0C1A-493B-9C5D-D5BE768037A9}"/>
              </a:ext>
            </a:extLst>
          </p:cNvPr>
          <p:cNvSpPr>
            <a:spLocks noChangeArrowheads="1"/>
          </p:cNvSpPr>
          <p:nvPr/>
        </p:nvSpPr>
        <p:spPr bwMode="auto">
          <a:xfrm>
            <a:off x="2233351" y="1471910"/>
            <a:ext cx="4479403"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2">
                    <a:lumMod val="50000"/>
                  </a:schemeClr>
                </a:solidFill>
                <a:effectLst/>
                <a:latin typeface="+mn-lt"/>
              </a:rPr>
              <a:t>Briefing: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2">
                    <a:lumMod val="50000"/>
                  </a:schemeClr>
                </a:solidFill>
                <a:effectLst/>
                <a:latin typeface="+mn-lt"/>
              </a:rPr>
              <a:t> British Computer Society (BCS) is the UK’s Chartered Institute for IT, founded in 1957 and granted its Royal Charter in 1984. It promotes computing education, professional standards, chartered status (CITP, CEng), ethics, and diversity for public benefit  </a:t>
            </a:r>
            <a:r>
              <a:rPr kumimoji="0" lang="en-US" altLang="en-US" sz="1400" b="0" i="0" u="none" strike="noStrike" cap="none" normalizeH="0" baseline="0" dirty="0">
                <a:ln>
                  <a:noFill/>
                </a:ln>
                <a:solidFill>
                  <a:schemeClr val="tx2">
                    <a:lumMod val="50000"/>
                  </a:schemeClr>
                </a:solidFill>
                <a:effectLst/>
                <a:latin typeface="+mn-lt"/>
                <a:hlinkClick r:id="rId2">
                  <a:extLst>
                    <a:ext uri="{A12FA001-AC4F-418D-AE19-62706E023703}">
                      <ahyp:hlinkClr xmlns:ahyp="http://schemas.microsoft.com/office/drawing/2018/hyperlinkcolor" val="tx"/>
                    </a:ext>
                  </a:extLst>
                </a:hlinkClick>
              </a:rPr>
              <a:t>wikipedia.org</a:t>
            </a:r>
            <a:r>
              <a:rPr kumimoji="0" lang="en-US" altLang="en-US" sz="1400" b="0" i="0" u="none" strike="noStrike" cap="none" normalizeH="0" baseline="0" dirty="0">
                <a:ln>
                  <a:noFill/>
                </a:ln>
                <a:solidFill>
                  <a:schemeClr val="tx2">
                    <a:lumMod val="50000"/>
                  </a:schemeClr>
                </a:solidFill>
                <a:effectLst/>
                <a:latin typeface="+mn-lt"/>
              </a:rPr>
              <a:t>(</a:t>
            </a:r>
            <a:r>
              <a:rPr kumimoji="0" lang="en-US" altLang="en-US" sz="1400" b="0" i="0" u="sng" strike="noStrike" cap="none" normalizeH="0" baseline="0" dirty="0">
                <a:ln>
                  <a:noFill/>
                </a:ln>
                <a:solidFill>
                  <a:schemeClr val="tx2">
                    <a:lumMod val="50000"/>
                  </a:schemeClr>
                </a:solidFill>
                <a:effectLst/>
                <a:latin typeface="+mn-lt"/>
                <a:hlinkClick r:id="rId2">
                  <a:extLst>
                    <a:ext uri="{A12FA001-AC4F-418D-AE19-62706E023703}">
                      <ahyp:hlinkClr xmlns:ahyp="http://schemas.microsoft.com/office/drawing/2018/hyperlinkcolor" val="tx"/>
                    </a:ext>
                  </a:extLst>
                </a:hlinkClick>
              </a:rPr>
              <a:t>en.wikipedia.org</a:t>
            </a:r>
            <a:r>
              <a:rPr kumimoji="0" lang="en-US" altLang="en-US" sz="1400" b="0" i="0" u="none" strike="noStrike" cap="none" normalizeH="0" baseline="0" dirty="0">
                <a:ln>
                  <a:noFill/>
                </a:ln>
                <a:solidFill>
                  <a:schemeClr val="tx2">
                    <a:lumMod val="50000"/>
                  </a:schemeClr>
                </a:solidFill>
                <a:effectLst/>
                <a:latin typeface="+mn-lt"/>
              </a:rPr>
              <a:t>).</a:t>
            </a:r>
            <a:br>
              <a:rPr kumimoji="0" lang="en-US" altLang="en-US" sz="1400" b="0" i="0" u="none" strike="noStrike" cap="none" normalizeH="0" baseline="0" dirty="0">
                <a:ln>
                  <a:noFill/>
                </a:ln>
                <a:solidFill>
                  <a:schemeClr val="tx2">
                    <a:lumMod val="50000"/>
                  </a:schemeClr>
                </a:solidFill>
                <a:effectLst/>
                <a:latin typeface="+mn-lt"/>
              </a:rPr>
            </a:b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2">
                    <a:lumMod val="50000"/>
                  </a:schemeClr>
                </a:solidFill>
                <a:effectLst/>
                <a:latin typeface="+mn-lt"/>
              </a:rPr>
              <a:t> BCS currently serves ~70,000 members across 150 countries, anchored on four strategic pillars — Membership, Inspiration, Progression, Influence — with a sharp focus on ethics, skills, education, and public trust in technology </a:t>
            </a:r>
            <a:r>
              <a:rPr kumimoji="0" lang="en-US" altLang="en-US" sz="1400" b="0" i="0" u="none" strike="noStrike" cap="none" normalizeH="0" baseline="0" dirty="0">
                <a:ln>
                  <a:noFill/>
                </a:ln>
                <a:solidFill>
                  <a:schemeClr val="tx2">
                    <a:lumMod val="50000"/>
                  </a:schemeClr>
                </a:solidFill>
                <a:effectLst/>
                <a:latin typeface="+mn-lt"/>
                <a:hlinkClick r:id="rId3">
                  <a:extLst>
                    <a:ext uri="{A12FA001-AC4F-418D-AE19-62706E023703}">
                      <ahyp:hlinkClr xmlns:ahyp="http://schemas.microsoft.com/office/drawing/2018/hyperlinkcolor" val="tx"/>
                    </a:ext>
                  </a:extLst>
                </a:hlinkClick>
              </a:rPr>
              <a:t>bcs.org</a:t>
            </a:r>
            <a:r>
              <a:rPr kumimoji="0" lang="en-US" altLang="en-US" sz="1400" b="0" i="0" u="none" strike="noStrike" cap="none" normalizeH="0" baseline="0" dirty="0">
                <a:ln>
                  <a:noFill/>
                </a:ln>
                <a:solidFill>
                  <a:schemeClr val="tx2">
                    <a:lumMod val="50000"/>
                  </a:schemeClr>
                </a:solidFill>
                <a:effectLst/>
                <a:latin typeface="+mn-lt"/>
              </a:rPr>
              <a:t>(</a:t>
            </a:r>
            <a:r>
              <a:rPr kumimoji="0" lang="en-US" altLang="en-US" sz="1400" b="0" i="0" u="sng" strike="noStrike" cap="none" normalizeH="0" baseline="0" dirty="0">
                <a:ln>
                  <a:noFill/>
                </a:ln>
                <a:solidFill>
                  <a:schemeClr val="tx2">
                    <a:lumMod val="50000"/>
                  </a:schemeClr>
                </a:solidFill>
                <a:effectLst/>
                <a:latin typeface="+mn-lt"/>
                <a:hlinkClick r:id="rId3">
                  <a:extLst>
                    <a:ext uri="{A12FA001-AC4F-418D-AE19-62706E023703}">
                      <ahyp:hlinkClr xmlns:ahyp="http://schemas.microsoft.com/office/drawing/2018/hyperlinkcolor" val="tx"/>
                    </a:ext>
                  </a:extLst>
                </a:hlinkClick>
              </a:rPr>
              <a:t>bcs.org</a:t>
            </a:r>
            <a:r>
              <a:rPr kumimoji="0" lang="en-US" altLang="en-US" sz="1400" b="0" i="0" u="none" strike="noStrike" cap="none" normalizeH="0" baseline="0" dirty="0">
                <a:ln>
                  <a:noFill/>
                </a:ln>
                <a:solidFill>
                  <a:schemeClr val="tx2">
                    <a:lumMod val="50000"/>
                  </a:schemeClr>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chemeClr val="tx2">
                  <a:lumMod val="50000"/>
                </a:schemeClr>
              </a:solidFill>
              <a:latin typeface="+mn-lt"/>
            </a:endParaRPr>
          </a:p>
        </p:txBody>
      </p:sp>
      <p:sp>
        <p:nvSpPr>
          <p:cNvPr id="4" name="Title 1">
            <a:extLst>
              <a:ext uri="{FF2B5EF4-FFF2-40B4-BE49-F238E27FC236}">
                <a16:creationId xmlns:a16="http://schemas.microsoft.com/office/drawing/2014/main" id="{1E33EB7B-1D92-4AA2-022B-92D45ABFAFCD}"/>
              </a:ext>
            </a:extLst>
          </p:cNvPr>
          <p:cNvSpPr>
            <a:spLocks noGrp="1"/>
          </p:cNvSpPr>
          <p:nvPr>
            <p:ph type="title"/>
          </p:nvPr>
        </p:nvSpPr>
        <p:spPr>
          <a:xfrm>
            <a:off x="838200" y="365125"/>
            <a:ext cx="10515600" cy="1325563"/>
          </a:xfrm>
        </p:spPr>
        <p:txBody>
          <a:bodyPr/>
          <a:lstStyle/>
          <a:p>
            <a:r>
              <a:rPr lang="en-GB" dirty="0"/>
              <a:t>Demo: AI Enabled Consultancy Co-Worker (5) </a:t>
            </a:r>
            <a:endParaRPr lang="en-GB" sz="1600" dirty="0"/>
          </a:p>
        </p:txBody>
      </p:sp>
      <p:sp>
        <p:nvSpPr>
          <p:cNvPr id="6" name="Oval 124">
            <a:extLst>
              <a:ext uri="{FF2B5EF4-FFF2-40B4-BE49-F238E27FC236}">
                <a16:creationId xmlns:a16="http://schemas.microsoft.com/office/drawing/2014/main" id="{0962518D-2D13-3D19-F2FF-E40D428BD9DD}"/>
              </a:ext>
            </a:extLst>
          </p:cNvPr>
          <p:cNvSpPr>
            <a:spLocks noChangeArrowheads="1"/>
          </p:cNvSpPr>
          <p:nvPr/>
        </p:nvSpPr>
        <p:spPr bwMode="auto">
          <a:xfrm>
            <a:off x="601883" y="1690688"/>
            <a:ext cx="1016000" cy="101600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7" name="Graphic 6" descr="Document outline">
            <a:extLst>
              <a:ext uri="{FF2B5EF4-FFF2-40B4-BE49-F238E27FC236}">
                <a16:creationId xmlns:a16="http://schemas.microsoft.com/office/drawing/2014/main" id="{B130534E-FEB0-BD15-59EA-1BEFF08C7A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3475" y="1855145"/>
            <a:ext cx="684674" cy="684674"/>
          </a:xfrm>
          <a:prstGeom prst="rect">
            <a:avLst/>
          </a:prstGeom>
        </p:spPr>
      </p:pic>
      <p:sp>
        <p:nvSpPr>
          <p:cNvPr id="10" name="Rectangle 1">
            <a:extLst>
              <a:ext uri="{FF2B5EF4-FFF2-40B4-BE49-F238E27FC236}">
                <a16:creationId xmlns:a16="http://schemas.microsoft.com/office/drawing/2014/main" id="{5A0A3988-2902-A457-F40A-7C7D6FEDDE2C}"/>
              </a:ext>
            </a:extLst>
          </p:cNvPr>
          <p:cNvSpPr>
            <a:spLocks noChangeArrowheads="1"/>
          </p:cNvSpPr>
          <p:nvPr/>
        </p:nvSpPr>
        <p:spPr bwMode="auto">
          <a:xfrm>
            <a:off x="7328222" y="1471910"/>
            <a:ext cx="4479403"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lumMod val="50000"/>
                  </a:schemeClr>
                </a:solidFill>
                <a:effectLst/>
                <a:latin typeface="+mn-lt"/>
              </a:rPr>
              <a:t>Recommended AI strategy directions: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 </a:t>
            </a:r>
            <a:r>
              <a:rPr kumimoji="0" lang="en-US" altLang="en-US" sz="1400" b="1" i="0" u="none" strike="noStrike" cap="none" normalizeH="0" baseline="0" dirty="0">
                <a:ln>
                  <a:noFill/>
                </a:ln>
                <a:solidFill>
                  <a:schemeClr val="tx2">
                    <a:lumMod val="50000"/>
                  </a:schemeClr>
                </a:solidFill>
                <a:effectLst/>
                <a:latin typeface="+mn-lt"/>
              </a:rPr>
              <a:t>Establish an AI Ethics Framework and Professional Accreditation</a:t>
            </a:r>
            <a:r>
              <a:rPr kumimoji="0" lang="en-US" altLang="en-US" sz="1400" b="0" i="0" u="none" strike="noStrike" cap="none" normalizeH="0" baseline="0" dirty="0">
                <a:ln>
                  <a:noFill/>
                </a:ln>
                <a:solidFill>
                  <a:schemeClr val="tx2">
                    <a:lumMod val="50000"/>
                  </a:schemeClr>
                </a:solidFill>
                <a:effectLst/>
                <a:latin typeface="+mn-lt"/>
              </a:rPr>
              <a:t>: Build on BCS’s ethical mandate to define standards or a charter for ethical AI. Offer specialist accreditation (e.g. CITP-AI), reinforcing accountability and trust  </a:t>
            </a:r>
            <a:r>
              <a:rPr kumimoji="0" lang="en-US" altLang="en-US" sz="1400" b="0" i="0" u="none" strike="noStrike" cap="none" normalizeH="0" baseline="0" dirty="0">
                <a:ln>
                  <a:noFill/>
                </a:ln>
                <a:solidFill>
                  <a:schemeClr val="tx2">
                    <a:lumMod val="50000"/>
                  </a:schemeClr>
                </a:solidFill>
                <a:effectLst/>
                <a:latin typeface="+mn-lt"/>
                <a:hlinkClick r:id="rId6">
                  <a:extLst>
                    <a:ext uri="{A12FA001-AC4F-418D-AE19-62706E023703}">
                      <ahyp:hlinkClr xmlns:ahyp="http://schemas.microsoft.com/office/drawing/2018/hyperlinkcolor" val="tx"/>
                    </a:ext>
                  </a:extLst>
                </a:hlinkClick>
              </a:rPr>
              <a:t>bcs.org</a:t>
            </a:r>
            <a:r>
              <a:rPr kumimoji="0" lang="en-US" altLang="en-US" sz="1400" b="0" i="0" u="none" strike="noStrike" cap="none" normalizeH="0" baseline="0" dirty="0">
                <a:ln>
                  <a:noFill/>
                </a:ln>
                <a:solidFill>
                  <a:schemeClr val="tx2">
                    <a:lumMod val="50000"/>
                  </a:schemeClr>
                </a:solidFill>
                <a:effectLst/>
                <a:latin typeface="+mn-lt"/>
              </a:rPr>
              <a:t>(</a:t>
            </a:r>
            <a:r>
              <a:rPr kumimoji="0" lang="en-US" altLang="en-US" sz="1400" b="0" i="0" u="sng" strike="noStrike" cap="none" normalizeH="0" baseline="0" dirty="0">
                <a:ln>
                  <a:noFill/>
                </a:ln>
                <a:solidFill>
                  <a:schemeClr val="tx2">
                    <a:lumMod val="50000"/>
                  </a:schemeClr>
                </a:solidFill>
                <a:effectLst/>
                <a:latin typeface="+mn-lt"/>
                <a:hlinkClick r:id="rId6">
                  <a:extLst>
                    <a:ext uri="{A12FA001-AC4F-418D-AE19-62706E023703}">
                      <ahyp:hlinkClr xmlns:ahyp="http://schemas.microsoft.com/office/drawing/2018/hyperlinkcolor" val="tx"/>
                    </a:ext>
                  </a:extLst>
                </a:hlinkClick>
              </a:rPr>
              <a:t>bcs.org</a:t>
            </a:r>
            <a:r>
              <a:rPr kumimoji="0" lang="en-US" altLang="en-US" sz="1400" b="0" i="0" u="none" strike="noStrike" cap="none" normalizeH="0" baseline="0" dirty="0">
                <a:ln>
                  <a:noFill/>
                </a:ln>
                <a:solidFill>
                  <a:schemeClr val="tx2">
                    <a:lumMod val="50000"/>
                  </a:schemeClr>
                </a:solidFill>
                <a:effectLst/>
                <a:latin typeface="+mn-lt"/>
              </a:rPr>
              <a:t>).</a:t>
            </a:r>
            <a:br>
              <a:rPr kumimoji="0" lang="en-US" altLang="en-US" sz="1400" b="0" i="0" u="none" strike="noStrike" cap="none" normalizeH="0" baseline="0" dirty="0">
                <a:ln>
                  <a:noFill/>
                </a:ln>
                <a:solidFill>
                  <a:schemeClr val="tx2">
                    <a:lumMod val="50000"/>
                  </a:schemeClr>
                </a:solidFill>
                <a:effectLst/>
                <a:latin typeface="+mn-lt"/>
              </a:rPr>
            </a:br>
            <a:br>
              <a:rPr kumimoji="0" lang="en-US" altLang="en-US" sz="1400" b="0" i="0" u="none" strike="noStrike" cap="none" normalizeH="0" baseline="0" dirty="0">
                <a:ln>
                  <a:noFill/>
                </a:ln>
                <a:solidFill>
                  <a:schemeClr val="tx2">
                    <a:lumMod val="50000"/>
                  </a:schemeClr>
                </a:solidFill>
                <a:effectLst/>
                <a:latin typeface="+mn-lt"/>
              </a:rPr>
            </a:br>
            <a:r>
              <a:rPr kumimoji="0" lang="en-US" altLang="en-US" sz="1400" b="0" i="0" u="none" strike="noStrike" cap="none" normalizeH="0" baseline="0" dirty="0">
                <a:ln>
                  <a:noFill/>
                </a:ln>
                <a:solidFill>
                  <a:schemeClr val="tx2">
                    <a:lumMod val="50000"/>
                  </a:schemeClr>
                </a:solidFill>
                <a:effectLst/>
                <a:latin typeface="+mn-lt"/>
              </a:rPr>
              <a:t>• </a:t>
            </a:r>
            <a:r>
              <a:rPr kumimoji="0" lang="en-US" altLang="en-US" sz="1400" b="1" i="0" u="none" strike="noStrike" cap="none" normalizeH="0" baseline="0" dirty="0">
                <a:ln>
                  <a:noFill/>
                </a:ln>
                <a:solidFill>
                  <a:schemeClr val="tx2">
                    <a:lumMod val="50000"/>
                  </a:schemeClr>
                </a:solidFill>
                <a:effectLst/>
                <a:latin typeface="+mn-lt"/>
              </a:rPr>
              <a:t>Embed AI into Education &amp; Skills</a:t>
            </a:r>
            <a:r>
              <a:rPr kumimoji="0" lang="en-US" altLang="en-US" sz="1400" b="0" i="0" u="none" strike="noStrike" cap="none" normalizeH="0" baseline="0" dirty="0">
                <a:ln>
                  <a:noFill/>
                </a:ln>
                <a:solidFill>
                  <a:schemeClr val="tx2">
                    <a:lumMod val="50000"/>
                  </a:schemeClr>
                </a:solidFill>
                <a:effectLst/>
                <a:latin typeface="+mn-lt"/>
              </a:rPr>
              <a:t>: Develop AI learning paths within school (Inspiration) and professional development frameworks (Progression). Align with digital literacy and diversity goals.</a:t>
            </a:r>
            <a:br>
              <a:rPr kumimoji="0" lang="en-US" altLang="en-US" sz="1400" b="0" i="0" u="none" strike="noStrike" cap="none" normalizeH="0" baseline="0" dirty="0">
                <a:ln>
                  <a:noFill/>
                </a:ln>
                <a:solidFill>
                  <a:schemeClr val="tx2">
                    <a:lumMod val="50000"/>
                  </a:schemeClr>
                </a:solidFill>
                <a:effectLst/>
                <a:latin typeface="+mn-lt"/>
              </a:rPr>
            </a:br>
            <a:br>
              <a:rPr kumimoji="0" lang="en-US" altLang="en-US" sz="1400" b="0" i="0" u="none" strike="noStrike" cap="none" normalizeH="0" baseline="0" dirty="0">
                <a:ln>
                  <a:noFill/>
                </a:ln>
                <a:solidFill>
                  <a:schemeClr val="tx2">
                    <a:lumMod val="50000"/>
                  </a:schemeClr>
                </a:solidFill>
                <a:effectLst/>
                <a:latin typeface="+mn-lt"/>
              </a:rPr>
            </a:br>
            <a:r>
              <a:rPr kumimoji="0" lang="en-US" altLang="en-US" sz="1400" b="0" i="0" u="none" strike="noStrike" cap="none" normalizeH="0" baseline="0" dirty="0">
                <a:ln>
                  <a:noFill/>
                </a:ln>
                <a:solidFill>
                  <a:schemeClr val="tx2">
                    <a:lumMod val="50000"/>
                  </a:schemeClr>
                </a:solidFill>
                <a:effectLst/>
                <a:latin typeface="+mn-lt"/>
              </a:rPr>
              <a:t>• </a:t>
            </a:r>
            <a:r>
              <a:rPr kumimoji="0" lang="en-US" altLang="en-US" sz="1400" b="1" i="0" u="none" strike="noStrike" cap="none" normalizeH="0" baseline="0" dirty="0">
                <a:ln>
                  <a:noFill/>
                </a:ln>
                <a:solidFill>
                  <a:schemeClr val="tx2">
                    <a:lumMod val="50000"/>
                  </a:schemeClr>
                </a:solidFill>
                <a:effectLst/>
                <a:latin typeface="+mn-lt"/>
              </a:rPr>
              <a:t>Advocate and Influence AI Policy</a:t>
            </a:r>
            <a:r>
              <a:rPr kumimoji="0" lang="en-US" altLang="en-US" sz="1400" b="0" i="0" u="none" strike="noStrike" cap="none" normalizeH="0" baseline="0" dirty="0">
                <a:ln>
                  <a:noFill/>
                </a:ln>
                <a:solidFill>
                  <a:schemeClr val="tx2">
                    <a:lumMod val="50000"/>
                  </a:schemeClr>
                </a:solidFill>
                <a:effectLst/>
                <a:latin typeface="+mn-lt"/>
              </a:rPr>
              <a:t>: Use BCS’s Influence platform to shape public policy on AI regulation, governance and workforce readiness.</a:t>
            </a:r>
            <a:br>
              <a:rPr kumimoji="0" lang="en-US" altLang="en-US" sz="1400" b="0" i="0" u="none" strike="noStrike" cap="none" normalizeH="0" baseline="0" dirty="0">
                <a:ln>
                  <a:noFill/>
                </a:ln>
                <a:solidFill>
                  <a:schemeClr val="tx2">
                    <a:lumMod val="50000"/>
                  </a:schemeClr>
                </a:solidFill>
                <a:effectLst/>
                <a:latin typeface="+mn-lt"/>
              </a:rPr>
            </a:br>
            <a:br>
              <a:rPr kumimoji="0" lang="en-US" altLang="en-US" sz="1400" b="0" i="0" u="none" strike="noStrike" cap="none" normalizeH="0" baseline="0" dirty="0">
                <a:ln>
                  <a:noFill/>
                </a:ln>
                <a:solidFill>
                  <a:schemeClr val="tx2">
                    <a:lumMod val="50000"/>
                  </a:schemeClr>
                </a:solidFill>
                <a:effectLst/>
                <a:latin typeface="+mn-lt"/>
              </a:rPr>
            </a:br>
            <a:r>
              <a:rPr kumimoji="0" lang="en-US" altLang="en-US" sz="1400" b="0" i="0" u="none" strike="noStrike" cap="none" normalizeH="0" baseline="0" dirty="0">
                <a:ln>
                  <a:noFill/>
                </a:ln>
                <a:solidFill>
                  <a:schemeClr val="tx2">
                    <a:lumMod val="50000"/>
                  </a:schemeClr>
                </a:solidFill>
                <a:effectLst/>
                <a:latin typeface="+mn-lt"/>
              </a:rPr>
              <a:t>• </a:t>
            </a:r>
            <a:r>
              <a:rPr kumimoji="0" lang="en-US" altLang="en-US" sz="1400" b="1" i="0" u="none" strike="noStrike" cap="none" normalizeH="0" baseline="0" dirty="0">
                <a:ln>
                  <a:noFill/>
                </a:ln>
                <a:solidFill>
                  <a:schemeClr val="tx2">
                    <a:lumMod val="50000"/>
                  </a:schemeClr>
                </a:solidFill>
                <a:effectLst/>
                <a:latin typeface="+mn-lt"/>
              </a:rPr>
              <a:t>Foster Inclusive AI Communities</a:t>
            </a:r>
            <a:r>
              <a:rPr kumimoji="0" lang="en-US" altLang="en-US" sz="1400" b="0" i="0" u="none" strike="noStrike" cap="none" normalizeH="0" baseline="0" dirty="0">
                <a:ln>
                  <a:noFill/>
                </a:ln>
                <a:solidFill>
                  <a:schemeClr val="tx2">
                    <a:lumMod val="50000"/>
                  </a:schemeClr>
                </a:solidFill>
                <a:effectLst/>
                <a:latin typeface="+mn-lt"/>
              </a:rPr>
              <a:t>: Launch specialist AI interest groups to accelerate peer learning, research translation, and ensure under‑represented groups are engaged in AI development.</a:t>
            </a:r>
            <a:br>
              <a:rPr kumimoji="0" lang="en-US" altLang="en-US" sz="1400" b="0" i="0" u="none" strike="noStrike" cap="none" normalizeH="0" baseline="0" dirty="0">
                <a:ln>
                  <a:noFill/>
                </a:ln>
                <a:solidFill>
                  <a:schemeClr val="tx2">
                    <a:lumMod val="50000"/>
                  </a:schemeClr>
                </a:solidFill>
                <a:effectLst/>
                <a:latin typeface="+mn-lt"/>
              </a:rPr>
            </a:b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2">
                    <a:lumMod val="50000"/>
                  </a:schemeClr>
                </a:solidFill>
                <a:effectLst/>
                <a:latin typeface="+mn-lt"/>
              </a:rPr>
              <a:t>Each initiative aligns with BCS’s charter, supports its strategic pillars, and strengthens its mission of “making IT good for society.”</a:t>
            </a:r>
          </a:p>
        </p:txBody>
      </p:sp>
    </p:spTree>
    <p:extLst>
      <p:ext uri="{BB962C8B-B14F-4D97-AF65-F5344CB8AC3E}">
        <p14:creationId xmlns:p14="http://schemas.microsoft.com/office/powerpoint/2010/main" val="147961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57047-555E-DE11-DAB1-29F6EA32D4E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613169F2-F893-2F5A-44D4-9E15D79C9017}"/>
              </a:ext>
            </a:extLst>
          </p:cNvPr>
          <p:cNvSpPr>
            <a:spLocks noChangeArrowheads="1"/>
          </p:cNvSpPr>
          <p:nvPr/>
        </p:nvSpPr>
        <p:spPr bwMode="auto">
          <a:xfrm>
            <a:off x="2233351" y="1578858"/>
            <a:ext cx="4479403"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chemeClr val="tx2">
                    <a:lumMod val="50000"/>
                  </a:schemeClr>
                </a:solidFill>
                <a:latin typeface="+mn-lt"/>
              </a:rPr>
              <a:t>1. Establish AI Strategy Taskforce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Owner: BCS Chief Executive, Consulting Lead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Timeline: Month 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Outcome: Cross-functional team (internal/external) formed to steer AI strategy.</a:t>
            </a:r>
            <a:br>
              <a:rPr lang="en-US" altLang="en-US" sz="1400" dirty="0">
                <a:solidFill>
                  <a:schemeClr val="tx2">
                    <a:lumMod val="50000"/>
                  </a:schemeClr>
                </a:solidFill>
                <a:latin typeface="+mn-lt"/>
              </a:rPr>
            </a:br>
            <a:endParaRPr lang="en-US" altLang="en-US" sz="1400" dirty="0">
              <a:solidFill>
                <a:schemeClr val="tx2">
                  <a:lumMod val="50000"/>
                </a:schemeClr>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chemeClr val="tx2">
                    <a:lumMod val="50000"/>
                  </a:schemeClr>
                </a:solidFill>
                <a:latin typeface="+mn-lt"/>
              </a:rPr>
              <a:t>2. Define Strategic Vision &amp; Stakeholder Needs</a:t>
            </a:r>
            <a:endParaRPr lang="en-US" altLang="en-US" sz="1400" dirty="0">
              <a:solidFill>
                <a:schemeClr val="tx2">
                  <a:lumMod val="50000"/>
                </a:schemeClr>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Owner: Taskforce, Consulting Team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Timeline: Months 1-2</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Outcome: Vision statement, mapped stakeholder requirements (members, educators, industry, policymakers).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chemeClr val="tx2">
                  <a:lumMod val="50000"/>
                </a:schemeClr>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chemeClr val="tx2">
                    <a:lumMod val="50000"/>
                  </a:schemeClr>
                </a:solidFill>
                <a:latin typeface="+mn-lt"/>
              </a:rPr>
              <a:t>3. Assess Current Capabilities &amp; Gaps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Owner: Consultants, BCS Department Heads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Timeline: Months 2-3</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Outcome: SWOT analysis, readiness assessment for people, technology, governance, and ethics.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chemeClr val="tx2">
                  <a:lumMod val="50000"/>
                </a:schemeClr>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solidFill>
                  <a:schemeClr val="tx2">
                    <a:lumMod val="50000"/>
                  </a:schemeClr>
                </a:solidFill>
                <a:latin typeface="+mn-lt"/>
              </a:rPr>
              <a:t>4. Develop AI Ethics &amp; Accreditation Framework</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Owner: Ethics Board, Consultants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Timeline: Months 3-5</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2">
                    <a:lumMod val="50000"/>
                  </a:schemeClr>
                </a:solidFill>
                <a:latin typeface="+mn-lt"/>
              </a:rPr>
              <a:t>Outcome: Draft ethics framework; roadmap for new AI professional accreditations..</a:t>
            </a:r>
          </a:p>
        </p:txBody>
      </p:sp>
      <p:sp>
        <p:nvSpPr>
          <p:cNvPr id="4" name="Title 1">
            <a:extLst>
              <a:ext uri="{FF2B5EF4-FFF2-40B4-BE49-F238E27FC236}">
                <a16:creationId xmlns:a16="http://schemas.microsoft.com/office/drawing/2014/main" id="{E9A7CD66-BF3C-64E0-5825-ADD35D763E50}"/>
              </a:ext>
            </a:extLst>
          </p:cNvPr>
          <p:cNvSpPr>
            <a:spLocks noGrp="1"/>
          </p:cNvSpPr>
          <p:nvPr>
            <p:ph type="title"/>
          </p:nvPr>
        </p:nvSpPr>
        <p:spPr>
          <a:xfrm>
            <a:off x="838200" y="365125"/>
            <a:ext cx="10515600" cy="1325563"/>
          </a:xfrm>
        </p:spPr>
        <p:txBody>
          <a:bodyPr/>
          <a:lstStyle/>
          <a:p>
            <a:r>
              <a:rPr lang="en-GB" dirty="0"/>
              <a:t>Demo: AI Enabled Consultancy Co-Worker (6) </a:t>
            </a:r>
            <a:endParaRPr lang="en-GB" sz="1600" dirty="0"/>
          </a:p>
        </p:txBody>
      </p:sp>
      <p:sp>
        <p:nvSpPr>
          <p:cNvPr id="10" name="Rectangle 1">
            <a:extLst>
              <a:ext uri="{FF2B5EF4-FFF2-40B4-BE49-F238E27FC236}">
                <a16:creationId xmlns:a16="http://schemas.microsoft.com/office/drawing/2014/main" id="{9975B9D7-D9A9-0511-7ACF-94531A3C240F}"/>
              </a:ext>
            </a:extLst>
          </p:cNvPr>
          <p:cNvSpPr>
            <a:spLocks noChangeArrowheads="1"/>
          </p:cNvSpPr>
          <p:nvPr/>
        </p:nvSpPr>
        <p:spPr bwMode="auto">
          <a:xfrm>
            <a:off x="7328222" y="1578857"/>
            <a:ext cx="4479403"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1400" b="1" dirty="0">
                <a:solidFill>
                  <a:schemeClr val="tx2">
                    <a:lumMod val="50000"/>
                  </a:schemeClr>
                </a:solidFill>
                <a:latin typeface="+mn-lt"/>
              </a:rPr>
              <a:t>5. Launch AI Education &amp; Skills Initiatives</a:t>
            </a:r>
          </a:p>
          <a:p>
            <a:pPr lvl="0"/>
            <a:r>
              <a:rPr lang="en-US" altLang="en-US" sz="1400" dirty="0">
                <a:solidFill>
                  <a:schemeClr val="tx2">
                    <a:lumMod val="50000"/>
                  </a:schemeClr>
                </a:solidFill>
                <a:latin typeface="+mn-lt"/>
              </a:rPr>
              <a:t>Owner: BCS Education &amp; Membership Teams</a:t>
            </a:r>
          </a:p>
          <a:p>
            <a:pPr lvl="0"/>
            <a:r>
              <a:rPr lang="en-US" altLang="en-US" sz="1400" dirty="0">
                <a:solidFill>
                  <a:schemeClr val="tx2">
                    <a:lumMod val="50000"/>
                  </a:schemeClr>
                </a:solidFill>
                <a:latin typeface="+mn-lt"/>
              </a:rPr>
              <a:t>Timeline: Months 4-7</a:t>
            </a:r>
          </a:p>
          <a:p>
            <a:pPr lvl="0"/>
            <a:r>
              <a:rPr lang="en-US" altLang="en-US" sz="1400" dirty="0">
                <a:solidFill>
                  <a:schemeClr val="tx2">
                    <a:lumMod val="50000"/>
                  </a:schemeClr>
                </a:solidFill>
                <a:latin typeface="+mn-lt"/>
              </a:rPr>
              <a:t>Outcome: School outreach, new AI learning paths, member upskilling </a:t>
            </a:r>
            <a:r>
              <a:rPr lang="en-US" altLang="en-US" sz="1400" dirty="0" err="1">
                <a:solidFill>
                  <a:schemeClr val="tx2">
                    <a:lumMod val="50000"/>
                  </a:schemeClr>
                </a:solidFill>
                <a:latin typeface="+mn-lt"/>
              </a:rPr>
              <a:t>programmes</a:t>
            </a:r>
            <a:r>
              <a:rPr lang="en-US" altLang="en-US" sz="1400" dirty="0">
                <a:solidFill>
                  <a:schemeClr val="tx2">
                    <a:lumMod val="50000"/>
                  </a:schemeClr>
                </a:solidFill>
                <a:latin typeface="+mn-lt"/>
              </a:rPr>
              <a:t>.</a:t>
            </a:r>
          </a:p>
          <a:p>
            <a:pPr lvl="0"/>
            <a:endParaRPr lang="en-US" altLang="en-US" sz="1400" dirty="0">
              <a:solidFill>
                <a:schemeClr val="tx2">
                  <a:lumMod val="50000"/>
                </a:schemeClr>
              </a:solidFill>
              <a:latin typeface="+mn-lt"/>
            </a:endParaRPr>
          </a:p>
          <a:p>
            <a:pPr lvl="0"/>
            <a:r>
              <a:rPr lang="en-US" altLang="en-US" sz="1400" b="1" dirty="0">
                <a:solidFill>
                  <a:schemeClr val="tx2">
                    <a:lumMod val="50000"/>
                  </a:schemeClr>
                </a:solidFill>
                <a:latin typeface="+mn-lt"/>
              </a:rPr>
              <a:t>6. Policy Advocacy &amp; Public Engagement</a:t>
            </a:r>
          </a:p>
          <a:p>
            <a:pPr lvl="0"/>
            <a:r>
              <a:rPr lang="en-US" altLang="en-US" sz="1400" dirty="0">
                <a:solidFill>
                  <a:schemeClr val="tx2">
                    <a:lumMod val="50000"/>
                  </a:schemeClr>
                </a:solidFill>
                <a:latin typeface="+mn-lt"/>
              </a:rPr>
              <a:t>Owner: Policy/PR Lead, CEO</a:t>
            </a:r>
          </a:p>
          <a:p>
            <a:pPr lvl="0"/>
            <a:r>
              <a:rPr lang="en-US" altLang="en-US" sz="1400" dirty="0">
                <a:solidFill>
                  <a:schemeClr val="tx2">
                    <a:lumMod val="50000"/>
                  </a:schemeClr>
                </a:solidFill>
                <a:latin typeface="+mn-lt"/>
              </a:rPr>
              <a:t>Timeline: Months 3-8</a:t>
            </a:r>
          </a:p>
          <a:p>
            <a:pPr lvl="0"/>
            <a:r>
              <a:rPr lang="en-US" altLang="en-US" sz="1400" dirty="0">
                <a:solidFill>
                  <a:schemeClr val="tx2">
                    <a:lumMod val="50000"/>
                  </a:schemeClr>
                </a:solidFill>
                <a:latin typeface="+mn-lt"/>
              </a:rPr>
              <a:t>Outcome: Published AI policy position; engagement forums for members and public.</a:t>
            </a:r>
          </a:p>
          <a:p>
            <a:pPr lvl="0"/>
            <a:endParaRPr lang="en-US" altLang="en-US" sz="1400" b="1" dirty="0">
              <a:solidFill>
                <a:schemeClr val="tx2">
                  <a:lumMod val="50000"/>
                </a:schemeClr>
              </a:solidFill>
              <a:latin typeface="+mn-lt"/>
            </a:endParaRPr>
          </a:p>
          <a:p>
            <a:pPr lvl="0"/>
            <a:r>
              <a:rPr lang="en-US" altLang="en-US" sz="1400" b="1" dirty="0">
                <a:solidFill>
                  <a:schemeClr val="tx2">
                    <a:lumMod val="50000"/>
                  </a:schemeClr>
                </a:solidFill>
                <a:latin typeface="+mn-lt"/>
              </a:rPr>
              <a:t>7. Pilot Specialist AI Communities &amp; Partnerships</a:t>
            </a:r>
          </a:p>
          <a:p>
            <a:pPr lvl="0"/>
            <a:r>
              <a:rPr lang="en-US" altLang="en-US" sz="1400" dirty="0">
                <a:solidFill>
                  <a:schemeClr val="tx2">
                    <a:lumMod val="50000"/>
                  </a:schemeClr>
                </a:solidFill>
                <a:latin typeface="+mn-lt"/>
              </a:rPr>
              <a:t>Owner: Membership, Community Manager</a:t>
            </a:r>
          </a:p>
          <a:p>
            <a:pPr lvl="0"/>
            <a:r>
              <a:rPr lang="en-US" altLang="en-US" sz="1400" dirty="0">
                <a:solidFill>
                  <a:schemeClr val="tx2">
                    <a:lumMod val="50000"/>
                  </a:schemeClr>
                </a:solidFill>
                <a:latin typeface="+mn-lt"/>
              </a:rPr>
              <a:t>Timeline: Months 6-8</a:t>
            </a:r>
          </a:p>
          <a:p>
            <a:pPr lvl="0"/>
            <a:r>
              <a:rPr lang="en-US" altLang="en-US" sz="1400" dirty="0">
                <a:solidFill>
                  <a:schemeClr val="tx2">
                    <a:lumMod val="50000"/>
                  </a:schemeClr>
                </a:solidFill>
                <a:latin typeface="+mn-lt"/>
              </a:rPr>
              <a:t>Outcome: AI special interest groups, partnerships with universities, industry, and diversity groups.</a:t>
            </a:r>
          </a:p>
          <a:p>
            <a:pPr lvl="0"/>
            <a:endParaRPr lang="en-US" altLang="en-US" sz="1400" b="1" dirty="0">
              <a:solidFill>
                <a:schemeClr val="tx2">
                  <a:lumMod val="50000"/>
                </a:schemeClr>
              </a:solidFill>
              <a:latin typeface="+mn-lt"/>
            </a:endParaRPr>
          </a:p>
          <a:p>
            <a:pPr lvl="0"/>
            <a:r>
              <a:rPr lang="en-US" altLang="en-US" sz="1400" b="1" dirty="0">
                <a:solidFill>
                  <a:schemeClr val="tx2">
                    <a:lumMod val="50000"/>
                  </a:schemeClr>
                </a:solidFill>
                <a:latin typeface="+mn-lt"/>
              </a:rPr>
              <a:t>8. Implementation, Monitoring, and Review</a:t>
            </a:r>
          </a:p>
          <a:p>
            <a:pPr lvl="0"/>
            <a:r>
              <a:rPr lang="en-US" altLang="en-US" sz="1400" dirty="0">
                <a:solidFill>
                  <a:schemeClr val="tx2">
                    <a:lumMod val="50000"/>
                  </a:schemeClr>
                </a:solidFill>
                <a:latin typeface="+mn-lt"/>
              </a:rPr>
              <a:t>Owner: Taskforce, Consultants</a:t>
            </a:r>
          </a:p>
          <a:p>
            <a:pPr lvl="0"/>
            <a:r>
              <a:rPr lang="en-US" altLang="en-US" sz="1400" dirty="0">
                <a:solidFill>
                  <a:schemeClr val="tx2">
                    <a:lumMod val="50000"/>
                  </a:schemeClr>
                </a:solidFill>
                <a:latin typeface="+mn-lt"/>
              </a:rPr>
              <a:t>Timeline: Months 8-12</a:t>
            </a:r>
          </a:p>
          <a:p>
            <a:pPr lvl="0"/>
            <a:r>
              <a:rPr lang="en-US" altLang="en-US" sz="1400" dirty="0">
                <a:solidFill>
                  <a:schemeClr val="tx2">
                    <a:lumMod val="50000"/>
                  </a:schemeClr>
                </a:solidFill>
                <a:latin typeface="+mn-lt"/>
              </a:rPr>
              <a:t>Outcome: Execution tracked via KPIs, bi-annual review; iterative improvement.</a:t>
            </a:r>
          </a:p>
        </p:txBody>
      </p:sp>
      <p:sp>
        <p:nvSpPr>
          <p:cNvPr id="2" name="Oval 119">
            <a:extLst>
              <a:ext uri="{FF2B5EF4-FFF2-40B4-BE49-F238E27FC236}">
                <a16:creationId xmlns:a16="http://schemas.microsoft.com/office/drawing/2014/main" id="{1E8C2A3C-6888-F676-9538-387720EB6CBA}"/>
              </a:ext>
            </a:extLst>
          </p:cNvPr>
          <p:cNvSpPr>
            <a:spLocks noChangeArrowheads="1"/>
          </p:cNvSpPr>
          <p:nvPr/>
        </p:nvSpPr>
        <p:spPr bwMode="auto">
          <a:xfrm>
            <a:off x="601883" y="1690688"/>
            <a:ext cx="1016000" cy="101600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pic>
        <p:nvPicPr>
          <p:cNvPr id="5" name="Graphic 4" descr="Gantt Chart outline">
            <a:extLst>
              <a:ext uri="{FF2B5EF4-FFF2-40B4-BE49-F238E27FC236}">
                <a16:creationId xmlns:a16="http://schemas.microsoft.com/office/drawing/2014/main" id="{48E6AC72-F81E-3B86-DBB5-66324E6558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4748" y="1811050"/>
            <a:ext cx="750719" cy="750719"/>
          </a:xfrm>
          <a:prstGeom prst="rect">
            <a:avLst/>
          </a:prstGeom>
        </p:spPr>
      </p:pic>
    </p:spTree>
    <p:extLst>
      <p:ext uri="{BB962C8B-B14F-4D97-AF65-F5344CB8AC3E}">
        <p14:creationId xmlns:p14="http://schemas.microsoft.com/office/powerpoint/2010/main" val="268988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0761949-BF1E-98C5-D146-8F2CCE1CC76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dirty="0"/>
              <a:t>Demo: AI Enabled Consultancy Co-Worker (7)</a:t>
            </a:r>
            <a:endParaRPr lang="en-GB" sz="1600" dirty="0"/>
          </a:p>
        </p:txBody>
      </p:sp>
      <p:sp>
        <p:nvSpPr>
          <p:cNvPr id="5" name="Oval 121">
            <a:extLst>
              <a:ext uri="{FF2B5EF4-FFF2-40B4-BE49-F238E27FC236}">
                <a16:creationId xmlns:a16="http://schemas.microsoft.com/office/drawing/2014/main" id="{0D6E4D59-E532-431C-0003-4EA1691FEE6A}"/>
              </a:ext>
            </a:extLst>
          </p:cNvPr>
          <p:cNvSpPr>
            <a:spLocks noChangeArrowheads="1"/>
          </p:cNvSpPr>
          <p:nvPr/>
        </p:nvSpPr>
        <p:spPr bwMode="auto">
          <a:xfrm>
            <a:off x="771945" y="1843088"/>
            <a:ext cx="1014413" cy="1016000"/>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pic>
        <p:nvPicPr>
          <p:cNvPr id="6" name="Graphic 5" descr="Envelope outline">
            <a:extLst>
              <a:ext uri="{FF2B5EF4-FFF2-40B4-BE49-F238E27FC236}">
                <a16:creationId xmlns:a16="http://schemas.microsoft.com/office/drawing/2014/main" id="{6765A4A7-019A-55CB-34F3-398292AE9B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2887" y="2026399"/>
            <a:ext cx="672528" cy="672528"/>
          </a:xfrm>
          <a:prstGeom prst="rect">
            <a:avLst/>
          </a:prstGeom>
        </p:spPr>
      </p:pic>
      <p:sp>
        <p:nvSpPr>
          <p:cNvPr id="9" name="Rectangle 3">
            <a:extLst>
              <a:ext uri="{FF2B5EF4-FFF2-40B4-BE49-F238E27FC236}">
                <a16:creationId xmlns:a16="http://schemas.microsoft.com/office/drawing/2014/main" id="{7E4519D5-3BA1-BD32-4A36-B50FFDF73F5C}"/>
              </a:ext>
            </a:extLst>
          </p:cNvPr>
          <p:cNvSpPr>
            <a:spLocks noChangeArrowheads="1"/>
          </p:cNvSpPr>
          <p:nvPr/>
        </p:nvSpPr>
        <p:spPr bwMode="auto">
          <a:xfrm>
            <a:off x="2523281" y="1608833"/>
            <a:ext cx="8067553" cy="605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2">
                    <a:lumMod val="50000"/>
                  </a:schemeClr>
                </a:solidFill>
                <a:effectLst/>
                <a:latin typeface="+mn-lt"/>
              </a:rPr>
              <a:t>Subject:</a:t>
            </a:r>
            <a:r>
              <a:rPr kumimoji="0" lang="en-US" altLang="en-US" sz="1400" b="0" i="0" u="none" strike="noStrike" cap="none" normalizeH="0" baseline="0" dirty="0">
                <a:ln>
                  <a:noFill/>
                </a:ln>
                <a:solidFill>
                  <a:schemeClr val="tx2">
                    <a:lumMod val="50000"/>
                  </a:schemeClr>
                </a:solidFill>
                <a:effectLst/>
                <a:latin typeface="+mn-lt"/>
              </a:rPr>
              <a:t> Agenda for Forthcoming Meeting on BCS AI Strategy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Dear [Chief Executive’s Name],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Thank you for agreeing to meet with us to discuss the British Computer Society’s approach to AI. We value this opportunity and look forward to collaborating on next steps.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To ensure our conversation is productive, we propose the following agenda: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lumMod val="50000"/>
                </a:schemeClr>
              </a:solidFill>
              <a:effectLst/>
              <a:latin typeface="+mn-lt"/>
            </a:endParaRP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The Society’s strategic vision for AI and desired outcomes</a:t>
            </a: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Considerations for establishing an AI strategy taskforce</a:t>
            </a: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Assessing current strengths, gaps, and readiness for AI adoption</a:t>
            </a: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Opportunities to develop AI ethics standards and professional accreditation</a:t>
            </a: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Expanding AI education and skills initiatives across membership and outreach</a:t>
            </a: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Shaping BCS’s role in AI policy advocacy and stakeholder engagement</a:t>
            </a: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Piloting new specialist AI communities and external partnerships</a:t>
            </a:r>
          </a:p>
          <a:p>
            <a:pPr marL="742950" lvl="1" indent="-285750">
              <a:buFont typeface="Arial" panose="020B0604020202020204" pitchFamily="34" charset="0"/>
              <a:buChar char="•"/>
            </a:pPr>
            <a:r>
              <a:rPr kumimoji="0" lang="en-US" altLang="en-US" sz="1400" b="0" i="0" u="none" strike="noStrike" cap="none" normalizeH="0" baseline="0" dirty="0">
                <a:ln>
                  <a:noFill/>
                </a:ln>
                <a:solidFill>
                  <a:schemeClr val="tx2">
                    <a:lumMod val="50000"/>
                  </a:schemeClr>
                </a:solidFill>
                <a:effectLst/>
                <a:latin typeface="+mn-lt"/>
              </a:rPr>
              <a:t>Agreeing next steps, support required, and success metrics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We welcome your input on additional topics to cover. Please let us know if the agenda aligns with your expectations or if there are priority areas to highlight.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We look forward to our discussion.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Best regards,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2">
                    <a:lumMod val="50000"/>
                  </a:schemeClr>
                </a:solidFill>
                <a:effectLst/>
                <a:latin typeface="+mn-lt"/>
              </a:rPr>
              <a:t>[Your Name]</a:t>
            </a:r>
            <a:br>
              <a:rPr kumimoji="0" lang="en-US" altLang="en-US" sz="1400" b="0" i="0" u="none" strike="noStrike" cap="none" normalizeH="0" baseline="0" dirty="0">
                <a:ln>
                  <a:noFill/>
                </a:ln>
                <a:solidFill>
                  <a:schemeClr val="tx2">
                    <a:lumMod val="50000"/>
                  </a:schemeClr>
                </a:solidFill>
                <a:effectLst/>
                <a:latin typeface="+mn-lt"/>
              </a:rPr>
            </a:br>
            <a:r>
              <a:rPr kumimoji="0" lang="en-US" altLang="en-US" sz="1400" b="0" i="0" u="none" strike="noStrike" cap="none" normalizeH="0" baseline="0" dirty="0">
                <a:ln>
                  <a:noFill/>
                </a:ln>
                <a:solidFill>
                  <a:schemeClr val="tx2">
                    <a:lumMod val="50000"/>
                  </a:schemeClr>
                </a:solidFill>
                <a:effectLst/>
                <a:latin typeface="+mn-lt"/>
              </a:rPr>
              <a:t>[Your Position]</a:t>
            </a:r>
            <a:br>
              <a:rPr kumimoji="0" lang="en-US" altLang="en-US" sz="1400" b="0" i="0" u="none" strike="noStrike" cap="none" normalizeH="0" baseline="0" dirty="0">
                <a:ln>
                  <a:noFill/>
                </a:ln>
                <a:solidFill>
                  <a:schemeClr val="tx2">
                    <a:lumMod val="50000"/>
                  </a:schemeClr>
                </a:solidFill>
                <a:effectLst/>
                <a:latin typeface="+mn-lt"/>
              </a:rPr>
            </a:br>
            <a:r>
              <a:rPr kumimoji="0" lang="en-US" altLang="en-US" sz="1400" b="0" i="0" u="none" strike="noStrike" cap="none" normalizeH="0" baseline="0" dirty="0">
                <a:ln>
                  <a:noFill/>
                </a:ln>
                <a:solidFill>
                  <a:schemeClr val="tx2">
                    <a:lumMod val="50000"/>
                  </a:schemeClr>
                </a:solidFill>
                <a:effectLst/>
                <a:latin typeface="+mn-lt"/>
              </a:rPr>
              <a:t>[Your Consultancy]</a:t>
            </a:r>
          </a:p>
        </p:txBody>
      </p:sp>
    </p:spTree>
    <p:extLst>
      <p:ext uri="{BB962C8B-B14F-4D97-AF65-F5344CB8AC3E}">
        <p14:creationId xmlns:p14="http://schemas.microsoft.com/office/powerpoint/2010/main" val="232224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D0D5213E-0A74-65F4-3871-B9C4834E3573}"/>
              </a:ext>
            </a:extLst>
          </p:cNvPr>
          <p:cNvSpPr>
            <a:spLocks noChangeArrowheads="1"/>
          </p:cNvSpPr>
          <p:nvPr/>
        </p:nvSpPr>
        <p:spPr bwMode="auto">
          <a:xfrm>
            <a:off x="2262693" y="1337091"/>
            <a:ext cx="3651641"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1: Meeting Purpose &amp; Agenda</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Welcome and introduction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Purpose: Outline and co-develop BCS’s AI strategy directions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Key topics: Vision, taskforce, ethics, skills, advocacy, next steps</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Table: Meeting agenda overview</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5" name="Rectangle 3">
            <a:extLst>
              <a:ext uri="{FF2B5EF4-FFF2-40B4-BE49-F238E27FC236}">
                <a16:creationId xmlns:a16="http://schemas.microsoft.com/office/drawing/2014/main" id="{A3DB8855-77A6-9C91-5994-70374CF9F96F}"/>
              </a:ext>
            </a:extLst>
          </p:cNvPr>
          <p:cNvSpPr>
            <a:spLocks noChangeArrowheads="1"/>
          </p:cNvSpPr>
          <p:nvPr/>
        </p:nvSpPr>
        <p:spPr bwMode="auto">
          <a:xfrm>
            <a:off x="2262693" y="2373567"/>
            <a:ext cx="4154984"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2: BCS—AI Strategic Imperative</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BCS: Charter to advance ethical, impactful technology for public benefit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AI’s rising influence in society, industry, and policy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Opportunity: Position BCS as a leader in responsible AI</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Chart: BCS mission → AI opportunity alignment</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7" name="Rectangle 5">
            <a:extLst>
              <a:ext uri="{FF2B5EF4-FFF2-40B4-BE49-F238E27FC236}">
                <a16:creationId xmlns:a16="http://schemas.microsoft.com/office/drawing/2014/main" id="{E9FEAD45-49E7-ACCD-9B24-D657481CBB68}"/>
              </a:ext>
            </a:extLst>
          </p:cNvPr>
          <p:cNvSpPr>
            <a:spLocks noChangeArrowheads="1"/>
          </p:cNvSpPr>
          <p:nvPr/>
        </p:nvSpPr>
        <p:spPr bwMode="auto">
          <a:xfrm>
            <a:off x="2262693" y="3418754"/>
            <a:ext cx="4081245"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3: Vision &amp; Outcomes for AI </a:t>
            </a:r>
            <a:r>
              <a:rPr kumimoji="0" lang="en-US" altLang="en-US" sz="1100" b="1" i="0" u="none" strike="noStrike" cap="none" normalizeH="0" baseline="0" dirty="0" err="1">
                <a:ln>
                  <a:noFill/>
                </a:ln>
                <a:solidFill>
                  <a:schemeClr val="tx2">
                    <a:lumMod val="50000"/>
                  </a:schemeClr>
                </a:solidFill>
                <a:effectLst/>
              </a:rPr>
              <a:t>Strateg</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Set an inspiring but pragmatic vision for AI at BCS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Target outcomes: Ethical leadership, member value, societal benefit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Align with BCS pillars: Membership, Inspiration, Progression, Influence</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Diagram: Vision/outcomes mapped to BCS pillars</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9" name="Rectangle 7">
            <a:extLst>
              <a:ext uri="{FF2B5EF4-FFF2-40B4-BE49-F238E27FC236}">
                <a16:creationId xmlns:a16="http://schemas.microsoft.com/office/drawing/2014/main" id="{07347EF2-40F2-1CE4-AFB6-8B5EF0F2EDBD}"/>
              </a:ext>
            </a:extLst>
          </p:cNvPr>
          <p:cNvSpPr>
            <a:spLocks noChangeArrowheads="1"/>
          </p:cNvSpPr>
          <p:nvPr/>
        </p:nvSpPr>
        <p:spPr bwMode="auto">
          <a:xfrm>
            <a:off x="2262693" y="4482723"/>
            <a:ext cx="3872855"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4: Proposed AI Strategy Taskforce</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Cross-functional team (internal + external expertise)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Accountable for strategy formulation, implementation,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Ensures inclusivity: members, educators, policymakers</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Org Chart: Taskforce structure</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11" name="Rectangle 9">
            <a:extLst>
              <a:ext uri="{FF2B5EF4-FFF2-40B4-BE49-F238E27FC236}">
                <a16:creationId xmlns:a16="http://schemas.microsoft.com/office/drawing/2014/main" id="{89E3156D-BF78-23D3-FA94-8DD9515D9B24}"/>
              </a:ext>
            </a:extLst>
          </p:cNvPr>
          <p:cNvSpPr>
            <a:spLocks noChangeArrowheads="1"/>
          </p:cNvSpPr>
          <p:nvPr/>
        </p:nvSpPr>
        <p:spPr bwMode="auto">
          <a:xfrm>
            <a:off x="2262693" y="5528176"/>
            <a:ext cx="3553858"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5: Assessing Readiness &amp; Identifying Gaps</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Review current skills, processes, governance, and technology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SWOT analysis to inform priorities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Leverage consultancy for independent assessment</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Table: Example SWOT elements</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13" name="Rectangle 11">
            <a:extLst>
              <a:ext uri="{FF2B5EF4-FFF2-40B4-BE49-F238E27FC236}">
                <a16:creationId xmlns:a16="http://schemas.microsoft.com/office/drawing/2014/main" id="{CCF1C3F2-FCE2-C9E1-68E0-9DACE1B3B713}"/>
              </a:ext>
            </a:extLst>
          </p:cNvPr>
          <p:cNvSpPr>
            <a:spLocks noChangeArrowheads="1"/>
          </p:cNvSpPr>
          <p:nvPr/>
        </p:nvSpPr>
        <p:spPr bwMode="auto">
          <a:xfrm>
            <a:off x="7084640" y="1361022"/>
            <a:ext cx="3590727"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6: Ethics Framework &amp; Professional Accreditation</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Develop BCS-led AI ethics framework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Integrate into updated professional standards &amp; certifications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Enhance public trust in AI practitioners</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Flow: Ethics—&gt;Standards—&gt;Accreditation</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15" name="Rectangle 13">
            <a:extLst>
              <a:ext uri="{FF2B5EF4-FFF2-40B4-BE49-F238E27FC236}">
                <a16:creationId xmlns:a16="http://schemas.microsoft.com/office/drawing/2014/main" id="{67F5662A-1EA3-1F8F-2F90-1F3A11098ABF}"/>
              </a:ext>
            </a:extLst>
          </p:cNvPr>
          <p:cNvSpPr>
            <a:spLocks noChangeArrowheads="1"/>
          </p:cNvSpPr>
          <p:nvPr/>
        </p:nvSpPr>
        <p:spPr bwMode="auto">
          <a:xfrm>
            <a:off x="7084640" y="2471871"/>
            <a:ext cx="3601948"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7: AI Education &amp; Skills Initiatives</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Embed AI content in school outreach, member upskilling, CPD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Diversity, equity, and inclusion at the 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Engage industry partners for practical learning</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Chart: Learning pathways</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17" name="Rectangle 15">
            <a:extLst>
              <a:ext uri="{FF2B5EF4-FFF2-40B4-BE49-F238E27FC236}">
                <a16:creationId xmlns:a16="http://schemas.microsoft.com/office/drawing/2014/main" id="{2AB6575A-7C5E-1390-BA55-7F04D28AB480}"/>
              </a:ext>
            </a:extLst>
          </p:cNvPr>
          <p:cNvSpPr>
            <a:spLocks noChangeArrowheads="1"/>
          </p:cNvSpPr>
          <p:nvPr/>
        </p:nvSpPr>
        <p:spPr bwMode="auto">
          <a:xfrm>
            <a:off x="7154505" y="3565442"/>
            <a:ext cx="3369512"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8: AI Policy Advocacy &amp; Community Building</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Shape AI regulation and workforce policy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Convene forums, working groups, and public engagement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Launch specialist AI interest groups and partnerships</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Chart: Stakeholder engagement map</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19" name="Rectangle 17">
            <a:extLst>
              <a:ext uri="{FF2B5EF4-FFF2-40B4-BE49-F238E27FC236}">
                <a16:creationId xmlns:a16="http://schemas.microsoft.com/office/drawing/2014/main" id="{2701086B-DE80-0C6F-A306-30E457569C09}"/>
              </a:ext>
            </a:extLst>
          </p:cNvPr>
          <p:cNvSpPr>
            <a:spLocks noChangeArrowheads="1"/>
          </p:cNvSpPr>
          <p:nvPr/>
        </p:nvSpPr>
        <p:spPr bwMode="auto">
          <a:xfrm>
            <a:off x="7154505" y="4674929"/>
            <a:ext cx="3375924" cy="165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17400" rIns="0" bIns="3174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2">
                    <a:lumMod val="50000"/>
                  </a:schemeClr>
                </a:solidFill>
                <a:effectLst/>
              </a:rPr>
              <a:t>Slide 9: Implementation Roadmap &amp; Consultancy Support</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Phased delivery plan with milestones and owners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KPIs, monitoring, and feedback loops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2">
                    <a:lumMod val="50000"/>
                  </a:schemeClr>
                </a:solidFill>
                <a:effectLst/>
              </a:rPr>
              <a:t>Consultancy as strategic partner from design to execution</a:t>
            </a:r>
            <a:br>
              <a:rPr kumimoji="0" lang="en-US" altLang="en-US" sz="1100" b="0" i="0" u="none" strike="noStrike" cap="none" normalizeH="0" baseline="0" dirty="0">
                <a:ln>
                  <a:noFill/>
                </a:ln>
                <a:solidFill>
                  <a:schemeClr val="tx2">
                    <a:lumMod val="50000"/>
                  </a:schemeClr>
                </a:solidFill>
                <a:effectLst/>
              </a:rPr>
            </a:br>
            <a:r>
              <a:rPr kumimoji="0" lang="en-US" altLang="en-US" sz="1100" b="0" i="1" u="none" strike="noStrike" cap="none" normalizeH="0" baseline="0" dirty="0">
                <a:ln>
                  <a:noFill/>
                </a:ln>
                <a:solidFill>
                  <a:schemeClr val="tx2">
                    <a:lumMod val="50000"/>
                  </a:schemeClr>
                </a:solidFill>
                <a:effectLst/>
              </a:rPr>
              <a:t>Suggested Timeline: 12-month roadmap</a:t>
            </a:r>
            <a:endParaRPr kumimoji="0" lang="en-US" altLang="en-US" sz="1100" b="0" i="0" u="none" strike="noStrike" cap="none" normalizeH="0" baseline="0" dirty="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2">
                  <a:lumMod val="50000"/>
                </a:schemeClr>
              </a:solidFill>
              <a:effectLst/>
            </a:endParaRPr>
          </a:p>
        </p:txBody>
      </p:sp>
      <p:sp>
        <p:nvSpPr>
          <p:cNvPr id="20" name="Rectangle 18">
            <a:extLst>
              <a:ext uri="{FF2B5EF4-FFF2-40B4-BE49-F238E27FC236}">
                <a16:creationId xmlns:a16="http://schemas.microsoft.com/office/drawing/2014/main" id="{311351E9-951E-3844-78DC-51FF7EB83FDD}"/>
              </a:ext>
            </a:extLst>
          </p:cNvPr>
          <p:cNvSpPr>
            <a:spLocks noChangeArrowheads="1"/>
          </p:cNvSpPr>
          <p:nvPr/>
        </p:nvSpPr>
        <p:spPr bwMode="auto">
          <a:xfrm>
            <a:off x="5278056" y="6954730"/>
            <a:ext cx="184731" cy="2616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100">
              <a:solidFill>
                <a:schemeClr val="tx2">
                  <a:lumMod val="50000"/>
                </a:schemeClr>
              </a:solidFill>
            </a:endParaRPr>
          </a:p>
        </p:txBody>
      </p:sp>
      <p:sp>
        <p:nvSpPr>
          <p:cNvPr id="21" name="Rectangle 19">
            <a:extLst>
              <a:ext uri="{FF2B5EF4-FFF2-40B4-BE49-F238E27FC236}">
                <a16:creationId xmlns:a16="http://schemas.microsoft.com/office/drawing/2014/main" id="{CBC738D5-B1D8-0C96-283D-3FB8898F8E4B}"/>
              </a:ext>
            </a:extLst>
          </p:cNvPr>
          <p:cNvSpPr>
            <a:spLocks noChangeArrowheads="1"/>
          </p:cNvSpPr>
          <p:nvPr/>
        </p:nvSpPr>
        <p:spPr bwMode="auto">
          <a:xfrm>
            <a:off x="5278056" y="6814241"/>
            <a:ext cx="296395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2">
                    <a:lumMod val="50000"/>
                  </a:schemeClr>
                </a:solidFill>
                <a:effectLst/>
              </a:rPr>
              <a:t>Slide 10: Discussion &amp; Next Steps</a:t>
            </a:r>
            <a:endParaRPr kumimoji="0" lang="en-US" altLang="en-US" sz="1100" b="0" i="0" u="none" strike="noStrike" cap="none" normalizeH="0" baseline="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a:ln>
                  <a:noFill/>
                </a:ln>
                <a:solidFill>
                  <a:schemeClr val="tx2">
                    <a:lumMod val="50000"/>
                  </a:schemeClr>
                </a:solidFill>
                <a:effectLst/>
              </a:rPr>
              <a:t>Confirm alignment on approach and priorities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a:ln>
                  <a:noFill/>
                </a:ln>
                <a:solidFill>
                  <a:schemeClr val="tx2">
                    <a:lumMod val="50000"/>
                  </a:schemeClr>
                </a:solidFill>
                <a:effectLst/>
              </a:rPr>
              <a:t>Gather feedback and additional focus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a:ln>
                  <a:noFill/>
                </a:ln>
                <a:solidFill>
                  <a:schemeClr val="tx2">
                    <a:lumMod val="50000"/>
                  </a:schemeClr>
                </a:solidFill>
                <a:effectLst/>
              </a:rPr>
              <a:t>Agree immediate next steps and meeting schedule</a:t>
            </a:r>
            <a:br>
              <a:rPr kumimoji="0" lang="en-US" altLang="en-US" sz="1100" b="0" i="0" u="none" strike="noStrike" cap="none" normalizeH="0" baseline="0">
                <a:ln>
                  <a:noFill/>
                </a:ln>
                <a:solidFill>
                  <a:schemeClr val="tx2">
                    <a:lumMod val="50000"/>
                  </a:schemeClr>
                </a:solidFill>
                <a:effectLst/>
              </a:rPr>
            </a:br>
            <a:r>
              <a:rPr kumimoji="0" lang="en-US" altLang="en-US" sz="1100" b="0" i="1" u="none" strike="noStrike" cap="none" normalizeH="0" baseline="0">
                <a:ln>
                  <a:noFill/>
                </a:ln>
                <a:solidFill>
                  <a:schemeClr val="tx2">
                    <a:lumMod val="50000"/>
                  </a:schemeClr>
                </a:solidFill>
                <a:effectLst/>
              </a:rPr>
              <a:t>Suggested Table: Action items &amp; owners</a:t>
            </a:r>
            <a:endParaRPr kumimoji="0" lang="en-US" altLang="en-US" sz="1100" b="0" i="0" u="none" strike="noStrike" cap="none" normalizeH="0" baseline="0">
              <a:ln>
                <a:noFill/>
              </a:ln>
              <a:solidFill>
                <a:schemeClr val="tx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a:ln>
                <a:noFill/>
              </a:ln>
              <a:solidFill>
                <a:schemeClr val="tx2">
                  <a:lumMod val="50000"/>
                </a:schemeClr>
              </a:solidFill>
              <a:effectLst/>
            </a:endParaRPr>
          </a:p>
        </p:txBody>
      </p:sp>
      <p:sp>
        <p:nvSpPr>
          <p:cNvPr id="22" name="Oval 121">
            <a:extLst>
              <a:ext uri="{FF2B5EF4-FFF2-40B4-BE49-F238E27FC236}">
                <a16:creationId xmlns:a16="http://schemas.microsoft.com/office/drawing/2014/main" id="{4F866C3F-0D01-2E00-BAF4-5D1813D4A589}"/>
              </a:ext>
            </a:extLst>
          </p:cNvPr>
          <p:cNvSpPr>
            <a:spLocks noChangeArrowheads="1"/>
          </p:cNvSpPr>
          <p:nvPr/>
        </p:nvSpPr>
        <p:spPr bwMode="auto">
          <a:xfrm>
            <a:off x="715852" y="2066155"/>
            <a:ext cx="1014413" cy="101600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pic>
        <p:nvPicPr>
          <p:cNvPr id="23" name="Graphic 22" descr="Teacher outline">
            <a:extLst>
              <a:ext uri="{FF2B5EF4-FFF2-40B4-BE49-F238E27FC236}">
                <a16:creationId xmlns:a16="http://schemas.microsoft.com/office/drawing/2014/main" id="{9E62A669-68DF-2006-6100-95DA33A1F2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0670" y="2281767"/>
            <a:ext cx="584775" cy="584775"/>
          </a:xfrm>
          <a:prstGeom prst="rect">
            <a:avLst/>
          </a:prstGeom>
        </p:spPr>
      </p:pic>
      <p:sp>
        <p:nvSpPr>
          <p:cNvPr id="26" name="Title 1">
            <a:extLst>
              <a:ext uri="{FF2B5EF4-FFF2-40B4-BE49-F238E27FC236}">
                <a16:creationId xmlns:a16="http://schemas.microsoft.com/office/drawing/2014/main" id="{37D0AB4C-2B74-2FA9-067A-467EF5A44F2E}"/>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GB" dirty="0"/>
              <a:t>Demo: AI Enabled Consultancy Co-Worker (8)</a:t>
            </a:r>
            <a:endParaRPr lang="en-GB" sz="1600" dirty="0"/>
          </a:p>
        </p:txBody>
      </p:sp>
    </p:spTree>
    <p:extLst>
      <p:ext uri="{BB962C8B-B14F-4D97-AF65-F5344CB8AC3E}">
        <p14:creationId xmlns:p14="http://schemas.microsoft.com/office/powerpoint/2010/main" val="331623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3211A-3ABB-98D7-40F9-79E2210B2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1F74F-75A1-C2B4-A94E-8B14E7E3FDFC}"/>
              </a:ext>
            </a:extLst>
          </p:cNvPr>
          <p:cNvSpPr>
            <a:spLocks noGrp="1"/>
          </p:cNvSpPr>
          <p:nvPr>
            <p:ph type="title"/>
          </p:nvPr>
        </p:nvSpPr>
        <p:spPr>
          <a:xfrm>
            <a:off x="838200" y="365125"/>
            <a:ext cx="10515600" cy="1325563"/>
          </a:xfrm>
        </p:spPr>
        <p:txBody>
          <a:bodyPr anchor="ctr">
            <a:normAutofit/>
          </a:bodyPr>
          <a:lstStyle/>
          <a:p>
            <a:r>
              <a:rPr lang="en-US" dirty="0"/>
              <a:t>Live Demo 3 | AI Enabled Consulting Team</a:t>
            </a:r>
          </a:p>
        </p:txBody>
      </p:sp>
      <p:pic>
        <p:nvPicPr>
          <p:cNvPr id="26626" name="Picture 2" descr="Finding calm in the chaos: BCS SIGiST 2025 | BCS">
            <a:extLst>
              <a:ext uri="{FF2B5EF4-FFF2-40B4-BE49-F238E27FC236}">
                <a16:creationId xmlns:a16="http://schemas.microsoft.com/office/drawing/2014/main" id="{F5F2EB1D-525B-9442-135C-B066D26D2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020" b="14101"/>
          <a:stretch>
            <a:fillRect/>
          </a:stretch>
        </p:blipFill>
        <p:spPr bwMode="auto">
          <a:xfrm>
            <a:off x="838200" y="1825625"/>
            <a:ext cx="10515600" cy="435133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2609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D05D4-5ECE-6FB4-0520-EE42DBFD7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BB7EA-B84C-E778-6595-3B5516746B6A}"/>
              </a:ext>
            </a:extLst>
          </p:cNvPr>
          <p:cNvSpPr>
            <a:spLocks noGrp="1"/>
          </p:cNvSpPr>
          <p:nvPr>
            <p:ph type="title"/>
          </p:nvPr>
        </p:nvSpPr>
        <p:spPr>
          <a:xfrm>
            <a:off x="838200" y="664564"/>
            <a:ext cx="10515600" cy="1325563"/>
          </a:xfrm>
        </p:spPr>
        <p:txBody>
          <a:bodyPr>
            <a:normAutofit fontScale="90000"/>
          </a:bodyPr>
          <a:lstStyle/>
          <a:p>
            <a:r>
              <a:rPr lang="en-GB" dirty="0"/>
              <a:t>Enterprise Vibe Consulting Demo (1)</a:t>
            </a:r>
            <a:br>
              <a:rPr lang="en-GB" dirty="0"/>
            </a:br>
            <a:br>
              <a:rPr lang="en-GB" dirty="0"/>
            </a:br>
            <a:r>
              <a:rPr lang="en-GB" sz="2000" i="1" dirty="0"/>
              <a:t>Scenario: UK grocery chain’s online conversion dropped 8% in Q3. </a:t>
            </a:r>
            <a:br>
              <a:rPr lang="en-GB" sz="2000" i="1" dirty="0"/>
            </a:br>
            <a:r>
              <a:rPr lang="en-GB" sz="2000" i="1" dirty="0"/>
              <a:t>Identify drivers and propose actions within 4 weeks.</a:t>
            </a:r>
            <a:br>
              <a:rPr lang="en-GB" sz="2000" i="1" dirty="0"/>
            </a:br>
            <a:endParaRPr lang="en-GB" sz="1600" dirty="0"/>
          </a:p>
        </p:txBody>
      </p:sp>
      <p:sp>
        <p:nvSpPr>
          <p:cNvPr id="11" name="TextBox 10">
            <a:extLst>
              <a:ext uri="{FF2B5EF4-FFF2-40B4-BE49-F238E27FC236}">
                <a16:creationId xmlns:a16="http://schemas.microsoft.com/office/drawing/2014/main" id="{728C7151-8A90-9832-8A0B-BB049091A495}"/>
              </a:ext>
            </a:extLst>
          </p:cNvPr>
          <p:cNvSpPr txBox="1"/>
          <p:nvPr/>
        </p:nvSpPr>
        <p:spPr>
          <a:xfrm>
            <a:off x="1752600" y="2794456"/>
            <a:ext cx="1632857" cy="646331"/>
          </a:xfrm>
          <a:prstGeom prst="rect">
            <a:avLst/>
          </a:prstGeom>
          <a:solidFill>
            <a:schemeClr val="tx2">
              <a:lumMod val="20000"/>
              <a:lumOff val="80000"/>
            </a:schemeClr>
          </a:solidFill>
          <a:ln w="19050">
            <a:solidFill>
              <a:schemeClr val="tx2">
                <a:lumMod val="50000"/>
              </a:schemeClr>
            </a:solidFill>
          </a:ln>
        </p:spPr>
        <p:txBody>
          <a:bodyPr wrap="square" rtlCol="0">
            <a:spAutoFit/>
          </a:bodyPr>
          <a:lstStyle/>
          <a:p>
            <a:pPr algn="ctr"/>
            <a:r>
              <a:rPr lang="en-US" sz="1200" b="1" dirty="0">
                <a:solidFill>
                  <a:schemeClr val="tx2">
                    <a:lumMod val="50000"/>
                  </a:schemeClr>
                </a:solidFill>
              </a:rPr>
              <a:t>Intake &amp; Scoping</a:t>
            </a:r>
            <a:br>
              <a:rPr lang="en-US" sz="1200" dirty="0">
                <a:solidFill>
                  <a:schemeClr val="tx2">
                    <a:lumMod val="50000"/>
                  </a:schemeClr>
                </a:solidFill>
              </a:rPr>
            </a:br>
            <a:br>
              <a:rPr lang="en-US" sz="1200" dirty="0">
                <a:solidFill>
                  <a:schemeClr val="tx2">
                    <a:lumMod val="50000"/>
                  </a:schemeClr>
                </a:solidFill>
              </a:rPr>
            </a:br>
            <a:r>
              <a:rPr lang="en-US" sz="1200" i="1" dirty="0">
                <a:solidFill>
                  <a:schemeClr val="tx2">
                    <a:lumMod val="50000"/>
                  </a:schemeClr>
                </a:solidFill>
              </a:rPr>
              <a:t>Account Director</a:t>
            </a:r>
          </a:p>
        </p:txBody>
      </p:sp>
      <p:sp>
        <p:nvSpPr>
          <p:cNvPr id="12" name="TextBox 11">
            <a:extLst>
              <a:ext uri="{FF2B5EF4-FFF2-40B4-BE49-F238E27FC236}">
                <a16:creationId xmlns:a16="http://schemas.microsoft.com/office/drawing/2014/main" id="{B52D5B62-7902-A4CD-B66C-D1A0A51B68B6}"/>
              </a:ext>
            </a:extLst>
          </p:cNvPr>
          <p:cNvSpPr txBox="1"/>
          <p:nvPr/>
        </p:nvSpPr>
        <p:spPr>
          <a:xfrm>
            <a:off x="3657601" y="2794458"/>
            <a:ext cx="1632857" cy="646331"/>
          </a:xfrm>
          <a:prstGeom prst="rect">
            <a:avLst/>
          </a:prstGeom>
          <a:solidFill>
            <a:schemeClr val="accent1">
              <a:lumMod val="20000"/>
              <a:lumOff val="80000"/>
            </a:schemeClr>
          </a:solidFill>
          <a:ln w="19050">
            <a:solidFill>
              <a:schemeClr val="accent1">
                <a:lumMod val="50000"/>
              </a:schemeClr>
            </a:solidFill>
          </a:ln>
        </p:spPr>
        <p:txBody>
          <a:bodyPr wrap="square" rtlCol="0">
            <a:spAutoFit/>
          </a:bodyPr>
          <a:lstStyle/>
          <a:p>
            <a:pPr algn="ctr"/>
            <a:r>
              <a:rPr lang="en-US" sz="1200" b="1" dirty="0">
                <a:solidFill>
                  <a:schemeClr val="accent1">
                    <a:lumMod val="50000"/>
                  </a:schemeClr>
                </a:solidFill>
              </a:rPr>
              <a:t>Review Scope</a:t>
            </a:r>
            <a:br>
              <a:rPr lang="en-US" sz="1200" dirty="0">
                <a:solidFill>
                  <a:schemeClr val="accent1">
                    <a:lumMod val="50000"/>
                  </a:schemeClr>
                </a:solidFill>
              </a:rPr>
            </a:br>
            <a:r>
              <a:rPr lang="en-US" sz="1200" dirty="0">
                <a:solidFill>
                  <a:schemeClr val="accent1">
                    <a:lumMod val="50000"/>
                  </a:schemeClr>
                </a:solidFill>
              </a:rPr>
              <a:t>(Human in the Loop)</a:t>
            </a:r>
            <a:br>
              <a:rPr lang="en-US" sz="1200" dirty="0">
                <a:solidFill>
                  <a:schemeClr val="accent1">
                    <a:lumMod val="50000"/>
                  </a:schemeClr>
                </a:solidFill>
              </a:rPr>
            </a:br>
            <a:r>
              <a:rPr lang="en-US" sz="1200" i="1" dirty="0">
                <a:solidFill>
                  <a:schemeClr val="accent1">
                    <a:lumMod val="50000"/>
                  </a:schemeClr>
                </a:solidFill>
              </a:rPr>
              <a:t>Consulting Director</a:t>
            </a:r>
          </a:p>
        </p:txBody>
      </p:sp>
      <p:sp>
        <p:nvSpPr>
          <p:cNvPr id="13" name="TextBox 12">
            <a:extLst>
              <a:ext uri="{FF2B5EF4-FFF2-40B4-BE49-F238E27FC236}">
                <a16:creationId xmlns:a16="http://schemas.microsoft.com/office/drawing/2014/main" id="{57A9E4FD-1AE8-36B1-6F73-04EE57A53DA9}"/>
              </a:ext>
            </a:extLst>
          </p:cNvPr>
          <p:cNvSpPr txBox="1"/>
          <p:nvPr/>
        </p:nvSpPr>
        <p:spPr>
          <a:xfrm>
            <a:off x="5562601" y="2794458"/>
            <a:ext cx="1632857" cy="646331"/>
          </a:xfrm>
          <a:prstGeom prst="rect">
            <a:avLst/>
          </a:prstGeom>
          <a:solidFill>
            <a:schemeClr val="accent2">
              <a:lumMod val="20000"/>
              <a:lumOff val="80000"/>
            </a:schemeClr>
          </a:solidFill>
          <a:ln w="19050">
            <a:solidFill>
              <a:schemeClr val="accent2">
                <a:lumMod val="50000"/>
              </a:schemeClr>
            </a:solidFill>
          </a:ln>
        </p:spPr>
        <p:txBody>
          <a:bodyPr wrap="square" rtlCol="0">
            <a:spAutoFit/>
          </a:bodyPr>
          <a:lstStyle/>
          <a:p>
            <a:pPr algn="ctr"/>
            <a:r>
              <a:rPr lang="en-US" sz="1200" b="1" dirty="0">
                <a:solidFill>
                  <a:schemeClr val="accent2">
                    <a:lumMod val="50000"/>
                  </a:schemeClr>
                </a:solidFill>
              </a:rPr>
              <a:t>Research</a:t>
            </a:r>
            <a:br>
              <a:rPr lang="en-US" sz="1200" dirty="0">
                <a:solidFill>
                  <a:schemeClr val="accent2">
                    <a:lumMod val="50000"/>
                  </a:schemeClr>
                </a:solidFill>
              </a:rPr>
            </a:br>
            <a:br>
              <a:rPr lang="en-US" sz="1200" dirty="0">
                <a:solidFill>
                  <a:schemeClr val="accent2">
                    <a:lumMod val="50000"/>
                  </a:schemeClr>
                </a:solidFill>
              </a:rPr>
            </a:br>
            <a:r>
              <a:rPr lang="en-US" sz="1200" i="1" dirty="0">
                <a:solidFill>
                  <a:schemeClr val="accent2">
                    <a:lumMod val="50000"/>
                  </a:schemeClr>
                </a:solidFill>
              </a:rPr>
              <a:t>Researcher</a:t>
            </a:r>
          </a:p>
        </p:txBody>
      </p:sp>
      <p:sp>
        <p:nvSpPr>
          <p:cNvPr id="14" name="TextBox 13">
            <a:extLst>
              <a:ext uri="{FF2B5EF4-FFF2-40B4-BE49-F238E27FC236}">
                <a16:creationId xmlns:a16="http://schemas.microsoft.com/office/drawing/2014/main" id="{35BB337D-0864-8708-FED3-F7EE22CAB1D5}"/>
              </a:ext>
            </a:extLst>
          </p:cNvPr>
          <p:cNvSpPr txBox="1"/>
          <p:nvPr/>
        </p:nvSpPr>
        <p:spPr>
          <a:xfrm>
            <a:off x="7467603" y="2794457"/>
            <a:ext cx="1632857" cy="646331"/>
          </a:xfrm>
          <a:prstGeom prst="rect">
            <a:avLst/>
          </a:prstGeom>
          <a:solidFill>
            <a:schemeClr val="accent3">
              <a:lumMod val="20000"/>
              <a:lumOff val="80000"/>
            </a:schemeClr>
          </a:solidFill>
          <a:ln w="19050">
            <a:solidFill>
              <a:schemeClr val="accent3">
                <a:lumMod val="50000"/>
              </a:schemeClr>
            </a:solidFill>
          </a:ln>
        </p:spPr>
        <p:txBody>
          <a:bodyPr wrap="square" rtlCol="0">
            <a:spAutoFit/>
          </a:bodyPr>
          <a:lstStyle/>
          <a:p>
            <a:pPr algn="ctr"/>
            <a:r>
              <a:rPr lang="en-US" sz="1200" b="1" dirty="0">
                <a:solidFill>
                  <a:schemeClr val="accent3">
                    <a:lumMod val="50000"/>
                  </a:schemeClr>
                </a:solidFill>
              </a:rPr>
              <a:t>Analysis</a:t>
            </a:r>
            <a:br>
              <a:rPr lang="en-US" sz="1200" b="1" dirty="0">
                <a:solidFill>
                  <a:schemeClr val="accent3">
                    <a:lumMod val="50000"/>
                  </a:schemeClr>
                </a:solidFill>
              </a:rPr>
            </a:br>
            <a:r>
              <a:rPr lang="en-US" sz="1200" dirty="0">
                <a:solidFill>
                  <a:schemeClr val="accent3">
                    <a:lumMod val="50000"/>
                  </a:schemeClr>
                </a:solidFill>
              </a:rPr>
              <a:t>(incl. client datasets)</a:t>
            </a:r>
            <a:br>
              <a:rPr lang="en-US" sz="1200" dirty="0">
                <a:solidFill>
                  <a:schemeClr val="accent3">
                    <a:lumMod val="50000"/>
                  </a:schemeClr>
                </a:solidFill>
              </a:rPr>
            </a:br>
            <a:r>
              <a:rPr lang="en-US" sz="1200" i="1" dirty="0">
                <a:solidFill>
                  <a:schemeClr val="accent3">
                    <a:lumMod val="50000"/>
                  </a:schemeClr>
                </a:solidFill>
              </a:rPr>
              <a:t>Analyst</a:t>
            </a:r>
          </a:p>
        </p:txBody>
      </p:sp>
      <p:sp>
        <p:nvSpPr>
          <p:cNvPr id="15" name="TextBox 14">
            <a:extLst>
              <a:ext uri="{FF2B5EF4-FFF2-40B4-BE49-F238E27FC236}">
                <a16:creationId xmlns:a16="http://schemas.microsoft.com/office/drawing/2014/main" id="{FA2715A3-5818-4D7D-4C80-E5B7B7BD9A60}"/>
              </a:ext>
            </a:extLst>
          </p:cNvPr>
          <p:cNvSpPr txBox="1"/>
          <p:nvPr/>
        </p:nvSpPr>
        <p:spPr>
          <a:xfrm>
            <a:off x="9372603" y="2794457"/>
            <a:ext cx="1632857" cy="646331"/>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pPr algn="ctr"/>
            <a:r>
              <a:rPr lang="en-US" sz="1200" b="1" dirty="0">
                <a:solidFill>
                  <a:schemeClr val="accent4">
                    <a:lumMod val="50000"/>
                  </a:schemeClr>
                </a:solidFill>
              </a:rPr>
              <a:t>Strategy</a:t>
            </a:r>
            <a:br>
              <a:rPr lang="en-US" sz="1200" b="1" dirty="0">
                <a:solidFill>
                  <a:schemeClr val="accent4">
                    <a:lumMod val="50000"/>
                  </a:schemeClr>
                </a:solidFill>
              </a:rPr>
            </a:br>
            <a:br>
              <a:rPr lang="en-US" sz="1200" dirty="0">
                <a:solidFill>
                  <a:schemeClr val="accent4">
                    <a:lumMod val="50000"/>
                  </a:schemeClr>
                </a:solidFill>
              </a:rPr>
            </a:br>
            <a:r>
              <a:rPr lang="en-US" sz="1200" i="1" dirty="0">
                <a:solidFill>
                  <a:schemeClr val="accent4">
                    <a:lumMod val="50000"/>
                  </a:schemeClr>
                </a:solidFill>
              </a:rPr>
              <a:t>Consultant</a:t>
            </a:r>
          </a:p>
        </p:txBody>
      </p:sp>
      <p:sp>
        <p:nvSpPr>
          <p:cNvPr id="16" name="TextBox 15">
            <a:extLst>
              <a:ext uri="{FF2B5EF4-FFF2-40B4-BE49-F238E27FC236}">
                <a16:creationId xmlns:a16="http://schemas.microsoft.com/office/drawing/2014/main" id="{7B88B313-4611-5D12-EB52-6DB7D1ABE518}"/>
              </a:ext>
            </a:extLst>
          </p:cNvPr>
          <p:cNvSpPr txBox="1"/>
          <p:nvPr/>
        </p:nvSpPr>
        <p:spPr>
          <a:xfrm>
            <a:off x="1774376" y="4513482"/>
            <a:ext cx="1632857" cy="646331"/>
          </a:xfrm>
          <a:prstGeom prst="rect">
            <a:avLst/>
          </a:prstGeom>
          <a:solidFill>
            <a:schemeClr val="accent5">
              <a:lumMod val="20000"/>
              <a:lumOff val="80000"/>
            </a:schemeClr>
          </a:solidFill>
          <a:ln w="19050">
            <a:solidFill>
              <a:schemeClr val="accent5"/>
            </a:solidFill>
          </a:ln>
        </p:spPr>
        <p:txBody>
          <a:bodyPr wrap="square" rtlCol="0">
            <a:spAutoFit/>
          </a:bodyPr>
          <a:lstStyle/>
          <a:p>
            <a:pPr algn="ctr"/>
            <a:r>
              <a:rPr lang="en-US" sz="1200" b="1" dirty="0">
                <a:solidFill>
                  <a:schemeClr val="accent5">
                    <a:lumMod val="50000"/>
                  </a:schemeClr>
                </a:solidFill>
              </a:rPr>
              <a:t>Project Design</a:t>
            </a:r>
            <a:br>
              <a:rPr lang="en-US" sz="1200" b="1" dirty="0">
                <a:solidFill>
                  <a:schemeClr val="accent4">
                    <a:lumMod val="50000"/>
                  </a:schemeClr>
                </a:solidFill>
              </a:rPr>
            </a:br>
            <a:br>
              <a:rPr lang="en-US" sz="1200" i="1" dirty="0">
                <a:solidFill>
                  <a:schemeClr val="accent5">
                    <a:lumMod val="50000"/>
                  </a:schemeClr>
                </a:solidFill>
              </a:rPr>
            </a:br>
            <a:r>
              <a:rPr lang="en-US" sz="1200" i="1" dirty="0">
                <a:solidFill>
                  <a:schemeClr val="accent5">
                    <a:lumMod val="50000"/>
                  </a:schemeClr>
                </a:solidFill>
              </a:rPr>
              <a:t>Managing Consultant</a:t>
            </a:r>
          </a:p>
        </p:txBody>
      </p:sp>
      <p:sp>
        <p:nvSpPr>
          <p:cNvPr id="17" name="TextBox 16">
            <a:extLst>
              <a:ext uri="{FF2B5EF4-FFF2-40B4-BE49-F238E27FC236}">
                <a16:creationId xmlns:a16="http://schemas.microsoft.com/office/drawing/2014/main" id="{F90D898E-7F10-F792-14D7-F066DBCF734C}"/>
              </a:ext>
            </a:extLst>
          </p:cNvPr>
          <p:cNvSpPr txBox="1"/>
          <p:nvPr/>
        </p:nvSpPr>
        <p:spPr>
          <a:xfrm>
            <a:off x="3646711" y="4506785"/>
            <a:ext cx="1632857" cy="646331"/>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pPr algn="ctr"/>
            <a:r>
              <a:rPr lang="en-US" sz="1200" b="1" dirty="0">
                <a:solidFill>
                  <a:schemeClr val="accent6">
                    <a:lumMod val="50000"/>
                  </a:schemeClr>
                </a:solidFill>
              </a:rPr>
              <a:t>QA &amp; Ethics Review</a:t>
            </a:r>
            <a:br>
              <a:rPr lang="en-US" sz="1200" b="1" dirty="0">
                <a:solidFill>
                  <a:schemeClr val="accent6">
                    <a:lumMod val="50000"/>
                  </a:schemeClr>
                </a:solidFill>
              </a:rPr>
            </a:br>
            <a:br>
              <a:rPr lang="en-US" sz="1200" i="1" dirty="0">
                <a:solidFill>
                  <a:schemeClr val="accent6">
                    <a:lumMod val="50000"/>
                  </a:schemeClr>
                </a:solidFill>
              </a:rPr>
            </a:br>
            <a:r>
              <a:rPr lang="en-US" sz="1200" i="1" dirty="0">
                <a:solidFill>
                  <a:schemeClr val="accent6">
                    <a:lumMod val="50000"/>
                  </a:schemeClr>
                </a:solidFill>
              </a:rPr>
              <a:t>Senior Consultant</a:t>
            </a:r>
          </a:p>
        </p:txBody>
      </p:sp>
      <p:sp>
        <p:nvSpPr>
          <p:cNvPr id="18" name="TextBox 17">
            <a:extLst>
              <a:ext uri="{FF2B5EF4-FFF2-40B4-BE49-F238E27FC236}">
                <a16:creationId xmlns:a16="http://schemas.microsoft.com/office/drawing/2014/main" id="{7FD6CB86-7D66-0D58-8EDD-0E787479002E}"/>
              </a:ext>
            </a:extLst>
          </p:cNvPr>
          <p:cNvSpPr txBox="1"/>
          <p:nvPr/>
        </p:nvSpPr>
        <p:spPr>
          <a:xfrm>
            <a:off x="5562600" y="4506786"/>
            <a:ext cx="1632857" cy="646331"/>
          </a:xfrm>
          <a:prstGeom prst="rect">
            <a:avLst/>
          </a:prstGeom>
          <a:solidFill>
            <a:schemeClr val="tx2">
              <a:lumMod val="20000"/>
              <a:lumOff val="80000"/>
            </a:schemeClr>
          </a:solidFill>
          <a:ln w="19050">
            <a:solidFill>
              <a:schemeClr val="tx2">
                <a:lumMod val="50000"/>
              </a:schemeClr>
            </a:solidFill>
          </a:ln>
        </p:spPr>
        <p:txBody>
          <a:bodyPr wrap="square" rtlCol="0">
            <a:spAutoFit/>
          </a:bodyPr>
          <a:lstStyle/>
          <a:p>
            <a:pPr algn="ctr"/>
            <a:r>
              <a:rPr lang="en-US" sz="1200" b="1" dirty="0">
                <a:solidFill>
                  <a:schemeClr val="tx2">
                    <a:lumMod val="50000"/>
                  </a:schemeClr>
                </a:solidFill>
              </a:rPr>
              <a:t>QA Sign Off</a:t>
            </a:r>
            <a:br>
              <a:rPr lang="en-US" sz="1200" dirty="0">
                <a:solidFill>
                  <a:schemeClr val="tx2">
                    <a:lumMod val="50000"/>
                  </a:schemeClr>
                </a:solidFill>
              </a:rPr>
            </a:br>
            <a:r>
              <a:rPr lang="en-US" sz="1200" dirty="0">
                <a:solidFill>
                  <a:schemeClr val="tx2">
                    <a:lumMod val="50000"/>
                  </a:schemeClr>
                </a:solidFill>
              </a:rPr>
              <a:t>(Human in the Loop)</a:t>
            </a:r>
            <a:br>
              <a:rPr lang="en-US" sz="1200" dirty="0">
                <a:solidFill>
                  <a:schemeClr val="tx2">
                    <a:lumMod val="50000"/>
                  </a:schemeClr>
                </a:solidFill>
              </a:rPr>
            </a:br>
            <a:r>
              <a:rPr lang="en-US" sz="1200" i="1" dirty="0">
                <a:solidFill>
                  <a:schemeClr val="tx2">
                    <a:lumMod val="50000"/>
                  </a:schemeClr>
                </a:solidFill>
              </a:rPr>
              <a:t>Consulting Director</a:t>
            </a:r>
          </a:p>
        </p:txBody>
      </p:sp>
      <p:sp>
        <p:nvSpPr>
          <p:cNvPr id="19" name="TextBox 18">
            <a:extLst>
              <a:ext uri="{FF2B5EF4-FFF2-40B4-BE49-F238E27FC236}">
                <a16:creationId xmlns:a16="http://schemas.microsoft.com/office/drawing/2014/main" id="{49FA23A5-FC05-4420-6E85-61C47668EA87}"/>
              </a:ext>
            </a:extLst>
          </p:cNvPr>
          <p:cNvSpPr txBox="1"/>
          <p:nvPr/>
        </p:nvSpPr>
        <p:spPr>
          <a:xfrm>
            <a:off x="7478489" y="4513482"/>
            <a:ext cx="1632857" cy="646331"/>
          </a:xfrm>
          <a:prstGeom prst="rect">
            <a:avLst/>
          </a:prstGeom>
          <a:solidFill>
            <a:schemeClr val="accent1">
              <a:lumMod val="20000"/>
              <a:lumOff val="80000"/>
            </a:schemeClr>
          </a:solidFill>
          <a:ln w="19050">
            <a:solidFill>
              <a:schemeClr val="accent1">
                <a:lumMod val="50000"/>
              </a:schemeClr>
            </a:solidFill>
          </a:ln>
        </p:spPr>
        <p:txBody>
          <a:bodyPr wrap="square" rtlCol="0">
            <a:spAutoFit/>
          </a:bodyPr>
          <a:lstStyle/>
          <a:p>
            <a:pPr algn="ctr"/>
            <a:r>
              <a:rPr lang="en-US" sz="1200" b="1" dirty="0">
                <a:solidFill>
                  <a:schemeClr val="accent1">
                    <a:lumMod val="50000"/>
                  </a:schemeClr>
                </a:solidFill>
              </a:rPr>
              <a:t>Editing Client Docs</a:t>
            </a:r>
            <a:br>
              <a:rPr lang="en-US" sz="1200" dirty="0">
                <a:solidFill>
                  <a:schemeClr val="accent1">
                    <a:lumMod val="50000"/>
                  </a:schemeClr>
                </a:solidFill>
              </a:rPr>
            </a:br>
            <a:br>
              <a:rPr lang="en-US" sz="1200" dirty="0">
                <a:solidFill>
                  <a:schemeClr val="accent1">
                    <a:lumMod val="50000"/>
                  </a:schemeClr>
                </a:solidFill>
              </a:rPr>
            </a:br>
            <a:r>
              <a:rPr lang="en-US" sz="1200" i="1" dirty="0">
                <a:solidFill>
                  <a:schemeClr val="accent1">
                    <a:lumMod val="50000"/>
                  </a:schemeClr>
                </a:solidFill>
              </a:rPr>
              <a:t>Senior Consultant</a:t>
            </a:r>
          </a:p>
        </p:txBody>
      </p:sp>
      <p:sp>
        <p:nvSpPr>
          <p:cNvPr id="20" name="TextBox 19">
            <a:extLst>
              <a:ext uri="{FF2B5EF4-FFF2-40B4-BE49-F238E27FC236}">
                <a16:creationId xmlns:a16="http://schemas.microsoft.com/office/drawing/2014/main" id="{1E4FFC7D-89B1-ED70-046E-06EF24C34BC7}"/>
              </a:ext>
            </a:extLst>
          </p:cNvPr>
          <p:cNvSpPr txBox="1"/>
          <p:nvPr/>
        </p:nvSpPr>
        <p:spPr>
          <a:xfrm>
            <a:off x="9350824" y="4513482"/>
            <a:ext cx="1632857" cy="646331"/>
          </a:xfrm>
          <a:prstGeom prst="rect">
            <a:avLst/>
          </a:prstGeom>
          <a:solidFill>
            <a:schemeClr val="accent2">
              <a:lumMod val="20000"/>
              <a:lumOff val="80000"/>
            </a:schemeClr>
          </a:solidFill>
          <a:ln w="19050">
            <a:solidFill>
              <a:schemeClr val="accent2">
                <a:lumMod val="50000"/>
              </a:schemeClr>
            </a:solidFill>
          </a:ln>
        </p:spPr>
        <p:txBody>
          <a:bodyPr wrap="square" rtlCol="0">
            <a:spAutoFit/>
          </a:bodyPr>
          <a:lstStyle/>
          <a:p>
            <a:pPr algn="ctr"/>
            <a:r>
              <a:rPr lang="en-US" sz="1200" b="1" dirty="0">
                <a:solidFill>
                  <a:schemeClr val="accent2">
                    <a:lumMod val="50000"/>
                  </a:schemeClr>
                </a:solidFill>
              </a:rPr>
              <a:t>Review &amp; Approval</a:t>
            </a:r>
          </a:p>
          <a:p>
            <a:pPr algn="ctr"/>
            <a:r>
              <a:rPr lang="en-US" sz="1200" dirty="0">
                <a:solidFill>
                  <a:schemeClr val="accent2">
                    <a:lumMod val="50000"/>
                  </a:schemeClr>
                </a:solidFill>
              </a:rPr>
              <a:t>(Human in the Loop)</a:t>
            </a:r>
          </a:p>
          <a:p>
            <a:pPr algn="ctr"/>
            <a:r>
              <a:rPr lang="en-US" sz="1200" i="1" dirty="0">
                <a:solidFill>
                  <a:schemeClr val="accent2">
                    <a:lumMod val="50000"/>
                  </a:schemeClr>
                </a:solidFill>
              </a:rPr>
              <a:t>Consulting Director</a:t>
            </a:r>
          </a:p>
        </p:txBody>
      </p:sp>
      <p:cxnSp>
        <p:nvCxnSpPr>
          <p:cNvPr id="24" name="Straight Arrow Connector 23">
            <a:extLst>
              <a:ext uri="{FF2B5EF4-FFF2-40B4-BE49-F238E27FC236}">
                <a16:creationId xmlns:a16="http://schemas.microsoft.com/office/drawing/2014/main" id="{49804A80-6E5D-728D-D26E-FE49D26001EB}"/>
              </a:ext>
            </a:extLst>
          </p:cNvPr>
          <p:cNvCxnSpPr>
            <a:stCxn id="11" idx="3"/>
            <a:endCxn id="12" idx="1"/>
          </p:cNvCxnSpPr>
          <p:nvPr/>
        </p:nvCxnSpPr>
        <p:spPr>
          <a:xfrm>
            <a:off x="3385457" y="3117622"/>
            <a:ext cx="272144"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B83F73E8-C224-A8A8-DB79-587F99005282}"/>
              </a:ext>
            </a:extLst>
          </p:cNvPr>
          <p:cNvCxnSpPr>
            <a:cxnSpLocks/>
            <a:stCxn id="12" idx="3"/>
            <a:endCxn id="13" idx="1"/>
          </p:cNvCxnSpPr>
          <p:nvPr/>
        </p:nvCxnSpPr>
        <p:spPr>
          <a:xfrm>
            <a:off x="5290458" y="3117624"/>
            <a:ext cx="272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00697C-DC93-59B9-2A0B-CFF94BD0EE03}"/>
              </a:ext>
            </a:extLst>
          </p:cNvPr>
          <p:cNvCxnSpPr>
            <a:cxnSpLocks/>
            <a:stCxn id="13" idx="3"/>
            <a:endCxn id="14" idx="1"/>
          </p:cNvCxnSpPr>
          <p:nvPr/>
        </p:nvCxnSpPr>
        <p:spPr>
          <a:xfrm flipV="1">
            <a:off x="7195458" y="3117623"/>
            <a:ext cx="272145"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95EBD806-0F1F-A67D-B2F3-159E56D3172B}"/>
              </a:ext>
            </a:extLst>
          </p:cNvPr>
          <p:cNvCxnSpPr>
            <a:cxnSpLocks/>
            <a:stCxn id="14" idx="3"/>
            <a:endCxn id="15" idx="1"/>
          </p:cNvCxnSpPr>
          <p:nvPr/>
        </p:nvCxnSpPr>
        <p:spPr>
          <a:xfrm>
            <a:off x="9100460" y="3117623"/>
            <a:ext cx="272143"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7" name="Elbow Connector 36">
            <a:extLst>
              <a:ext uri="{FF2B5EF4-FFF2-40B4-BE49-F238E27FC236}">
                <a16:creationId xmlns:a16="http://schemas.microsoft.com/office/drawing/2014/main" id="{E14DD077-D5DC-E117-EFE4-22153BE8DCDB}"/>
              </a:ext>
            </a:extLst>
          </p:cNvPr>
          <p:cNvCxnSpPr>
            <a:stCxn id="15" idx="3"/>
            <a:endCxn id="16" idx="1"/>
          </p:cNvCxnSpPr>
          <p:nvPr/>
        </p:nvCxnSpPr>
        <p:spPr>
          <a:xfrm flipH="1">
            <a:off x="1774376" y="3117623"/>
            <a:ext cx="9231084" cy="1719025"/>
          </a:xfrm>
          <a:prstGeom prst="bentConnector5">
            <a:avLst>
              <a:gd name="adj1" fmla="val -2476"/>
              <a:gd name="adj2" fmla="val 50000"/>
              <a:gd name="adj3" fmla="val 102476"/>
            </a:avLst>
          </a:prstGeom>
          <a:ln w="19050">
            <a:tailEnd type="triangle"/>
          </a:ln>
        </p:spPr>
        <p:style>
          <a:lnRef idx="1">
            <a:schemeClr val="accent4"/>
          </a:lnRef>
          <a:fillRef idx="0">
            <a:schemeClr val="accent4"/>
          </a:fillRef>
          <a:effectRef idx="0">
            <a:schemeClr val="accent4"/>
          </a:effectRef>
          <a:fontRef idx="minor">
            <a:schemeClr val="tx1"/>
          </a:fontRef>
        </p:style>
      </p:cxnSp>
      <p:cxnSp>
        <p:nvCxnSpPr>
          <p:cNvPr id="38" name="Straight Arrow Connector 37">
            <a:extLst>
              <a:ext uri="{FF2B5EF4-FFF2-40B4-BE49-F238E27FC236}">
                <a16:creationId xmlns:a16="http://schemas.microsoft.com/office/drawing/2014/main" id="{8144C22F-5282-A85A-184A-0C9C0BFE8E3A}"/>
              </a:ext>
            </a:extLst>
          </p:cNvPr>
          <p:cNvCxnSpPr>
            <a:cxnSpLocks/>
            <a:stCxn id="16" idx="3"/>
            <a:endCxn id="17" idx="1"/>
          </p:cNvCxnSpPr>
          <p:nvPr/>
        </p:nvCxnSpPr>
        <p:spPr>
          <a:xfrm flipV="1">
            <a:off x="3407233" y="4829951"/>
            <a:ext cx="239478" cy="6697"/>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41" name="Straight Arrow Connector 40">
            <a:extLst>
              <a:ext uri="{FF2B5EF4-FFF2-40B4-BE49-F238E27FC236}">
                <a16:creationId xmlns:a16="http://schemas.microsoft.com/office/drawing/2014/main" id="{6270BE1B-D161-2410-C4E2-8CDB7FB2DE8C}"/>
              </a:ext>
            </a:extLst>
          </p:cNvPr>
          <p:cNvCxnSpPr>
            <a:cxnSpLocks/>
            <a:stCxn id="17" idx="3"/>
            <a:endCxn id="18" idx="1"/>
          </p:cNvCxnSpPr>
          <p:nvPr/>
        </p:nvCxnSpPr>
        <p:spPr>
          <a:xfrm>
            <a:off x="5279568" y="4829951"/>
            <a:ext cx="283032" cy="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6" name="Straight Arrow Connector 45">
            <a:extLst>
              <a:ext uri="{FF2B5EF4-FFF2-40B4-BE49-F238E27FC236}">
                <a16:creationId xmlns:a16="http://schemas.microsoft.com/office/drawing/2014/main" id="{AD2293E6-2B23-F15A-121C-5A221CE976C9}"/>
              </a:ext>
            </a:extLst>
          </p:cNvPr>
          <p:cNvCxnSpPr>
            <a:cxnSpLocks/>
            <a:stCxn id="18" idx="3"/>
            <a:endCxn id="19" idx="1"/>
          </p:cNvCxnSpPr>
          <p:nvPr/>
        </p:nvCxnSpPr>
        <p:spPr>
          <a:xfrm>
            <a:off x="7195457" y="4829952"/>
            <a:ext cx="283032" cy="66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363D1BCF-79BD-79DD-63AB-F5AF35733687}"/>
              </a:ext>
            </a:extLst>
          </p:cNvPr>
          <p:cNvCxnSpPr>
            <a:cxnSpLocks/>
            <a:stCxn id="19" idx="3"/>
            <a:endCxn id="20" idx="1"/>
          </p:cNvCxnSpPr>
          <p:nvPr/>
        </p:nvCxnSpPr>
        <p:spPr>
          <a:xfrm>
            <a:off x="9111346" y="4836648"/>
            <a:ext cx="23947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4579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8D072-BDE0-3D2F-9B5B-91949FAD1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6AC59-123B-DBA1-99FB-793B4C4625BE}"/>
              </a:ext>
            </a:extLst>
          </p:cNvPr>
          <p:cNvSpPr>
            <a:spLocks noGrp="1"/>
          </p:cNvSpPr>
          <p:nvPr>
            <p:ph type="title"/>
          </p:nvPr>
        </p:nvSpPr>
        <p:spPr>
          <a:xfrm>
            <a:off x="838200" y="359758"/>
            <a:ext cx="10515600" cy="1325563"/>
          </a:xfrm>
        </p:spPr>
        <p:txBody>
          <a:bodyPr>
            <a:normAutofit/>
          </a:bodyPr>
          <a:lstStyle/>
          <a:p>
            <a:r>
              <a:rPr lang="en-GB" dirty="0"/>
              <a:t>Enterprise Vibe Consulting Demo (2)</a:t>
            </a:r>
            <a:endParaRPr lang="en-GB" sz="1600" dirty="0"/>
          </a:p>
        </p:txBody>
      </p:sp>
      <p:pic>
        <p:nvPicPr>
          <p:cNvPr id="23" name="Picture 22">
            <a:extLst>
              <a:ext uri="{FF2B5EF4-FFF2-40B4-BE49-F238E27FC236}">
                <a16:creationId xmlns:a16="http://schemas.microsoft.com/office/drawing/2014/main" id="{AEAF644C-6D3F-E7BA-0428-2BAABEC8B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4" y="2651297"/>
            <a:ext cx="12206874" cy="1898679"/>
          </a:xfrm>
          <a:prstGeom prst="rect">
            <a:avLst/>
          </a:prstGeom>
        </p:spPr>
      </p:pic>
      <p:sp>
        <p:nvSpPr>
          <p:cNvPr id="26" name="TextBox 25">
            <a:extLst>
              <a:ext uri="{FF2B5EF4-FFF2-40B4-BE49-F238E27FC236}">
                <a16:creationId xmlns:a16="http://schemas.microsoft.com/office/drawing/2014/main" id="{0454C40F-8197-B42A-CE04-3C8548014B4F}"/>
              </a:ext>
            </a:extLst>
          </p:cNvPr>
          <p:cNvSpPr txBox="1"/>
          <p:nvPr/>
        </p:nvSpPr>
        <p:spPr>
          <a:xfrm>
            <a:off x="1635892" y="5221359"/>
            <a:ext cx="8526758" cy="1477328"/>
          </a:xfrm>
          <a:prstGeom prst="rect">
            <a:avLst/>
          </a:prstGeom>
          <a:noFill/>
        </p:spPr>
        <p:txBody>
          <a:bodyPr wrap="none" rtlCol="0">
            <a:spAutoFit/>
          </a:bodyPr>
          <a:lstStyle/>
          <a:p>
            <a:r>
              <a:rPr lang="en-US" dirty="0"/>
              <a:t>OpenAI Agent Builder Platform</a:t>
            </a:r>
            <a:br>
              <a:rPr lang="en-US" dirty="0"/>
            </a:br>
            <a:br>
              <a:rPr lang="en-US" dirty="0"/>
            </a:br>
            <a:r>
              <a:rPr lang="en-US" dirty="0"/>
              <a:t>To run quickly uses GPT 4.1, little prompt engineering beyond role, low number of tokens</a:t>
            </a:r>
            <a:br>
              <a:rPr lang="en-US" dirty="0"/>
            </a:br>
            <a:br>
              <a:rPr lang="en-US" dirty="0"/>
            </a:br>
            <a:r>
              <a:rPr lang="en-US" dirty="0"/>
              <a:t>Human in loop restricted to stage approvals.  Data is simplified.</a:t>
            </a:r>
          </a:p>
        </p:txBody>
      </p:sp>
    </p:spTree>
    <p:extLst>
      <p:ext uri="{BB962C8B-B14F-4D97-AF65-F5344CB8AC3E}">
        <p14:creationId xmlns:p14="http://schemas.microsoft.com/office/powerpoint/2010/main" val="26729399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DB04B-44E2-6D15-84BD-AD48A8245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7E15A-210A-E3ED-D5EC-8E544125BE7C}"/>
              </a:ext>
            </a:extLst>
          </p:cNvPr>
          <p:cNvSpPr>
            <a:spLocks noGrp="1"/>
          </p:cNvSpPr>
          <p:nvPr>
            <p:ph type="title"/>
          </p:nvPr>
        </p:nvSpPr>
        <p:spPr>
          <a:xfrm>
            <a:off x="838200" y="359758"/>
            <a:ext cx="10515600" cy="1325563"/>
          </a:xfrm>
        </p:spPr>
        <p:txBody>
          <a:bodyPr>
            <a:normAutofit/>
          </a:bodyPr>
          <a:lstStyle/>
          <a:p>
            <a:r>
              <a:rPr lang="en-GB" dirty="0"/>
              <a:t>Enterprise Vibe Consulting Demo (3)</a:t>
            </a:r>
            <a:endParaRPr lang="en-GB" sz="1600" dirty="0"/>
          </a:p>
        </p:txBody>
      </p:sp>
      <p:sp>
        <p:nvSpPr>
          <p:cNvPr id="5" name="Rectangle 2">
            <a:extLst>
              <a:ext uri="{FF2B5EF4-FFF2-40B4-BE49-F238E27FC236}">
                <a16:creationId xmlns:a16="http://schemas.microsoft.com/office/drawing/2014/main" id="{5D1CFBF0-364C-4A95-C8A6-04A47BAA2764}"/>
              </a:ext>
            </a:extLst>
          </p:cNvPr>
          <p:cNvSpPr>
            <a:spLocks noChangeArrowheads="1"/>
          </p:cNvSpPr>
          <p:nvPr/>
        </p:nvSpPr>
        <p:spPr bwMode="auto">
          <a:xfrm>
            <a:off x="382503" y="2633530"/>
            <a:ext cx="5485861" cy="3219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2">
                    <a:lumMod val="50000"/>
                  </a:schemeClr>
                </a:solidFill>
                <a:effectLst/>
                <a:latin typeface="+mn-lt"/>
              </a:rPr>
              <a:t>Objectives</a:t>
            </a:r>
            <a:endParaRPr kumimoji="0" lang="en-US" altLang="en-US" sz="12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Identify the key drivers of the 8% drop in online conversion in Q3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Propose actionable recommendations to restore or improve the online conversion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Complete the analysis and deliver recommendations within 4 weeks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2">
                    <a:lumMod val="50000"/>
                  </a:schemeClr>
                </a:solidFill>
                <a:effectLst/>
                <a:latin typeface="+mn-lt"/>
              </a:rPr>
              <a:t>KPIs</a:t>
            </a:r>
            <a:endParaRPr kumimoji="0" lang="en-US" altLang="en-US" sz="12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Identification of top drivers contributing to the conversion decline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Delivery of comprehensive driver analysis and action plan by 4-week deadline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Quantitative estimation of expected impact for each proposed action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2">
                    <a:lumMod val="50000"/>
                  </a:schemeClr>
                </a:solidFill>
                <a:effectLst/>
                <a:latin typeface="+mn-lt"/>
              </a:rPr>
              <a:t>Hypotheses</a:t>
            </a:r>
            <a:endParaRPr kumimoji="0" lang="en-US" altLang="en-US" sz="1200" b="0" i="0" u="none" strike="noStrike" cap="none" normalizeH="0" baseline="0" dirty="0">
              <a:ln>
                <a:noFill/>
              </a:ln>
              <a:solidFill>
                <a:schemeClr val="tx2">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Technical issues or website changes negatively affected user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Changes in product mix, pricing, or promotions impacted conversion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Increased competition or market conditions influenced customer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Operational/logistics factors (e.g., delivery slots, stockouts) contributed to drop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2">
                    <a:lumMod val="50000"/>
                  </a:schemeClr>
                </a:solidFill>
                <a:effectLst/>
                <a:latin typeface="+mn-lt"/>
              </a:rPr>
              <a:t>Economic factors or seasonality skewed shopping patterns in Q3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2">
                  <a:lumMod val="50000"/>
                </a:schemeClr>
              </a:solidFill>
              <a:effectLst/>
              <a:latin typeface="+mn-lt"/>
            </a:endParaRPr>
          </a:p>
        </p:txBody>
      </p:sp>
      <p:sp>
        <p:nvSpPr>
          <p:cNvPr id="6" name="TextBox 5">
            <a:extLst>
              <a:ext uri="{FF2B5EF4-FFF2-40B4-BE49-F238E27FC236}">
                <a16:creationId xmlns:a16="http://schemas.microsoft.com/office/drawing/2014/main" id="{76D04264-C7D7-C54A-72AE-24BAD02F53A3}"/>
              </a:ext>
            </a:extLst>
          </p:cNvPr>
          <p:cNvSpPr txBox="1"/>
          <p:nvPr/>
        </p:nvSpPr>
        <p:spPr>
          <a:xfrm>
            <a:off x="1514321" y="1693930"/>
            <a:ext cx="1632857" cy="646331"/>
          </a:xfrm>
          <a:prstGeom prst="rect">
            <a:avLst/>
          </a:prstGeom>
          <a:solidFill>
            <a:schemeClr val="tx2">
              <a:lumMod val="20000"/>
              <a:lumOff val="80000"/>
            </a:schemeClr>
          </a:solidFill>
          <a:ln w="19050">
            <a:solidFill>
              <a:schemeClr val="tx2">
                <a:lumMod val="50000"/>
              </a:schemeClr>
            </a:solidFill>
          </a:ln>
        </p:spPr>
        <p:txBody>
          <a:bodyPr wrap="square" rtlCol="0">
            <a:spAutoFit/>
          </a:bodyPr>
          <a:lstStyle/>
          <a:p>
            <a:pPr algn="ctr"/>
            <a:r>
              <a:rPr lang="en-US" sz="1200" b="1" dirty="0">
                <a:solidFill>
                  <a:schemeClr val="tx2">
                    <a:lumMod val="50000"/>
                  </a:schemeClr>
                </a:solidFill>
              </a:rPr>
              <a:t>Intake &amp; Scoping</a:t>
            </a:r>
            <a:br>
              <a:rPr lang="en-US" sz="1200" dirty="0">
                <a:solidFill>
                  <a:schemeClr val="tx2">
                    <a:lumMod val="50000"/>
                  </a:schemeClr>
                </a:solidFill>
              </a:rPr>
            </a:br>
            <a:br>
              <a:rPr lang="en-US" sz="1200" dirty="0">
                <a:solidFill>
                  <a:schemeClr val="tx2">
                    <a:lumMod val="50000"/>
                  </a:schemeClr>
                </a:solidFill>
              </a:rPr>
            </a:br>
            <a:r>
              <a:rPr lang="en-US" sz="1200" i="1" dirty="0">
                <a:solidFill>
                  <a:schemeClr val="tx2">
                    <a:lumMod val="50000"/>
                  </a:schemeClr>
                </a:solidFill>
              </a:rPr>
              <a:t>Account Director</a:t>
            </a:r>
          </a:p>
        </p:txBody>
      </p:sp>
      <p:sp>
        <p:nvSpPr>
          <p:cNvPr id="7" name="TextBox 6">
            <a:extLst>
              <a:ext uri="{FF2B5EF4-FFF2-40B4-BE49-F238E27FC236}">
                <a16:creationId xmlns:a16="http://schemas.microsoft.com/office/drawing/2014/main" id="{96840E25-98A7-92E7-AF8A-4E26DCA41905}"/>
              </a:ext>
            </a:extLst>
          </p:cNvPr>
          <p:cNvSpPr txBox="1"/>
          <p:nvPr/>
        </p:nvSpPr>
        <p:spPr>
          <a:xfrm>
            <a:off x="8407892" y="1693929"/>
            <a:ext cx="1632857" cy="646331"/>
          </a:xfrm>
          <a:prstGeom prst="rect">
            <a:avLst/>
          </a:prstGeom>
          <a:solidFill>
            <a:schemeClr val="accent2">
              <a:lumMod val="20000"/>
              <a:lumOff val="80000"/>
            </a:schemeClr>
          </a:solidFill>
          <a:ln w="19050">
            <a:solidFill>
              <a:schemeClr val="accent2">
                <a:lumMod val="50000"/>
              </a:schemeClr>
            </a:solidFill>
          </a:ln>
        </p:spPr>
        <p:txBody>
          <a:bodyPr wrap="square" rtlCol="0">
            <a:spAutoFit/>
          </a:bodyPr>
          <a:lstStyle/>
          <a:p>
            <a:pPr algn="ctr"/>
            <a:r>
              <a:rPr lang="en-US" sz="1200" b="1" dirty="0">
                <a:solidFill>
                  <a:schemeClr val="accent2">
                    <a:lumMod val="50000"/>
                  </a:schemeClr>
                </a:solidFill>
              </a:rPr>
              <a:t>Research</a:t>
            </a:r>
            <a:br>
              <a:rPr lang="en-US" sz="1200" dirty="0">
                <a:solidFill>
                  <a:schemeClr val="accent2">
                    <a:lumMod val="50000"/>
                  </a:schemeClr>
                </a:solidFill>
              </a:rPr>
            </a:br>
            <a:br>
              <a:rPr lang="en-US" sz="1200" dirty="0">
                <a:solidFill>
                  <a:schemeClr val="accent2">
                    <a:lumMod val="50000"/>
                  </a:schemeClr>
                </a:solidFill>
              </a:rPr>
            </a:br>
            <a:r>
              <a:rPr lang="en-US" sz="1200" i="1" dirty="0">
                <a:solidFill>
                  <a:schemeClr val="accent2">
                    <a:lumMod val="50000"/>
                  </a:schemeClr>
                </a:solidFill>
              </a:rPr>
              <a:t>Researcher</a:t>
            </a:r>
          </a:p>
        </p:txBody>
      </p:sp>
      <p:sp>
        <p:nvSpPr>
          <p:cNvPr id="11" name="Rectangle 5">
            <a:extLst>
              <a:ext uri="{FF2B5EF4-FFF2-40B4-BE49-F238E27FC236}">
                <a16:creationId xmlns:a16="http://schemas.microsoft.com/office/drawing/2014/main" id="{36A060B6-8E14-2B28-1C27-95AF7B931FE5}"/>
              </a:ext>
            </a:extLst>
          </p:cNvPr>
          <p:cNvSpPr>
            <a:spLocks noChangeArrowheads="1"/>
          </p:cNvSpPr>
          <p:nvPr/>
        </p:nvSpPr>
        <p:spPr bwMode="auto">
          <a:xfrm>
            <a:off x="6481389" y="2633530"/>
            <a:ext cx="548586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accent1">
                    <a:lumMod val="50000"/>
                  </a:schemeClr>
                </a:solidFill>
                <a:effectLst/>
              </a:rPr>
              <a:t>Claims and Supporting Evidence</a:t>
            </a:r>
            <a:br>
              <a:rPr kumimoji="0" lang="en-US" altLang="en-US" sz="1200" b="1" i="0" u="none" strike="noStrike" cap="none" normalizeH="0" baseline="0" dirty="0">
                <a:ln>
                  <a:noFill/>
                </a:ln>
                <a:solidFill>
                  <a:schemeClr val="accent1">
                    <a:lumMod val="50000"/>
                  </a:schemeClr>
                </a:solidFill>
                <a:effectLst/>
              </a:rPr>
            </a:br>
            <a:endParaRPr kumimoji="0" lang="en-US" altLang="en-US" sz="1200" b="1" i="0" u="none" strike="noStrike" cap="none" normalizeH="0" baseline="0" dirty="0">
              <a:ln>
                <a:noFill/>
              </a:ln>
              <a:solidFill>
                <a:schemeClr val="accent1">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a:ln>
                  <a:noFill/>
                </a:ln>
                <a:solidFill>
                  <a:schemeClr val="accent1">
                    <a:lumMod val="50000"/>
                  </a:schemeClr>
                </a:solidFill>
                <a:effectLst/>
              </a:rPr>
              <a:t> UK grocery eCommerce conversion rate benchmark in 2024 was approximately 6.0%.</a:t>
            </a:r>
            <a:endParaRPr kumimoji="0" lang="en-US" altLang="en-US" sz="1200" b="0" i="0" u="none" strike="noStrike" cap="none" normalizeH="0" baseline="0" dirty="0">
              <a:ln>
                <a:noFill/>
              </a:ln>
              <a:solidFill>
                <a:schemeClr val="accent1">
                  <a:lumMod val="50000"/>
                </a:schemeClr>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a:ln>
                  <a:noFill/>
                </a:ln>
                <a:solidFill>
                  <a:schemeClr val="accent1">
                    <a:lumMod val="50000"/>
                  </a:schemeClr>
                </a:solidFill>
                <a:effectLst/>
              </a:rPr>
              <a:t>Supporting Quote:</a:t>
            </a:r>
            <a:r>
              <a:rPr kumimoji="0" lang="en-US" altLang="en-US" sz="1200" b="0" i="0" u="none" strike="noStrike" cap="none" normalizeH="0" baseline="0" dirty="0">
                <a:ln>
                  <a:noFill/>
                </a:ln>
                <a:solidFill>
                  <a:schemeClr val="accent1">
                    <a:lumMod val="50000"/>
                  </a:schemeClr>
                </a:solidFill>
                <a:effectLst/>
              </a:rPr>
              <a:t> "The UK grocery eCommerce conversion rate was reported at 6.0% in 2024, indicating the typical baseline for online purchase completion."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sng" strike="noStrike" cap="none" normalizeH="0" baseline="0" dirty="0">
                <a:ln>
                  <a:noFill/>
                </a:ln>
                <a:solidFill>
                  <a:schemeClr val="accent1">
                    <a:lumMod val="50000"/>
                  </a:schemeClr>
                </a:solidFill>
                <a:effectLst/>
                <a:hlinkClick r:id="rId2">
                  <a:extLst>
                    <a:ext uri="{A12FA001-AC4F-418D-AE19-62706E023703}">
                      <ahyp:hlinkClr xmlns:ahyp="http://schemas.microsoft.com/office/drawing/2018/hyperlinkcolor" val="tx"/>
                    </a:ext>
                  </a:extLst>
                </a:hlinkClick>
              </a:rPr>
              <a:t>Source</a:t>
            </a:r>
            <a:br>
              <a:rPr kumimoji="0" lang="en-US" altLang="en-US" sz="1200" b="0" i="0" u="sng" strike="noStrike" cap="none" normalizeH="0" baseline="0" dirty="0">
                <a:ln>
                  <a:noFill/>
                </a:ln>
                <a:solidFill>
                  <a:schemeClr val="accent1">
                    <a:lumMod val="50000"/>
                  </a:schemeClr>
                </a:solidFill>
                <a:effectLst/>
              </a:rPr>
            </a:br>
            <a:endParaRPr kumimoji="0" lang="en-US" altLang="en-US" sz="1200" b="0" i="0" u="none" strike="noStrike" cap="none" normalizeH="0" baseline="0" dirty="0">
              <a:ln>
                <a:noFill/>
              </a:ln>
              <a:solidFill>
                <a:schemeClr val="accent1">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1" i="0" u="none" strike="noStrike" cap="none" normalizeH="0" baseline="0" dirty="0">
                <a:ln>
                  <a:noFill/>
                </a:ln>
                <a:solidFill>
                  <a:schemeClr val="accent1">
                    <a:lumMod val="50000"/>
                  </a:schemeClr>
                </a:solidFill>
                <a:effectLst/>
              </a:rPr>
              <a:t> Mobile site performance significantly impacts conversion rates—62% of consumers are less likely to convert after a poor mobile experience.</a:t>
            </a:r>
            <a:endParaRPr kumimoji="0" lang="en-US" altLang="en-US" sz="1200" b="0" i="0" u="none" strike="noStrike" cap="none" normalizeH="0" baseline="0" dirty="0">
              <a:ln>
                <a:noFill/>
              </a:ln>
              <a:solidFill>
                <a:schemeClr val="accent1">
                  <a:lumMod val="50000"/>
                </a:schemeClr>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a:ln>
                  <a:noFill/>
                </a:ln>
                <a:solidFill>
                  <a:schemeClr val="accent1">
                    <a:lumMod val="50000"/>
                  </a:schemeClr>
                </a:solidFill>
                <a:effectLst/>
              </a:rPr>
              <a:t>Supporting Quote:</a:t>
            </a:r>
            <a:r>
              <a:rPr kumimoji="0" lang="en-US" altLang="en-US" sz="1200" b="0" i="0" u="none" strike="noStrike" cap="none" normalizeH="0" baseline="0" dirty="0">
                <a:ln>
                  <a:noFill/>
                </a:ln>
                <a:solidFill>
                  <a:schemeClr val="accent1">
                    <a:lumMod val="50000"/>
                  </a:schemeClr>
                </a:solidFill>
                <a:effectLst/>
              </a:rPr>
              <a:t> "When 62% of consumers are less likely to convert if they have a negative mobile site experience, ensuring that your site is quick and easy to load makes a significant improvement on your overall conversion rates."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sng" strike="noStrike" cap="none" normalizeH="0" baseline="0" dirty="0">
                <a:ln>
                  <a:noFill/>
                </a:ln>
                <a:solidFill>
                  <a:schemeClr val="accent1">
                    <a:lumMod val="50000"/>
                  </a:schemeClr>
                </a:solidFill>
                <a:effectLst/>
                <a:hlinkClick r:id="rId3">
                  <a:extLst>
                    <a:ext uri="{A12FA001-AC4F-418D-AE19-62706E023703}">
                      <ahyp:hlinkClr xmlns:ahyp="http://schemas.microsoft.com/office/drawing/2018/hyperlinkcolor" val="tx"/>
                    </a:ext>
                  </a:extLst>
                </a:hlinkClick>
              </a:rPr>
              <a:t>Source</a:t>
            </a:r>
            <a:br>
              <a:rPr kumimoji="0" lang="en-US" altLang="en-US" sz="1200" b="0" i="0" u="sng" strike="noStrike" cap="none" normalizeH="0" baseline="0" dirty="0">
                <a:ln>
                  <a:noFill/>
                </a:ln>
                <a:solidFill>
                  <a:schemeClr val="accent1">
                    <a:lumMod val="50000"/>
                  </a:schemeClr>
                </a:solidFill>
                <a:effectLst/>
              </a:rPr>
            </a:br>
            <a:endParaRPr kumimoji="0" lang="en-US" altLang="en-US" sz="1200" b="0" i="0" u="none" strike="noStrike" cap="none" normalizeH="0" baseline="0" dirty="0">
              <a:ln>
                <a:noFill/>
              </a:ln>
              <a:solidFill>
                <a:schemeClr val="accent1">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1" i="0" u="none" strike="noStrike" cap="none" normalizeH="0" baseline="0" dirty="0">
                <a:ln>
                  <a:noFill/>
                </a:ln>
                <a:solidFill>
                  <a:schemeClr val="accent1">
                    <a:lumMod val="50000"/>
                  </a:schemeClr>
                </a:solidFill>
                <a:effectLst/>
              </a:rPr>
              <a:t> Many UK supermarkets are experiencing declines in organic traffic on both desktop and mobile, which reduces potential site visitors and conversion opportunities.</a:t>
            </a:r>
            <a:endParaRPr kumimoji="0" lang="en-US" altLang="en-US" sz="1200" b="0" i="0" u="none" strike="noStrike" cap="none" normalizeH="0" baseline="0" dirty="0">
              <a:ln>
                <a:noFill/>
              </a:ln>
              <a:solidFill>
                <a:schemeClr val="accent1">
                  <a:lumMod val="50000"/>
                </a:schemeClr>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a:ln>
                  <a:noFill/>
                </a:ln>
                <a:solidFill>
                  <a:schemeClr val="accent1">
                    <a:lumMod val="50000"/>
                  </a:schemeClr>
                </a:solidFill>
                <a:effectLst/>
              </a:rPr>
              <a:t>Supporting Quote:</a:t>
            </a:r>
            <a:r>
              <a:rPr kumimoji="0" lang="en-US" altLang="en-US" sz="1200" b="0" i="0" u="none" strike="noStrike" cap="none" normalizeH="0" baseline="0" dirty="0">
                <a:ln>
                  <a:noFill/>
                </a:ln>
                <a:solidFill>
                  <a:schemeClr val="accent1">
                    <a:lumMod val="50000"/>
                  </a:schemeClr>
                </a:solidFill>
                <a:effectLst/>
              </a:rPr>
              <a:t> "Three supermarkets reported a drop in organic traffic on desktop, with Sainsbury’s flagging the biggest decrease (-6%). On mobile, 5 supermarkets saw a drop in organic traffic, with Sainsbury’s also reporting the biggest loss on this device (-15%)."</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sng" strike="noStrike" cap="none" normalizeH="0" baseline="0" dirty="0">
                <a:ln>
                  <a:noFill/>
                </a:ln>
                <a:solidFill>
                  <a:schemeClr val="accent1">
                    <a:lumMod val="50000"/>
                  </a:schemeClr>
                </a:solidFill>
                <a:effectLst/>
                <a:hlinkClick r:id="rId3">
                  <a:extLst>
                    <a:ext uri="{A12FA001-AC4F-418D-AE19-62706E023703}">
                      <ahyp:hlinkClr xmlns:ahyp="http://schemas.microsoft.com/office/drawing/2018/hyperlinkcolor" val="tx"/>
                    </a:ext>
                  </a:extLst>
                </a:hlinkClick>
              </a:rPr>
              <a:t>Source</a:t>
            </a:r>
            <a:endParaRPr kumimoji="0" lang="en-US" altLang="en-US" sz="1200" b="0" i="0" u="none" strike="noStrike" cap="none" normalizeH="0" baseline="0" dirty="0">
              <a:ln>
                <a:noFill/>
              </a:ln>
              <a:solidFill>
                <a:schemeClr val="accent1">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accent1">
                  <a:lumMod val="50000"/>
                </a:schemeClr>
              </a:solidFill>
              <a:effectLst/>
            </a:endParaRPr>
          </a:p>
        </p:txBody>
      </p:sp>
    </p:spTree>
    <p:extLst>
      <p:ext uri="{BB962C8B-B14F-4D97-AF65-F5344CB8AC3E}">
        <p14:creationId xmlns:p14="http://schemas.microsoft.com/office/powerpoint/2010/main" val="40930203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5B51-4C47-FEF5-5101-9C6C25F11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73285-132D-D51B-3EB3-FC47A3FB3A3C}"/>
              </a:ext>
            </a:extLst>
          </p:cNvPr>
          <p:cNvSpPr>
            <a:spLocks noGrp="1"/>
          </p:cNvSpPr>
          <p:nvPr>
            <p:ph type="title"/>
          </p:nvPr>
        </p:nvSpPr>
        <p:spPr>
          <a:xfrm>
            <a:off x="838200" y="359758"/>
            <a:ext cx="10515600" cy="1325563"/>
          </a:xfrm>
        </p:spPr>
        <p:txBody>
          <a:bodyPr>
            <a:normAutofit/>
          </a:bodyPr>
          <a:lstStyle/>
          <a:p>
            <a:r>
              <a:rPr lang="en-GB" dirty="0"/>
              <a:t>Enterprise Vibe Consulting Demo (4)</a:t>
            </a:r>
            <a:endParaRPr lang="en-GB" sz="1600" dirty="0"/>
          </a:p>
        </p:txBody>
      </p:sp>
      <p:sp>
        <p:nvSpPr>
          <p:cNvPr id="3" name="TextBox 2">
            <a:extLst>
              <a:ext uri="{FF2B5EF4-FFF2-40B4-BE49-F238E27FC236}">
                <a16:creationId xmlns:a16="http://schemas.microsoft.com/office/drawing/2014/main" id="{52762EFF-E526-9510-995F-5B90790468BF}"/>
              </a:ext>
            </a:extLst>
          </p:cNvPr>
          <p:cNvSpPr txBox="1"/>
          <p:nvPr/>
        </p:nvSpPr>
        <p:spPr>
          <a:xfrm>
            <a:off x="2293720" y="1699789"/>
            <a:ext cx="1632857" cy="646331"/>
          </a:xfrm>
          <a:prstGeom prst="rect">
            <a:avLst/>
          </a:prstGeom>
          <a:solidFill>
            <a:schemeClr val="accent3">
              <a:lumMod val="20000"/>
              <a:lumOff val="80000"/>
            </a:schemeClr>
          </a:solidFill>
          <a:ln w="19050">
            <a:solidFill>
              <a:schemeClr val="accent3">
                <a:lumMod val="50000"/>
              </a:schemeClr>
            </a:solidFill>
          </a:ln>
        </p:spPr>
        <p:txBody>
          <a:bodyPr wrap="square" rtlCol="0">
            <a:spAutoFit/>
          </a:bodyPr>
          <a:lstStyle/>
          <a:p>
            <a:pPr algn="ctr"/>
            <a:r>
              <a:rPr lang="en-US" sz="1200" b="1" dirty="0">
                <a:solidFill>
                  <a:schemeClr val="accent3">
                    <a:lumMod val="50000"/>
                  </a:schemeClr>
                </a:solidFill>
              </a:rPr>
              <a:t>Analysis</a:t>
            </a:r>
            <a:br>
              <a:rPr lang="en-US" sz="1200" b="1" dirty="0">
                <a:solidFill>
                  <a:schemeClr val="accent3">
                    <a:lumMod val="50000"/>
                  </a:schemeClr>
                </a:solidFill>
              </a:rPr>
            </a:br>
            <a:r>
              <a:rPr lang="en-US" sz="1200" dirty="0">
                <a:solidFill>
                  <a:schemeClr val="accent3">
                    <a:lumMod val="50000"/>
                  </a:schemeClr>
                </a:solidFill>
              </a:rPr>
              <a:t>(incl. client datasets)</a:t>
            </a:r>
            <a:br>
              <a:rPr lang="en-US" sz="1200" dirty="0">
                <a:solidFill>
                  <a:schemeClr val="accent3">
                    <a:lumMod val="50000"/>
                  </a:schemeClr>
                </a:solidFill>
              </a:rPr>
            </a:br>
            <a:r>
              <a:rPr lang="en-US" sz="1200" i="1" dirty="0">
                <a:solidFill>
                  <a:schemeClr val="accent3">
                    <a:lumMod val="50000"/>
                  </a:schemeClr>
                </a:solidFill>
              </a:rPr>
              <a:t>Analyst</a:t>
            </a:r>
          </a:p>
        </p:txBody>
      </p:sp>
      <p:sp>
        <p:nvSpPr>
          <p:cNvPr id="4" name="TextBox 3">
            <a:extLst>
              <a:ext uri="{FF2B5EF4-FFF2-40B4-BE49-F238E27FC236}">
                <a16:creationId xmlns:a16="http://schemas.microsoft.com/office/drawing/2014/main" id="{F5F31959-87FC-92DA-9EBB-0B08E8C82272}"/>
              </a:ext>
            </a:extLst>
          </p:cNvPr>
          <p:cNvSpPr txBox="1"/>
          <p:nvPr/>
        </p:nvSpPr>
        <p:spPr>
          <a:xfrm>
            <a:off x="8265423" y="1685321"/>
            <a:ext cx="1632857" cy="646331"/>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pPr algn="ctr"/>
            <a:r>
              <a:rPr lang="en-US" sz="1200" b="1" dirty="0">
                <a:solidFill>
                  <a:schemeClr val="accent4">
                    <a:lumMod val="50000"/>
                  </a:schemeClr>
                </a:solidFill>
              </a:rPr>
              <a:t>Strategy</a:t>
            </a:r>
            <a:br>
              <a:rPr lang="en-US" sz="1200" b="1" dirty="0">
                <a:solidFill>
                  <a:schemeClr val="accent4">
                    <a:lumMod val="50000"/>
                  </a:schemeClr>
                </a:solidFill>
              </a:rPr>
            </a:br>
            <a:br>
              <a:rPr lang="en-US" sz="1200" dirty="0">
                <a:solidFill>
                  <a:schemeClr val="accent4">
                    <a:lumMod val="50000"/>
                  </a:schemeClr>
                </a:solidFill>
              </a:rPr>
            </a:br>
            <a:r>
              <a:rPr lang="en-US" sz="1200" i="1" dirty="0">
                <a:solidFill>
                  <a:schemeClr val="accent4">
                    <a:lumMod val="50000"/>
                  </a:schemeClr>
                </a:solidFill>
              </a:rPr>
              <a:t>Consultant</a:t>
            </a:r>
          </a:p>
        </p:txBody>
      </p:sp>
      <p:sp>
        <p:nvSpPr>
          <p:cNvPr id="6" name="Rectangle 1">
            <a:extLst>
              <a:ext uri="{FF2B5EF4-FFF2-40B4-BE49-F238E27FC236}">
                <a16:creationId xmlns:a16="http://schemas.microsoft.com/office/drawing/2014/main" id="{5572774E-970A-F91D-36A9-C24B37BBD670}"/>
              </a:ext>
            </a:extLst>
          </p:cNvPr>
          <p:cNvSpPr>
            <a:spLocks noChangeArrowheads="1"/>
          </p:cNvSpPr>
          <p:nvPr/>
        </p:nvSpPr>
        <p:spPr bwMode="auto">
          <a:xfrm>
            <a:off x="609600" y="2809825"/>
            <a:ext cx="5266481" cy="340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accent3">
                    <a:lumMod val="50000"/>
                  </a:schemeClr>
                </a:solidFill>
                <a:effectLst/>
              </a:rPr>
              <a:t>Analytical Findings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accent3">
                    <a:lumMod val="50000"/>
                  </a:schemeClr>
                </a:solidFill>
                <a:effectLst/>
              </a:rPr>
              <a:t>Conversions fell sharply (25%) from July to August, coinciding with the lowest in-stock rate (84%).</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accent3">
                    <a:lumMod val="50000"/>
                  </a:schemeClr>
                </a:solidFill>
                <a:effectLst/>
              </a:rPr>
              <a:t>Conversion recovery in October parallels improved stock rates (up to 93%).</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accent3">
                    <a:lumMod val="50000"/>
                  </a:schemeClr>
                </a:solidFill>
                <a:effectLst/>
              </a:rPr>
              <a:t>The largest session drop (17%) did not fully explain larger conversion falls (21%), highlighting an internal conversion issue.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chemeClr val="accent3">
                    <a:lumMod val="50000"/>
                  </a:schemeClr>
                </a:solidFill>
                <a:effectLst/>
              </a:rPr>
              <a:t>Media spend is most efficient in Search; reallocating from Display (ROI 0.9) could boost performance.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chemeClr val="accent3">
                    <a:lumMod val="50000"/>
                  </a:schemeClr>
                </a:solidFill>
                <a:effectLst/>
              </a:rPr>
              <a:t>External evidence: Stockouts, traffic quality, and mobile UX are material drivers of conversion declines in UK grocery.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accent3">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accent3">
                    <a:lumMod val="50000"/>
                  </a:schemeClr>
                </a:solidFill>
                <a:effectLst/>
              </a:rPr>
              <a:t>Suggested Charts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3">
                    <a:lumMod val="50000"/>
                  </a:schemeClr>
                </a:solidFill>
                <a:effectLst/>
              </a:rPr>
              <a:t>Line chart: Product In-Stock Rate vs. Conversions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3">
                    <a:lumMod val="50000"/>
                  </a:schemeClr>
                </a:solidFill>
                <a:effectLst/>
              </a:rPr>
              <a:t>Dual-axis line/bar chart: Sessions &amp; Conversions by Month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3">
                    <a:lumMod val="50000"/>
                  </a:schemeClr>
                </a:solidFill>
                <a:effectLst/>
              </a:rPr>
              <a:t>Bar chart: Media Spend vs. ROI by Channel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3">
                    <a:lumMod val="50000"/>
                  </a:schemeClr>
                </a:solidFill>
                <a:effectLst/>
              </a:rPr>
              <a:t>Scatter plot: In-Stock Rate vs. Conversion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3">
                    <a:lumMod val="50000"/>
                  </a:schemeClr>
                </a:solidFill>
                <a:effectLst/>
              </a:rPr>
              <a:t>Benchmark comparison: Client Conversion Rate vs. UK market benchmark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2">
                  <a:lumMod val="50000"/>
                </a:schemeClr>
              </a:solidFill>
              <a:effectLst/>
            </a:endParaRPr>
          </a:p>
        </p:txBody>
      </p:sp>
      <p:sp>
        <p:nvSpPr>
          <p:cNvPr id="8" name="Rectangle 2">
            <a:extLst>
              <a:ext uri="{FF2B5EF4-FFF2-40B4-BE49-F238E27FC236}">
                <a16:creationId xmlns:a16="http://schemas.microsoft.com/office/drawing/2014/main" id="{CD4DBA79-C730-180B-F2C6-CF8B289A5DB0}"/>
              </a:ext>
            </a:extLst>
          </p:cNvPr>
          <p:cNvSpPr>
            <a:spLocks noChangeArrowheads="1"/>
          </p:cNvSpPr>
          <p:nvPr/>
        </p:nvSpPr>
        <p:spPr bwMode="auto">
          <a:xfrm>
            <a:off x="6759615" y="2809825"/>
            <a:ext cx="4926957"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accent4">
                    <a:lumMod val="50000"/>
                  </a:schemeClr>
                </a:solidFill>
                <a:effectLst/>
                <a:latin typeface="+mn-lt"/>
              </a:rPr>
              <a:t>Strategic Options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accent4">
                    <a:lumMod val="50000"/>
                  </a:schemeClr>
                </a:solidFill>
                <a:effectLst/>
                <a:latin typeface="+mn-lt"/>
              </a:rPr>
              <a:t>Accelerate resolution of inventory and stockout issues by enhancing supply chain visibility and improving purchasing forecasts.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accent4">
                    <a:lumMod val="50000"/>
                  </a:schemeClr>
                </a:solidFill>
                <a:effectLst/>
                <a:latin typeface="+mn-lt"/>
              </a:rPr>
              <a:t>Reallocate digital marketing spend toward higher-ROI channels (e.g., Search), while deprioritizing low-performing channels like Display to improve quality of traffic.</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accent4">
                    <a:lumMod val="50000"/>
                  </a:schemeClr>
                </a:solidFill>
                <a:effectLst/>
                <a:latin typeface="+mn-lt"/>
              </a:rPr>
              <a:t>Conduct a rapid audit and optimization of the mobile user experience, addressing any pain points identified by user research and technical monitoring.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accent4">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accent4">
                    <a:lumMod val="50000"/>
                  </a:schemeClr>
                </a:solidFill>
                <a:effectLst/>
                <a:latin typeface="+mn-lt"/>
              </a:rPr>
              <a:t>Recommendation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solidFill>
                  <a:schemeClr val="accent4">
                    <a:lumMod val="50000"/>
                  </a:schemeClr>
                </a:solidFill>
                <a:effectLst/>
                <a:latin typeface="+mn-lt"/>
              </a:rPr>
              <a:t>Prioritize fixing product availability issues immediately, as restoring in-stock rates has the most direct and proven impact on online conversion recovery.</a:t>
            </a:r>
          </a:p>
        </p:txBody>
      </p:sp>
    </p:spTree>
    <p:extLst>
      <p:ext uri="{BB962C8B-B14F-4D97-AF65-F5344CB8AC3E}">
        <p14:creationId xmlns:p14="http://schemas.microsoft.com/office/powerpoint/2010/main" val="31860208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CA0F5-F83D-F252-9CAD-0B7828D79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52CE0-6F16-47A0-AFA3-DF8219303C84}"/>
              </a:ext>
            </a:extLst>
          </p:cNvPr>
          <p:cNvSpPr>
            <a:spLocks noGrp="1"/>
          </p:cNvSpPr>
          <p:nvPr>
            <p:ph type="title"/>
          </p:nvPr>
        </p:nvSpPr>
        <p:spPr>
          <a:xfrm>
            <a:off x="838200" y="359758"/>
            <a:ext cx="10515600" cy="1325563"/>
          </a:xfrm>
        </p:spPr>
        <p:txBody>
          <a:bodyPr>
            <a:normAutofit/>
          </a:bodyPr>
          <a:lstStyle/>
          <a:p>
            <a:r>
              <a:rPr lang="en-GB" dirty="0"/>
              <a:t>Enterprise Vibe Consulting Demo (5)</a:t>
            </a:r>
            <a:endParaRPr lang="en-GB" sz="1600" dirty="0"/>
          </a:p>
        </p:txBody>
      </p:sp>
      <p:sp>
        <p:nvSpPr>
          <p:cNvPr id="3" name="TextBox 2">
            <a:extLst>
              <a:ext uri="{FF2B5EF4-FFF2-40B4-BE49-F238E27FC236}">
                <a16:creationId xmlns:a16="http://schemas.microsoft.com/office/drawing/2014/main" id="{2F720E45-B8F6-0DC0-3C3B-E62C01D7121D}"/>
              </a:ext>
            </a:extLst>
          </p:cNvPr>
          <p:cNvSpPr txBox="1"/>
          <p:nvPr/>
        </p:nvSpPr>
        <p:spPr>
          <a:xfrm>
            <a:off x="2318386" y="1699278"/>
            <a:ext cx="1632857" cy="646331"/>
          </a:xfrm>
          <a:prstGeom prst="rect">
            <a:avLst/>
          </a:prstGeom>
          <a:solidFill>
            <a:schemeClr val="accent5">
              <a:lumMod val="20000"/>
              <a:lumOff val="80000"/>
            </a:schemeClr>
          </a:solidFill>
          <a:ln w="19050">
            <a:solidFill>
              <a:schemeClr val="accent5"/>
            </a:solidFill>
          </a:ln>
        </p:spPr>
        <p:txBody>
          <a:bodyPr wrap="square" rtlCol="0">
            <a:spAutoFit/>
          </a:bodyPr>
          <a:lstStyle/>
          <a:p>
            <a:pPr algn="ctr"/>
            <a:r>
              <a:rPr lang="en-US" sz="1200" b="1" dirty="0">
                <a:solidFill>
                  <a:schemeClr val="accent5">
                    <a:lumMod val="50000"/>
                  </a:schemeClr>
                </a:solidFill>
              </a:rPr>
              <a:t>Project Design</a:t>
            </a:r>
            <a:br>
              <a:rPr lang="en-US" sz="1200" b="1" dirty="0">
                <a:solidFill>
                  <a:schemeClr val="accent4">
                    <a:lumMod val="50000"/>
                  </a:schemeClr>
                </a:solidFill>
              </a:rPr>
            </a:br>
            <a:br>
              <a:rPr lang="en-US" sz="1200" i="1" dirty="0">
                <a:solidFill>
                  <a:schemeClr val="accent5">
                    <a:lumMod val="50000"/>
                  </a:schemeClr>
                </a:solidFill>
              </a:rPr>
            </a:br>
            <a:r>
              <a:rPr lang="en-US" sz="1200" i="1" dirty="0">
                <a:solidFill>
                  <a:schemeClr val="accent5">
                    <a:lumMod val="50000"/>
                  </a:schemeClr>
                </a:solidFill>
              </a:rPr>
              <a:t>Managing Consultant</a:t>
            </a:r>
          </a:p>
        </p:txBody>
      </p:sp>
      <p:sp>
        <p:nvSpPr>
          <p:cNvPr id="4" name="TextBox 3">
            <a:extLst>
              <a:ext uri="{FF2B5EF4-FFF2-40B4-BE49-F238E27FC236}">
                <a16:creationId xmlns:a16="http://schemas.microsoft.com/office/drawing/2014/main" id="{824C4C5E-B9BC-81D9-0F32-8DB22185BE13}"/>
              </a:ext>
            </a:extLst>
          </p:cNvPr>
          <p:cNvSpPr txBox="1"/>
          <p:nvPr/>
        </p:nvSpPr>
        <p:spPr>
          <a:xfrm>
            <a:off x="8240757" y="1699277"/>
            <a:ext cx="1632857" cy="646331"/>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pPr algn="ctr"/>
            <a:r>
              <a:rPr lang="en-US" sz="1200" b="1" dirty="0">
                <a:solidFill>
                  <a:schemeClr val="accent6">
                    <a:lumMod val="50000"/>
                  </a:schemeClr>
                </a:solidFill>
              </a:rPr>
              <a:t>QA &amp; Ethics Review</a:t>
            </a:r>
            <a:br>
              <a:rPr lang="en-US" sz="1200" b="1" dirty="0">
                <a:solidFill>
                  <a:schemeClr val="accent6">
                    <a:lumMod val="50000"/>
                  </a:schemeClr>
                </a:solidFill>
              </a:rPr>
            </a:br>
            <a:br>
              <a:rPr lang="en-US" sz="1200" i="1" dirty="0">
                <a:solidFill>
                  <a:schemeClr val="accent6">
                    <a:lumMod val="50000"/>
                  </a:schemeClr>
                </a:solidFill>
              </a:rPr>
            </a:br>
            <a:r>
              <a:rPr lang="en-US" sz="1200" i="1" dirty="0">
                <a:solidFill>
                  <a:schemeClr val="accent6">
                    <a:lumMod val="50000"/>
                  </a:schemeClr>
                </a:solidFill>
              </a:rPr>
              <a:t>Senior Consultant</a:t>
            </a:r>
          </a:p>
        </p:txBody>
      </p:sp>
      <p:sp>
        <p:nvSpPr>
          <p:cNvPr id="7" name="Rectangle 1">
            <a:extLst>
              <a:ext uri="{FF2B5EF4-FFF2-40B4-BE49-F238E27FC236}">
                <a16:creationId xmlns:a16="http://schemas.microsoft.com/office/drawing/2014/main" id="{09B2C56F-8F2A-18AD-7FD5-2019D4A1D611}"/>
              </a:ext>
            </a:extLst>
          </p:cNvPr>
          <p:cNvSpPr>
            <a:spLocks noChangeArrowheads="1"/>
          </p:cNvSpPr>
          <p:nvPr/>
        </p:nvSpPr>
        <p:spPr bwMode="auto">
          <a:xfrm>
            <a:off x="462855" y="2609285"/>
            <a:ext cx="4873073" cy="3588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5">
                    <a:lumMod val="50000"/>
                  </a:schemeClr>
                </a:solidFill>
                <a:effectLst/>
              </a:rPr>
              <a:t>30/60/90-Day Action Plan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chemeClr val="accent5">
                    <a:lumMod val="50000"/>
                  </a:schemeClr>
                </a:solidFill>
                <a:effectLst/>
              </a:rPr>
              <a:t>30 Days:</a:t>
            </a:r>
            <a:r>
              <a:rPr kumimoji="0" lang="en-US" altLang="en-US" sz="1200" b="0" i="0" u="none" strike="noStrike" cap="none" normalizeH="0" baseline="0">
                <a:ln>
                  <a:noFill/>
                </a:ln>
                <a:solidFill>
                  <a:schemeClr val="accent5">
                    <a:lumMod val="50000"/>
                  </a:schemeClr>
                </a:solidFill>
                <a:effectLst/>
              </a:rPr>
              <a:t> Conduct a root cause analysis of the 8% online conversion drop, focusing on inventory, user experience, and traffic sources. Gather relevant data and consult stakeholders.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chemeClr val="accent5">
                    <a:lumMod val="50000"/>
                  </a:schemeClr>
                </a:solidFill>
                <a:effectLst/>
              </a:rPr>
              <a:t>60 Days:</a:t>
            </a:r>
            <a:r>
              <a:rPr kumimoji="0" lang="en-US" altLang="en-US" sz="1200" b="0" i="0" u="none" strike="noStrike" cap="none" normalizeH="0" baseline="0">
                <a:ln>
                  <a:noFill/>
                </a:ln>
                <a:solidFill>
                  <a:schemeClr val="accent5">
                    <a:lumMod val="50000"/>
                  </a:schemeClr>
                </a:solidFill>
                <a:effectLst/>
              </a:rPr>
              <a:t> Develop, prioritize, and document actionable recommendations. Pilot or implement rapid fixes for highest-impact drivers, such as product availability and mobile UX.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chemeClr val="accent5">
                    <a:lumMod val="50000"/>
                  </a:schemeClr>
                </a:solidFill>
                <a:effectLst/>
              </a:rPr>
              <a:t>90 Days:</a:t>
            </a:r>
            <a:r>
              <a:rPr kumimoji="0" lang="en-US" altLang="en-US" sz="1200" b="0" i="0" u="none" strike="noStrike" cap="none" normalizeH="0" baseline="0">
                <a:ln>
                  <a:noFill/>
                </a:ln>
                <a:solidFill>
                  <a:schemeClr val="accent5">
                    <a:lumMod val="50000"/>
                  </a:schemeClr>
                </a:solidFill>
                <a:effectLst/>
              </a:rPr>
              <a:t> Track early results from interventions, iterate recommendations, and finalize a roadmap for sustained conversion rate improvement.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accent5">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5">
                    <a:lumMod val="50000"/>
                  </a:schemeClr>
                </a:solidFill>
                <a:effectLst/>
              </a:rPr>
              <a:t>Key Risks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a:ln>
                  <a:noFill/>
                </a:ln>
                <a:solidFill>
                  <a:schemeClr val="accent5">
                    <a:lumMod val="50000"/>
                  </a:schemeClr>
                </a:solidFill>
                <a:effectLst/>
              </a:rPr>
              <a:t>Lack of timely access to accurate data may delay root cause identification and actionable insights.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a:ln>
                  <a:noFill/>
                </a:ln>
                <a:solidFill>
                  <a:schemeClr val="accent5">
                    <a:lumMod val="50000"/>
                  </a:schemeClr>
                </a:solidFill>
                <a:effectLst/>
              </a:rPr>
              <a:t>Stakeholder resistance or lack of ownership may hinder rapid implementation of fixes.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a:ln>
                  <a:noFill/>
                </a:ln>
                <a:solidFill>
                  <a:schemeClr val="accent5">
                    <a:lumMod val="50000"/>
                  </a:schemeClr>
                </a:solidFill>
                <a:effectLst/>
              </a:rPr>
              <a:t>Interventions focused on specific drivers (e.g., inventory) may overlook complementary issues like marketing channel effectiveness or technical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accent5">
                  <a:lumMod val="50000"/>
                </a:schemeClr>
              </a:solidFill>
              <a:effectLst/>
            </a:endParaRPr>
          </a:p>
        </p:txBody>
      </p:sp>
      <p:sp>
        <p:nvSpPr>
          <p:cNvPr id="9" name="Rectangle 2">
            <a:extLst>
              <a:ext uri="{FF2B5EF4-FFF2-40B4-BE49-F238E27FC236}">
                <a16:creationId xmlns:a16="http://schemas.microsoft.com/office/drawing/2014/main" id="{DA1C0110-BFA5-366C-3550-BF7587E15A91}"/>
              </a:ext>
            </a:extLst>
          </p:cNvPr>
          <p:cNvSpPr>
            <a:spLocks noChangeArrowheads="1"/>
          </p:cNvSpPr>
          <p:nvPr/>
        </p:nvSpPr>
        <p:spPr bwMode="auto">
          <a:xfrm>
            <a:off x="6539697" y="2516952"/>
            <a:ext cx="5301204" cy="430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6">
                    <a:lumMod val="50000"/>
                  </a:schemeClr>
                </a:solidFill>
                <a:effectLst/>
                <a:latin typeface="+mn-lt"/>
              </a:rPr>
              <a:t>QA Summary</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a:ln>
                  <a:noFill/>
                </a:ln>
                <a:solidFill>
                  <a:schemeClr val="accent6">
                    <a:lumMod val="50000"/>
                  </a:schemeClr>
                </a:solidFill>
                <a:effectLst/>
                <a:latin typeface="+mn-lt"/>
              </a:rPr>
              <a:t>All claims are well-supported by external benchmarks and market data specific to UK grocery eCommerce.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a:ln>
                  <a:noFill/>
                </a:ln>
                <a:solidFill>
                  <a:schemeClr val="accent6">
                    <a:lumMod val="50000"/>
                  </a:schemeClr>
                </a:solidFill>
                <a:effectLst/>
                <a:latin typeface="+mn-lt"/>
              </a:rPr>
              <a:t>Internal consistency is maintained between findings, recommendations, and the action plan; inventory/stockouts are correctly identified as the primary driver, with secondary technical and marketing-dependent factors noted.</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a:ln>
                  <a:noFill/>
                </a:ln>
                <a:solidFill>
                  <a:schemeClr val="accent6">
                    <a:lumMod val="50000"/>
                  </a:schemeClr>
                </a:solidFill>
                <a:effectLst/>
                <a:latin typeface="+mn-lt"/>
              </a:rPr>
              <a:t>Ethical alignment: No recommendations or plans present compliance, reputational, or data ethics risks.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a:ln>
                  <a:noFill/>
                </a:ln>
                <a:solidFill>
                  <a:schemeClr val="accent6">
                    <a:lumMod val="50000"/>
                  </a:schemeClr>
                </a:solidFill>
                <a:effectLst/>
                <a:latin typeface="+mn-lt"/>
              </a:rPr>
              <a:t>No unsupported or conflicting claims were found.</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a:ln>
                  <a:noFill/>
                </a:ln>
                <a:solidFill>
                  <a:schemeClr val="accent6">
                    <a:lumMod val="50000"/>
                  </a:schemeClr>
                </a:solidFill>
                <a:effectLst/>
                <a:latin typeface="+mn-lt"/>
              </a:rPr>
              <a:t>Risks are transparently listed and align with plan rationale, emphasizing data and stakeholder engagement.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a:ln>
                  <a:noFill/>
                </a:ln>
                <a:solidFill>
                  <a:schemeClr val="accent6">
                    <a:lumMod val="50000"/>
                  </a:schemeClr>
                </a:solidFill>
                <a:effectLst/>
                <a:latin typeface="+mn-lt"/>
              </a:rPr>
              <a:t>Draft is clear, actionable, and client-ready, with immediate next steps and KPIs included.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accent6">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6">
                    <a:lumMod val="50000"/>
                  </a:schemeClr>
                </a:solidFill>
                <a:effectLst/>
                <a:latin typeface="+mn-lt"/>
              </a:rPr>
              <a:t>Final Approval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accent6">
                    <a:lumMod val="50000"/>
                  </a:schemeClr>
                </a:solidFill>
                <a:effectLst/>
                <a:latin typeface="+mn-lt"/>
              </a:rPr>
              <a:t>The analysis confirms that the online conversion decline is primarily driven by stockouts, with technical and marketing channel factors as secondary contributors. Immediate restoration of product availability is the lead recommendation, backed by direct correlation in the provided data. The 90-day plan emphasizes rapid root cause analysis, targeted interventions, and ongoing improvements, with key risks appropriately noted. The draft is clear, factual, and suitable for client delivery after editing.</a:t>
            </a:r>
          </a:p>
        </p:txBody>
      </p:sp>
    </p:spTree>
    <p:extLst>
      <p:ext uri="{BB962C8B-B14F-4D97-AF65-F5344CB8AC3E}">
        <p14:creationId xmlns:p14="http://schemas.microsoft.com/office/powerpoint/2010/main" val="31234003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A046D-1B9F-F7E0-921A-27A464EE9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8D342-F7A4-F7EA-B85B-E10DE79A8388}"/>
              </a:ext>
            </a:extLst>
          </p:cNvPr>
          <p:cNvSpPr>
            <a:spLocks noGrp="1"/>
          </p:cNvSpPr>
          <p:nvPr>
            <p:ph type="title"/>
          </p:nvPr>
        </p:nvSpPr>
        <p:spPr>
          <a:xfrm>
            <a:off x="838200" y="359758"/>
            <a:ext cx="10515600" cy="1325563"/>
          </a:xfrm>
        </p:spPr>
        <p:txBody>
          <a:bodyPr>
            <a:normAutofit/>
          </a:bodyPr>
          <a:lstStyle/>
          <a:p>
            <a:r>
              <a:rPr lang="en-GB" dirty="0"/>
              <a:t>Enterprise Vibe Consulting Demo (6)</a:t>
            </a:r>
            <a:endParaRPr lang="en-GB" sz="1600" dirty="0"/>
          </a:p>
        </p:txBody>
      </p:sp>
      <p:sp>
        <p:nvSpPr>
          <p:cNvPr id="3" name="TextBox 2">
            <a:extLst>
              <a:ext uri="{FF2B5EF4-FFF2-40B4-BE49-F238E27FC236}">
                <a16:creationId xmlns:a16="http://schemas.microsoft.com/office/drawing/2014/main" id="{6FB97DB2-385A-EC07-B585-3779C956A2C3}"/>
              </a:ext>
            </a:extLst>
          </p:cNvPr>
          <p:cNvSpPr txBox="1"/>
          <p:nvPr/>
        </p:nvSpPr>
        <p:spPr>
          <a:xfrm>
            <a:off x="1540677" y="1509204"/>
            <a:ext cx="1632857" cy="646331"/>
          </a:xfrm>
          <a:prstGeom prst="rect">
            <a:avLst/>
          </a:prstGeom>
          <a:solidFill>
            <a:schemeClr val="accent1">
              <a:lumMod val="20000"/>
              <a:lumOff val="80000"/>
            </a:schemeClr>
          </a:solidFill>
          <a:ln w="19050">
            <a:solidFill>
              <a:schemeClr val="accent1">
                <a:lumMod val="50000"/>
              </a:schemeClr>
            </a:solidFill>
          </a:ln>
        </p:spPr>
        <p:txBody>
          <a:bodyPr wrap="square" rtlCol="0">
            <a:spAutoFit/>
          </a:bodyPr>
          <a:lstStyle/>
          <a:p>
            <a:pPr algn="ctr"/>
            <a:r>
              <a:rPr lang="en-US" sz="1200" b="1" dirty="0">
                <a:solidFill>
                  <a:schemeClr val="accent1">
                    <a:lumMod val="50000"/>
                  </a:schemeClr>
                </a:solidFill>
              </a:rPr>
              <a:t>Editing Client Docs</a:t>
            </a:r>
            <a:br>
              <a:rPr lang="en-US" sz="1200" dirty="0">
                <a:solidFill>
                  <a:schemeClr val="accent1">
                    <a:lumMod val="50000"/>
                  </a:schemeClr>
                </a:solidFill>
              </a:rPr>
            </a:br>
            <a:br>
              <a:rPr lang="en-US" sz="1200" dirty="0">
                <a:solidFill>
                  <a:schemeClr val="accent1">
                    <a:lumMod val="50000"/>
                  </a:schemeClr>
                </a:solidFill>
              </a:rPr>
            </a:br>
            <a:r>
              <a:rPr lang="en-US" sz="1200" i="1" dirty="0">
                <a:solidFill>
                  <a:schemeClr val="accent1">
                    <a:lumMod val="50000"/>
                  </a:schemeClr>
                </a:solidFill>
              </a:rPr>
              <a:t>Senior Consultant</a:t>
            </a:r>
          </a:p>
        </p:txBody>
      </p:sp>
      <p:sp>
        <p:nvSpPr>
          <p:cNvPr id="5" name="Rectangle 1">
            <a:extLst>
              <a:ext uri="{FF2B5EF4-FFF2-40B4-BE49-F238E27FC236}">
                <a16:creationId xmlns:a16="http://schemas.microsoft.com/office/drawing/2014/main" id="{4FE30527-ED09-6D53-C96A-E8B14646B102}"/>
              </a:ext>
            </a:extLst>
          </p:cNvPr>
          <p:cNvSpPr>
            <a:spLocks noChangeArrowheads="1"/>
          </p:cNvSpPr>
          <p:nvPr/>
        </p:nvSpPr>
        <p:spPr bwMode="auto">
          <a:xfrm>
            <a:off x="497248" y="2331801"/>
            <a:ext cx="4699785" cy="3964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17400" rIns="0" bIns="3174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accent1">
                    <a:lumMod val="50000"/>
                  </a:schemeClr>
                </a:solidFill>
                <a:effectLst/>
                <a:latin typeface="+mn-lt"/>
              </a:rPr>
              <a:t>Executive Summary</a:t>
            </a:r>
            <a:br>
              <a:rPr kumimoji="0" lang="en-US" altLang="en-US" sz="1200" b="1" i="0" u="none" strike="noStrike" cap="none" normalizeH="0" baseline="0" dirty="0">
                <a:ln>
                  <a:noFill/>
                </a:ln>
                <a:solidFill>
                  <a:schemeClr val="accent1">
                    <a:lumMod val="50000"/>
                  </a:schemeClr>
                </a:solidFill>
                <a:effectLst/>
                <a:latin typeface="+mn-lt"/>
              </a:rPr>
            </a:br>
            <a:endParaRPr kumimoji="0" lang="en-US" altLang="en-US" sz="1200" b="1" i="0" u="none" strike="noStrike" cap="none" normalizeH="0" baseline="0" dirty="0">
              <a:ln>
                <a:noFill/>
              </a:ln>
              <a:solidFill>
                <a:schemeClr val="accent1">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accent1">
                    <a:lumMod val="50000"/>
                  </a:schemeClr>
                </a:solidFill>
                <a:effectLst/>
                <a:latin typeface="+mn-lt"/>
              </a:rPr>
              <a:t>The analysis revealed that the 8% drop in online conversion for the UK grocery chain during Q3 was primarily attributed to a significant decrease in product availability (stockouts), with the lowest in-stock rates directly correlating to the sharpest fall in conversions. Secondary contributors included the efficiency of digital marketing channels and user experience issues—especially on mobile devices—echoed by UK-wide trends in grocery eCommerce.</a:t>
            </a:r>
            <a:br>
              <a:rPr kumimoji="0" lang="en-US" altLang="en-US" sz="1200" b="0" i="0" u="none" strike="noStrike" cap="none" normalizeH="0" baseline="0" dirty="0">
                <a:ln>
                  <a:noFill/>
                </a:ln>
                <a:solidFill>
                  <a:schemeClr val="accent1">
                    <a:lumMod val="50000"/>
                  </a:schemeClr>
                </a:solidFill>
                <a:effectLst/>
                <a:latin typeface="+mn-lt"/>
              </a:rPr>
            </a:br>
            <a:endParaRPr kumimoji="0" lang="en-US" altLang="en-US" sz="1200" b="0" i="0" u="none" strike="noStrike" cap="none" normalizeH="0" baseline="0" dirty="0">
              <a:ln>
                <a:noFill/>
              </a:ln>
              <a:solidFill>
                <a:schemeClr val="accent1">
                  <a:lumMod val="50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accent1">
                    <a:lumMod val="50000"/>
                  </a:schemeClr>
                </a:solidFill>
                <a:effectLst/>
                <a:latin typeface="+mn-lt"/>
              </a:rPr>
              <a:t>To reverse the decline, immediate focus should be given to restoring product availability as data shows this delivers the most direct recovery in conversions. Complementary actions include reallocating marketing spend toward better-performing channels (notably Search) and rapidly auditing and improving the mobile user experience. A clear 90-day roadmap has been provided, addressing root causes through targeted interventions and sustained measurement, with key risks identified and mitigated through stakeholder engagement and an iterative, data-driven approach.</a:t>
            </a:r>
          </a:p>
        </p:txBody>
      </p:sp>
      <p:sp>
        <p:nvSpPr>
          <p:cNvPr id="6" name="Rectangle 2">
            <a:extLst>
              <a:ext uri="{FF2B5EF4-FFF2-40B4-BE49-F238E27FC236}">
                <a16:creationId xmlns:a16="http://schemas.microsoft.com/office/drawing/2014/main" id="{1422A856-DAA8-D462-6D4E-F15BEEB9AF89}"/>
              </a:ext>
            </a:extLst>
          </p:cNvPr>
          <p:cNvSpPr>
            <a:spLocks noChangeArrowheads="1"/>
          </p:cNvSpPr>
          <p:nvPr/>
        </p:nvSpPr>
        <p:spPr bwMode="auto">
          <a:xfrm>
            <a:off x="231494" y="3152763"/>
            <a:ext cx="184731" cy="27699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200">
              <a:solidFill>
                <a:schemeClr val="accent1">
                  <a:lumMod val="50000"/>
                </a:schemeClr>
              </a:solidFill>
            </a:endParaRPr>
          </a:p>
        </p:txBody>
      </p:sp>
      <p:sp>
        <p:nvSpPr>
          <p:cNvPr id="7" name="Rectangle 3">
            <a:extLst>
              <a:ext uri="{FF2B5EF4-FFF2-40B4-BE49-F238E27FC236}">
                <a16:creationId xmlns:a16="http://schemas.microsoft.com/office/drawing/2014/main" id="{A1A2ED61-53BF-0F6B-315E-F4E71027C43A}"/>
              </a:ext>
            </a:extLst>
          </p:cNvPr>
          <p:cNvSpPr>
            <a:spLocks noChangeArrowheads="1"/>
          </p:cNvSpPr>
          <p:nvPr/>
        </p:nvSpPr>
        <p:spPr bwMode="auto">
          <a:xfrm>
            <a:off x="6436952" y="2329156"/>
            <a:ext cx="5257800" cy="3548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9675"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accent1">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accent1">
                    <a:lumMod val="50000"/>
                  </a:schemeClr>
                </a:solidFill>
                <a:effectLst/>
              </a:rPr>
              <a:t>Slide Outline</a:t>
            </a:r>
            <a:br>
              <a:rPr kumimoji="0" lang="en-US" altLang="en-US" sz="1200" b="1" i="0" u="none" strike="noStrike" cap="none" normalizeH="0" baseline="0" dirty="0">
                <a:ln>
                  <a:noFill/>
                </a:ln>
                <a:solidFill>
                  <a:schemeClr val="accent1">
                    <a:lumMod val="50000"/>
                  </a:schemeClr>
                </a:solidFill>
                <a:effectLst/>
              </a:rPr>
            </a:br>
            <a:endParaRPr kumimoji="0" lang="en-US" altLang="en-US" sz="1200" b="1" i="0" u="none" strike="noStrike" cap="none" normalizeH="0" baseline="0" dirty="0">
              <a:ln>
                <a:noFill/>
              </a:ln>
              <a:solidFill>
                <a:schemeClr val="accent1">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accent1">
                    <a:lumMod val="50000"/>
                  </a:schemeClr>
                </a:solidFill>
                <a:effectLst/>
              </a:rPr>
              <a:t>Situation &amp; Objective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1">
                    <a:lumMod val="50000"/>
                  </a:schemeClr>
                </a:solidFill>
                <a:effectLst/>
              </a:rPr>
              <a:t>8% Q3 online conversion drop: urgent root cause analysis and action needed within 4 weeks.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accent1">
                    <a:lumMod val="50000"/>
                  </a:schemeClr>
                </a:solidFill>
                <a:effectLst/>
              </a:rPr>
              <a:t>Key Findings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1">
                    <a:lumMod val="50000"/>
                  </a:schemeClr>
                </a:solidFill>
                <a:effectLst/>
              </a:rPr>
              <a:t>Stockouts drove conversion decline; secondary effects from traffic quality and mobile UX.</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accent1">
                    <a:lumMod val="50000"/>
                  </a:schemeClr>
                </a:solidFill>
                <a:effectLst/>
              </a:rPr>
              <a:t>Data Deep Dive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1">
                    <a:lumMod val="50000"/>
                  </a:schemeClr>
                </a:solidFill>
                <a:effectLst/>
              </a:rPr>
              <a:t>In-stock rate &amp; conversion chart; channel ROI data; external benchmarks.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chemeClr val="accent1">
                    <a:lumMod val="50000"/>
                  </a:schemeClr>
                </a:solidFill>
                <a:effectLst/>
              </a:rPr>
              <a:t>Recommendations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1">
                    <a:lumMod val="50000"/>
                  </a:schemeClr>
                </a:solidFill>
                <a:effectLst/>
              </a:rPr>
              <a:t>Restore product availability; optimize marketing mix; improve mobile UX.</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chemeClr val="accent1">
                    <a:lumMod val="50000"/>
                  </a:schemeClr>
                </a:solidFill>
                <a:effectLst/>
              </a:rPr>
              <a:t>90-Day Action Plan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1">
                    <a:lumMod val="50000"/>
                  </a:schemeClr>
                </a:solidFill>
                <a:effectLst/>
              </a:rPr>
              <a:t>30: Analyze, 60: Pilot fixes, 90: Review &amp; roadmap. Address data &amp; stakeholder risks.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chemeClr val="accent1">
                    <a:lumMod val="50000"/>
                  </a:schemeClr>
                </a:solidFill>
                <a:effectLst/>
              </a:rPr>
              <a:t>Impact &amp; Next Steps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1">
                    <a:lumMod val="50000"/>
                  </a:schemeClr>
                </a:solidFill>
                <a:effectLst/>
              </a:rPr>
              <a:t>Expected outcomes, ROI, and monitoring for sustained conversion growth.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accent1">
                  <a:lumMod val="50000"/>
                </a:schemeClr>
              </a:solidFill>
              <a:effectLst/>
            </a:endParaRPr>
          </a:p>
        </p:txBody>
      </p:sp>
    </p:spTree>
    <p:extLst>
      <p:ext uri="{BB962C8B-B14F-4D97-AF65-F5344CB8AC3E}">
        <p14:creationId xmlns:p14="http://schemas.microsoft.com/office/powerpoint/2010/main" val="34110397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49234-0F80-057C-24FF-D4132445E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CD67B-B17C-5C79-BDCA-035453EEAD08}"/>
              </a:ext>
            </a:extLst>
          </p:cNvPr>
          <p:cNvSpPr>
            <a:spLocks noGrp="1"/>
          </p:cNvSpPr>
          <p:nvPr>
            <p:ph type="title"/>
          </p:nvPr>
        </p:nvSpPr>
        <p:spPr/>
        <p:txBody>
          <a:bodyPr/>
          <a:lstStyle/>
          <a:p>
            <a:r>
              <a:rPr lang="en-GB" dirty="0"/>
              <a:t>Future of Vibe Consulting</a:t>
            </a:r>
            <a:endParaRPr lang="en-GB" sz="1600" dirty="0"/>
          </a:p>
        </p:txBody>
      </p:sp>
      <p:sp>
        <p:nvSpPr>
          <p:cNvPr id="5" name="TextBox 4">
            <a:extLst>
              <a:ext uri="{FF2B5EF4-FFF2-40B4-BE49-F238E27FC236}">
                <a16:creationId xmlns:a16="http://schemas.microsoft.com/office/drawing/2014/main" id="{DE07EEF5-BE8C-1A1A-91C2-864EBC654985}"/>
              </a:ext>
            </a:extLst>
          </p:cNvPr>
          <p:cNvSpPr txBox="1"/>
          <p:nvPr/>
        </p:nvSpPr>
        <p:spPr>
          <a:xfrm>
            <a:off x="5862320" y="2680176"/>
            <a:ext cx="3942080" cy="2308324"/>
          </a:xfrm>
          <a:prstGeom prst="rect">
            <a:avLst/>
          </a:prstGeom>
          <a:noFill/>
        </p:spPr>
        <p:txBody>
          <a:bodyPr wrap="square">
            <a:spAutoFit/>
          </a:bodyPr>
          <a:lstStyle/>
          <a:p>
            <a:r>
              <a:rPr lang="en-GB" b="0" i="0" u="none" strike="noStrike" dirty="0">
                <a:solidFill>
                  <a:schemeClr val="tx2"/>
                </a:solidFill>
                <a:effectLst/>
                <a:latin typeface="Google Sans"/>
              </a:rPr>
              <a:t>Sam Altman has stated that he and other tech CEOs have a betting pool for when the first one-person billion-dollar company will emerge, which he believes is now possible due to AI. He has also reportedly said that this company will be built by an individual using a laptop, internet, and AI agents. </a:t>
            </a:r>
            <a:endParaRPr lang="en-GB" dirty="0">
              <a:solidFill>
                <a:schemeClr val="tx2"/>
              </a:solidFill>
            </a:endParaRPr>
          </a:p>
        </p:txBody>
      </p:sp>
      <p:pic>
        <p:nvPicPr>
          <p:cNvPr id="26628" name="Picture 4" descr="Sam Altman: Meet the Tech Innovator at the Heart of OpenAI">
            <a:extLst>
              <a:ext uri="{FF2B5EF4-FFF2-40B4-BE49-F238E27FC236}">
                <a16:creationId xmlns:a16="http://schemas.microsoft.com/office/drawing/2014/main" id="{C44C633E-4A62-9DB0-B1EF-599EB4F721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080" y="2201382"/>
            <a:ext cx="3271203" cy="326591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2F1452-0963-90B4-D805-7EB6B0EB786A}"/>
              </a:ext>
            </a:extLst>
          </p:cNvPr>
          <p:cNvSpPr txBox="1"/>
          <p:nvPr/>
        </p:nvSpPr>
        <p:spPr>
          <a:xfrm>
            <a:off x="1553108" y="5793321"/>
            <a:ext cx="2969146" cy="369332"/>
          </a:xfrm>
          <a:prstGeom prst="rect">
            <a:avLst/>
          </a:prstGeom>
          <a:noFill/>
        </p:spPr>
        <p:txBody>
          <a:bodyPr wrap="none" rtlCol="0">
            <a:spAutoFit/>
          </a:bodyPr>
          <a:lstStyle/>
          <a:p>
            <a:r>
              <a:rPr lang="en-GB" dirty="0"/>
              <a:t>Sam Altman, Founder OpenAI</a:t>
            </a:r>
          </a:p>
        </p:txBody>
      </p:sp>
    </p:spTree>
    <p:extLst>
      <p:ext uri="{BB962C8B-B14F-4D97-AF65-F5344CB8AC3E}">
        <p14:creationId xmlns:p14="http://schemas.microsoft.com/office/powerpoint/2010/main" val="18682348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ADE88-CBD2-60F9-FC3E-7C866C948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8E1E2-B0D2-E7DD-9A13-F8A8E2B331DD}"/>
              </a:ext>
            </a:extLst>
          </p:cNvPr>
          <p:cNvSpPr>
            <a:spLocks noGrp="1"/>
          </p:cNvSpPr>
          <p:nvPr>
            <p:ph type="title"/>
          </p:nvPr>
        </p:nvSpPr>
        <p:spPr/>
        <p:txBody>
          <a:bodyPr/>
          <a:lstStyle/>
          <a:p>
            <a:r>
              <a:rPr lang="en-GB" dirty="0"/>
              <a:t>Buzz Group Exercise</a:t>
            </a:r>
          </a:p>
        </p:txBody>
      </p:sp>
      <p:pic>
        <p:nvPicPr>
          <p:cNvPr id="7170" name="Picture 2" descr="Zoom One | Zoom MSP | System ...">
            <a:extLst>
              <a:ext uri="{FF2B5EF4-FFF2-40B4-BE49-F238E27FC236}">
                <a16:creationId xmlns:a16="http://schemas.microsoft.com/office/drawing/2014/main" id="{C16CA122-ADB9-B9EA-DF86-32DC86F11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287" y="2726836"/>
            <a:ext cx="940137" cy="93595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ow Do I Use Buzz Groups In Training ...">
            <a:extLst>
              <a:ext uri="{FF2B5EF4-FFF2-40B4-BE49-F238E27FC236}">
                <a16:creationId xmlns:a16="http://schemas.microsoft.com/office/drawing/2014/main" id="{9A05515B-97B8-FB47-3C63-CD5F964F0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1287" y="4143961"/>
            <a:ext cx="792354" cy="7923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51B7209-084B-C4A3-E4A7-A8EC49BB5C48}"/>
              </a:ext>
            </a:extLst>
          </p:cNvPr>
          <p:cNvSpPr txBox="1"/>
          <p:nvPr/>
        </p:nvSpPr>
        <p:spPr>
          <a:xfrm>
            <a:off x="899449" y="1654764"/>
            <a:ext cx="6327117" cy="369332"/>
          </a:xfrm>
          <a:prstGeom prst="rect">
            <a:avLst/>
          </a:prstGeom>
          <a:noFill/>
        </p:spPr>
        <p:txBody>
          <a:bodyPr wrap="none" rtlCol="0">
            <a:spAutoFit/>
          </a:bodyPr>
          <a:lstStyle/>
          <a:p>
            <a:r>
              <a:rPr lang="en-GB" b="1" dirty="0">
                <a:solidFill>
                  <a:schemeClr val="tx2"/>
                </a:solidFill>
              </a:rPr>
              <a:t>Share key actions for attendees, consultancies &amp; our profession ?</a:t>
            </a:r>
          </a:p>
        </p:txBody>
      </p:sp>
      <p:sp>
        <p:nvSpPr>
          <p:cNvPr id="6" name="TextBox 5">
            <a:extLst>
              <a:ext uri="{FF2B5EF4-FFF2-40B4-BE49-F238E27FC236}">
                <a16:creationId xmlns:a16="http://schemas.microsoft.com/office/drawing/2014/main" id="{36FE0AA9-6C64-9A1F-74D9-A92BB3D34F8E}"/>
              </a:ext>
            </a:extLst>
          </p:cNvPr>
          <p:cNvSpPr txBox="1"/>
          <p:nvPr/>
        </p:nvSpPr>
        <p:spPr>
          <a:xfrm>
            <a:off x="3577048" y="3010149"/>
            <a:ext cx="7433445" cy="369332"/>
          </a:xfrm>
          <a:prstGeom prst="rect">
            <a:avLst/>
          </a:prstGeom>
          <a:noFill/>
        </p:spPr>
        <p:txBody>
          <a:bodyPr wrap="none" rtlCol="0">
            <a:spAutoFit/>
          </a:bodyPr>
          <a:lstStyle/>
          <a:p>
            <a:r>
              <a:rPr lang="en-GB" dirty="0"/>
              <a:t>If </a:t>
            </a:r>
            <a:r>
              <a:rPr lang="en-GB" b="1" dirty="0">
                <a:solidFill>
                  <a:schemeClr val="tx2"/>
                </a:solidFill>
              </a:rPr>
              <a:t>on Zoom</a:t>
            </a:r>
            <a:r>
              <a:rPr lang="en-GB" dirty="0"/>
              <a:t>: Contribute into the “Chat” area - reading and building on others. </a:t>
            </a:r>
          </a:p>
        </p:txBody>
      </p:sp>
      <p:sp>
        <p:nvSpPr>
          <p:cNvPr id="7" name="TextBox 6">
            <a:extLst>
              <a:ext uri="{FF2B5EF4-FFF2-40B4-BE49-F238E27FC236}">
                <a16:creationId xmlns:a16="http://schemas.microsoft.com/office/drawing/2014/main" id="{072C31A8-7972-DC53-C87F-9AA30505CE55}"/>
              </a:ext>
            </a:extLst>
          </p:cNvPr>
          <p:cNvSpPr txBox="1"/>
          <p:nvPr/>
        </p:nvSpPr>
        <p:spPr>
          <a:xfrm>
            <a:off x="3577048" y="4216972"/>
            <a:ext cx="7332136" cy="646331"/>
          </a:xfrm>
          <a:prstGeom prst="rect">
            <a:avLst/>
          </a:prstGeom>
          <a:noFill/>
        </p:spPr>
        <p:txBody>
          <a:bodyPr wrap="square" rtlCol="0">
            <a:spAutoFit/>
          </a:bodyPr>
          <a:lstStyle/>
          <a:p>
            <a:r>
              <a:rPr lang="en-GB" dirty="0"/>
              <a:t>If </a:t>
            </a:r>
            <a:r>
              <a:rPr lang="en-GB" b="1" dirty="0">
                <a:solidFill>
                  <a:schemeClr val="tx2"/>
                </a:solidFill>
              </a:rPr>
              <a:t>in room</a:t>
            </a:r>
            <a:r>
              <a:rPr lang="en-GB" dirty="0"/>
              <a:t>: Organise into convenient small groups. Check around you that no-one is left out.  Discuss.</a:t>
            </a:r>
          </a:p>
        </p:txBody>
      </p:sp>
      <p:pic>
        <p:nvPicPr>
          <p:cNvPr id="7174" name="Picture 6" descr="Caution Symbol Vinyl decal Hazard Danger Warning Safety Vinyl Sticker">
            <a:extLst>
              <a:ext uri="{FF2B5EF4-FFF2-40B4-BE49-F238E27FC236}">
                <a16:creationId xmlns:a16="http://schemas.microsoft.com/office/drawing/2014/main" id="{E9FF2C2C-6FD2-D7C0-8C68-7C4253B6C9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994" y="5417481"/>
            <a:ext cx="1057681" cy="10576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2E14C12-45A3-97EC-1FE4-8C78648B1E3B}"/>
              </a:ext>
            </a:extLst>
          </p:cNvPr>
          <p:cNvSpPr txBox="1"/>
          <p:nvPr/>
        </p:nvSpPr>
        <p:spPr>
          <a:xfrm>
            <a:off x="3577048" y="5700794"/>
            <a:ext cx="4308487" cy="369332"/>
          </a:xfrm>
          <a:prstGeom prst="rect">
            <a:avLst/>
          </a:prstGeom>
          <a:noFill/>
        </p:spPr>
        <p:txBody>
          <a:bodyPr wrap="none" rtlCol="0">
            <a:spAutoFit/>
          </a:bodyPr>
          <a:lstStyle/>
          <a:p>
            <a:r>
              <a:rPr lang="en-GB" dirty="0"/>
              <a:t>Please don’t share confidential information!</a:t>
            </a:r>
          </a:p>
        </p:txBody>
      </p:sp>
    </p:spTree>
    <p:extLst>
      <p:ext uri="{BB962C8B-B14F-4D97-AF65-F5344CB8AC3E}">
        <p14:creationId xmlns:p14="http://schemas.microsoft.com/office/powerpoint/2010/main" val="19374723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BF9EC-411B-6C84-33C9-F3F806F54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1112E-4A4C-CCA3-9B99-27877B105B58}"/>
              </a:ext>
            </a:extLst>
          </p:cNvPr>
          <p:cNvSpPr>
            <a:spLocks noGrp="1"/>
          </p:cNvSpPr>
          <p:nvPr>
            <p:ph type="title"/>
          </p:nvPr>
        </p:nvSpPr>
        <p:spPr/>
        <p:txBody>
          <a:bodyPr/>
          <a:lstStyle/>
          <a:p>
            <a:r>
              <a:rPr lang="en-GB" dirty="0">
                <a:latin typeface="Aptos" panose="020B0004020202020204" pitchFamily="34" charset="0"/>
                <a:ea typeface="Aptos" panose="020B0004020202020204" pitchFamily="34" charset="0"/>
                <a:cs typeface="Times New Roman" panose="02020603050405020304" pitchFamily="18" charset="0"/>
              </a:rPr>
              <a:t>Vision:  Golden Age for Consulting</a:t>
            </a:r>
            <a:br>
              <a:rPr lang="en-GB" dirty="0">
                <a:latin typeface="Aptos" panose="020B0004020202020204" pitchFamily="34" charset="0"/>
                <a:ea typeface="Aptos" panose="020B0004020202020204" pitchFamily="34" charset="0"/>
                <a:cs typeface="Times New Roman" panose="02020603050405020304" pitchFamily="18" charset="0"/>
              </a:rPr>
            </a:br>
            <a:r>
              <a:rPr lang="en-GB" sz="2000" i="1" dirty="0">
                <a:latin typeface="Aptos" panose="020B0004020202020204" pitchFamily="34" charset="0"/>
                <a:ea typeface="Aptos" panose="020B0004020202020204" pitchFamily="34" charset="0"/>
                <a:cs typeface="Times New Roman" panose="02020603050405020304" pitchFamily="18" charset="0"/>
              </a:rPr>
              <a:t>with Britain as an AI Consulting superpower</a:t>
            </a:r>
            <a:endParaRPr lang="en-GB" i="1" dirty="0"/>
          </a:p>
        </p:txBody>
      </p:sp>
      <p:sp>
        <p:nvSpPr>
          <p:cNvPr id="4" name="TextBox 3">
            <a:extLst>
              <a:ext uri="{FF2B5EF4-FFF2-40B4-BE49-F238E27FC236}">
                <a16:creationId xmlns:a16="http://schemas.microsoft.com/office/drawing/2014/main" id="{D45C6867-87F4-45CE-75EB-0B9F4450ADF1}"/>
              </a:ext>
            </a:extLst>
          </p:cNvPr>
          <p:cNvSpPr txBox="1"/>
          <p:nvPr/>
        </p:nvSpPr>
        <p:spPr>
          <a:xfrm>
            <a:off x="5257800" y="2132958"/>
            <a:ext cx="6096000" cy="3547125"/>
          </a:xfrm>
          <a:prstGeom prst="rect">
            <a:avLst/>
          </a:prstGeom>
          <a:noFill/>
        </p:spPr>
        <p:txBody>
          <a:bodyPr wrap="square">
            <a:spAutoFit/>
          </a:bodyPr>
          <a:lstStyle/>
          <a:p>
            <a:pPr algn="l">
              <a:spcAft>
                <a:spcPts val="1500"/>
              </a:spcAft>
              <a:buNone/>
            </a:pPr>
            <a:r>
              <a:rPr lang="en-GB" b="0" i="1" u="none" strike="noStrike" dirty="0">
                <a:solidFill>
                  <a:schemeClr val="tx2"/>
                </a:solidFill>
                <a:effectLst/>
                <a:latin typeface="GDS Transport"/>
              </a:rPr>
              <a:t>“And we are going to make AI work for everyone in our country…</a:t>
            </a:r>
          </a:p>
          <a:p>
            <a:pPr algn="l">
              <a:spcAft>
                <a:spcPts val="1500"/>
              </a:spcAft>
              <a:buNone/>
            </a:pPr>
            <a:r>
              <a:rPr lang="en-GB" b="0" i="1" u="none" strike="noStrike" dirty="0">
                <a:solidFill>
                  <a:schemeClr val="tx2"/>
                </a:solidFill>
                <a:effectLst/>
                <a:latin typeface="GDS Transport"/>
              </a:rPr>
              <a:t>This is the nation of Babbage, Lovelace and Turing…</a:t>
            </a:r>
          </a:p>
          <a:p>
            <a:pPr algn="l">
              <a:spcAft>
                <a:spcPts val="1500"/>
              </a:spcAft>
              <a:buNone/>
            </a:pPr>
            <a:r>
              <a:rPr lang="en-GB" b="0" i="1" u="none" strike="noStrike" dirty="0">
                <a:solidFill>
                  <a:schemeClr val="tx2"/>
                </a:solidFill>
                <a:effectLst/>
                <a:latin typeface="GDS Transport"/>
              </a:rPr>
              <a:t>That gave birth to the modern computer and the World Wide Web … </a:t>
            </a:r>
          </a:p>
          <a:p>
            <a:pPr algn="l">
              <a:spcAft>
                <a:spcPts val="1500"/>
              </a:spcAft>
              <a:buNone/>
            </a:pPr>
            <a:r>
              <a:rPr lang="en-GB" b="0" i="1" u="none" strike="noStrike" dirty="0">
                <a:solidFill>
                  <a:schemeClr val="tx2"/>
                </a:solidFill>
                <a:effectLst/>
                <a:latin typeface="GDS Transport"/>
              </a:rPr>
              <a:t>So, mark my words – Britain will be one of the great AI superpowers.</a:t>
            </a:r>
          </a:p>
          <a:p>
            <a:pPr algn="l">
              <a:spcAft>
                <a:spcPts val="1500"/>
              </a:spcAft>
              <a:buNone/>
            </a:pPr>
            <a:r>
              <a:rPr lang="en-GB" b="0" i="1" u="none" strike="noStrike" dirty="0">
                <a:solidFill>
                  <a:schemeClr val="tx2"/>
                </a:solidFill>
                <a:effectLst/>
                <a:latin typeface="GDS Transport"/>
              </a:rPr>
              <a:t>Now, that’s not boosterism or wishful thinking… </a:t>
            </a:r>
          </a:p>
          <a:p>
            <a:pPr algn="l">
              <a:spcAft>
                <a:spcPts val="1500"/>
              </a:spcAft>
            </a:pPr>
            <a:r>
              <a:rPr lang="en-GB" b="0" i="1" u="none" strike="noStrike" dirty="0">
                <a:solidFill>
                  <a:schemeClr val="tx2"/>
                </a:solidFill>
                <a:effectLst/>
                <a:latin typeface="GDS Transport"/>
              </a:rPr>
              <a:t>This can be done, and it will be done.” </a:t>
            </a:r>
          </a:p>
        </p:txBody>
      </p:sp>
      <p:pic>
        <p:nvPicPr>
          <p:cNvPr id="31746" name="Picture 2" descr="The Rt Hon Sir Keir Starmer KCB KC MP">
            <a:extLst>
              <a:ext uri="{FF2B5EF4-FFF2-40B4-BE49-F238E27FC236}">
                <a16:creationId xmlns:a16="http://schemas.microsoft.com/office/drawing/2014/main" id="{F919F2EC-B925-A9C2-9951-A11DF196E4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 y="2192868"/>
            <a:ext cx="3751579" cy="25010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6BDC838-A46B-C6C1-FE6A-079760729245}"/>
              </a:ext>
            </a:extLst>
          </p:cNvPr>
          <p:cNvSpPr txBox="1"/>
          <p:nvPr/>
        </p:nvSpPr>
        <p:spPr>
          <a:xfrm>
            <a:off x="698172" y="5083957"/>
            <a:ext cx="3484224" cy="861774"/>
          </a:xfrm>
          <a:prstGeom prst="rect">
            <a:avLst/>
          </a:prstGeom>
          <a:noFill/>
        </p:spPr>
        <p:txBody>
          <a:bodyPr wrap="none" rtlCol="0">
            <a:spAutoFit/>
          </a:bodyPr>
          <a:lstStyle/>
          <a:p>
            <a:pPr algn="ctr"/>
            <a:r>
              <a:rPr lang="en-GB" dirty="0"/>
              <a:t>Sir Kier Starmer, Prime Minister, UK</a:t>
            </a:r>
            <a:br>
              <a:rPr lang="en-GB" dirty="0"/>
            </a:br>
            <a:br>
              <a:rPr lang="en-GB" dirty="0"/>
            </a:br>
            <a:r>
              <a:rPr lang="en-GB" sz="1400" dirty="0"/>
              <a:t>(speech at UCL on 13/01/2025)</a:t>
            </a:r>
            <a:endParaRPr lang="en-GB" dirty="0"/>
          </a:p>
        </p:txBody>
      </p:sp>
    </p:spTree>
    <p:extLst>
      <p:ext uri="{BB962C8B-B14F-4D97-AF65-F5344CB8AC3E}">
        <p14:creationId xmlns:p14="http://schemas.microsoft.com/office/powerpoint/2010/main" val="13789072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0EE44-1533-9B18-4EFB-F36DA7BD0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B6026-24AC-C704-0C0E-A91B05A7AA63}"/>
              </a:ext>
            </a:extLst>
          </p:cNvPr>
          <p:cNvSpPr>
            <a:spLocks noGrp="1"/>
          </p:cNvSpPr>
          <p:nvPr>
            <p:ph type="title"/>
          </p:nvPr>
        </p:nvSpPr>
        <p:spPr/>
        <p:txBody>
          <a:bodyPr/>
          <a:lstStyle/>
          <a:p>
            <a:r>
              <a:rPr lang="en-GB" dirty="0"/>
              <a:t>Anything BCS CONSIG should be doing for you?</a:t>
            </a:r>
          </a:p>
        </p:txBody>
      </p:sp>
      <p:pic>
        <p:nvPicPr>
          <p:cNvPr id="15362" name="Picture 2" descr="73+ Thousand Training Participants Royalty-Free Images, Stock Photos &amp;  Pictures | Shutterstock">
            <a:extLst>
              <a:ext uri="{FF2B5EF4-FFF2-40B4-BE49-F238E27FC236}">
                <a16:creationId xmlns:a16="http://schemas.microsoft.com/office/drawing/2014/main" id="{DB51D623-A3D9-F1E1-2C5F-786A696D78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429"/>
          <a:stretch>
            <a:fillRect/>
          </a:stretch>
        </p:blipFill>
        <p:spPr bwMode="auto">
          <a:xfrm>
            <a:off x="1037590" y="2211070"/>
            <a:ext cx="5499100" cy="3149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B6A92EB-09AB-97F4-F2A7-8105A90E900E}"/>
              </a:ext>
            </a:extLst>
          </p:cNvPr>
          <p:cNvSpPr txBox="1"/>
          <p:nvPr/>
        </p:nvSpPr>
        <p:spPr>
          <a:xfrm>
            <a:off x="7349346" y="2211070"/>
            <a:ext cx="4183380" cy="2954655"/>
          </a:xfrm>
          <a:prstGeom prst="rect">
            <a:avLst/>
          </a:prstGeom>
          <a:noFill/>
        </p:spPr>
        <p:txBody>
          <a:bodyPr wrap="square" rtlCol="0">
            <a:spAutoFit/>
          </a:bodyPr>
          <a:lstStyle/>
          <a:p>
            <a:r>
              <a:rPr lang="en-GB" dirty="0"/>
              <a:t>Add ideas to the “ideas wall”</a:t>
            </a:r>
          </a:p>
          <a:p>
            <a:endParaRPr lang="en-GB" dirty="0"/>
          </a:p>
          <a:p>
            <a:endParaRPr lang="en-GB" dirty="0"/>
          </a:p>
          <a:p>
            <a:r>
              <a:rPr lang="en-GB" dirty="0"/>
              <a:t>Or connect with us via Email:</a:t>
            </a:r>
          </a:p>
          <a:p>
            <a:endParaRPr lang="en-GB" dirty="0"/>
          </a:p>
          <a:p>
            <a:r>
              <a:rPr lang="en-GB" dirty="0" err="1"/>
              <a:t>mm.plc.consulting@googlemail.com</a:t>
            </a:r>
            <a:endParaRPr lang="en-GB" dirty="0"/>
          </a:p>
          <a:p>
            <a:endParaRPr lang="en-GB" dirty="0"/>
          </a:p>
          <a:p>
            <a:endParaRPr lang="en-GB" dirty="0"/>
          </a:p>
          <a:p>
            <a:r>
              <a:rPr lang="en-GB" dirty="0"/>
              <a:t>Or nab a Committee Member afterwards </a:t>
            </a:r>
          </a:p>
          <a:p>
            <a:endParaRPr lang="en-GB" sz="2400" b="1" dirty="0">
              <a:solidFill>
                <a:schemeClr val="tx2"/>
              </a:solidFill>
            </a:endParaRPr>
          </a:p>
        </p:txBody>
      </p:sp>
    </p:spTree>
    <p:extLst>
      <p:ext uri="{BB962C8B-B14F-4D97-AF65-F5344CB8AC3E}">
        <p14:creationId xmlns:p14="http://schemas.microsoft.com/office/powerpoint/2010/main" val="3733355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B071E-E04A-7AFF-E450-0C90D0E4F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4104E-28CC-A8C8-7C66-4E84ACDA334A}"/>
              </a:ext>
            </a:extLst>
          </p:cNvPr>
          <p:cNvSpPr>
            <a:spLocks noGrp="1"/>
          </p:cNvSpPr>
          <p:nvPr>
            <p:ph type="title"/>
          </p:nvPr>
        </p:nvSpPr>
        <p:spPr/>
        <p:txBody>
          <a:bodyPr/>
          <a:lstStyle/>
          <a:p>
            <a:r>
              <a:rPr lang="en-GB" dirty="0"/>
              <a:t>Final Word from Nestor</a:t>
            </a:r>
          </a:p>
        </p:txBody>
      </p:sp>
      <p:pic>
        <p:nvPicPr>
          <p:cNvPr id="9" name="Picture 8">
            <a:extLst>
              <a:ext uri="{FF2B5EF4-FFF2-40B4-BE49-F238E27FC236}">
                <a16:creationId xmlns:a16="http://schemas.microsoft.com/office/drawing/2014/main" id="{3446ADC1-2224-4692-BBBD-334FFEB91998}"/>
              </a:ext>
            </a:extLst>
          </p:cNvPr>
          <p:cNvPicPr>
            <a:picLocks noChangeAspect="1"/>
          </p:cNvPicPr>
          <p:nvPr/>
        </p:nvPicPr>
        <p:blipFill>
          <a:blip r:embed="rId2"/>
          <a:stretch>
            <a:fillRect/>
          </a:stretch>
        </p:blipFill>
        <p:spPr>
          <a:xfrm>
            <a:off x="3302000" y="1876543"/>
            <a:ext cx="5588000" cy="3733800"/>
          </a:xfrm>
          <a:prstGeom prst="rect">
            <a:avLst/>
          </a:prstGeom>
        </p:spPr>
      </p:pic>
    </p:spTree>
    <p:extLst>
      <p:ext uri="{BB962C8B-B14F-4D97-AF65-F5344CB8AC3E}">
        <p14:creationId xmlns:p14="http://schemas.microsoft.com/office/powerpoint/2010/main" val="35632013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533BC-4217-4AF3-99B1-DFF7D3D19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B0957-6990-A573-9EB5-CA0315EF3569}"/>
              </a:ext>
            </a:extLst>
          </p:cNvPr>
          <p:cNvSpPr>
            <a:spLocks noGrp="1"/>
          </p:cNvSpPr>
          <p:nvPr>
            <p:ph type="title"/>
          </p:nvPr>
        </p:nvSpPr>
        <p:spPr/>
        <p:txBody>
          <a:bodyPr/>
          <a:lstStyle/>
          <a:p>
            <a:r>
              <a:rPr lang="en-GB" dirty="0"/>
              <a:t>Q&amp;A / Contributions &amp; Insights</a:t>
            </a:r>
          </a:p>
        </p:txBody>
      </p:sp>
      <p:pic>
        <p:nvPicPr>
          <p:cNvPr id="3" name="Picture 2" descr="73+ Thousand Training Participants Royalty-Free Images, Stock Photos &amp;  Pictures | Shutterstock">
            <a:extLst>
              <a:ext uri="{FF2B5EF4-FFF2-40B4-BE49-F238E27FC236}">
                <a16:creationId xmlns:a16="http://schemas.microsoft.com/office/drawing/2014/main" id="{6451A317-BCF6-5B3E-21B0-7AA039101C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429"/>
          <a:stretch>
            <a:fillRect/>
          </a:stretch>
        </p:blipFill>
        <p:spPr bwMode="auto">
          <a:xfrm>
            <a:off x="3604260" y="2411730"/>
            <a:ext cx="5499100"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3127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D0E4A1-4769-AB6A-7EFA-552B1FDF69C5}"/>
              </a:ext>
            </a:extLst>
          </p:cNvPr>
          <p:cNvSpPr>
            <a:spLocks noGrp="1"/>
          </p:cNvSpPr>
          <p:nvPr>
            <p:ph type="title"/>
          </p:nvPr>
        </p:nvSpPr>
        <p:spPr/>
        <p:txBody>
          <a:bodyPr/>
          <a:lstStyle/>
          <a:p>
            <a:r>
              <a:rPr lang="en-GB" dirty="0"/>
              <a:t>Networking</a:t>
            </a:r>
          </a:p>
        </p:txBody>
      </p:sp>
      <p:pic>
        <p:nvPicPr>
          <p:cNvPr id="34818" name="Picture 2" descr="Shot of two unrecognisable businesspeople having coffee at a conference Tell me about your achievements over some tea networking conference stock pictures, royalty-free photos &amp; images">
            <a:extLst>
              <a:ext uri="{FF2B5EF4-FFF2-40B4-BE49-F238E27FC236}">
                <a16:creationId xmlns:a16="http://schemas.microsoft.com/office/drawing/2014/main" id="{68D793EB-47F0-35C3-9CBA-BD1BBD8880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8640" y="1891453"/>
            <a:ext cx="6014720" cy="4009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089651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289672</TotalTime>
  <Words>13258</Words>
  <Application>Microsoft Macintosh PowerPoint</Application>
  <PresentationFormat>Widescreen</PresentationFormat>
  <Paragraphs>926</Paragraphs>
  <Slides>80</Slides>
  <Notes>10</Notes>
  <HiddenSlides>2</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80</vt:i4>
      </vt:variant>
    </vt:vector>
  </HeadingPairs>
  <TitlesOfParts>
    <vt:vector size="96" baseType="lpstr">
      <vt:lpstr>-webkit-standard</vt:lpstr>
      <vt:lpstr>Aptos</vt:lpstr>
      <vt:lpstr>Arial</vt:lpstr>
      <vt:lpstr>Calibri</vt:lpstr>
      <vt:lpstr>Calibri Light</vt:lpstr>
      <vt:lpstr>Courier New</vt:lpstr>
      <vt:lpstr>Darker Grotesque</vt:lpstr>
      <vt:lpstr>EYInterstate</vt:lpstr>
      <vt:lpstr>GDS Transport</vt:lpstr>
      <vt:lpstr>Gill Sans</vt:lpstr>
      <vt:lpstr>Google Sans</vt:lpstr>
      <vt:lpstr>Helvetica</vt:lpstr>
      <vt:lpstr>source-serif-pro</vt:lpstr>
      <vt:lpstr>var(--font-merryweather)</vt:lpstr>
      <vt:lpstr>Wingdings</vt:lpstr>
      <vt:lpstr>Office Theme</vt:lpstr>
      <vt:lpstr>PowerPoint Presentation</vt:lpstr>
      <vt:lpstr>BCS / CONSIG Notices &amp; Announcements</vt:lpstr>
      <vt:lpstr>PowerPoint Presentation</vt:lpstr>
      <vt:lpstr>Agenda</vt:lpstr>
      <vt:lpstr>Welcome from Nestor</vt:lpstr>
      <vt:lpstr>Will consultants be replaced by AI?</vt:lpstr>
      <vt:lpstr>BCS Expert Panel - AI in Consultancy</vt:lpstr>
      <vt:lpstr>Live Demo 1 | AI-Enabled DIY Consultancy</vt:lpstr>
      <vt:lpstr>Demo: The Threat to Consultancy (&amp; the Opportunity) (1)  Obtaining consultancy advice from an AI model rather than a consultant (cheaper, faster, maybe not better)</vt:lpstr>
      <vt:lpstr>Demo: The Threat &amp; the Opportunity (2)  Let’s throw the problem at three market leading AI models with no UI and just a simple ask ….</vt:lpstr>
      <vt:lpstr>Advice from ChatGPT</vt:lpstr>
      <vt:lpstr>Advice from Claude</vt:lpstr>
      <vt:lpstr>Advice from Gemini</vt:lpstr>
      <vt:lpstr>Buzz Group Exercise</vt:lpstr>
      <vt:lpstr>PowerPoint Presentation</vt:lpstr>
      <vt:lpstr>The Coming Wave</vt:lpstr>
      <vt:lpstr>The Top 10 Gen AI Use Cases</vt:lpstr>
      <vt:lpstr>Anthropic measurement of usage by job type </vt:lpstr>
      <vt:lpstr>OpenAI ChatGPT Consumer Usage for Work</vt:lpstr>
      <vt:lpstr>McKinsey’s Global AI Survey Found 1% of AI Initiatives in Global Corporations Generating Value! 1500 corporates &gt; $500m in revenues surveyed in mid 2024</vt:lpstr>
      <vt:lpstr>MIT survey on failing Applied AI projects in corporates 300+ initiative reviews, 52 interviews, and 153 survey responses  </vt:lpstr>
      <vt:lpstr>People are Aware, but Cautious and Divided</vt:lpstr>
      <vt:lpstr>Case: JP Morgan</vt:lpstr>
      <vt:lpstr>IBM survey on AI and consultancy </vt:lpstr>
      <vt:lpstr>Global AI consultancy revenues </vt:lpstr>
      <vt:lpstr>AI Revenues Look to be Increasing within Big-4</vt:lpstr>
      <vt:lpstr>AI-Enabled Consulting can Deliver Errors to Clients</vt:lpstr>
      <vt:lpstr>PowerPoint Presentation</vt:lpstr>
      <vt:lpstr>Types of Consultancies in Focus</vt:lpstr>
      <vt:lpstr>Participants’ Exercise</vt:lpstr>
      <vt:lpstr>PowerPoint Presentation</vt:lpstr>
      <vt:lpstr>Quotes from McKinsey Leaders</vt:lpstr>
      <vt:lpstr>Case: McKinsey’s “Lilli”</vt:lpstr>
      <vt:lpstr>Passing 100 Billion Tokens on OpenAI Tech</vt:lpstr>
      <vt:lpstr>Lillian Dombrowski: The Inspiration Behind Lilli</vt:lpstr>
      <vt:lpstr>Ask McKinsey!</vt:lpstr>
      <vt:lpstr>How will generative AI impact the consultancy industry?</vt:lpstr>
      <vt:lpstr>Case: AI at Boston Consulting Group (BCG)</vt:lpstr>
      <vt:lpstr>Case: BCG’s Enterprise GPT</vt:lpstr>
      <vt:lpstr>Case: AI at Bain</vt:lpstr>
      <vt:lpstr>Case: Bain’s Enterprise GPT &amp; CoPilot</vt:lpstr>
      <vt:lpstr>Case: AI at KPMG</vt:lpstr>
      <vt:lpstr>Case: AVA at KPMG</vt:lpstr>
      <vt:lpstr>Lessons from the Technical Lead for KPMG AVA</vt:lpstr>
      <vt:lpstr>KPMG’s “Trusted AI” Framework</vt:lpstr>
      <vt:lpstr>Case: PairD at Deloitte, a UK Developed GenAI Platform</vt:lpstr>
      <vt:lpstr>Case: PWC</vt:lpstr>
      <vt:lpstr>Case: Accenture</vt:lpstr>
      <vt:lpstr>Case: Unity Advisory (Challenging General Consulting)</vt:lpstr>
      <vt:lpstr>Case: Dstyl (Focused on AI Consulting)</vt:lpstr>
      <vt:lpstr>Case: Faculty AI (Focused on Applied AI – Consulting, Applications &amp; Platform specializing in Frontier AI)</vt:lpstr>
      <vt:lpstr>Case: Echelon AI – (Automating Implementation of Enterprise Software Application, ServiceNow)</vt:lpstr>
      <vt:lpstr>Participants’ Exercise</vt:lpstr>
      <vt:lpstr>PowerPoint Presentation</vt:lpstr>
      <vt:lpstr>Insights: AI Developments across Consulting Industry</vt:lpstr>
      <vt:lpstr>Insights: AI Services for Clients’ AI Transformations</vt:lpstr>
      <vt:lpstr>Generative &amp; Agentic AI for Consulting</vt:lpstr>
      <vt:lpstr>Live Demo 2 | Co-Worker</vt:lpstr>
      <vt:lpstr>Demo: AI Enabled Consultancy Co-Worker (1) </vt:lpstr>
      <vt:lpstr>Demo: AI Enabled Consultancy Co-Worker (2) </vt:lpstr>
      <vt:lpstr>Demo: AI Enabled Consultancy Co-Worker (3) </vt:lpstr>
      <vt:lpstr>Demo: AI Enabled Consultancy Co-Worker (4) </vt:lpstr>
      <vt:lpstr>Demo: AI Enabled Consultancy Co-Worker (5) </vt:lpstr>
      <vt:lpstr>Demo: AI Enabled Consultancy Co-Worker (6) </vt:lpstr>
      <vt:lpstr>PowerPoint Presentation</vt:lpstr>
      <vt:lpstr>PowerPoint Presentation</vt:lpstr>
      <vt:lpstr>Live Demo 3 | AI Enabled Consulting Team</vt:lpstr>
      <vt:lpstr>Enterprise Vibe Consulting Demo (1)  Scenario: UK grocery chain’s online conversion dropped 8% in Q3.  Identify drivers and propose actions within 4 weeks. </vt:lpstr>
      <vt:lpstr>Enterprise Vibe Consulting Demo (2)</vt:lpstr>
      <vt:lpstr>Enterprise Vibe Consulting Demo (3)</vt:lpstr>
      <vt:lpstr>Enterprise Vibe Consulting Demo (4)</vt:lpstr>
      <vt:lpstr>Enterprise Vibe Consulting Demo (5)</vt:lpstr>
      <vt:lpstr>Enterprise Vibe Consulting Demo (6)</vt:lpstr>
      <vt:lpstr>Future of Vibe Consulting</vt:lpstr>
      <vt:lpstr>Buzz Group Exercise</vt:lpstr>
      <vt:lpstr>Vision:  Golden Age for Consulting with Britain as an AI Consulting superpower</vt:lpstr>
      <vt:lpstr>Anything BCS CONSIG should be doing for you?</vt:lpstr>
      <vt:lpstr>Final Word from Nestor</vt:lpstr>
      <vt:lpstr>Q&amp;A / Contributions &amp; Insights</vt:lpstr>
      <vt:lpstr>Networking</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Ocvembor</dc:creator>
  <cp:lastModifiedBy>Alan Warr</cp:lastModifiedBy>
  <cp:revision>2495</cp:revision>
  <cp:lastPrinted>2025-02-01T20:36:33Z</cp:lastPrinted>
  <dcterms:created xsi:type="dcterms:W3CDTF">2014-11-26T08:06:19Z</dcterms:created>
  <dcterms:modified xsi:type="dcterms:W3CDTF">2025-11-02T17:19:10Z</dcterms:modified>
</cp:coreProperties>
</file>